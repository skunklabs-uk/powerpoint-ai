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48" r:id="rId4"/>
    <p:sldMasterId id="2147484288" r:id="rId5"/>
  </p:sldMasterIdLst>
  <p:notesMasterIdLst>
    <p:notesMasterId r:id="rId26"/>
  </p:notesMasterIdLst>
  <p:sldIdLst>
    <p:sldId id="2147482175" r:id="rId6"/>
    <p:sldId id="2147482514" r:id="rId7"/>
    <p:sldId id="2147482515" r:id="rId8"/>
    <p:sldId id="2147482478" r:id="rId9"/>
    <p:sldId id="2147482516" r:id="rId10"/>
    <p:sldId id="2147482501" r:id="rId11"/>
    <p:sldId id="2147482500" r:id="rId12"/>
    <p:sldId id="2147482509" r:id="rId13"/>
    <p:sldId id="2147482517" r:id="rId14"/>
    <p:sldId id="2147482502" r:id="rId15"/>
    <p:sldId id="2147482518" r:id="rId16"/>
    <p:sldId id="2147482508" r:id="rId17"/>
    <p:sldId id="2147482447" r:id="rId18"/>
    <p:sldId id="2147482503" r:id="rId19"/>
    <p:sldId id="2147482507" r:id="rId20"/>
    <p:sldId id="2147482510" r:id="rId21"/>
    <p:sldId id="2147482511" r:id="rId22"/>
    <p:sldId id="2147482512" r:id="rId23"/>
    <p:sldId id="2147482513" r:id="rId24"/>
    <p:sldId id="10722" r:id="rId25"/>
  </p:sldIdLst>
  <p:sldSz cx="12192000" cy="6858000"/>
  <p:notesSz cx="7315200" cy="9601200"/>
  <p:custDataLst>
    <p:tags r:id="rId27"/>
  </p:custData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zione predefinita" id="{59573737-8D30-4DCC-B2E5-3330615D17DE}">
          <p14:sldIdLst>
            <p14:sldId id="2147482175"/>
            <p14:sldId id="2147482514"/>
            <p14:sldId id="2147482515"/>
            <p14:sldId id="2147482478"/>
            <p14:sldId id="2147482516"/>
            <p14:sldId id="2147482501"/>
            <p14:sldId id="2147482500"/>
            <p14:sldId id="2147482509"/>
            <p14:sldId id="2147482517"/>
            <p14:sldId id="2147482502"/>
            <p14:sldId id="2147482518"/>
            <p14:sldId id="2147482508"/>
          </p14:sldIdLst>
        </p14:section>
        <p14:section name="Appendice tecnica" id="{23D7C364-462A-4E57-825D-40A5170F4AD7}">
          <p14:sldIdLst>
            <p14:sldId id="2147482447"/>
            <p14:sldId id="2147482503"/>
            <p14:sldId id="2147482507"/>
            <p14:sldId id="2147482510"/>
            <p14:sldId id="2147482511"/>
            <p14:sldId id="2147482512"/>
            <p14:sldId id="2147482513"/>
            <p14:sldId id="10722"/>
          </p14:sldIdLst>
        </p14:section>
      </p14:sectionLst>
    </p:ext>
    <p:ext uri="{EFAFB233-063F-42B5-8137-9DF3F51BA10A}">
      <p15:sldGuideLst xmlns:p15="http://schemas.microsoft.com/office/powerpoint/2012/main">
        <p15:guide id="1" orient="horz" pos="3612" userDrawn="1">
          <p15:clr>
            <a:srgbClr val="A4A3A4"/>
          </p15:clr>
        </p15:guide>
        <p15:guide id="2" pos="3863" userDrawn="1">
          <p15:clr>
            <a:srgbClr val="A4A3A4"/>
          </p15:clr>
        </p15:guide>
        <p15:guide id="3" pos="1391" userDrawn="1">
          <p15:clr>
            <a:srgbClr val="A4A3A4"/>
          </p15:clr>
        </p15:guide>
        <p15:guide id="4" orient="horz" pos="1638" userDrawn="1">
          <p15:clr>
            <a:srgbClr val="A4A3A4"/>
          </p15:clr>
        </p15:guide>
        <p15:guide id="5" pos="4588" userDrawn="1">
          <p15:clr>
            <a:srgbClr val="A4A3A4"/>
          </p15:clr>
        </p15:guide>
        <p15:guide id="6" orient="horz" pos="142" userDrawn="1">
          <p15:clr>
            <a:srgbClr val="A4A3A4"/>
          </p15:clr>
        </p15:guide>
        <p15:guide id="7" pos="7423" userDrawn="1">
          <p15:clr>
            <a:srgbClr val="A4A3A4"/>
          </p15:clr>
        </p15:guide>
        <p15:guide id="8" pos="257" userDrawn="1">
          <p15:clr>
            <a:srgbClr val="A4A3A4"/>
          </p15:clr>
        </p15:guide>
        <p15:guide id="9" pos="6357" userDrawn="1">
          <p15:clr>
            <a:srgbClr val="A4A3A4"/>
          </p15:clr>
        </p15:guide>
        <p15:guide id="10" orient="horz" pos="2319" userDrawn="1">
          <p15:clr>
            <a:srgbClr val="A4A3A4"/>
          </p15:clr>
        </p15:guide>
        <p15:guide id="12" orient="horz" pos="2795" userDrawn="1">
          <p15:clr>
            <a:srgbClr val="A4A3A4"/>
          </p15:clr>
        </p15:guide>
        <p15:guide id="13" pos="3114" userDrawn="1">
          <p15:clr>
            <a:srgbClr val="A4A3A4"/>
          </p15:clr>
        </p15:guide>
        <p15:guide id="14" orient="horz" pos="2659" userDrawn="1">
          <p15:clr>
            <a:srgbClr val="A4A3A4"/>
          </p15:clr>
        </p15:guide>
        <p15:guide id="15" orient="horz" pos="216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F4B4142-2D79-5BD4-C1A3-5927E5C8A94E}" name="Alessandra Bertulli" initials="AB" userId="S::alessandra.bertulli@txtgroup.com::4e3ffafb-b1c8-47ba-a344-5b28a5f89f09" providerId="AD"/>
  <p188:author id="{83706E44-9F9D-8A1A-5E0A-4C186E17073F}" name="Camilla Barbi" initials="CB" userId="S::camilla.barbi@network.txtgroup.com::9a6c175b-3033-4e7f-b289-2268a41ede40" providerId="AD"/>
  <p188:author id="{63AE01A0-08B4-F8C4-E27D-74E15562DC30}" name="Federico Zanardelli" initials="FZ" userId="S::federico.zanardelli@txtgroup.com::3e864ea4-50fa-43e8-9ba3-25ce1e38222e" providerId="AD"/>
  <p188:author id="{03B6DFF3-2D84-347B-0572-75A153EDD121}" name="Luca Tamanza" initials="LT" userId="S::luca.tamanza@txtgroup.com::2d38b52b-e1c7-439c-8258-d9fd078d3df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AF74"/>
    <a:srgbClr val="49BEBA"/>
    <a:srgbClr val="2299D3"/>
    <a:srgbClr val="A3A3A3"/>
    <a:srgbClr val="DCA037"/>
    <a:srgbClr val="209AC4"/>
    <a:srgbClr val="0B9A4F"/>
    <a:srgbClr val="198C95"/>
    <a:srgbClr val="1A6EBE"/>
    <a:srgbClr val="52B3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Stile chiaro 2 - Colore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ED083AE6-46FA-4A59-8FB0-9F97EB10719F}" styleName="Stile chiaro 3 - Colore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ile chiaro 2 - Colore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Stile chiaro 2 - Colore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Stile chiaro 2 - Colore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Stile medio 1 - Colore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9" autoAdjust="0"/>
    <p:restoredTop sz="94679" autoAdjust="0"/>
  </p:normalViewPr>
  <p:slideViewPr>
    <p:cSldViewPr snapToGrid="0">
      <p:cViewPr varScale="1">
        <p:scale>
          <a:sx n="87" d="100"/>
          <a:sy n="87" d="100"/>
        </p:scale>
        <p:origin x="422" y="67"/>
      </p:cViewPr>
      <p:guideLst>
        <p:guide orient="horz" pos="3612"/>
        <p:guide pos="3863"/>
        <p:guide pos="1391"/>
        <p:guide orient="horz" pos="1638"/>
        <p:guide pos="4588"/>
        <p:guide orient="horz" pos="142"/>
        <p:guide pos="7423"/>
        <p:guide pos="257"/>
        <p:guide pos="6357"/>
        <p:guide orient="horz" pos="2319"/>
        <p:guide orient="horz" pos="2795"/>
        <p:guide pos="3114"/>
        <p:guide orient="horz" pos="2659"/>
        <p:guide orient="horz"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ags" Target="tags/tag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it-IT"/>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82BD8CE2-F80F-4C82-A356-4FD626B390AD}" type="datetimeFigureOut">
              <a:rPr lang="it-IT" smtClean="0"/>
              <a:t>13/07/2026</a:t>
            </a:fld>
            <a:endParaRPr lang="it-IT"/>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it-IT"/>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it-IT"/>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A849ADF9-F6AD-4D60-976C-02C2D3D6C541}" type="slidenum">
              <a:rPr lang="it-IT" smtClean="0"/>
              <a:t>‹N›</a:t>
            </a:fld>
            <a:endParaRPr lang="it-IT"/>
          </a:p>
        </p:txBody>
      </p:sp>
    </p:spTree>
    <p:extLst>
      <p:ext uri="{BB962C8B-B14F-4D97-AF65-F5344CB8AC3E}">
        <p14:creationId xmlns:p14="http://schemas.microsoft.com/office/powerpoint/2010/main" val="3645369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it-IT"/>
          </a:p>
        </p:txBody>
      </p:sp>
      <p:sp>
        <p:nvSpPr>
          <p:cNvPr id="4" name="Slide Number Placeholder 3"/>
          <p:cNvSpPr>
            <a:spLocks noGrp="1"/>
          </p:cNvSpPr>
          <p:nvPr>
            <p:ph type="sldNum" sz="quarter" idx="5"/>
          </p:nvPr>
        </p:nvSpPr>
        <p:spPr/>
        <p:txBody>
          <a:bodyPr/>
          <a:lstStyle/>
          <a:p>
            <a:fld id="{C2B55A06-EE35-4387-A9DE-FF66209B9B90}" type="slidenum">
              <a:rPr lang="it-IT" smtClean="0"/>
              <a:t>1</a:t>
            </a:fld>
            <a:endParaRPr lang="it-IT"/>
          </a:p>
        </p:txBody>
      </p:sp>
    </p:spTree>
    <p:extLst>
      <p:ext uri="{BB962C8B-B14F-4D97-AF65-F5344CB8AC3E}">
        <p14:creationId xmlns:p14="http://schemas.microsoft.com/office/powerpoint/2010/main" val="1384385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E625E-FEA9-5D83-AC7C-3EDBAB7A180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6E1D534-0F58-F2E8-57F4-EDF607C2FAA4}"/>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B0349742-4580-5B2F-F291-793B5F1E6B19}"/>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5D85D3FF-BB55-F937-ECE9-6D54A6EBB947}"/>
              </a:ext>
            </a:extLst>
          </p:cNvPr>
          <p:cNvSpPr>
            <a:spLocks noGrp="1"/>
          </p:cNvSpPr>
          <p:nvPr>
            <p:ph type="sldNum" sz="quarter" idx="5"/>
          </p:nvPr>
        </p:nvSpPr>
        <p:spPr/>
        <p:txBody>
          <a:bodyPr/>
          <a:lstStyle/>
          <a:p>
            <a:fld id="{A849ADF9-F6AD-4D60-976C-02C2D3D6C541}" type="slidenum">
              <a:rPr lang="it-IT" smtClean="0"/>
              <a:t>2</a:t>
            </a:fld>
            <a:endParaRPr lang="it-IT"/>
          </a:p>
        </p:txBody>
      </p:sp>
    </p:spTree>
    <p:extLst>
      <p:ext uri="{BB962C8B-B14F-4D97-AF65-F5344CB8AC3E}">
        <p14:creationId xmlns:p14="http://schemas.microsoft.com/office/powerpoint/2010/main" val="772187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C91BB-1E3E-BAC5-988E-AD953039331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80B2819-A317-2CB8-1DA8-7EF92B1B549A}"/>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419C9B2E-EBE4-70D3-DAEB-36EE16C920DB}"/>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C98790B4-A407-4789-C075-EB0B2B283EFC}"/>
              </a:ext>
            </a:extLst>
          </p:cNvPr>
          <p:cNvSpPr>
            <a:spLocks noGrp="1"/>
          </p:cNvSpPr>
          <p:nvPr>
            <p:ph type="sldNum" sz="quarter" idx="5"/>
          </p:nvPr>
        </p:nvSpPr>
        <p:spPr/>
        <p:txBody>
          <a:bodyPr/>
          <a:lstStyle/>
          <a:p>
            <a:fld id="{A849ADF9-F6AD-4D60-976C-02C2D3D6C541}" type="slidenum">
              <a:rPr lang="it-IT" smtClean="0"/>
              <a:t>3</a:t>
            </a:fld>
            <a:endParaRPr lang="it-IT"/>
          </a:p>
        </p:txBody>
      </p:sp>
    </p:spTree>
    <p:extLst>
      <p:ext uri="{BB962C8B-B14F-4D97-AF65-F5344CB8AC3E}">
        <p14:creationId xmlns:p14="http://schemas.microsoft.com/office/powerpoint/2010/main" val="4024404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2E37D-599E-AD98-1601-00E8729B499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B8928E2-BC3B-1EF7-979F-E23D733DA84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4CBE7A9B-4FF0-9BD3-4268-3881EFEEEDB2}"/>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EB9740F4-A290-A112-2428-75264C0E2440}"/>
              </a:ext>
            </a:extLst>
          </p:cNvPr>
          <p:cNvSpPr>
            <a:spLocks noGrp="1"/>
          </p:cNvSpPr>
          <p:nvPr>
            <p:ph type="sldNum" sz="quarter" idx="5"/>
          </p:nvPr>
        </p:nvSpPr>
        <p:spPr/>
        <p:txBody>
          <a:bodyPr/>
          <a:lstStyle/>
          <a:p>
            <a:fld id="{A849ADF9-F6AD-4D60-976C-02C2D3D6C541}" type="slidenum">
              <a:rPr lang="it-IT" smtClean="0"/>
              <a:t>4</a:t>
            </a:fld>
            <a:endParaRPr lang="it-IT"/>
          </a:p>
        </p:txBody>
      </p:sp>
    </p:spTree>
    <p:extLst>
      <p:ext uri="{BB962C8B-B14F-4D97-AF65-F5344CB8AC3E}">
        <p14:creationId xmlns:p14="http://schemas.microsoft.com/office/powerpoint/2010/main" val="36354819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6D515-7E46-C7A9-4144-FEF349580EF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B4F2E2C-C6E7-7800-C3E6-0A887FF8E4A2}"/>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90811505-95E3-5039-FEDD-E80F5E1855DD}"/>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17BF844C-57C6-E255-103E-342248535766}"/>
              </a:ext>
            </a:extLst>
          </p:cNvPr>
          <p:cNvSpPr>
            <a:spLocks noGrp="1"/>
          </p:cNvSpPr>
          <p:nvPr>
            <p:ph type="sldNum" sz="quarter" idx="5"/>
          </p:nvPr>
        </p:nvSpPr>
        <p:spPr/>
        <p:txBody>
          <a:bodyPr/>
          <a:lstStyle/>
          <a:p>
            <a:fld id="{A849ADF9-F6AD-4D60-976C-02C2D3D6C541}" type="slidenum">
              <a:rPr lang="it-IT" smtClean="0"/>
              <a:t>5</a:t>
            </a:fld>
            <a:endParaRPr lang="it-IT"/>
          </a:p>
        </p:txBody>
      </p:sp>
    </p:spTree>
    <p:extLst>
      <p:ext uri="{BB962C8B-B14F-4D97-AF65-F5344CB8AC3E}">
        <p14:creationId xmlns:p14="http://schemas.microsoft.com/office/powerpoint/2010/main" val="3842042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4177E-A3B6-C89C-375C-FCDCEF2F78F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CEC4490B-4077-00DF-3FE3-DC4D5AFBE4DB}"/>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073DFA92-174B-1580-093D-132A5533AB9A}"/>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E247CD62-6573-E107-E0EF-CC12DE756042}"/>
              </a:ext>
            </a:extLst>
          </p:cNvPr>
          <p:cNvSpPr>
            <a:spLocks noGrp="1"/>
          </p:cNvSpPr>
          <p:nvPr>
            <p:ph type="sldNum" sz="quarter" idx="5"/>
          </p:nvPr>
        </p:nvSpPr>
        <p:spPr/>
        <p:txBody>
          <a:bodyPr/>
          <a:lstStyle/>
          <a:p>
            <a:fld id="{A849ADF9-F6AD-4D60-976C-02C2D3D6C541}" type="slidenum">
              <a:rPr lang="it-IT" smtClean="0"/>
              <a:t>7</a:t>
            </a:fld>
            <a:endParaRPr lang="it-IT"/>
          </a:p>
        </p:txBody>
      </p:sp>
    </p:spTree>
    <p:extLst>
      <p:ext uri="{BB962C8B-B14F-4D97-AF65-F5344CB8AC3E}">
        <p14:creationId xmlns:p14="http://schemas.microsoft.com/office/powerpoint/2010/main" val="13523238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989BA-41A3-5F12-C1F0-FD5F90AC09EC}"/>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B6D4CFC-3019-654B-F507-8C42080798CD}"/>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F8539A99-0D75-07A3-FB4B-547AF4533A5C}"/>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381F478E-8744-B576-AFAC-F0451EE55ADD}"/>
              </a:ext>
            </a:extLst>
          </p:cNvPr>
          <p:cNvSpPr>
            <a:spLocks noGrp="1"/>
          </p:cNvSpPr>
          <p:nvPr>
            <p:ph type="sldNum" sz="quarter" idx="5"/>
          </p:nvPr>
        </p:nvSpPr>
        <p:spPr/>
        <p:txBody>
          <a:bodyPr/>
          <a:lstStyle/>
          <a:p>
            <a:fld id="{A849ADF9-F6AD-4D60-976C-02C2D3D6C541}" type="slidenum">
              <a:rPr lang="it-IT" smtClean="0"/>
              <a:t>8</a:t>
            </a:fld>
            <a:endParaRPr lang="it-IT"/>
          </a:p>
        </p:txBody>
      </p:sp>
    </p:spTree>
    <p:extLst>
      <p:ext uri="{BB962C8B-B14F-4D97-AF65-F5344CB8AC3E}">
        <p14:creationId xmlns:p14="http://schemas.microsoft.com/office/powerpoint/2010/main" val="10937731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C0214-6954-BA61-A5E7-994CF952BB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151D7D44-E0EF-01C1-FA06-4FE3F090E807}"/>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C2A4CC6C-F688-67F4-0DCF-A1C891BAFDC8}"/>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52EDB229-F10C-E256-C711-10326D735251}"/>
              </a:ext>
            </a:extLst>
          </p:cNvPr>
          <p:cNvSpPr>
            <a:spLocks noGrp="1"/>
          </p:cNvSpPr>
          <p:nvPr>
            <p:ph type="sldNum" sz="quarter" idx="5"/>
          </p:nvPr>
        </p:nvSpPr>
        <p:spPr/>
        <p:txBody>
          <a:bodyPr/>
          <a:lstStyle/>
          <a:p>
            <a:fld id="{A849ADF9-F6AD-4D60-976C-02C2D3D6C541}" type="slidenum">
              <a:rPr lang="it-IT" smtClean="0"/>
              <a:t>9</a:t>
            </a:fld>
            <a:endParaRPr lang="it-IT"/>
          </a:p>
        </p:txBody>
      </p:sp>
    </p:spTree>
    <p:extLst>
      <p:ext uri="{BB962C8B-B14F-4D97-AF65-F5344CB8AC3E}">
        <p14:creationId xmlns:p14="http://schemas.microsoft.com/office/powerpoint/2010/main" val="3426552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122B4-FF3C-7257-2A3E-C0C68F5D08F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0B1F5791-F880-0B2F-0624-63540639B092}"/>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D704C45E-E2CF-8E62-CC1C-D205EFE05176}"/>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499DBB4E-AAC8-B911-2305-A50A3483EE0B}"/>
              </a:ext>
            </a:extLst>
          </p:cNvPr>
          <p:cNvSpPr>
            <a:spLocks noGrp="1"/>
          </p:cNvSpPr>
          <p:nvPr>
            <p:ph type="sldNum" sz="quarter" idx="5"/>
          </p:nvPr>
        </p:nvSpPr>
        <p:spPr/>
        <p:txBody>
          <a:bodyPr/>
          <a:lstStyle/>
          <a:p>
            <a:fld id="{A849ADF9-F6AD-4D60-976C-02C2D3D6C541}" type="slidenum">
              <a:rPr lang="it-IT" smtClean="0"/>
              <a:t>10</a:t>
            </a:fld>
            <a:endParaRPr lang="it-IT"/>
          </a:p>
        </p:txBody>
      </p:sp>
    </p:spTree>
    <p:extLst>
      <p:ext uri="{BB962C8B-B14F-4D97-AF65-F5344CB8AC3E}">
        <p14:creationId xmlns:p14="http://schemas.microsoft.com/office/powerpoint/2010/main" val="39352049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1D7E1-E6DA-A268-EFAB-1BCCF90284B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E614D7F-9AAE-67BF-BF09-33BA42C046C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65EFB60F-93DA-5C45-0268-009AFD53AB5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311AF2ED-53C5-4128-C360-2D97DB777C6E}"/>
              </a:ext>
            </a:extLst>
          </p:cNvPr>
          <p:cNvSpPr>
            <a:spLocks noGrp="1"/>
          </p:cNvSpPr>
          <p:nvPr>
            <p:ph type="sldNum" sz="quarter" idx="5"/>
          </p:nvPr>
        </p:nvSpPr>
        <p:spPr/>
        <p:txBody>
          <a:bodyPr/>
          <a:lstStyle/>
          <a:p>
            <a:fld id="{A849ADF9-F6AD-4D60-976C-02C2D3D6C541}" type="slidenum">
              <a:rPr lang="it-IT" smtClean="0"/>
              <a:t>12</a:t>
            </a:fld>
            <a:endParaRPr lang="it-IT"/>
          </a:p>
        </p:txBody>
      </p:sp>
    </p:spTree>
    <p:extLst>
      <p:ext uri="{BB962C8B-B14F-4D97-AF65-F5344CB8AC3E}">
        <p14:creationId xmlns:p14="http://schemas.microsoft.com/office/powerpoint/2010/main" val="1483652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F5D92-87EA-EFEF-BA7F-97E54C05AA6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E811D46-E641-1692-4E2A-2389867C71F3}"/>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78F48636-6DA6-9ADB-1337-D11CEB79544F}"/>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FC5E97DB-8D48-B7F8-A347-2B7B64C11457}"/>
              </a:ext>
            </a:extLst>
          </p:cNvPr>
          <p:cNvSpPr>
            <a:spLocks noGrp="1"/>
          </p:cNvSpPr>
          <p:nvPr>
            <p:ph type="sldNum" sz="quarter" idx="5"/>
          </p:nvPr>
        </p:nvSpPr>
        <p:spPr/>
        <p:txBody>
          <a:bodyPr/>
          <a:lstStyle/>
          <a:p>
            <a:fld id="{A849ADF9-F6AD-4D60-976C-02C2D3D6C541}" type="slidenum">
              <a:rPr lang="it-IT" smtClean="0"/>
              <a:t>14</a:t>
            </a:fld>
            <a:endParaRPr lang="it-IT"/>
          </a:p>
        </p:txBody>
      </p:sp>
    </p:spTree>
    <p:extLst>
      <p:ext uri="{BB962C8B-B14F-4D97-AF65-F5344CB8AC3E}">
        <p14:creationId xmlns:p14="http://schemas.microsoft.com/office/powerpoint/2010/main" val="8113070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FECDE-7469-F64E-C182-CDC76863B56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AB35CD8-5669-4588-571C-CBADE1DFCB50}"/>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7D7DE836-C671-6BD2-1575-7CD363A80FFF}"/>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F7C0704E-4FF6-C599-71FA-F1CB1658C544}"/>
              </a:ext>
            </a:extLst>
          </p:cNvPr>
          <p:cNvSpPr>
            <a:spLocks noGrp="1"/>
          </p:cNvSpPr>
          <p:nvPr>
            <p:ph type="sldNum" sz="quarter" idx="5"/>
          </p:nvPr>
        </p:nvSpPr>
        <p:spPr/>
        <p:txBody>
          <a:bodyPr/>
          <a:lstStyle/>
          <a:p>
            <a:fld id="{A849ADF9-F6AD-4D60-976C-02C2D3D6C541}" type="slidenum">
              <a:rPr lang="it-IT" smtClean="0"/>
              <a:t>15</a:t>
            </a:fld>
            <a:endParaRPr lang="it-IT"/>
          </a:p>
        </p:txBody>
      </p:sp>
    </p:spTree>
    <p:extLst>
      <p:ext uri="{BB962C8B-B14F-4D97-AF65-F5344CB8AC3E}">
        <p14:creationId xmlns:p14="http://schemas.microsoft.com/office/powerpoint/2010/main" val="16395009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0E721-B20B-0BF2-977C-1634029D447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002DAFC-7B4D-EA07-2D49-2176FE9DEF5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89CA164E-750B-0678-EB2F-92DC12511DD5}"/>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AE58B856-527A-A204-81BD-7B1D7449820C}"/>
              </a:ext>
            </a:extLst>
          </p:cNvPr>
          <p:cNvSpPr>
            <a:spLocks noGrp="1"/>
          </p:cNvSpPr>
          <p:nvPr>
            <p:ph type="sldNum" sz="quarter" idx="5"/>
          </p:nvPr>
        </p:nvSpPr>
        <p:spPr/>
        <p:txBody>
          <a:bodyPr/>
          <a:lstStyle/>
          <a:p>
            <a:fld id="{A849ADF9-F6AD-4D60-976C-02C2D3D6C541}" type="slidenum">
              <a:rPr lang="it-IT" smtClean="0"/>
              <a:t>16</a:t>
            </a:fld>
            <a:endParaRPr lang="it-IT"/>
          </a:p>
        </p:txBody>
      </p:sp>
    </p:spTree>
    <p:extLst>
      <p:ext uri="{BB962C8B-B14F-4D97-AF65-F5344CB8AC3E}">
        <p14:creationId xmlns:p14="http://schemas.microsoft.com/office/powerpoint/2010/main" val="29137688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82B8E-E232-0322-0FA4-A9EFCA5D37E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DB1FEAB3-99F0-8D2D-F9C1-CF0937C89CF9}"/>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8DE81EFA-EEF9-70BD-8700-35988084BC67}"/>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821D9B51-5985-4426-B4A1-2FE590F60D95}"/>
              </a:ext>
            </a:extLst>
          </p:cNvPr>
          <p:cNvSpPr>
            <a:spLocks noGrp="1"/>
          </p:cNvSpPr>
          <p:nvPr>
            <p:ph type="sldNum" sz="quarter" idx="5"/>
          </p:nvPr>
        </p:nvSpPr>
        <p:spPr/>
        <p:txBody>
          <a:bodyPr/>
          <a:lstStyle/>
          <a:p>
            <a:fld id="{A849ADF9-F6AD-4D60-976C-02C2D3D6C541}" type="slidenum">
              <a:rPr lang="it-IT" smtClean="0"/>
              <a:t>17</a:t>
            </a:fld>
            <a:endParaRPr lang="it-IT"/>
          </a:p>
        </p:txBody>
      </p:sp>
    </p:spTree>
    <p:extLst>
      <p:ext uri="{BB962C8B-B14F-4D97-AF65-F5344CB8AC3E}">
        <p14:creationId xmlns:p14="http://schemas.microsoft.com/office/powerpoint/2010/main" val="14447283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37550-5F43-67F4-E946-AC48C41107B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5BCB25F-B428-2E01-3C02-8614715465D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A951FA79-B0A8-BBBC-BBA0-612E68903750}"/>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20D1D0CC-4E2B-EB1A-2CA3-915865BA213A}"/>
              </a:ext>
            </a:extLst>
          </p:cNvPr>
          <p:cNvSpPr>
            <a:spLocks noGrp="1"/>
          </p:cNvSpPr>
          <p:nvPr>
            <p:ph type="sldNum" sz="quarter" idx="5"/>
          </p:nvPr>
        </p:nvSpPr>
        <p:spPr/>
        <p:txBody>
          <a:bodyPr/>
          <a:lstStyle/>
          <a:p>
            <a:fld id="{A849ADF9-F6AD-4D60-976C-02C2D3D6C541}" type="slidenum">
              <a:rPr lang="it-IT" smtClean="0"/>
              <a:t>18</a:t>
            </a:fld>
            <a:endParaRPr lang="it-IT"/>
          </a:p>
        </p:txBody>
      </p:sp>
    </p:spTree>
    <p:extLst>
      <p:ext uri="{BB962C8B-B14F-4D97-AF65-F5344CB8AC3E}">
        <p14:creationId xmlns:p14="http://schemas.microsoft.com/office/powerpoint/2010/main" val="31602629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1439F-0ACB-A299-F333-835BF776FE5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65D0435-2BB8-DF45-DBDB-D9F77698F703}"/>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850421FA-9C15-F83B-6BEF-757F0FF0BD8A}"/>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E48D2544-FEC9-42D0-02EF-42F3045F5BB6}"/>
              </a:ext>
            </a:extLst>
          </p:cNvPr>
          <p:cNvSpPr>
            <a:spLocks noGrp="1"/>
          </p:cNvSpPr>
          <p:nvPr>
            <p:ph type="sldNum" sz="quarter" idx="5"/>
          </p:nvPr>
        </p:nvSpPr>
        <p:spPr/>
        <p:txBody>
          <a:bodyPr/>
          <a:lstStyle/>
          <a:p>
            <a:fld id="{A849ADF9-F6AD-4D60-976C-02C2D3D6C541}" type="slidenum">
              <a:rPr lang="it-IT" smtClean="0"/>
              <a:t>19</a:t>
            </a:fld>
            <a:endParaRPr lang="it-IT"/>
          </a:p>
        </p:txBody>
      </p:sp>
    </p:spTree>
    <p:extLst>
      <p:ext uri="{BB962C8B-B14F-4D97-AF65-F5344CB8AC3E}">
        <p14:creationId xmlns:p14="http://schemas.microsoft.com/office/powerpoint/2010/main" val="15509746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XT main title">
    <p:spTree>
      <p:nvGrpSpPr>
        <p:cNvPr id="1" name=""/>
        <p:cNvGrpSpPr/>
        <p:nvPr/>
      </p:nvGrpSpPr>
      <p:grpSpPr>
        <a:xfrm>
          <a:off x="0" y="0"/>
          <a:ext cx="0" cy="0"/>
          <a:chOff x="0" y="0"/>
          <a:chExt cx="0" cy="0"/>
        </a:xfrm>
      </p:grpSpPr>
      <p:sp>
        <p:nvSpPr>
          <p:cNvPr id="3" name="Title 5">
            <a:extLst>
              <a:ext uri="{FF2B5EF4-FFF2-40B4-BE49-F238E27FC236}">
                <a16:creationId xmlns:a16="http://schemas.microsoft.com/office/drawing/2014/main" id="{84E155CC-6E46-0B5D-6EB6-F189B2AB94DE}"/>
              </a:ext>
            </a:extLst>
          </p:cNvPr>
          <p:cNvSpPr>
            <a:spLocks noGrp="1"/>
          </p:cNvSpPr>
          <p:nvPr>
            <p:ph type="title"/>
          </p:nvPr>
        </p:nvSpPr>
        <p:spPr>
          <a:xfrm>
            <a:off x="2200015" y="211435"/>
            <a:ext cx="7791972" cy="552275"/>
          </a:xfrm>
          <a:prstGeom prst="rect">
            <a:avLst/>
          </a:prstGeom>
        </p:spPr>
        <p:txBody>
          <a:bodyPr/>
          <a:lstStyle>
            <a:lvl1pPr algn="ctr">
              <a:defRPr sz="2800">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spTree>
    <p:extLst>
      <p:ext uri="{BB962C8B-B14F-4D97-AF65-F5344CB8AC3E}">
        <p14:creationId xmlns:p14="http://schemas.microsoft.com/office/powerpoint/2010/main" val="2608199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Cover">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D9708D6A-E2CF-BC41-8509-EEA97311EC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2628382" y="-2628380"/>
            <a:ext cx="6935241" cy="12192002"/>
          </a:xfrm>
          <a:prstGeom prst="rect">
            <a:avLst/>
          </a:prstGeom>
        </p:spPr>
      </p:pic>
      <p:pic>
        <p:nvPicPr>
          <p:cNvPr id="6" name="Immagine 5">
            <a:extLst>
              <a:ext uri="{FF2B5EF4-FFF2-40B4-BE49-F238E27FC236}">
                <a16:creationId xmlns:a16="http://schemas.microsoft.com/office/drawing/2014/main" id="{A2CEA197-26CD-7548-8AD4-36A8E1E3475C}"/>
              </a:ext>
            </a:extLst>
          </p:cNvPr>
          <p:cNvPicPr>
            <a:picLocks noChangeAspect="1"/>
          </p:cNvPicPr>
          <p:nvPr userDrawn="1"/>
        </p:nvPicPr>
        <p:blipFill rotWithShape="1">
          <a:blip r:embed="rId3">
            <a:alphaModFix amt="36000"/>
            <a:extLst>
              <a:ext uri="{28A0092B-C50C-407E-A947-70E740481C1C}">
                <a14:useLocalDpi xmlns:a14="http://schemas.microsoft.com/office/drawing/2010/main"/>
              </a:ext>
            </a:extLst>
          </a:blip>
          <a:srcRect l="4280" r="9866" b="20567"/>
          <a:stretch/>
        </p:blipFill>
        <p:spPr>
          <a:xfrm>
            <a:off x="0" y="2431812"/>
            <a:ext cx="12192000" cy="4503431"/>
          </a:xfrm>
          <a:prstGeom prst="rect">
            <a:avLst/>
          </a:prstGeom>
        </p:spPr>
      </p:pic>
      <p:sp>
        <p:nvSpPr>
          <p:cNvPr id="12" name="Titolo 11">
            <a:extLst>
              <a:ext uri="{FF2B5EF4-FFF2-40B4-BE49-F238E27FC236}">
                <a16:creationId xmlns:a16="http://schemas.microsoft.com/office/drawing/2014/main" id="{A957F2E0-24E9-B09B-2E35-EFF4B78EC8B9}"/>
              </a:ext>
            </a:extLst>
          </p:cNvPr>
          <p:cNvSpPr>
            <a:spLocks noGrp="1"/>
          </p:cNvSpPr>
          <p:nvPr>
            <p:ph type="title" hasCustomPrompt="1"/>
          </p:nvPr>
        </p:nvSpPr>
        <p:spPr>
          <a:xfrm>
            <a:off x="5165760" y="3015227"/>
            <a:ext cx="6220846" cy="1192677"/>
          </a:xfrm>
          <a:prstGeom prst="rect">
            <a:avLst/>
          </a:prstGeom>
        </p:spPr>
        <p:txBody>
          <a:bodyPr/>
          <a:lstStyle>
            <a:lvl1pPr algn="r">
              <a:defRPr sz="4000" b="1">
                <a:solidFill>
                  <a:schemeClr val="bg1"/>
                </a:solidFill>
              </a:defRPr>
            </a:lvl1pPr>
          </a:lstStyle>
          <a:p>
            <a:r>
              <a:rPr lang="it-IT"/>
              <a:t>Titolo</a:t>
            </a:r>
          </a:p>
        </p:txBody>
      </p:sp>
      <p:pic>
        <p:nvPicPr>
          <p:cNvPr id="3" name="Immagine 11">
            <a:extLst>
              <a:ext uri="{FF2B5EF4-FFF2-40B4-BE49-F238E27FC236}">
                <a16:creationId xmlns:a16="http://schemas.microsoft.com/office/drawing/2014/main" id="{5CB867BF-6B5B-131C-4A35-70A6553E08A0}"/>
              </a:ext>
            </a:extLst>
          </p:cNvPr>
          <p:cNvPicPr>
            <a:picLocks noChangeAspect="1"/>
          </p:cNvPicPr>
          <p:nvPr userDrawn="1"/>
        </p:nvPicPr>
        <p:blipFill>
          <a:blip r:embed="rId4"/>
          <a:stretch>
            <a:fillRect/>
          </a:stretch>
        </p:blipFill>
        <p:spPr>
          <a:xfrm>
            <a:off x="175717" y="119771"/>
            <a:ext cx="878197" cy="427617"/>
          </a:xfrm>
          <a:prstGeom prst="rect">
            <a:avLst/>
          </a:prstGeom>
        </p:spPr>
      </p:pic>
    </p:spTree>
    <p:extLst>
      <p:ext uri="{BB962C8B-B14F-4D97-AF65-F5344CB8AC3E}">
        <p14:creationId xmlns:p14="http://schemas.microsoft.com/office/powerpoint/2010/main" val="41202371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lank page w/o lin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spTree>
    <p:extLst>
      <p:ext uri="{BB962C8B-B14F-4D97-AF65-F5344CB8AC3E}">
        <p14:creationId xmlns:p14="http://schemas.microsoft.com/office/powerpoint/2010/main" val="39165051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reserve="1">
  <p:cSld name="Blank page w/ line">
    <p:spTree>
      <p:nvGrpSpPr>
        <p:cNvPr id="1" name=""/>
        <p:cNvGrpSpPr/>
        <p:nvPr/>
      </p:nvGrpSpPr>
      <p:grpSpPr>
        <a:xfrm>
          <a:off x="0" y="0"/>
          <a:ext cx="0" cy="0"/>
          <a:chOff x="0" y="0"/>
          <a:chExt cx="0" cy="0"/>
        </a:xfrm>
      </p:grpSpPr>
      <p:pic>
        <p:nvPicPr>
          <p:cNvPr id="11" name="Picture 10" descr="Background pattern&#10;&#10;Description automatically generated" hidden="1">
            <a:extLst>
              <a:ext uri="{FF2B5EF4-FFF2-40B4-BE49-F238E27FC236}">
                <a16:creationId xmlns:a16="http://schemas.microsoft.com/office/drawing/2014/main" id="{63E9D106-BDBD-4662-B03E-DBAA8208FA7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302943" y="130134"/>
            <a:ext cx="421453" cy="446180"/>
          </a:xfrm>
          <a:prstGeom prst="rect">
            <a:avLst/>
          </a:prstGeom>
        </p:spPr>
      </p:pic>
      <p:sp>
        <p:nvSpPr>
          <p:cNvPr id="13" name="Line">
            <a:extLst>
              <a:ext uri="{FF2B5EF4-FFF2-40B4-BE49-F238E27FC236}">
                <a16:creationId xmlns:a16="http://schemas.microsoft.com/office/drawing/2014/main" id="{EC5CE382-464D-447C-89F8-85C1F4211E6A}"/>
              </a:ext>
            </a:extLst>
          </p:cNvPr>
          <p:cNvSpPr/>
          <p:nvPr userDrawn="1"/>
        </p:nvSpPr>
        <p:spPr>
          <a:xfrm>
            <a:off x="0" y="676275"/>
            <a:ext cx="11953743"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pic>
        <p:nvPicPr>
          <p:cNvPr id="9" name="Picture 8" descr="Background pattern&#10;&#10;Description automatically generated">
            <a:extLst>
              <a:ext uri="{FF2B5EF4-FFF2-40B4-BE49-F238E27FC236}">
                <a16:creationId xmlns:a16="http://schemas.microsoft.com/office/drawing/2014/main" id="{4257E4B1-A6E2-4BD8-8623-59EC6BD3BFF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11530557" y="6216421"/>
            <a:ext cx="421453" cy="446180"/>
          </a:xfrm>
          <a:prstGeom prst="rect">
            <a:avLst/>
          </a:prstGeom>
        </p:spPr>
      </p:pic>
      <p:sp>
        <p:nvSpPr>
          <p:cNvPr id="14" name="Slide Number">
            <a:extLst>
              <a:ext uri="{FF2B5EF4-FFF2-40B4-BE49-F238E27FC236}">
                <a16:creationId xmlns:a16="http://schemas.microsoft.com/office/drawing/2014/main" id="{D96ADEA9-DFA2-49A4-85FB-669CF46053E6}"/>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pic>
        <p:nvPicPr>
          <p:cNvPr id="2" name="Immagine 7">
            <a:extLst>
              <a:ext uri="{FF2B5EF4-FFF2-40B4-BE49-F238E27FC236}">
                <a16:creationId xmlns:a16="http://schemas.microsoft.com/office/drawing/2014/main" id="{710BEE1A-461D-0946-44C9-37DBFA451C3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8259" y="232080"/>
            <a:ext cx="619125" cy="206375"/>
          </a:xfrm>
          <a:prstGeom prst="rect">
            <a:avLst/>
          </a:prstGeom>
        </p:spPr>
      </p:pic>
    </p:spTree>
    <p:extLst>
      <p:ext uri="{BB962C8B-B14F-4D97-AF65-F5344CB8AC3E}">
        <p14:creationId xmlns:p14="http://schemas.microsoft.com/office/powerpoint/2010/main" val="301122292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Full Image Page_1">
    <p:spTree>
      <p:nvGrpSpPr>
        <p:cNvPr id="1" name=""/>
        <p:cNvGrpSpPr/>
        <p:nvPr/>
      </p:nvGrpSpPr>
      <p:grpSpPr>
        <a:xfrm>
          <a:off x="0" y="0"/>
          <a:ext cx="0" cy="0"/>
          <a:chOff x="0" y="0"/>
          <a:chExt cx="0" cy="0"/>
        </a:xfrm>
      </p:grpSpPr>
      <p:sp>
        <p:nvSpPr>
          <p:cNvPr id="12" name="Image Replace">
            <a:extLst>
              <a:ext uri="{FF2B5EF4-FFF2-40B4-BE49-F238E27FC236}">
                <a16:creationId xmlns:a16="http://schemas.microsoft.com/office/drawing/2014/main" id="{269A7DAB-D2F5-4E2F-93A4-275179CEEA47}"/>
              </a:ext>
            </a:extLst>
          </p:cNvPr>
          <p:cNvSpPr>
            <a:spLocks noGrp="1"/>
          </p:cNvSpPr>
          <p:nvPr>
            <p:ph type="pic" sz="quarter" idx="20" hasCustomPrompt="1"/>
          </p:nvPr>
        </p:nvSpPr>
        <p:spPr>
          <a:xfrm>
            <a:off x="0" y="0"/>
            <a:ext cx="12192000" cy="6858000"/>
          </a:xfrm>
          <a:custGeom>
            <a:avLst/>
            <a:gdLst>
              <a:gd name="connsiteX0" fmla="*/ 0 w 23368000"/>
              <a:gd name="connsiteY0" fmla="*/ 0 h 12700000"/>
              <a:gd name="connsiteX1" fmla="*/ 23368000 w 23368000"/>
              <a:gd name="connsiteY1" fmla="*/ 0 h 12700000"/>
              <a:gd name="connsiteX2" fmla="*/ 23368000 w 23368000"/>
              <a:gd name="connsiteY2" fmla="*/ 12700000 h 12700000"/>
              <a:gd name="connsiteX3" fmla="*/ 0 w 23368000"/>
              <a:gd name="connsiteY3" fmla="*/ 12700000 h 12700000"/>
            </a:gdLst>
            <a:ahLst/>
            <a:cxnLst>
              <a:cxn ang="0">
                <a:pos x="connsiteX0" y="connsiteY0"/>
              </a:cxn>
              <a:cxn ang="0">
                <a:pos x="connsiteX1" y="connsiteY1"/>
              </a:cxn>
              <a:cxn ang="0">
                <a:pos x="connsiteX2" y="connsiteY2"/>
              </a:cxn>
              <a:cxn ang="0">
                <a:pos x="connsiteX3" y="connsiteY3"/>
              </a:cxn>
            </a:cxnLst>
            <a:rect l="l" t="t" r="r" b="b"/>
            <a:pathLst>
              <a:path w="23368000" h="12700000">
                <a:moveTo>
                  <a:pt x="0" y="0"/>
                </a:moveTo>
                <a:lnTo>
                  <a:pt x="23368000" y="0"/>
                </a:lnTo>
                <a:lnTo>
                  <a:pt x="23368000" y="12700000"/>
                </a:lnTo>
                <a:lnTo>
                  <a:pt x="0" y="12700000"/>
                </a:lnTo>
                <a:close/>
              </a:path>
            </a:pathLst>
          </a:custGeom>
          <a:solidFill>
            <a:srgbClr val="BABEC7"/>
          </a:solidFill>
          <a:ln w="12700">
            <a:miter lim="400000"/>
          </a:ln>
          <a:extLst>
            <a:ext uri="{C572A759-6A51-4108-AA02-DFA0A04FC94B}">
              <ma14:wrappingTextBoxFlag xmlns:ma14="http://schemas.microsoft.com/office/mac/drawingml/2011/main" xmlns=""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pic>
        <p:nvPicPr>
          <p:cNvPr id="14" name="Picture 13" descr="Background pattern&#10;&#10;Description automatically generated" hidden="1">
            <a:extLst>
              <a:ext uri="{FF2B5EF4-FFF2-40B4-BE49-F238E27FC236}">
                <a16:creationId xmlns:a16="http://schemas.microsoft.com/office/drawing/2014/main" id="{F177BD72-F8EC-404F-9121-7711F5429B7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302943" y="130134"/>
            <a:ext cx="421453" cy="446180"/>
          </a:xfrm>
          <a:prstGeom prst="rect">
            <a:avLst/>
          </a:prstGeom>
        </p:spPr>
      </p:pic>
      <p:pic>
        <p:nvPicPr>
          <p:cNvPr id="17" name="Picture 16" descr="Background pattern&#10;&#10;Description automatically generated">
            <a:extLst>
              <a:ext uri="{FF2B5EF4-FFF2-40B4-BE49-F238E27FC236}">
                <a16:creationId xmlns:a16="http://schemas.microsoft.com/office/drawing/2014/main" id="{16BE0B04-6EE1-4299-8D2C-7A1C7B96E3B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11530557" y="6216421"/>
            <a:ext cx="421453" cy="446180"/>
          </a:xfrm>
          <a:prstGeom prst="rect">
            <a:avLst/>
          </a:prstGeom>
        </p:spPr>
      </p:pic>
      <p:sp>
        <p:nvSpPr>
          <p:cNvPr id="18" name="Slide Number">
            <a:extLst>
              <a:ext uri="{FF2B5EF4-FFF2-40B4-BE49-F238E27FC236}">
                <a16:creationId xmlns:a16="http://schemas.microsoft.com/office/drawing/2014/main" id="{767813EB-E3A8-4BC9-B675-05A4DD8CC0C7}"/>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sp>
        <p:nvSpPr>
          <p:cNvPr id="19" name="Line">
            <a:extLst>
              <a:ext uri="{FF2B5EF4-FFF2-40B4-BE49-F238E27FC236}">
                <a16:creationId xmlns:a16="http://schemas.microsoft.com/office/drawing/2014/main" id="{70A3EC06-D9A1-41AC-8137-A349CC2BFC21}"/>
              </a:ext>
            </a:extLst>
          </p:cNvPr>
          <p:cNvSpPr/>
          <p:nvPr userDrawn="1"/>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10" name="Line">
            <a:extLst>
              <a:ext uri="{FF2B5EF4-FFF2-40B4-BE49-F238E27FC236}">
                <a16:creationId xmlns:a16="http://schemas.microsoft.com/office/drawing/2014/main" id="{70A86615-BB8B-46B0-B9A6-660511B6A8AD}"/>
              </a:ext>
            </a:extLst>
          </p:cNvPr>
          <p:cNvSpPr/>
          <p:nvPr userDrawn="1"/>
        </p:nvSpPr>
        <p:spPr>
          <a:xfrm>
            <a:off x="11778710" y="676275"/>
            <a:ext cx="414000"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pic>
        <p:nvPicPr>
          <p:cNvPr id="2" name="Immagine 7">
            <a:extLst>
              <a:ext uri="{FF2B5EF4-FFF2-40B4-BE49-F238E27FC236}">
                <a16:creationId xmlns:a16="http://schemas.microsoft.com/office/drawing/2014/main" id="{39B47250-8DAA-A17C-C7B8-BCFA3188C07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8259" y="232080"/>
            <a:ext cx="619125" cy="206375"/>
          </a:xfrm>
          <a:prstGeom prst="rect">
            <a:avLst/>
          </a:prstGeom>
        </p:spPr>
      </p:pic>
    </p:spTree>
    <p:extLst>
      <p:ext uri="{BB962C8B-B14F-4D97-AF65-F5344CB8AC3E}">
        <p14:creationId xmlns:p14="http://schemas.microsoft.com/office/powerpoint/2010/main" val="11612916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age and image_1">
    <p:spTree>
      <p:nvGrpSpPr>
        <p:cNvPr id="1" name=""/>
        <p:cNvGrpSpPr/>
        <p:nvPr/>
      </p:nvGrpSpPr>
      <p:grpSpPr>
        <a:xfrm>
          <a:off x="0" y="0"/>
          <a:ext cx="0" cy="0"/>
          <a:chOff x="0" y="0"/>
          <a:chExt cx="0" cy="0"/>
        </a:xfrm>
      </p:grpSpPr>
      <p:sp>
        <p:nvSpPr>
          <p:cNvPr id="14" name="Slide Number"/>
          <p:cNvSpPr txBox="1">
            <a:spLocks noGrp="1"/>
          </p:cNvSpPr>
          <p:nvPr>
            <p:ph type="sldNum" sz="quarter" idx="2"/>
          </p:nvPr>
        </p:nvSpPr>
        <p:spPr>
          <a:xfrm>
            <a:off x="11790268" y="268586"/>
            <a:ext cx="160300" cy="138499"/>
          </a:xfrm>
          <a:prstGeom prst="rect">
            <a:avLst/>
          </a:prstGeom>
        </p:spPr>
        <p:txBody>
          <a:bodyPr/>
          <a:lstStyle/>
          <a:p>
            <a:fld id="{86CB4B4D-7CA3-9044-876B-883B54F8677D}" type="slidenum">
              <a:t>‹N›</a:t>
            </a:fld>
            <a:endParaRPr/>
          </a:p>
        </p:txBody>
      </p:sp>
      <p:sp>
        <p:nvSpPr>
          <p:cNvPr id="8" name="Picture Placeholder 7">
            <a:extLst>
              <a:ext uri="{FF2B5EF4-FFF2-40B4-BE49-F238E27FC236}">
                <a16:creationId xmlns:a16="http://schemas.microsoft.com/office/drawing/2014/main" id="{680824DE-2267-41FC-8898-414F9A4E422F}"/>
              </a:ext>
            </a:extLst>
          </p:cNvPr>
          <p:cNvSpPr>
            <a:spLocks noGrp="1"/>
          </p:cNvSpPr>
          <p:nvPr>
            <p:ph type="pic" sz="quarter" idx="20" hasCustomPrompt="1"/>
          </p:nvPr>
        </p:nvSpPr>
        <p:spPr>
          <a:xfrm>
            <a:off x="6096000" y="1"/>
            <a:ext cx="6096000" cy="6858001"/>
          </a:xfrm>
          <a:custGeom>
            <a:avLst/>
            <a:gdLst>
              <a:gd name="connsiteX0" fmla="*/ 0 w 12192000"/>
              <a:gd name="connsiteY0" fmla="*/ 0 h 13716001"/>
              <a:gd name="connsiteX1" fmla="*/ 12192000 w 12192000"/>
              <a:gd name="connsiteY1" fmla="*/ 0 h 13716001"/>
              <a:gd name="connsiteX2" fmla="*/ 12192000 w 12192000"/>
              <a:gd name="connsiteY2" fmla="*/ 13716001 h 13716001"/>
              <a:gd name="connsiteX3" fmla="*/ 0 w 12192000"/>
              <a:gd name="connsiteY3" fmla="*/ 13716001 h 13716001"/>
            </a:gdLst>
            <a:ahLst/>
            <a:cxnLst>
              <a:cxn ang="0">
                <a:pos x="connsiteX0" y="connsiteY0"/>
              </a:cxn>
              <a:cxn ang="0">
                <a:pos x="connsiteX1" y="connsiteY1"/>
              </a:cxn>
              <a:cxn ang="0">
                <a:pos x="connsiteX2" y="connsiteY2"/>
              </a:cxn>
              <a:cxn ang="0">
                <a:pos x="connsiteX3" y="connsiteY3"/>
              </a:cxn>
            </a:cxnLst>
            <a:rect l="l" t="t" r="r" b="b"/>
            <a:pathLst>
              <a:path w="12192000" h="13716001">
                <a:moveTo>
                  <a:pt x="0" y="0"/>
                </a:moveTo>
                <a:lnTo>
                  <a:pt x="12192000" y="0"/>
                </a:lnTo>
                <a:lnTo>
                  <a:pt x="12192000" y="13716001"/>
                </a:lnTo>
                <a:lnTo>
                  <a:pt x="0" y="13716001"/>
                </a:lnTo>
                <a:close/>
              </a:path>
            </a:pathLst>
          </a:custGeom>
          <a:solidFill>
            <a:srgbClr val="BABEC7"/>
          </a:solidFill>
          <a:ln w="12700">
            <a:miter lim="400000"/>
          </a:ln>
          <a:extLst>
            <a:ext uri="{C572A759-6A51-4108-AA02-DFA0A04FC94B}">
              <ma14:wrappingTextBoxFlag xmlns:ma14="http://schemas.microsoft.com/office/mac/drawingml/2011/main" xmlns=""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spTree>
    <p:extLst>
      <p:ext uri="{BB962C8B-B14F-4D97-AF65-F5344CB8AC3E}">
        <p14:creationId xmlns:p14="http://schemas.microsoft.com/office/powerpoint/2010/main" val="40781224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age and image_3">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0751A86-C289-4A38-B045-EDDDCA462213}"/>
              </a:ext>
            </a:extLst>
          </p:cNvPr>
          <p:cNvSpPr>
            <a:spLocks noGrp="1"/>
          </p:cNvSpPr>
          <p:nvPr>
            <p:ph type="pic" sz="quarter" idx="20" hasCustomPrompt="1"/>
          </p:nvPr>
        </p:nvSpPr>
        <p:spPr>
          <a:xfrm>
            <a:off x="1270464" y="1144124"/>
            <a:ext cx="6985001" cy="4569752"/>
          </a:xfrm>
          <a:custGeom>
            <a:avLst/>
            <a:gdLst>
              <a:gd name="connsiteX0" fmla="*/ 0 w 13970001"/>
              <a:gd name="connsiteY0" fmla="*/ 0 h 9139503"/>
              <a:gd name="connsiteX1" fmla="*/ 13970001 w 13970001"/>
              <a:gd name="connsiteY1" fmla="*/ 0 h 9139503"/>
              <a:gd name="connsiteX2" fmla="*/ 13970001 w 13970001"/>
              <a:gd name="connsiteY2" fmla="*/ 9139503 h 9139503"/>
              <a:gd name="connsiteX3" fmla="*/ 0 w 13970001"/>
              <a:gd name="connsiteY3" fmla="*/ 9139503 h 9139503"/>
            </a:gdLst>
            <a:ahLst/>
            <a:cxnLst>
              <a:cxn ang="0">
                <a:pos x="connsiteX0" y="connsiteY0"/>
              </a:cxn>
              <a:cxn ang="0">
                <a:pos x="connsiteX1" y="connsiteY1"/>
              </a:cxn>
              <a:cxn ang="0">
                <a:pos x="connsiteX2" y="connsiteY2"/>
              </a:cxn>
              <a:cxn ang="0">
                <a:pos x="connsiteX3" y="connsiteY3"/>
              </a:cxn>
            </a:cxnLst>
            <a:rect l="l" t="t" r="r" b="b"/>
            <a:pathLst>
              <a:path w="13970001" h="9139503">
                <a:moveTo>
                  <a:pt x="0" y="0"/>
                </a:moveTo>
                <a:lnTo>
                  <a:pt x="13970001" y="0"/>
                </a:lnTo>
                <a:lnTo>
                  <a:pt x="13970001" y="9139503"/>
                </a:lnTo>
                <a:lnTo>
                  <a:pt x="0" y="9139503"/>
                </a:lnTo>
                <a:close/>
              </a:path>
            </a:pathLst>
          </a:custGeom>
          <a:solidFill>
            <a:srgbClr val="BABEC7"/>
          </a:solidFill>
          <a:ln w="12700">
            <a:miter lim="400000"/>
          </a:ln>
          <a:extLst>
            <a:ext uri="{C572A759-6A51-4108-AA02-DFA0A04FC94B}">
              <ma14:wrappingTextBoxFlag xmlns:ma14="http://schemas.microsoft.com/office/mac/drawingml/2011/main" xmlns=""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sp>
        <p:nvSpPr>
          <p:cNvPr id="4" name="Slide Number">
            <a:extLst>
              <a:ext uri="{FF2B5EF4-FFF2-40B4-BE49-F238E27FC236}">
                <a16:creationId xmlns:a16="http://schemas.microsoft.com/office/drawing/2014/main" id="{908AF26D-F702-48A7-978A-FF9653C40225}"/>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sp>
        <p:nvSpPr>
          <p:cNvPr id="2" name="Titolo 1">
            <a:extLst>
              <a:ext uri="{FF2B5EF4-FFF2-40B4-BE49-F238E27FC236}">
                <a16:creationId xmlns:a16="http://schemas.microsoft.com/office/drawing/2014/main" id="{10BBB126-8E54-CAAF-C457-2392578BEE0D}"/>
              </a:ext>
            </a:extLst>
          </p:cNvPr>
          <p:cNvSpPr>
            <a:spLocks noGrp="1"/>
          </p:cNvSpPr>
          <p:nvPr>
            <p:ph type="title" hasCustomPrompt="1"/>
          </p:nvPr>
        </p:nvSpPr>
        <p:spPr>
          <a:xfrm>
            <a:off x="1692000" y="180000"/>
            <a:ext cx="9613900" cy="343940"/>
          </a:xfrm>
          <a:prstGeom prst="rect">
            <a:avLst/>
          </a:prstGeom>
        </p:spPr>
        <p:txBody>
          <a:bodyPr anchor="t">
            <a:spAutoFit/>
          </a:bodyPr>
          <a:lstStyle>
            <a:lvl1pPr>
              <a:defRPr sz="1800" b="1">
                <a:solidFill>
                  <a:schemeClr val="bg1">
                    <a:lumMod val="65000"/>
                  </a:schemeClr>
                </a:solidFill>
              </a:defRPr>
            </a:lvl1pPr>
          </a:lstStyle>
          <a:p>
            <a:r>
              <a:rPr lang="it-IT"/>
              <a:t>Sezione (Grigio) | Titolo diapositiva (Nero)</a:t>
            </a:r>
          </a:p>
        </p:txBody>
      </p:sp>
    </p:spTree>
    <p:extLst>
      <p:ext uri="{BB962C8B-B14F-4D97-AF65-F5344CB8AC3E}">
        <p14:creationId xmlns:p14="http://schemas.microsoft.com/office/powerpoint/2010/main" val="15014445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age w/o line_black">
    <p:bg>
      <p:bgRef idx="1001">
        <a:schemeClr val="bg1"/>
      </p:bgRef>
    </p:bg>
    <p:spTree>
      <p:nvGrpSpPr>
        <p:cNvPr id="1" name=""/>
        <p:cNvGrpSpPr/>
        <p:nvPr/>
      </p:nvGrpSpPr>
      <p:grpSpPr>
        <a:xfrm>
          <a:off x="0" y="0"/>
          <a:ext cx="0" cy="0"/>
          <a:chOff x="0" y="0"/>
          <a:chExt cx="0" cy="0"/>
        </a:xfrm>
      </p:grpSpPr>
      <p:sp>
        <p:nvSpPr>
          <p:cNvPr id="6" name="Picture Placeholder 17">
            <a:extLst>
              <a:ext uri="{FF2B5EF4-FFF2-40B4-BE49-F238E27FC236}">
                <a16:creationId xmlns:a16="http://schemas.microsoft.com/office/drawing/2014/main" id="{44363CDA-3406-48A0-708E-042F684EEB0E}"/>
              </a:ext>
            </a:extLst>
          </p:cNvPr>
          <p:cNvSpPr>
            <a:spLocks noGrp="1"/>
          </p:cNvSpPr>
          <p:nvPr>
            <p:ph type="pic" sz="quarter" idx="20" hasCustomPrompt="1"/>
          </p:nvPr>
        </p:nvSpPr>
        <p:spPr>
          <a:xfrm>
            <a:off x="0" y="1687"/>
            <a:ext cx="1828800" cy="6854627"/>
          </a:xfrm>
          <a:custGeom>
            <a:avLst/>
            <a:gdLst>
              <a:gd name="connsiteX0" fmla="*/ 0 w 4826000"/>
              <a:gd name="connsiteY0" fmla="*/ 0 h 13709254"/>
              <a:gd name="connsiteX1" fmla="*/ 4826000 w 4826000"/>
              <a:gd name="connsiteY1" fmla="*/ 0 h 13709254"/>
              <a:gd name="connsiteX2" fmla="*/ 4826000 w 4826000"/>
              <a:gd name="connsiteY2" fmla="*/ 13709254 h 13709254"/>
              <a:gd name="connsiteX3" fmla="*/ 0 w 4826000"/>
              <a:gd name="connsiteY3" fmla="*/ 13709254 h 13709254"/>
            </a:gdLst>
            <a:ahLst/>
            <a:cxnLst>
              <a:cxn ang="0">
                <a:pos x="connsiteX0" y="connsiteY0"/>
              </a:cxn>
              <a:cxn ang="0">
                <a:pos x="connsiteX1" y="connsiteY1"/>
              </a:cxn>
              <a:cxn ang="0">
                <a:pos x="connsiteX2" y="connsiteY2"/>
              </a:cxn>
              <a:cxn ang="0">
                <a:pos x="connsiteX3" y="connsiteY3"/>
              </a:cxn>
            </a:cxnLst>
            <a:rect l="l" t="t" r="r" b="b"/>
            <a:pathLst>
              <a:path w="4826000" h="13709254">
                <a:moveTo>
                  <a:pt x="0" y="0"/>
                </a:moveTo>
                <a:lnTo>
                  <a:pt x="4826000" y="0"/>
                </a:lnTo>
                <a:lnTo>
                  <a:pt x="4826000" y="13709254"/>
                </a:lnTo>
                <a:lnTo>
                  <a:pt x="0" y="13709254"/>
                </a:lnTo>
                <a:close/>
              </a:path>
            </a:pathLst>
          </a:custGeom>
          <a:solidFill>
            <a:srgbClr val="BABEC7"/>
          </a:solidFill>
          <a:ln w="12700">
            <a:miter lim="400000"/>
          </a:ln>
          <a:extLst>
            <a:ext uri="{C572A759-6A51-4108-AA02-DFA0A04FC94B}">
              <ma14:wrappingTextBoxFlag xmlns:ma14="http://schemas.microsoft.com/office/mac/drawingml/2011/main" xmlns=""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sp>
        <p:nvSpPr>
          <p:cNvPr id="2" name="CasellaDiTesto 1">
            <a:extLst>
              <a:ext uri="{FF2B5EF4-FFF2-40B4-BE49-F238E27FC236}">
                <a16:creationId xmlns:a16="http://schemas.microsoft.com/office/drawing/2014/main" id="{9C5F27E5-ACED-A14C-A61F-561997B2161C}"/>
              </a:ext>
            </a:extLst>
          </p:cNvPr>
          <p:cNvSpPr txBox="1"/>
          <p:nvPr userDrawn="1"/>
        </p:nvSpPr>
        <p:spPr>
          <a:xfrm>
            <a:off x="3624146" y="802888"/>
            <a:ext cx="184731" cy="369332"/>
          </a:xfrm>
          <a:prstGeom prst="rect">
            <a:avLst/>
          </a:prstGeom>
          <a:noFill/>
        </p:spPr>
        <p:txBody>
          <a:bodyPr wrap="none" rtlCol="0">
            <a:spAutoFit/>
          </a:bodyPr>
          <a:lstStyle/>
          <a:p>
            <a:endParaRPr lang="it-IT"/>
          </a:p>
        </p:txBody>
      </p:sp>
      <p:pic>
        <p:nvPicPr>
          <p:cNvPr id="5" name="Immagine 11">
            <a:extLst>
              <a:ext uri="{FF2B5EF4-FFF2-40B4-BE49-F238E27FC236}">
                <a16:creationId xmlns:a16="http://schemas.microsoft.com/office/drawing/2014/main" id="{F19B333C-338B-E340-82D3-7C3AFEED2752}"/>
              </a:ext>
            </a:extLst>
          </p:cNvPr>
          <p:cNvPicPr>
            <a:picLocks noChangeAspect="1"/>
          </p:cNvPicPr>
          <p:nvPr userDrawn="1"/>
        </p:nvPicPr>
        <p:blipFill>
          <a:blip r:embed="rId2"/>
          <a:stretch>
            <a:fillRect/>
          </a:stretch>
        </p:blipFill>
        <p:spPr>
          <a:xfrm>
            <a:off x="238259" y="293987"/>
            <a:ext cx="619125" cy="206375"/>
          </a:xfrm>
          <a:prstGeom prst="rect">
            <a:avLst/>
          </a:prstGeom>
        </p:spPr>
      </p:pic>
      <p:sp>
        <p:nvSpPr>
          <p:cNvPr id="7" name="Line">
            <a:extLst>
              <a:ext uri="{FF2B5EF4-FFF2-40B4-BE49-F238E27FC236}">
                <a16:creationId xmlns:a16="http://schemas.microsoft.com/office/drawing/2014/main" id="{03A22E50-4B9E-2245-B435-F9215000A0EF}"/>
              </a:ext>
            </a:extLst>
          </p:cNvPr>
          <p:cNvSpPr/>
          <p:nvPr userDrawn="1"/>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4" name="Slide Number">
            <a:extLst>
              <a:ext uri="{FF2B5EF4-FFF2-40B4-BE49-F238E27FC236}">
                <a16:creationId xmlns:a16="http://schemas.microsoft.com/office/drawing/2014/main" id="{478091FB-591C-E81D-963F-F29957D7D6CB}"/>
              </a:ext>
            </a:extLst>
          </p:cNvPr>
          <p:cNvSpPr txBox="1">
            <a:spLocks/>
          </p:cNvSpPr>
          <p:nvPr userDrawn="1"/>
        </p:nvSpPr>
        <p:spPr>
          <a:xfrm>
            <a:off x="11775807" y="237893"/>
            <a:ext cx="177934" cy="153888"/>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lang="it-IT" sz="900" b="0" i="0" u="none" strike="noStrike" cap="none" spc="0" normalizeH="0" baseline="0">
                <a:ln>
                  <a:noFill/>
                </a:ln>
                <a:solidFill>
                  <a:srgbClr val="000000"/>
                </a:solidFill>
                <a:effectLst/>
                <a:uFillTx/>
              </a:defRPr>
            </a:defPPr>
            <a:lvl1pPr marL="0" marR="0" indent="0" algn="ctr" defTabSz="412750" rtl="0" eaLnBrk="1" fontAlgn="auto" latinLnBrk="0" hangingPunct="0">
              <a:lnSpc>
                <a:spcPct val="100000"/>
              </a:lnSpc>
              <a:spcBef>
                <a:spcPts val="0"/>
              </a:spcBef>
              <a:spcAft>
                <a:spcPts val="0"/>
              </a:spcAft>
              <a:buClrTx/>
              <a:buSzTx/>
              <a:buFontTx/>
              <a:buNone/>
              <a:tabLst/>
              <a:defRPr kumimoji="0" sz="1000" b="0" i="0" u="none" strike="noStrike" kern="1200" cap="none" spc="0" normalizeH="0" baseline="0">
                <a:ln>
                  <a:noFill/>
                </a:ln>
                <a:solidFill>
                  <a:srgbClr val="2C2E3C"/>
                </a:solidFill>
                <a:effectLst/>
                <a:uFillTx/>
                <a:latin typeface="+mn-lt"/>
                <a:ea typeface="Roboto Bold"/>
                <a:cs typeface="Roboto Bold"/>
                <a:sym typeface="Roboto Bold"/>
              </a:defRPr>
            </a:lvl1pPr>
            <a:lvl2pPr marL="0" marR="0" indent="1143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9pPr>
          </a:lstStyle>
          <a:p>
            <a:pPr defTabSz="206375"/>
            <a:fld id="{86CB4B4D-7CA3-9044-876B-883B54F8677D}" type="slidenum">
              <a:rPr lang="it-IT">
                <a:latin typeface="+mn-lt"/>
              </a:rPr>
              <a:pPr defTabSz="206375"/>
              <a:t>‹N›</a:t>
            </a:fld>
            <a:endParaRPr lang="it-IT">
              <a:latin typeface="+mn-lt"/>
            </a:endParaRPr>
          </a:p>
        </p:txBody>
      </p:sp>
    </p:spTree>
    <p:extLst>
      <p:ext uri="{BB962C8B-B14F-4D97-AF65-F5344CB8AC3E}">
        <p14:creationId xmlns:p14="http://schemas.microsoft.com/office/powerpoint/2010/main" val="3390784455"/>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in Page + Tit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3E36800-43C8-DEC6-A723-69FEBFA9A529}"/>
              </a:ext>
            </a:extLst>
          </p:cNvPr>
          <p:cNvSpPr>
            <a:spLocks noGrp="1"/>
          </p:cNvSpPr>
          <p:nvPr>
            <p:ph type="title" hasCustomPrompt="1"/>
          </p:nvPr>
        </p:nvSpPr>
        <p:spPr>
          <a:xfrm>
            <a:off x="1692000" y="180000"/>
            <a:ext cx="9613900" cy="343940"/>
          </a:xfrm>
          <a:prstGeom prst="rect">
            <a:avLst/>
          </a:prstGeom>
        </p:spPr>
        <p:txBody>
          <a:bodyPr anchor="t">
            <a:spAutoFit/>
          </a:bodyPr>
          <a:lstStyle>
            <a:lvl1pPr>
              <a:defRPr sz="1800" b="1">
                <a:solidFill>
                  <a:schemeClr val="bg1">
                    <a:lumMod val="65000"/>
                  </a:schemeClr>
                </a:solidFill>
              </a:defRPr>
            </a:lvl1pPr>
          </a:lstStyle>
          <a:p>
            <a:r>
              <a:rPr lang="it-IT"/>
              <a:t>Sezione (Grigio) | Titolo diapositiva (Nero)</a:t>
            </a:r>
          </a:p>
        </p:txBody>
      </p:sp>
    </p:spTree>
    <p:extLst>
      <p:ext uri="{BB962C8B-B14F-4D97-AF65-F5344CB8AC3E}">
        <p14:creationId xmlns:p14="http://schemas.microsoft.com/office/powerpoint/2010/main" val="1486385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in Page + Title (no logh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3E36800-43C8-DEC6-A723-69FEBFA9A529}"/>
              </a:ext>
            </a:extLst>
          </p:cNvPr>
          <p:cNvSpPr>
            <a:spLocks noGrp="1"/>
          </p:cNvSpPr>
          <p:nvPr>
            <p:ph type="title" hasCustomPrompt="1"/>
          </p:nvPr>
        </p:nvSpPr>
        <p:spPr>
          <a:xfrm>
            <a:off x="1692000" y="180000"/>
            <a:ext cx="9613900" cy="343940"/>
          </a:xfrm>
          <a:prstGeom prst="rect">
            <a:avLst/>
          </a:prstGeom>
        </p:spPr>
        <p:txBody>
          <a:bodyPr anchor="t">
            <a:spAutoFit/>
          </a:bodyPr>
          <a:lstStyle>
            <a:lvl1pPr>
              <a:defRPr sz="1800" b="1">
                <a:solidFill>
                  <a:schemeClr val="bg1">
                    <a:lumMod val="65000"/>
                  </a:schemeClr>
                </a:solidFill>
              </a:defRPr>
            </a:lvl1pPr>
          </a:lstStyle>
          <a:p>
            <a:r>
              <a:rPr lang="it-IT"/>
              <a:t>Sezione (Grigio) | Titolo diapositiva (Nero)</a:t>
            </a:r>
          </a:p>
        </p:txBody>
      </p:sp>
      <p:sp>
        <p:nvSpPr>
          <p:cNvPr id="3" name="Rettangolo 2">
            <a:extLst>
              <a:ext uri="{FF2B5EF4-FFF2-40B4-BE49-F238E27FC236}">
                <a16:creationId xmlns:a16="http://schemas.microsoft.com/office/drawing/2014/main" id="{06E8B3A3-7C12-A485-C108-19E070F7ED5D}"/>
              </a:ext>
            </a:extLst>
          </p:cNvPr>
          <p:cNvSpPr/>
          <p:nvPr userDrawn="1"/>
        </p:nvSpPr>
        <p:spPr>
          <a:xfrm>
            <a:off x="0" y="5608320"/>
            <a:ext cx="2110740" cy="12496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Rettangolo 3">
            <a:extLst>
              <a:ext uri="{FF2B5EF4-FFF2-40B4-BE49-F238E27FC236}">
                <a16:creationId xmlns:a16="http://schemas.microsoft.com/office/drawing/2014/main" id="{30A7DA24-DCFB-82EF-C756-7BD16D6C6728}"/>
              </a:ext>
            </a:extLst>
          </p:cNvPr>
          <p:cNvSpPr/>
          <p:nvPr userDrawn="1"/>
        </p:nvSpPr>
        <p:spPr>
          <a:xfrm>
            <a:off x="9936480" y="5143500"/>
            <a:ext cx="2255520" cy="1714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4228359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D9708D6A-E2CF-BC41-8509-EEA97311EC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2628382" y="-2628380"/>
            <a:ext cx="6935241" cy="12192002"/>
          </a:xfrm>
          <a:prstGeom prst="rect">
            <a:avLst/>
          </a:prstGeom>
        </p:spPr>
      </p:pic>
      <p:pic>
        <p:nvPicPr>
          <p:cNvPr id="6" name="Immagine 5">
            <a:extLst>
              <a:ext uri="{FF2B5EF4-FFF2-40B4-BE49-F238E27FC236}">
                <a16:creationId xmlns:a16="http://schemas.microsoft.com/office/drawing/2014/main" id="{A2CEA197-26CD-7548-8AD4-36A8E1E3475C}"/>
              </a:ext>
            </a:extLst>
          </p:cNvPr>
          <p:cNvPicPr>
            <a:picLocks noChangeAspect="1"/>
          </p:cNvPicPr>
          <p:nvPr userDrawn="1"/>
        </p:nvPicPr>
        <p:blipFill rotWithShape="1">
          <a:blip r:embed="rId3">
            <a:alphaModFix amt="36000"/>
            <a:extLst>
              <a:ext uri="{28A0092B-C50C-407E-A947-70E740481C1C}">
                <a14:useLocalDpi xmlns:a14="http://schemas.microsoft.com/office/drawing/2010/main"/>
              </a:ext>
            </a:extLst>
          </a:blip>
          <a:srcRect l="4280" r="9866" b="20567"/>
          <a:stretch/>
        </p:blipFill>
        <p:spPr>
          <a:xfrm>
            <a:off x="0" y="2431812"/>
            <a:ext cx="12192000" cy="4503431"/>
          </a:xfrm>
          <a:prstGeom prst="rect">
            <a:avLst/>
          </a:prstGeom>
        </p:spPr>
      </p:pic>
      <p:pic>
        <p:nvPicPr>
          <p:cNvPr id="11" name="Picture 5" descr="Icon&#10;&#10;Description automatically generated">
            <a:extLst>
              <a:ext uri="{FF2B5EF4-FFF2-40B4-BE49-F238E27FC236}">
                <a16:creationId xmlns:a16="http://schemas.microsoft.com/office/drawing/2014/main" id="{2571E14A-3F49-240F-68A2-350AB3B9FFE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41814" y="186722"/>
            <a:ext cx="1295775" cy="293716"/>
          </a:xfrm>
          <a:prstGeom prst="rect">
            <a:avLst/>
          </a:prstGeom>
        </p:spPr>
      </p:pic>
      <p:sp>
        <p:nvSpPr>
          <p:cNvPr id="12" name="Titolo 11">
            <a:extLst>
              <a:ext uri="{FF2B5EF4-FFF2-40B4-BE49-F238E27FC236}">
                <a16:creationId xmlns:a16="http://schemas.microsoft.com/office/drawing/2014/main" id="{A957F2E0-24E9-B09B-2E35-EFF4B78EC8B9}"/>
              </a:ext>
            </a:extLst>
          </p:cNvPr>
          <p:cNvSpPr>
            <a:spLocks noGrp="1"/>
          </p:cNvSpPr>
          <p:nvPr>
            <p:ph type="title" hasCustomPrompt="1"/>
          </p:nvPr>
        </p:nvSpPr>
        <p:spPr>
          <a:xfrm>
            <a:off x="5165760" y="3015227"/>
            <a:ext cx="6220846" cy="1192677"/>
          </a:xfrm>
          <a:prstGeom prst="rect">
            <a:avLst/>
          </a:prstGeom>
        </p:spPr>
        <p:txBody>
          <a:bodyPr/>
          <a:lstStyle>
            <a:lvl1pPr algn="r">
              <a:defRPr sz="4000" b="1">
                <a:solidFill>
                  <a:schemeClr val="bg1"/>
                </a:solidFill>
              </a:defRPr>
            </a:lvl1pPr>
          </a:lstStyle>
          <a:p>
            <a:r>
              <a:rPr lang="it-IT"/>
              <a:t>Titolo</a:t>
            </a:r>
          </a:p>
        </p:txBody>
      </p:sp>
    </p:spTree>
    <p:extLst>
      <p:ext uri="{BB962C8B-B14F-4D97-AF65-F5344CB8AC3E}">
        <p14:creationId xmlns:p14="http://schemas.microsoft.com/office/powerpoint/2010/main" val="117644318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White Base">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300FD4E4-0724-4BCF-8CF1-A24C4DC3E07C}"/>
              </a:ext>
            </a:extLst>
          </p:cNvPr>
          <p:cNvSpPr txBox="1">
            <a:spLocks noGrp="1"/>
          </p:cNvSpPr>
          <p:nvPr>
            <p:ph type="sldNum" sz="quarter" idx="2"/>
          </p:nvPr>
        </p:nvSpPr>
        <p:spPr>
          <a:xfrm>
            <a:off x="5946152" y="6540500"/>
            <a:ext cx="293350" cy="286617"/>
          </a:xfrm>
          <a:prstGeom prst="rect">
            <a:avLst/>
          </a:prstGeom>
        </p:spPr>
        <p:txBody>
          <a:bodyPr lIns="50800" tIns="50800" rIns="50800" bIns="50800"/>
          <a:lstStyle>
            <a:lvl1pPr>
              <a:defRPr sz="1196">
                <a:solidFill>
                  <a:srgbClr val="000000"/>
                </a:solidFill>
                <a:latin typeface="Helvetica Neue Light"/>
                <a:ea typeface="Helvetica Neue Light"/>
                <a:cs typeface="Helvetica Neue Light"/>
                <a:sym typeface="Helvetica Neue Light"/>
              </a:defRPr>
            </a:lvl1pPr>
          </a:lstStyle>
          <a:p>
            <a:fld id="{86CB4B4D-7CA3-9044-876B-883B54F8677D}" type="slidenum">
              <a:t>‹N›</a:t>
            </a:fld>
            <a:endParaRPr/>
          </a:p>
        </p:txBody>
      </p:sp>
    </p:spTree>
    <p:extLst>
      <p:ext uri="{BB962C8B-B14F-4D97-AF65-F5344CB8AC3E}">
        <p14:creationId xmlns:p14="http://schemas.microsoft.com/office/powerpoint/2010/main" val="3437509706"/>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ain TXT Style Wav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1451" y="268586"/>
            <a:ext cx="177934" cy="153888"/>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lang="it-IT" sz="1000"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
        <p:nvSpPr>
          <p:cNvPr id="5" name="Title 1">
            <a:extLst>
              <a:ext uri="{FF2B5EF4-FFF2-40B4-BE49-F238E27FC236}">
                <a16:creationId xmlns:a16="http://schemas.microsoft.com/office/drawing/2014/main" id="{58110075-9EAF-4591-AB89-6E0F29422819}"/>
              </a:ext>
            </a:extLst>
          </p:cNvPr>
          <p:cNvSpPr txBox="1">
            <a:spLocks/>
          </p:cNvSpPr>
          <p:nvPr userDrawn="1"/>
        </p:nvSpPr>
        <p:spPr>
          <a:xfrm>
            <a:off x="2388937" y="268586"/>
            <a:ext cx="7603049" cy="552275"/>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pPr>
              <a:defRPr/>
            </a:pPr>
            <a:endParaRPr lang="en-US" sz="3200">
              <a:solidFill>
                <a:srgbClr val="171916"/>
              </a:solidFill>
              <a:latin typeface="Poppins Medium" pitchFamily="2" charset="77"/>
              <a:cs typeface="Poppins Medium" pitchFamily="2" charset="77"/>
            </a:endParaRPr>
          </a:p>
        </p:txBody>
      </p:sp>
      <p:sp>
        <p:nvSpPr>
          <p:cNvPr id="6" name="Title 5">
            <a:extLst>
              <a:ext uri="{FF2B5EF4-FFF2-40B4-BE49-F238E27FC236}">
                <a16:creationId xmlns:a16="http://schemas.microsoft.com/office/drawing/2014/main" id="{7563F751-8D4F-49D9-90C5-07B8CCB457B7}"/>
              </a:ext>
            </a:extLst>
          </p:cNvPr>
          <p:cNvSpPr>
            <a:spLocks noGrp="1"/>
          </p:cNvSpPr>
          <p:nvPr>
            <p:ph type="title"/>
          </p:nvPr>
        </p:nvSpPr>
        <p:spPr>
          <a:xfrm>
            <a:off x="2200015" y="211435"/>
            <a:ext cx="7791972" cy="552275"/>
          </a:xfrm>
          <a:prstGeom prst="rect">
            <a:avLst/>
          </a:prstGeom>
        </p:spPr>
        <p:txBody>
          <a:bodyPr/>
          <a:lstStyle>
            <a:lvl1pPr algn="ctr">
              <a:defRPr sz="2800">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pic>
        <p:nvPicPr>
          <p:cNvPr id="2" name="Immagine 5">
            <a:extLst>
              <a:ext uri="{FF2B5EF4-FFF2-40B4-BE49-F238E27FC236}">
                <a16:creationId xmlns:a16="http://schemas.microsoft.com/office/drawing/2014/main" id="{3C7E2B98-E65E-D3FF-791A-44B3C829E05A}"/>
              </a:ext>
            </a:extLst>
          </p:cNvPr>
          <p:cNvPicPr>
            <a:picLocks noChangeAspect="1"/>
          </p:cNvPicPr>
          <p:nvPr userDrawn="1"/>
        </p:nvPicPr>
        <p:blipFill>
          <a:blip r:embed="rId2">
            <a:alphaModFix amt="36000"/>
            <a:duotone>
              <a:prstClr val="black"/>
              <a:srgbClr val="42B59E">
                <a:tint val="45000"/>
                <a:satMod val="400000"/>
              </a:srgbClr>
            </a:duotone>
            <a:extLst>
              <a:ext uri="{28A0092B-C50C-407E-A947-70E740481C1C}">
                <a14:useLocalDpi xmlns:a14="http://schemas.microsoft.com/office/drawing/2010/main"/>
              </a:ext>
            </a:extLst>
          </a:blip>
          <a:srcRect l="4280" t="28168" r="9866"/>
          <a:stretch/>
        </p:blipFill>
        <p:spPr>
          <a:xfrm>
            <a:off x="0" y="1366871"/>
            <a:ext cx="12192000" cy="4072518"/>
          </a:xfrm>
          <a:prstGeom prst="rect">
            <a:avLst/>
          </a:prstGeom>
        </p:spPr>
      </p:pic>
    </p:spTree>
    <p:extLst>
      <p:ext uri="{BB962C8B-B14F-4D97-AF65-F5344CB8AC3E}">
        <p14:creationId xmlns:p14="http://schemas.microsoft.com/office/powerpoint/2010/main" val="35723302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0496" y="268586"/>
            <a:ext cx="179844" cy="153380"/>
          </a:xfrm>
          <a:prstGeom prst="rect">
            <a:avLst/>
          </a:prstGeom>
          <a:ln w="12700">
            <a:miter lim="400000"/>
          </a:ln>
        </p:spPr>
        <p:txBody>
          <a:bodyPr wrap="none" lIns="0" tIns="0" rIns="0" bIns="0">
            <a:spAutoFit/>
          </a:bodyPr>
          <a:lstStyle>
            <a:defPPr marL="0" marR="0" indent="0" algn="l" defTabSz="455671" rtl="0" fontAlgn="auto" latinLnBrk="1" hangingPunct="0">
              <a:lnSpc>
                <a:spcPct val="100000"/>
              </a:lnSpc>
              <a:spcBef>
                <a:spcPts val="0"/>
              </a:spcBef>
              <a:spcAft>
                <a:spcPts val="0"/>
              </a:spcAft>
              <a:buClrTx/>
              <a:buSzTx/>
              <a:buFontTx/>
              <a:buNone/>
              <a:tabLst/>
              <a:defRPr kumimoji="0" sz="897" b="0" i="0" u="none" strike="noStrike" cap="none" spc="0" normalizeH="0" baseline="0">
                <a:ln>
                  <a:noFill/>
                </a:ln>
                <a:solidFill>
                  <a:srgbClr val="000000"/>
                </a:solidFill>
                <a:effectLst/>
                <a:uFillTx/>
              </a:defRPr>
            </a:defPPr>
            <a:lvl1pPr marL="0" marR="0" indent="0" algn="ctr" defTabSz="411370" rtl="0" fontAlgn="auto" latinLnBrk="0" hangingPunct="0">
              <a:lnSpc>
                <a:spcPct val="100000"/>
              </a:lnSpc>
              <a:spcBef>
                <a:spcPts val="0"/>
              </a:spcBef>
              <a:spcAft>
                <a:spcPts val="0"/>
              </a:spcAft>
              <a:buClrTx/>
              <a:buSzTx/>
              <a:buFontTx/>
              <a:buNone/>
              <a:tabLst/>
              <a:defRPr kumimoji="0" lang="it-IT" sz="997"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3918"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7835"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1753"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5671"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69589"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3506"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797424"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1342"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
        <p:nvSpPr>
          <p:cNvPr id="5" name="Title 1">
            <a:extLst>
              <a:ext uri="{FF2B5EF4-FFF2-40B4-BE49-F238E27FC236}">
                <a16:creationId xmlns:a16="http://schemas.microsoft.com/office/drawing/2014/main" id="{58110075-9EAF-4591-AB89-6E0F29422819}"/>
              </a:ext>
            </a:extLst>
          </p:cNvPr>
          <p:cNvSpPr txBox="1">
            <a:spLocks/>
          </p:cNvSpPr>
          <p:nvPr userDrawn="1"/>
        </p:nvSpPr>
        <p:spPr>
          <a:xfrm>
            <a:off x="2388938" y="268587"/>
            <a:ext cx="7603049" cy="552275"/>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pPr>
              <a:defRPr/>
            </a:pPr>
            <a:endParaRPr lang="en-US" sz="3189">
              <a:solidFill>
                <a:srgbClr val="171916"/>
              </a:solidFill>
              <a:latin typeface="Poppins Medium" pitchFamily="2" charset="77"/>
              <a:cs typeface="Poppins Medium" pitchFamily="2" charset="77"/>
            </a:endParaRPr>
          </a:p>
        </p:txBody>
      </p:sp>
      <p:sp>
        <p:nvSpPr>
          <p:cNvPr id="6" name="Title 5">
            <a:extLst>
              <a:ext uri="{FF2B5EF4-FFF2-40B4-BE49-F238E27FC236}">
                <a16:creationId xmlns:a16="http://schemas.microsoft.com/office/drawing/2014/main" id="{7563F751-8D4F-49D9-90C5-07B8CCB457B7}"/>
              </a:ext>
            </a:extLst>
          </p:cNvPr>
          <p:cNvSpPr>
            <a:spLocks noGrp="1"/>
          </p:cNvSpPr>
          <p:nvPr>
            <p:ph type="title"/>
          </p:nvPr>
        </p:nvSpPr>
        <p:spPr>
          <a:xfrm>
            <a:off x="1267709" y="268586"/>
            <a:ext cx="9656583" cy="552275"/>
          </a:xfrm>
          <a:prstGeom prst="rect">
            <a:avLst/>
          </a:prstGeom>
        </p:spPr>
        <p:txBody>
          <a:bodyPr/>
          <a:lstStyle>
            <a:lvl1pPr algn="ctr">
              <a:defRPr sz="2791">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sp>
        <p:nvSpPr>
          <p:cNvPr id="2" name="TextBox 1">
            <a:extLst>
              <a:ext uri="{FF2B5EF4-FFF2-40B4-BE49-F238E27FC236}">
                <a16:creationId xmlns:a16="http://schemas.microsoft.com/office/drawing/2014/main" id="{BE319AD4-530C-ED84-7696-EE78B9428EB0}"/>
              </a:ext>
            </a:extLst>
          </p:cNvPr>
          <p:cNvSpPr txBox="1"/>
          <p:nvPr userDrawn="1"/>
        </p:nvSpPr>
        <p:spPr>
          <a:xfrm>
            <a:off x="11439868" y="418399"/>
            <a:ext cx="728754" cy="200055"/>
          </a:xfrm>
          <a:prstGeom prst="rect">
            <a:avLst/>
          </a:prstGeom>
          <a:solidFill>
            <a:schemeClr val="bg1"/>
          </a:solidFill>
          <a:effectLst>
            <a:outerShdw blurRad="50800" dist="50800" dir="5400000" algn="ctr" rotWithShape="0">
              <a:schemeClr val="bg2"/>
            </a:outerShdw>
          </a:effectLst>
        </p:spPr>
        <p:txBody>
          <a:bodyPr wrap="square" rtlCol="0">
            <a:spAutoFit/>
          </a:bodyPr>
          <a:lstStyle/>
          <a:p>
            <a:pPr algn="r"/>
            <a:r>
              <a:rPr lang="en-US" sz="700"/>
              <a:t>26/06/2025</a:t>
            </a:r>
          </a:p>
        </p:txBody>
      </p:sp>
    </p:spTree>
    <p:extLst>
      <p:ext uri="{BB962C8B-B14F-4D97-AF65-F5344CB8AC3E}">
        <p14:creationId xmlns:p14="http://schemas.microsoft.com/office/powerpoint/2010/main" val="17316968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text">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0496" y="268586"/>
            <a:ext cx="179844" cy="153380"/>
          </a:xfrm>
          <a:prstGeom prst="rect">
            <a:avLst/>
          </a:prstGeom>
          <a:ln w="12700">
            <a:miter lim="400000"/>
          </a:ln>
        </p:spPr>
        <p:txBody>
          <a:bodyPr wrap="none" lIns="0" tIns="0" rIns="0" bIns="0">
            <a:spAutoFit/>
          </a:bodyPr>
          <a:lstStyle>
            <a:defPPr marL="0" marR="0" indent="0" algn="l" defTabSz="455671" rtl="0" fontAlgn="auto" latinLnBrk="1" hangingPunct="0">
              <a:lnSpc>
                <a:spcPct val="100000"/>
              </a:lnSpc>
              <a:spcBef>
                <a:spcPts val="0"/>
              </a:spcBef>
              <a:spcAft>
                <a:spcPts val="0"/>
              </a:spcAft>
              <a:buClrTx/>
              <a:buSzTx/>
              <a:buFontTx/>
              <a:buNone/>
              <a:tabLst/>
              <a:defRPr kumimoji="0" sz="897" b="0" i="0" u="none" strike="noStrike" cap="none" spc="0" normalizeH="0" baseline="0">
                <a:ln>
                  <a:noFill/>
                </a:ln>
                <a:solidFill>
                  <a:srgbClr val="000000"/>
                </a:solidFill>
                <a:effectLst/>
                <a:uFillTx/>
              </a:defRPr>
            </a:defPPr>
            <a:lvl1pPr marL="0" marR="0" indent="0" algn="ctr" defTabSz="411370" rtl="0" fontAlgn="auto" latinLnBrk="0" hangingPunct="0">
              <a:lnSpc>
                <a:spcPct val="100000"/>
              </a:lnSpc>
              <a:spcBef>
                <a:spcPts val="0"/>
              </a:spcBef>
              <a:spcAft>
                <a:spcPts val="0"/>
              </a:spcAft>
              <a:buClrTx/>
              <a:buSzTx/>
              <a:buFontTx/>
              <a:buNone/>
              <a:tabLst/>
              <a:defRPr kumimoji="0" lang="it-IT" sz="997"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3918"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7835"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1753"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5671"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69589"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3506"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797424"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1342"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
        <p:nvSpPr>
          <p:cNvPr id="5" name="Title 1">
            <a:extLst>
              <a:ext uri="{FF2B5EF4-FFF2-40B4-BE49-F238E27FC236}">
                <a16:creationId xmlns:a16="http://schemas.microsoft.com/office/drawing/2014/main" id="{58110075-9EAF-4591-AB89-6E0F29422819}"/>
              </a:ext>
            </a:extLst>
          </p:cNvPr>
          <p:cNvSpPr txBox="1">
            <a:spLocks/>
          </p:cNvSpPr>
          <p:nvPr userDrawn="1"/>
        </p:nvSpPr>
        <p:spPr>
          <a:xfrm>
            <a:off x="2388938" y="268587"/>
            <a:ext cx="7603049" cy="552275"/>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pPr>
              <a:defRPr/>
            </a:pPr>
            <a:endParaRPr lang="en-US" sz="3189">
              <a:solidFill>
                <a:srgbClr val="171916"/>
              </a:solidFill>
              <a:latin typeface="Poppins Medium" pitchFamily="2" charset="77"/>
              <a:cs typeface="Poppins Medium" pitchFamily="2" charset="77"/>
            </a:endParaRPr>
          </a:p>
        </p:txBody>
      </p:sp>
      <p:sp>
        <p:nvSpPr>
          <p:cNvPr id="6" name="Title 5">
            <a:extLst>
              <a:ext uri="{FF2B5EF4-FFF2-40B4-BE49-F238E27FC236}">
                <a16:creationId xmlns:a16="http://schemas.microsoft.com/office/drawing/2014/main" id="{7563F751-8D4F-49D9-90C5-07B8CCB457B7}"/>
              </a:ext>
            </a:extLst>
          </p:cNvPr>
          <p:cNvSpPr>
            <a:spLocks noGrp="1"/>
          </p:cNvSpPr>
          <p:nvPr>
            <p:ph type="title"/>
          </p:nvPr>
        </p:nvSpPr>
        <p:spPr>
          <a:xfrm>
            <a:off x="1267709" y="268586"/>
            <a:ext cx="9656583" cy="552275"/>
          </a:xfrm>
          <a:prstGeom prst="rect">
            <a:avLst/>
          </a:prstGeom>
        </p:spPr>
        <p:txBody>
          <a:bodyPr/>
          <a:lstStyle>
            <a:lvl1pPr algn="ctr">
              <a:defRPr sz="2791">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sp>
        <p:nvSpPr>
          <p:cNvPr id="4" name="Text Placeholder 3">
            <a:extLst>
              <a:ext uri="{FF2B5EF4-FFF2-40B4-BE49-F238E27FC236}">
                <a16:creationId xmlns:a16="http://schemas.microsoft.com/office/drawing/2014/main" id="{B82E4B8B-BFF9-4076-9D33-AB0148CD4F61}"/>
              </a:ext>
            </a:extLst>
          </p:cNvPr>
          <p:cNvSpPr>
            <a:spLocks noGrp="1"/>
          </p:cNvSpPr>
          <p:nvPr>
            <p:ph type="body" sz="quarter" idx="10"/>
          </p:nvPr>
        </p:nvSpPr>
        <p:spPr>
          <a:xfrm>
            <a:off x="853201" y="1000800"/>
            <a:ext cx="10485437" cy="1237575"/>
          </a:xfrm>
          <a:prstGeom prst="rect">
            <a:avLst/>
          </a:prstGeom>
        </p:spPr>
        <p:txBody>
          <a:bodyPr/>
          <a:lstStyle>
            <a:lvl1pPr marL="0" indent="0" algn="ctr">
              <a:lnSpc>
                <a:spcPct val="130000"/>
              </a:lnSpc>
              <a:buNone/>
              <a:defRPr sz="1400">
                <a:latin typeface="Poppins Light" panose="00000400000000000000" pitchFamily="2" charset="0"/>
                <a:cs typeface="Poppins Light" panose="00000400000000000000" pitchFamily="2" charset="0"/>
              </a:defRPr>
            </a:lvl1pPr>
            <a:lvl2pPr marL="455671" indent="0">
              <a:buNone/>
              <a:defRPr sz="1196">
                <a:latin typeface="Poppins Light" panose="00000400000000000000" pitchFamily="2" charset="0"/>
                <a:cs typeface="Poppins Light" panose="00000400000000000000" pitchFamily="2" charset="0"/>
              </a:defRPr>
            </a:lvl2pPr>
            <a:lvl3pPr marL="911342" indent="0">
              <a:buNone/>
              <a:defRPr sz="1196">
                <a:latin typeface="Poppins Light" panose="00000400000000000000" pitchFamily="2" charset="0"/>
                <a:cs typeface="Poppins Light" panose="00000400000000000000" pitchFamily="2" charset="0"/>
              </a:defRPr>
            </a:lvl3pPr>
            <a:lvl4pPr marL="1367013" indent="0">
              <a:buNone/>
              <a:defRPr sz="1196">
                <a:latin typeface="Poppins Light" panose="00000400000000000000" pitchFamily="2" charset="0"/>
                <a:cs typeface="Poppins Light" panose="00000400000000000000" pitchFamily="2" charset="0"/>
              </a:defRPr>
            </a:lvl4pPr>
            <a:lvl5pPr marL="1822684" indent="0">
              <a:buNone/>
              <a:defRPr sz="1196">
                <a:latin typeface="Poppins Light" panose="00000400000000000000" pitchFamily="2" charset="0"/>
                <a:cs typeface="Poppins Light" panose="00000400000000000000" pitchFamily="2" charset="0"/>
              </a:defRPr>
            </a:lvl5pPr>
          </a:lstStyle>
          <a:p>
            <a:pPr lvl="0"/>
            <a:r>
              <a:rPr lang="en-US"/>
              <a:t>Click to edit Master text styles</a:t>
            </a:r>
          </a:p>
        </p:txBody>
      </p:sp>
    </p:spTree>
    <p:extLst>
      <p:ext uri="{BB962C8B-B14F-4D97-AF65-F5344CB8AC3E}">
        <p14:creationId xmlns:p14="http://schemas.microsoft.com/office/powerpoint/2010/main" val="9650622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Main Pag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0496" y="268586"/>
            <a:ext cx="179844" cy="153380"/>
          </a:xfrm>
          <a:prstGeom prst="rect">
            <a:avLst/>
          </a:prstGeom>
          <a:ln w="12700">
            <a:miter lim="400000"/>
          </a:ln>
        </p:spPr>
        <p:txBody>
          <a:bodyPr wrap="none" lIns="0" tIns="0" rIns="0" bIns="0">
            <a:spAutoFit/>
          </a:bodyPr>
          <a:lstStyle>
            <a:defPPr marL="0" marR="0" indent="0" algn="l" defTabSz="454147" rtl="0" fontAlgn="auto" latinLnBrk="1" hangingPunct="0">
              <a:lnSpc>
                <a:spcPct val="100000"/>
              </a:lnSpc>
              <a:spcBef>
                <a:spcPts val="0"/>
              </a:spcBef>
              <a:spcAft>
                <a:spcPts val="0"/>
              </a:spcAft>
              <a:buClrTx/>
              <a:buSzTx/>
              <a:buFontTx/>
              <a:buNone/>
              <a:tabLst/>
              <a:defRPr kumimoji="0" sz="894" b="0" i="0" u="none" strike="noStrike" cap="none" spc="0" normalizeH="0" baseline="0">
                <a:ln>
                  <a:noFill/>
                </a:ln>
                <a:solidFill>
                  <a:srgbClr val="000000"/>
                </a:solidFill>
                <a:effectLst/>
                <a:uFillTx/>
              </a:defRPr>
            </a:defPPr>
            <a:lvl1pPr marL="0" marR="0" indent="0" algn="ctr" defTabSz="409994" rtl="0" fontAlgn="auto" latinLnBrk="0" hangingPunct="0">
              <a:lnSpc>
                <a:spcPct val="100000"/>
              </a:lnSpc>
              <a:spcBef>
                <a:spcPts val="0"/>
              </a:spcBef>
              <a:spcAft>
                <a:spcPts val="0"/>
              </a:spcAft>
              <a:buClrTx/>
              <a:buSzTx/>
              <a:buFontTx/>
              <a:buNone/>
              <a:tabLst/>
              <a:defRPr kumimoji="0" lang="it-IT" sz="994"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3537"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7073"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0610"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4147"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67684"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1220"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794757"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08294"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Tree>
    <p:extLst>
      <p:ext uri="{BB962C8B-B14F-4D97-AF65-F5344CB8AC3E}">
        <p14:creationId xmlns:p14="http://schemas.microsoft.com/office/powerpoint/2010/main" val="38905252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Cover">
    <p:spTree>
      <p:nvGrpSpPr>
        <p:cNvPr id="1" name=""/>
        <p:cNvGrpSpPr/>
        <p:nvPr/>
      </p:nvGrpSpPr>
      <p:grpSpPr>
        <a:xfrm>
          <a:off x="0" y="0"/>
          <a:ext cx="0" cy="0"/>
          <a:chOff x="0" y="0"/>
          <a:chExt cx="0" cy="0"/>
        </a:xfrm>
      </p:grpSpPr>
      <p:sp>
        <p:nvSpPr>
          <p:cNvPr id="14" name="Slide Number"/>
          <p:cNvSpPr txBox="1">
            <a:spLocks noGrp="1"/>
          </p:cNvSpPr>
          <p:nvPr>
            <p:ph type="sldNum" sz="quarter" idx="2"/>
          </p:nvPr>
        </p:nvSpPr>
        <p:spPr>
          <a:prstGeom prst="rect">
            <a:avLst/>
          </a:prstGeom>
        </p:spPr>
        <p:txBody>
          <a:bodyPr/>
          <a:lstStyle/>
          <a:p>
            <a:fld id="{86CB4B4D-7CA3-9044-876B-883B54F8677D}" type="slidenum">
              <a:t>‹N›</a:t>
            </a:fld>
            <a:endParaRPr/>
          </a:p>
        </p:txBody>
      </p:sp>
      <p:pic>
        <p:nvPicPr>
          <p:cNvPr id="5" name="Immagine 4">
            <a:extLst>
              <a:ext uri="{FF2B5EF4-FFF2-40B4-BE49-F238E27FC236}">
                <a16:creationId xmlns:a16="http://schemas.microsoft.com/office/drawing/2014/main" id="{D9708D6A-E2CF-BC41-8509-EEA97311EC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2628382" y="-2628380"/>
            <a:ext cx="6935241" cy="12192002"/>
          </a:xfrm>
          <a:prstGeom prst="rect">
            <a:avLst/>
          </a:prstGeom>
        </p:spPr>
      </p:pic>
      <p:pic>
        <p:nvPicPr>
          <p:cNvPr id="6" name="Immagine 5">
            <a:extLst>
              <a:ext uri="{FF2B5EF4-FFF2-40B4-BE49-F238E27FC236}">
                <a16:creationId xmlns:a16="http://schemas.microsoft.com/office/drawing/2014/main" id="{A2CEA197-26CD-7548-8AD4-36A8E1E3475C}"/>
              </a:ext>
            </a:extLst>
          </p:cNvPr>
          <p:cNvPicPr>
            <a:picLocks noChangeAspect="1"/>
          </p:cNvPicPr>
          <p:nvPr userDrawn="1"/>
        </p:nvPicPr>
        <p:blipFill>
          <a:blip r:embed="rId3">
            <a:alphaModFix amt="36000"/>
            <a:extLst>
              <a:ext uri="{28A0092B-C50C-407E-A947-70E740481C1C}">
                <a14:useLocalDpi xmlns:a14="http://schemas.microsoft.com/office/drawing/2010/main"/>
              </a:ext>
            </a:extLst>
          </a:blip>
          <a:stretch>
            <a:fillRect/>
          </a:stretch>
        </p:blipFill>
        <p:spPr>
          <a:xfrm>
            <a:off x="-607766" y="2431811"/>
            <a:ext cx="14200742" cy="5669498"/>
          </a:xfrm>
          <a:prstGeom prst="rect">
            <a:avLst/>
          </a:prstGeom>
        </p:spPr>
      </p:pic>
    </p:spTree>
    <p:extLst>
      <p:ext uri="{BB962C8B-B14F-4D97-AF65-F5344CB8AC3E}">
        <p14:creationId xmlns:p14="http://schemas.microsoft.com/office/powerpoint/2010/main" val="3874799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emf"/><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image" Target="../media/image9.png"/><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image" Target="../media/image8.png"/><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image" Target="../media/image7.png"/><Relationship Id="rId5" Type="http://schemas.openxmlformats.org/officeDocument/2006/relationships/slideLayout" Target="../slideLayouts/slideLayout13.xml"/><Relationship Id="rId10" Type="http://schemas.openxmlformats.org/officeDocument/2006/relationships/theme" Target="../theme/theme2.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descr="Background pattern&#10;&#10;Description automatically generated" hidden="1">
            <a:extLst>
              <a:ext uri="{FF2B5EF4-FFF2-40B4-BE49-F238E27FC236}">
                <a16:creationId xmlns:a16="http://schemas.microsoft.com/office/drawing/2014/main" id="{908FF19B-87F6-437C-8D4E-39D5F233C67D}"/>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b="27563"/>
          <a:stretch/>
        </p:blipFill>
        <p:spPr>
          <a:xfrm>
            <a:off x="302943" y="130134"/>
            <a:ext cx="421453" cy="446180"/>
          </a:xfrm>
          <a:prstGeom prst="rect">
            <a:avLst/>
          </a:prstGeom>
        </p:spPr>
      </p:pic>
      <p:pic>
        <p:nvPicPr>
          <p:cNvPr id="11" name="Immagine 7">
            <a:extLst>
              <a:ext uri="{FF2B5EF4-FFF2-40B4-BE49-F238E27FC236}">
                <a16:creationId xmlns:a16="http://schemas.microsoft.com/office/drawing/2014/main" id="{1491782B-613E-435E-A1C6-355B84304D77}"/>
              </a:ext>
            </a:extLst>
          </p:cNvPr>
          <p:cNvPicPr>
            <a:picLocks noChangeAspect="1"/>
          </p:cNvPicPr>
          <p:nvPr userDrawn="1"/>
        </p:nvPicPr>
        <p:blipFill>
          <a:blip r:embed="rId11" cstate="screen">
            <a:extLst>
              <a:ext uri="{28A0092B-C50C-407E-A947-70E740481C1C}">
                <a14:useLocalDpi xmlns:a14="http://schemas.microsoft.com/office/drawing/2010/main"/>
              </a:ext>
            </a:extLst>
          </a:blip>
          <a:stretch>
            <a:fillRect/>
          </a:stretch>
        </p:blipFill>
        <p:spPr>
          <a:xfrm>
            <a:off x="238259" y="232080"/>
            <a:ext cx="619125" cy="206375"/>
          </a:xfrm>
          <a:prstGeom prst="rect">
            <a:avLst/>
          </a:prstGeom>
        </p:spPr>
      </p:pic>
      <p:sp>
        <p:nvSpPr>
          <p:cNvPr id="14" name="Line">
            <a:extLst>
              <a:ext uri="{FF2B5EF4-FFF2-40B4-BE49-F238E27FC236}">
                <a16:creationId xmlns:a16="http://schemas.microsoft.com/office/drawing/2014/main" id="{80E43D5D-1F70-4ED5-9985-AF9FCFBC3BF9}"/>
              </a:ext>
            </a:extLst>
          </p:cNvPr>
          <p:cNvSpPr/>
          <p:nvPr userDrawn="1"/>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15" name="Line">
            <a:extLst>
              <a:ext uri="{FF2B5EF4-FFF2-40B4-BE49-F238E27FC236}">
                <a16:creationId xmlns:a16="http://schemas.microsoft.com/office/drawing/2014/main" id="{675814B7-7876-43C3-9A10-40AB89373CA2}"/>
              </a:ext>
            </a:extLst>
          </p:cNvPr>
          <p:cNvSpPr/>
          <p:nvPr userDrawn="1"/>
        </p:nvSpPr>
        <p:spPr>
          <a:xfrm>
            <a:off x="11778710" y="676275"/>
            <a:ext cx="414000"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pic>
        <p:nvPicPr>
          <p:cNvPr id="3" name="Picture 2" descr="Background pattern&#10;&#10;Description automatically generated">
            <a:extLst>
              <a:ext uri="{FF2B5EF4-FFF2-40B4-BE49-F238E27FC236}">
                <a16:creationId xmlns:a16="http://schemas.microsoft.com/office/drawing/2014/main" id="{5C63E62F-CB5E-E852-B6F7-A9E575CBB743}"/>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b="27563"/>
          <a:stretch/>
        </p:blipFill>
        <p:spPr>
          <a:xfrm>
            <a:off x="11530557" y="6216421"/>
            <a:ext cx="421453" cy="446180"/>
          </a:xfrm>
          <a:prstGeom prst="rect">
            <a:avLst/>
          </a:prstGeom>
        </p:spPr>
      </p:pic>
      <p:sp>
        <p:nvSpPr>
          <p:cNvPr id="4" name="TextBox 2">
            <a:extLst>
              <a:ext uri="{FF2B5EF4-FFF2-40B4-BE49-F238E27FC236}">
                <a16:creationId xmlns:a16="http://schemas.microsoft.com/office/drawing/2014/main" id="{CE574E4C-B9AB-7119-8878-9956C5D0F819}"/>
              </a:ext>
            </a:extLst>
          </p:cNvPr>
          <p:cNvSpPr txBox="1"/>
          <p:nvPr userDrawn="1"/>
        </p:nvSpPr>
        <p:spPr>
          <a:xfrm>
            <a:off x="11729563" y="262475"/>
            <a:ext cx="269875" cy="153888"/>
          </a:xfrm>
          <a:prstGeom prst="rect">
            <a:avLst/>
          </a:prstGeom>
          <a:noFill/>
        </p:spPr>
        <p:txBody>
          <a:bodyPr wrap="square" lIns="0" tIns="0" rIns="0" bIns="0" rtlCol="0">
            <a:spAutoFit/>
          </a:bodyPr>
          <a:lstStyle/>
          <a:p>
            <a:pPr algn="ctr"/>
            <a:fld id="{BD8018E6-5008-4D09-8834-2943DEA75A3D}" type="slidenum">
              <a:rPr lang="en-US" sz="1000" b="0" smtClean="0">
                <a:solidFill>
                  <a:schemeClr val="tx1"/>
                </a:solidFill>
                <a:latin typeface="Poppins" panose="00000500000000000000" pitchFamily="2" charset="0"/>
                <a:ea typeface="Open Sans" panose="020B0606030504020204" pitchFamily="34" charset="0"/>
                <a:cs typeface="Poppins" panose="00000500000000000000" pitchFamily="2" charset="0"/>
              </a:rPr>
              <a:pPr algn="ctr"/>
              <a:t>‹N›</a:t>
            </a:fld>
            <a:endParaRPr lang="en-US" sz="1000" b="0">
              <a:solidFill>
                <a:schemeClr val="tx1"/>
              </a:solidFill>
              <a:latin typeface="Poppins" panose="00000500000000000000" pitchFamily="2" charset="0"/>
              <a:ea typeface="Open Sans" panose="020B0606030504020204" pitchFamily="34" charset="0"/>
              <a:cs typeface="Poppins" panose="00000500000000000000" pitchFamily="2" charset="0"/>
            </a:endParaRPr>
          </a:p>
        </p:txBody>
      </p:sp>
    </p:spTree>
    <p:extLst>
      <p:ext uri="{BB962C8B-B14F-4D97-AF65-F5344CB8AC3E}">
        <p14:creationId xmlns:p14="http://schemas.microsoft.com/office/powerpoint/2010/main" val="2472139811"/>
      </p:ext>
    </p:extLst>
  </p:cSld>
  <p:clrMap bg1="lt1" tx1="dk1" bg2="lt2" tx2="dk2" accent1="accent1" accent2="accent2" accent3="accent3" accent4="accent4" accent5="accent5" accent6="accent6" hlink="hlink" folHlink="folHlink"/>
  <p:sldLayoutIdLst>
    <p:sldLayoutId id="2147484709" r:id="rId1"/>
    <p:sldLayoutId id="2147484688" r:id="rId2"/>
    <p:sldLayoutId id="2147484049" r:id="rId3"/>
    <p:sldLayoutId id="2147484050" r:id="rId4"/>
    <p:sldLayoutId id="2147484051" r:id="rId5"/>
    <p:sldLayoutId id="2147484052" r:id="rId6"/>
    <p:sldLayoutId id="2147484054" r:id="rId7"/>
    <p:sldLayoutId id="2147484075"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Segnaposto numero diapositiva 5">
            <a:extLst>
              <a:ext uri="{FF2B5EF4-FFF2-40B4-BE49-F238E27FC236}">
                <a16:creationId xmlns:a16="http://schemas.microsoft.com/office/drawing/2014/main" id="{41FCEA3B-E48F-2D87-45B8-D73E8DE40F87}"/>
              </a:ext>
            </a:extLst>
          </p:cNvPr>
          <p:cNvSpPr txBox="1">
            <a:spLocks/>
          </p:cNvSpPr>
          <p:nvPr userDrawn="1"/>
        </p:nvSpPr>
        <p:spPr>
          <a:xfrm>
            <a:off x="0" y="0"/>
            <a:ext cx="0" cy="0"/>
          </a:xfr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it-IT" smtClean="0"/>
              <a:pPr/>
              <a:t>‹N›</a:t>
            </a:fld>
            <a:endParaRPr lang="it-IT"/>
          </a:p>
        </p:txBody>
      </p:sp>
      <p:sp>
        <p:nvSpPr>
          <p:cNvPr id="13" name="TextBox 2">
            <a:extLst>
              <a:ext uri="{FF2B5EF4-FFF2-40B4-BE49-F238E27FC236}">
                <a16:creationId xmlns:a16="http://schemas.microsoft.com/office/drawing/2014/main" id="{D2D146B6-BFCC-2871-929C-EADA3049220D}"/>
              </a:ext>
            </a:extLst>
          </p:cNvPr>
          <p:cNvSpPr txBox="1"/>
          <p:nvPr userDrawn="1"/>
        </p:nvSpPr>
        <p:spPr>
          <a:xfrm>
            <a:off x="11729563" y="262475"/>
            <a:ext cx="269875" cy="153888"/>
          </a:xfrm>
          <a:prstGeom prst="rect">
            <a:avLst/>
          </a:prstGeom>
          <a:noFill/>
        </p:spPr>
        <p:txBody>
          <a:bodyPr wrap="square" lIns="0" tIns="0" rIns="0" bIns="0" rtlCol="0">
            <a:spAutoFit/>
          </a:bodyPr>
          <a:lstStyle/>
          <a:p>
            <a:pPr algn="ctr"/>
            <a:fld id="{BD8018E6-5008-4D09-8834-2943DEA75A3D}" type="slidenum">
              <a:rPr lang="en-US" sz="1000" b="0" smtClean="0">
                <a:solidFill>
                  <a:schemeClr val="tx1"/>
                </a:solidFill>
                <a:latin typeface="Poppins" panose="00000500000000000000" pitchFamily="2" charset="0"/>
                <a:ea typeface="Open Sans" panose="020B0606030504020204" pitchFamily="34" charset="0"/>
                <a:cs typeface="Poppins" panose="00000500000000000000" pitchFamily="2" charset="0"/>
              </a:rPr>
              <a:pPr algn="ctr"/>
              <a:t>‹N›</a:t>
            </a:fld>
            <a:endParaRPr lang="en-US" sz="1000" b="0">
              <a:solidFill>
                <a:schemeClr val="tx1"/>
              </a:solidFill>
              <a:latin typeface="Poppins" panose="00000500000000000000" pitchFamily="2" charset="0"/>
              <a:ea typeface="Open Sans" panose="020B0606030504020204" pitchFamily="34" charset="0"/>
              <a:cs typeface="Poppins" panose="00000500000000000000" pitchFamily="2" charset="0"/>
            </a:endParaRPr>
          </a:p>
        </p:txBody>
      </p:sp>
      <p:sp>
        <p:nvSpPr>
          <p:cNvPr id="16" name="Line">
            <a:extLst>
              <a:ext uri="{FF2B5EF4-FFF2-40B4-BE49-F238E27FC236}">
                <a16:creationId xmlns:a16="http://schemas.microsoft.com/office/drawing/2014/main" id="{B6DFE462-21D6-4218-266F-216C4AA631F2}"/>
              </a:ext>
            </a:extLst>
          </p:cNvPr>
          <p:cNvSpPr/>
          <p:nvPr userDrawn="1"/>
        </p:nvSpPr>
        <p:spPr>
          <a:xfrm>
            <a:off x="11778710" y="676275"/>
            <a:ext cx="414000"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19" name="Line">
            <a:extLst>
              <a:ext uri="{FF2B5EF4-FFF2-40B4-BE49-F238E27FC236}">
                <a16:creationId xmlns:a16="http://schemas.microsoft.com/office/drawing/2014/main" id="{06E96253-7455-D2FD-54EB-589322C7E379}"/>
              </a:ext>
            </a:extLst>
          </p:cNvPr>
          <p:cNvSpPr/>
          <p:nvPr userDrawn="1"/>
        </p:nvSpPr>
        <p:spPr>
          <a:xfrm>
            <a:off x="0" y="676275"/>
            <a:ext cx="143941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589"/>
          </a:p>
        </p:txBody>
      </p:sp>
      <p:pic>
        <p:nvPicPr>
          <p:cNvPr id="20" name="Picture 9">
            <a:extLst>
              <a:ext uri="{FF2B5EF4-FFF2-40B4-BE49-F238E27FC236}">
                <a16:creationId xmlns:a16="http://schemas.microsoft.com/office/drawing/2014/main" id="{219BFF14-CF10-F7C0-F264-47E9BF7CAE0B}"/>
              </a:ext>
            </a:extLst>
          </p:cNvPr>
          <p:cNvPicPr>
            <a:picLocks noChangeAspect="1"/>
          </p:cNvPicPr>
          <p:nvPr userDrawn="1"/>
        </p:nvPicPr>
        <p:blipFill>
          <a:blip r:embed="rId11" cstate="print">
            <a:extLst>
              <a:ext uri="{28A0092B-C50C-407E-A947-70E740481C1C}">
                <a14:useLocalDpi xmlns:a14="http://schemas.microsoft.com/office/drawing/2010/main"/>
              </a:ext>
            </a:extLst>
          </a:blip>
          <a:stretch>
            <a:fillRect/>
          </a:stretch>
        </p:blipFill>
        <p:spPr>
          <a:xfrm>
            <a:off x="11533488" y="6181725"/>
            <a:ext cx="421891" cy="446400"/>
          </a:xfrm>
          <a:prstGeom prst="rect">
            <a:avLst/>
          </a:prstGeom>
        </p:spPr>
      </p:pic>
      <p:pic>
        <p:nvPicPr>
          <p:cNvPr id="21" name="Immagine 9">
            <a:extLst>
              <a:ext uri="{FF2B5EF4-FFF2-40B4-BE49-F238E27FC236}">
                <a16:creationId xmlns:a16="http://schemas.microsoft.com/office/drawing/2014/main" id="{8C3E51A8-CCD1-F343-1F7C-41299F5B065B}"/>
              </a:ext>
            </a:extLst>
          </p:cNvPr>
          <p:cNvPicPr>
            <a:picLocks noChangeAspect="1"/>
          </p:cNvPicPr>
          <p:nvPr userDrawn="1"/>
        </p:nvPicPr>
        <p:blipFill>
          <a:blip r:embed="rId12" cstate="hqprint">
            <a:extLst>
              <a:ext uri="{28A0092B-C50C-407E-A947-70E740481C1C}">
                <a14:useLocalDpi xmlns:a14="http://schemas.microsoft.com/office/drawing/2010/main"/>
              </a:ext>
            </a:extLst>
          </a:blip>
          <a:stretch>
            <a:fillRect/>
          </a:stretch>
        </p:blipFill>
        <p:spPr>
          <a:xfrm>
            <a:off x="141831" y="187212"/>
            <a:ext cx="1297583" cy="293859"/>
          </a:xfrm>
          <a:prstGeom prst="rect">
            <a:avLst/>
          </a:prstGeom>
        </p:spPr>
      </p:pic>
      <p:pic>
        <p:nvPicPr>
          <p:cNvPr id="3" name="Picture 1" descr="A black background with a black square&#10;&#10;Description automatically generated with medium confidence">
            <a:extLst>
              <a:ext uri="{FF2B5EF4-FFF2-40B4-BE49-F238E27FC236}">
                <a16:creationId xmlns:a16="http://schemas.microsoft.com/office/drawing/2014/main" id="{6646319D-DB6A-9807-E9E2-255BED99588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393001" y="6366329"/>
            <a:ext cx="929979" cy="210800"/>
          </a:xfrm>
          <a:prstGeom prst="rect">
            <a:avLst/>
          </a:prstGeom>
        </p:spPr>
      </p:pic>
    </p:spTree>
    <p:extLst>
      <p:ext uri="{BB962C8B-B14F-4D97-AF65-F5344CB8AC3E}">
        <p14:creationId xmlns:p14="http://schemas.microsoft.com/office/powerpoint/2010/main" val="2959987325"/>
      </p:ext>
    </p:extLst>
  </p:cSld>
  <p:clrMap bg1="lt1" tx1="dk1" bg2="lt2" tx2="dk2" accent1="accent1" accent2="accent2" accent3="accent3" accent4="accent4" accent5="accent5" accent6="accent6" hlink="hlink" folHlink="folHlink"/>
  <p:sldLayoutIdLst>
    <p:sldLayoutId id="2147484289" r:id="rId1"/>
    <p:sldLayoutId id="2147484691" r:id="rId2"/>
    <p:sldLayoutId id="2147484312" r:id="rId3"/>
    <p:sldLayoutId id="2147484328" r:id="rId4"/>
    <p:sldLayoutId id="2147484701" r:id="rId5"/>
    <p:sldLayoutId id="2147484710" r:id="rId6"/>
    <p:sldLayoutId id="2147484711" r:id="rId7"/>
    <p:sldLayoutId id="2147484713" r:id="rId8"/>
    <p:sldLayoutId id="2147484714" r:id="rId9"/>
  </p:sldLayoutIdLst>
  <p:hf hdr="0" ftr="0" dt="0"/>
  <p:txStyles>
    <p:titleStyle>
      <a:lvl1pPr algn="l" defTabSz="911342" rtl="0" eaLnBrk="1" latinLnBrk="0" hangingPunct="1">
        <a:lnSpc>
          <a:spcPct val="90000"/>
        </a:lnSpc>
        <a:spcBef>
          <a:spcPct val="0"/>
        </a:spcBef>
        <a:buNone/>
        <a:defRPr sz="4386" kern="1200">
          <a:solidFill>
            <a:schemeClr val="tx1"/>
          </a:solidFill>
          <a:latin typeface="+mj-lt"/>
          <a:ea typeface="+mj-ea"/>
          <a:cs typeface="+mj-cs"/>
        </a:defRPr>
      </a:lvl1pPr>
    </p:titleStyle>
    <p:bodyStyle>
      <a:lvl1pPr marL="227835" indent="-227835" algn="l" defTabSz="911342" rtl="0" eaLnBrk="1" latinLnBrk="0" hangingPunct="1">
        <a:lnSpc>
          <a:spcPct val="90000"/>
        </a:lnSpc>
        <a:spcBef>
          <a:spcPts val="997"/>
        </a:spcBef>
        <a:buFont typeface="Arial" panose="020B0604020202020204" pitchFamily="34" charset="0"/>
        <a:buChar char="•"/>
        <a:defRPr sz="2791" kern="1200">
          <a:solidFill>
            <a:schemeClr val="tx1"/>
          </a:solidFill>
          <a:latin typeface="+mn-lt"/>
          <a:ea typeface="+mn-ea"/>
          <a:cs typeface="+mn-cs"/>
        </a:defRPr>
      </a:lvl1pPr>
      <a:lvl2pPr marL="683506" indent="-227835" algn="l" defTabSz="911342" rtl="0" eaLnBrk="1" latinLnBrk="0" hangingPunct="1">
        <a:lnSpc>
          <a:spcPct val="90000"/>
        </a:lnSpc>
        <a:spcBef>
          <a:spcPts val="498"/>
        </a:spcBef>
        <a:buFont typeface="Arial" panose="020B0604020202020204" pitchFamily="34" charset="0"/>
        <a:buChar char="•"/>
        <a:defRPr sz="2392" kern="1200">
          <a:solidFill>
            <a:schemeClr val="tx1"/>
          </a:solidFill>
          <a:latin typeface="+mn-lt"/>
          <a:ea typeface="+mn-ea"/>
          <a:cs typeface="+mn-cs"/>
        </a:defRPr>
      </a:lvl2pPr>
      <a:lvl3pPr marL="1139177" indent="-227835" algn="l" defTabSz="911342" rtl="0" eaLnBrk="1" latinLnBrk="0" hangingPunct="1">
        <a:lnSpc>
          <a:spcPct val="90000"/>
        </a:lnSpc>
        <a:spcBef>
          <a:spcPts val="498"/>
        </a:spcBef>
        <a:buFont typeface="Arial" panose="020B0604020202020204" pitchFamily="34" charset="0"/>
        <a:buChar char="•"/>
        <a:defRPr sz="1993" kern="1200">
          <a:solidFill>
            <a:schemeClr val="tx1"/>
          </a:solidFill>
          <a:latin typeface="+mn-lt"/>
          <a:ea typeface="+mn-ea"/>
          <a:cs typeface="+mn-cs"/>
        </a:defRPr>
      </a:lvl3pPr>
      <a:lvl4pPr marL="1594848"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4pPr>
      <a:lvl5pPr marL="2050519"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5pPr>
      <a:lvl6pPr marL="2506190"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6pPr>
      <a:lvl7pPr marL="2961861"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7pPr>
      <a:lvl8pPr marL="3417532"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8pPr>
      <a:lvl9pPr marL="3873203"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9pPr>
    </p:bodyStyle>
    <p:otherStyle>
      <a:defPPr>
        <a:defRPr lang="it-IT"/>
      </a:defPPr>
      <a:lvl1pPr marL="0" algn="l" defTabSz="911342" rtl="0" eaLnBrk="1" latinLnBrk="0" hangingPunct="1">
        <a:defRPr sz="1794" kern="1200">
          <a:solidFill>
            <a:schemeClr val="tx1"/>
          </a:solidFill>
          <a:latin typeface="+mn-lt"/>
          <a:ea typeface="+mn-ea"/>
          <a:cs typeface="+mn-cs"/>
        </a:defRPr>
      </a:lvl1pPr>
      <a:lvl2pPr marL="455671" algn="l" defTabSz="911342" rtl="0" eaLnBrk="1" latinLnBrk="0" hangingPunct="1">
        <a:defRPr sz="1794" kern="1200">
          <a:solidFill>
            <a:schemeClr val="tx1"/>
          </a:solidFill>
          <a:latin typeface="+mn-lt"/>
          <a:ea typeface="+mn-ea"/>
          <a:cs typeface="+mn-cs"/>
        </a:defRPr>
      </a:lvl2pPr>
      <a:lvl3pPr marL="911342" algn="l" defTabSz="911342" rtl="0" eaLnBrk="1" latinLnBrk="0" hangingPunct="1">
        <a:defRPr sz="1794" kern="1200">
          <a:solidFill>
            <a:schemeClr val="tx1"/>
          </a:solidFill>
          <a:latin typeface="+mn-lt"/>
          <a:ea typeface="+mn-ea"/>
          <a:cs typeface="+mn-cs"/>
        </a:defRPr>
      </a:lvl3pPr>
      <a:lvl4pPr marL="1367013" algn="l" defTabSz="911342" rtl="0" eaLnBrk="1" latinLnBrk="0" hangingPunct="1">
        <a:defRPr sz="1794" kern="1200">
          <a:solidFill>
            <a:schemeClr val="tx1"/>
          </a:solidFill>
          <a:latin typeface="+mn-lt"/>
          <a:ea typeface="+mn-ea"/>
          <a:cs typeface="+mn-cs"/>
        </a:defRPr>
      </a:lvl4pPr>
      <a:lvl5pPr marL="1822684" algn="l" defTabSz="911342" rtl="0" eaLnBrk="1" latinLnBrk="0" hangingPunct="1">
        <a:defRPr sz="1794" kern="1200">
          <a:solidFill>
            <a:schemeClr val="tx1"/>
          </a:solidFill>
          <a:latin typeface="+mn-lt"/>
          <a:ea typeface="+mn-ea"/>
          <a:cs typeface="+mn-cs"/>
        </a:defRPr>
      </a:lvl5pPr>
      <a:lvl6pPr marL="2278355" algn="l" defTabSz="911342" rtl="0" eaLnBrk="1" latinLnBrk="0" hangingPunct="1">
        <a:defRPr sz="1794" kern="1200">
          <a:solidFill>
            <a:schemeClr val="tx1"/>
          </a:solidFill>
          <a:latin typeface="+mn-lt"/>
          <a:ea typeface="+mn-ea"/>
          <a:cs typeface="+mn-cs"/>
        </a:defRPr>
      </a:lvl6pPr>
      <a:lvl7pPr marL="2734026" algn="l" defTabSz="911342" rtl="0" eaLnBrk="1" latinLnBrk="0" hangingPunct="1">
        <a:defRPr sz="1794" kern="1200">
          <a:solidFill>
            <a:schemeClr val="tx1"/>
          </a:solidFill>
          <a:latin typeface="+mn-lt"/>
          <a:ea typeface="+mn-ea"/>
          <a:cs typeface="+mn-cs"/>
        </a:defRPr>
      </a:lvl7pPr>
      <a:lvl8pPr marL="3189697" algn="l" defTabSz="911342" rtl="0" eaLnBrk="1" latinLnBrk="0" hangingPunct="1">
        <a:defRPr sz="1794" kern="1200">
          <a:solidFill>
            <a:schemeClr val="tx1"/>
          </a:solidFill>
          <a:latin typeface="+mn-lt"/>
          <a:ea typeface="+mn-ea"/>
          <a:cs typeface="+mn-cs"/>
        </a:defRPr>
      </a:lvl8pPr>
      <a:lvl9pPr marL="3645367" algn="l" defTabSz="911342" rtl="0" eaLnBrk="1" latinLnBrk="0" hangingPunct="1">
        <a:defRPr sz="179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2.xml"/><Relationship Id="rId5" Type="http://schemas.openxmlformats.org/officeDocument/2006/relationships/image" Target="../media/image8.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9.xml"/><Relationship Id="rId1" Type="http://schemas.openxmlformats.org/officeDocument/2006/relationships/tags" Target="../tags/tag3.xml"/><Relationship Id="rId5" Type="http://schemas.openxmlformats.org/officeDocument/2006/relationships/image" Target="../media/image13.svg"/><Relationship Id="rId4" Type="http://schemas.openxmlformats.org/officeDocument/2006/relationships/image" Target="../media/image12.svg"/></Relationships>
</file>

<file path=ppt/slides/_rels/slide3.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3.svg"/><Relationship Id="rId18" Type="http://schemas.openxmlformats.org/officeDocument/2006/relationships/image" Target="../media/image28.svg"/><Relationship Id="rId3" Type="http://schemas.openxmlformats.org/officeDocument/2006/relationships/notesSlide" Target="../notesSlides/notesSlide3.xml"/><Relationship Id="rId21" Type="http://schemas.openxmlformats.org/officeDocument/2006/relationships/image" Target="../media/image30.svg"/><Relationship Id="rId7" Type="http://schemas.openxmlformats.org/officeDocument/2006/relationships/image" Target="../media/image17.svg"/><Relationship Id="rId12" Type="http://schemas.openxmlformats.org/officeDocument/2006/relationships/image" Target="../media/image22.svg"/><Relationship Id="rId17" Type="http://schemas.openxmlformats.org/officeDocument/2006/relationships/image" Target="../media/image27.svg"/><Relationship Id="rId2" Type="http://schemas.openxmlformats.org/officeDocument/2006/relationships/slideLayout" Target="../slideLayouts/slideLayout9.xml"/><Relationship Id="rId16" Type="http://schemas.openxmlformats.org/officeDocument/2006/relationships/image" Target="../media/image26.svg"/><Relationship Id="rId20" Type="http://schemas.openxmlformats.org/officeDocument/2006/relationships/image" Target="../media/image13.svg"/><Relationship Id="rId1" Type="http://schemas.openxmlformats.org/officeDocument/2006/relationships/tags" Target="../tags/tag4.xml"/><Relationship Id="rId6" Type="http://schemas.openxmlformats.org/officeDocument/2006/relationships/image" Target="../media/image16.svg"/><Relationship Id="rId11" Type="http://schemas.openxmlformats.org/officeDocument/2006/relationships/image" Target="../media/image21.svg"/><Relationship Id="rId5" Type="http://schemas.openxmlformats.org/officeDocument/2006/relationships/image" Target="../media/image15.svg"/><Relationship Id="rId15" Type="http://schemas.openxmlformats.org/officeDocument/2006/relationships/image" Target="../media/image25.svg"/><Relationship Id="rId10" Type="http://schemas.openxmlformats.org/officeDocument/2006/relationships/image" Target="../media/image20.svg"/><Relationship Id="rId19" Type="http://schemas.openxmlformats.org/officeDocument/2006/relationships/image" Target="../media/image29.svg"/><Relationship Id="rId4" Type="http://schemas.openxmlformats.org/officeDocument/2006/relationships/image" Target="../media/image14.svg"/><Relationship Id="rId9" Type="http://schemas.openxmlformats.org/officeDocument/2006/relationships/image" Target="../media/image19.svg"/><Relationship Id="rId14" Type="http://schemas.openxmlformats.org/officeDocument/2006/relationships/image" Target="../media/image24.svg"/></Relationships>
</file>

<file path=ppt/slides/_rels/slide4.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notesSlide" Target="../notesSlides/notesSlide4.xml"/><Relationship Id="rId7" Type="http://schemas.openxmlformats.org/officeDocument/2006/relationships/image" Target="../media/image34.svg"/><Relationship Id="rId2" Type="http://schemas.openxmlformats.org/officeDocument/2006/relationships/slideLayout" Target="../slideLayouts/slideLayout9.xml"/><Relationship Id="rId1" Type="http://schemas.openxmlformats.org/officeDocument/2006/relationships/tags" Target="../tags/tag5.xml"/><Relationship Id="rId6" Type="http://schemas.openxmlformats.org/officeDocument/2006/relationships/image" Target="../media/image33.svg"/><Relationship Id="rId5" Type="http://schemas.openxmlformats.org/officeDocument/2006/relationships/image" Target="../media/image32.svg"/><Relationship Id="rId10" Type="http://schemas.openxmlformats.org/officeDocument/2006/relationships/image" Target="../media/image30.svg"/><Relationship Id="rId4" Type="http://schemas.openxmlformats.org/officeDocument/2006/relationships/image" Target="../media/image31.svg"/><Relationship Id="rId9" Type="http://schemas.openxmlformats.org/officeDocument/2006/relationships/image" Target="../media/image13.svg"/></Relationships>
</file>

<file path=ppt/slides/_rels/slide5.xml.rels><?xml version="1.0" encoding="UTF-8" standalone="yes"?>
<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40.svg"/><Relationship Id="rId3" Type="http://schemas.openxmlformats.org/officeDocument/2006/relationships/notesSlide" Target="../notesSlides/notesSlide5.xml"/><Relationship Id="rId7" Type="http://schemas.openxmlformats.org/officeDocument/2006/relationships/image" Target="../media/image23.svg"/><Relationship Id="rId12" Type="http://schemas.openxmlformats.org/officeDocument/2006/relationships/image" Target="../media/image13.svg"/><Relationship Id="rId2" Type="http://schemas.openxmlformats.org/officeDocument/2006/relationships/slideLayout" Target="../slideLayouts/slideLayout9.xml"/><Relationship Id="rId1" Type="http://schemas.openxmlformats.org/officeDocument/2006/relationships/tags" Target="../tags/tag6.xml"/><Relationship Id="rId6" Type="http://schemas.openxmlformats.org/officeDocument/2006/relationships/image" Target="../media/image22.svg"/><Relationship Id="rId11" Type="http://schemas.openxmlformats.org/officeDocument/2006/relationships/image" Target="../media/image39.svg"/><Relationship Id="rId5" Type="http://schemas.openxmlformats.org/officeDocument/2006/relationships/image" Target="../media/image20.svg"/><Relationship Id="rId10" Type="http://schemas.openxmlformats.org/officeDocument/2006/relationships/image" Target="../media/image38.svg"/><Relationship Id="rId4" Type="http://schemas.openxmlformats.org/officeDocument/2006/relationships/image" Target="../media/image19.svg"/><Relationship Id="rId9" Type="http://schemas.openxmlformats.org/officeDocument/2006/relationships/image" Target="../media/image37.svg"/><Relationship Id="rId14" Type="http://schemas.openxmlformats.org/officeDocument/2006/relationships/image" Target="../media/image30.svg"/></Relationships>
</file>

<file path=ppt/slides/_rels/slide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41.png"/><Relationship Id="rId1" Type="http://schemas.openxmlformats.org/officeDocument/2006/relationships/slideLayout" Target="../slideLayouts/slideLayout10.xml"/><Relationship Id="rId4" Type="http://schemas.openxmlformats.org/officeDocument/2006/relationships/image" Target="../media/image42.svg"/></Relationships>
</file>

<file path=ppt/slides/_rels/slide7.xml.rels><?xml version="1.0" encoding="UTF-8" standalone="yes"?>
<Relationships xmlns="http://schemas.openxmlformats.org/package/2006/relationships"><Relationship Id="rId8" Type="http://schemas.openxmlformats.org/officeDocument/2006/relationships/image" Target="../media/image46.svg"/><Relationship Id="rId13" Type="http://schemas.openxmlformats.org/officeDocument/2006/relationships/image" Target="../media/image27.svg"/><Relationship Id="rId18" Type="http://schemas.openxmlformats.org/officeDocument/2006/relationships/image" Target="../media/image42.svg"/><Relationship Id="rId3" Type="http://schemas.openxmlformats.org/officeDocument/2006/relationships/notesSlide" Target="../notesSlides/notesSlide6.xml"/><Relationship Id="rId7" Type="http://schemas.openxmlformats.org/officeDocument/2006/relationships/image" Target="../media/image45.svg"/><Relationship Id="rId12" Type="http://schemas.openxmlformats.org/officeDocument/2006/relationships/image" Target="../media/image50.svg"/><Relationship Id="rId17" Type="http://schemas.openxmlformats.org/officeDocument/2006/relationships/image" Target="../media/image13.svg"/><Relationship Id="rId2" Type="http://schemas.openxmlformats.org/officeDocument/2006/relationships/slideLayout" Target="../slideLayouts/slideLayout9.xml"/><Relationship Id="rId16" Type="http://schemas.openxmlformats.org/officeDocument/2006/relationships/image" Target="../media/image52.svg"/><Relationship Id="rId1" Type="http://schemas.openxmlformats.org/officeDocument/2006/relationships/tags" Target="../tags/tag7.xml"/><Relationship Id="rId6" Type="http://schemas.openxmlformats.org/officeDocument/2006/relationships/image" Target="../media/image14.svg"/><Relationship Id="rId11" Type="http://schemas.openxmlformats.org/officeDocument/2006/relationships/image" Target="../media/image49.svg"/><Relationship Id="rId5" Type="http://schemas.openxmlformats.org/officeDocument/2006/relationships/image" Target="../media/image44.svg"/><Relationship Id="rId15" Type="http://schemas.openxmlformats.org/officeDocument/2006/relationships/image" Target="../media/image25.svg"/><Relationship Id="rId10" Type="http://schemas.openxmlformats.org/officeDocument/2006/relationships/image" Target="../media/image48.svg"/><Relationship Id="rId4" Type="http://schemas.openxmlformats.org/officeDocument/2006/relationships/image" Target="../media/image43.svg"/><Relationship Id="rId9" Type="http://schemas.openxmlformats.org/officeDocument/2006/relationships/image" Target="../media/image47.svg"/><Relationship Id="rId14" Type="http://schemas.openxmlformats.org/officeDocument/2006/relationships/image" Target="../media/image51.svg"/></Relationships>
</file>

<file path=ppt/slides/_rels/slide8.xml.rels><?xml version="1.0" encoding="UTF-8" standalone="yes"?>
<Relationships xmlns="http://schemas.openxmlformats.org/package/2006/relationships"><Relationship Id="rId13" Type="http://schemas.openxmlformats.org/officeDocument/2006/relationships/image" Target="../media/image62.svg"/><Relationship Id="rId18" Type="http://schemas.openxmlformats.org/officeDocument/2006/relationships/image" Target="../media/image67.svg"/><Relationship Id="rId26" Type="http://schemas.openxmlformats.org/officeDocument/2006/relationships/image" Target="../media/image75.svg"/><Relationship Id="rId21" Type="http://schemas.openxmlformats.org/officeDocument/2006/relationships/image" Target="../media/image70.svg"/><Relationship Id="rId34" Type="http://schemas.openxmlformats.org/officeDocument/2006/relationships/image" Target="../media/image83.svg"/><Relationship Id="rId7" Type="http://schemas.openxmlformats.org/officeDocument/2006/relationships/image" Target="../media/image56.svg"/><Relationship Id="rId12" Type="http://schemas.openxmlformats.org/officeDocument/2006/relationships/image" Target="../media/image61.svg"/><Relationship Id="rId17" Type="http://schemas.openxmlformats.org/officeDocument/2006/relationships/image" Target="../media/image66.svg"/><Relationship Id="rId25" Type="http://schemas.openxmlformats.org/officeDocument/2006/relationships/image" Target="../media/image74.svg"/><Relationship Id="rId33" Type="http://schemas.openxmlformats.org/officeDocument/2006/relationships/image" Target="../media/image82.svg"/><Relationship Id="rId2" Type="http://schemas.openxmlformats.org/officeDocument/2006/relationships/slideLayout" Target="../slideLayouts/slideLayout9.xml"/><Relationship Id="rId16" Type="http://schemas.openxmlformats.org/officeDocument/2006/relationships/image" Target="../media/image65.svg"/><Relationship Id="rId20" Type="http://schemas.openxmlformats.org/officeDocument/2006/relationships/image" Target="../media/image69.svg"/><Relationship Id="rId29" Type="http://schemas.openxmlformats.org/officeDocument/2006/relationships/image" Target="../media/image78.svg"/><Relationship Id="rId1" Type="http://schemas.openxmlformats.org/officeDocument/2006/relationships/tags" Target="../tags/tag8.xml"/><Relationship Id="rId6" Type="http://schemas.openxmlformats.org/officeDocument/2006/relationships/image" Target="../media/image55.svg"/><Relationship Id="rId11" Type="http://schemas.openxmlformats.org/officeDocument/2006/relationships/image" Target="../media/image60.svg"/><Relationship Id="rId24" Type="http://schemas.openxmlformats.org/officeDocument/2006/relationships/image" Target="../media/image73.svg"/><Relationship Id="rId32" Type="http://schemas.openxmlformats.org/officeDocument/2006/relationships/image" Target="../media/image81.svg"/><Relationship Id="rId37" Type="http://schemas.openxmlformats.org/officeDocument/2006/relationships/image" Target="../media/image30.svg"/><Relationship Id="rId5" Type="http://schemas.openxmlformats.org/officeDocument/2006/relationships/image" Target="../media/image54.svg"/><Relationship Id="rId15" Type="http://schemas.openxmlformats.org/officeDocument/2006/relationships/image" Target="../media/image64.svg"/><Relationship Id="rId23" Type="http://schemas.openxmlformats.org/officeDocument/2006/relationships/image" Target="../media/image72.svg"/><Relationship Id="rId28" Type="http://schemas.openxmlformats.org/officeDocument/2006/relationships/image" Target="../media/image77.svg"/><Relationship Id="rId36" Type="http://schemas.openxmlformats.org/officeDocument/2006/relationships/image" Target="../media/image40.svg"/><Relationship Id="rId10" Type="http://schemas.openxmlformats.org/officeDocument/2006/relationships/image" Target="../media/image59.svg"/><Relationship Id="rId19" Type="http://schemas.openxmlformats.org/officeDocument/2006/relationships/image" Target="../media/image68.svg"/><Relationship Id="rId31" Type="http://schemas.openxmlformats.org/officeDocument/2006/relationships/image" Target="../media/image80.svg"/><Relationship Id="rId4" Type="http://schemas.openxmlformats.org/officeDocument/2006/relationships/image" Target="../media/image53.svg"/><Relationship Id="rId9" Type="http://schemas.openxmlformats.org/officeDocument/2006/relationships/image" Target="../media/image58.svg"/><Relationship Id="rId14" Type="http://schemas.openxmlformats.org/officeDocument/2006/relationships/image" Target="../media/image63.svg"/><Relationship Id="rId22" Type="http://schemas.openxmlformats.org/officeDocument/2006/relationships/image" Target="../media/image71.svg"/><Relationship Id="rId27" Type="http://schemas.openxmlformats.org/officeDocument/2006/relationships/image" Target="../media/image76.svg"/><Relationship Id="rId30" Type="http://schemas.openxmlformats.org/officeDocument/2006/relationships/image" Target="../media/image79.svg"/><Relationship Id="rId35" Type="http://schemas.openxmlformats.org/officeDocument/2006/relationships/image" Target="../media/image13.svg"/><Relationship Id="rId8" Type="http://schemas.openxmlformats.org/officeDocument/2006/relationships/image" Target="../media/image57.sv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8" Type="http://schemas.openxmlformats.org/officeDocument/2006/relationships/image" Target="../media/image85.svg"/><Relationship Id="rId13" Type="http://schemas.openxmlformats.org/officeDocument/2006/relationships/image" Target="../media/image90.svg"/><Relationship Id="rId3" Type="http://schemas.openxmlformats.org/officeDocument/2006/relationships/notesSlide" Target="../notesSlides/notesSlide8.xml"/><Relationship Id="rId7" Type="http://schemas.openxmlformats.org/officeDocument/2006/relationships/image" Target="../media/image84.svg"/><Relationship Id="rId12" Type="http://schemas.openxmlformats.org/officeDocument/2006/relationships/image" Target="../media/image89.png"/><Relationship Id="rId2" Type="http://schemas.openxmlformats.org/officeDocument/2006/relationships/slideLayout" Target="../slideLayouts/slideLayout9.xml"/><Relationship Id="rId16" Type="http://schemas.openxmlformats.org/officeDocument/2006/relationships/image" Target="../media/image93.svg"/><Relationship Id="rId1" Type="http://schemas.openxmlformats.org/officeDocument/2006/relationships/tags" Target="../tags/tag9.xml"/><Relationship Id="rId6" Type="http://schemas.openxmlformats.org/officeDocument/2006/relationships/image" Target="../media/image30.svg"/><Relationship Id="rId11" Type="http://schemas.openxmlformats.org/officeDocument/2006/relationships/image" Target="../media/image88.png"/><Relationship Id="rId5" Type="http://schemas.openxmlformats.org/officeDocument/2006/relationships/image" Target="../media/image40.svg"/><Relationship Id="rId15" Type="http://schemas.openxmlformats.org/officeDocument/2006/relationships/image" Target="../media/image92.svg"/><Relationship Id="rId10" Type="http://schemas.openxmlformats.org/officeDocument/2006/relationships/image" Target="../media/image87.svg"/><Relationship Id="rId4" Type="http://schemas.openxmlformats.org/officeDocument/2006/relationships/image" Target="../media/image13.svg"/><Relationship Id="rId9" Type="http://schemas.openxmlformats.org/officeDocument/2006/relationships/image" Target="../media/image86.svg"/><Relationship Id="rId14" Type="http://schemas.openxmlformats.org/officeDocument/2006/relationships/image" Target="../media/image91.svg"/></Relationships>
</file>

<file path=ppt/slides/_rels/slide10.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45.svg"/><Relationship Id="rId3" Type="http://schemas.openxmlformats.org/officeDocument/2006/relationships/notesSlide" Target="../notesSlides/notesSlide9.xml"/><Relationship Id="rId7" Type="http://schemas.openxmlformats.org/officeDocument/2006/relationships/image" Target="../media/image97.svg"/><Relationship Id="rId12" Type="http://schemas.openxmlformats.org/officeDocument/2006/relationships/image" Target="../media/image88.png"/><Relationship Id="rId17" Type="http://schemas.openxmlformats.org/officeDocument/2006/relationships/image" Target="../media/image89.png"/><Relationship Id="rId2" Type="http://schemas.openxmlformats.org/officeDocument/2006/relationships/slideLayout" Target="../slideLayouts/slideLayout9.xml"/><Relationship Id="rId16" Type="http://schemas.openxmlformats.org/officeDocument/2006/relationships/image" Target="../media/image100.svg"/><Relationship Id="rId1" Type="http://schemas.openxmlformats.org/officeDocument/2006/relationships/tags" Target="../tags/tag10.xml"/><Relationship Id="rId6" Type="http://schemas.openxmlformats.org/officeDocument/2006/relationships/image" Target="../media/image96.svg"/><Relationship Id="rId11" Type="http://schemas.openxmlformats.org/officeDocument/2006/relationships/image" Target="../media/image19.svg"/><Relationship Id="rId5" Type="http://schemas.openxmlformats.org/officeDocument/2006/relationships/image" Target="../media/image95.svg"/><Relationship Id="rId15" Type="http://schemas.openxmlformats.org/officeDocument/2006/relationships/image" Target="../media/image99.svg"/><Relationship Id="rId10" Type="http://schemas.openxmlformats.org/officeDocument/2006/relationships/image" Target="../media/image30.svg"/><Relationship Id="rId4" Type="http://schemas.openxmlformats.org/officeDocument/2006/relationships/image" Target="../media/image94.svg"/><Relationship Id="rId9" Type="http://schemas.openxmlformats.org/officeDocument/2006/relationships/image" Target="../media/image40.svg"/><Relationship Id="rId14" Type="http://schemas.openxmlformats.org/officeDocument/2006/relationships/image" Target="../media/image98.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8" Type="http://schemas.openxmlformats.org/officeDocument/2006/relationships/image" Target="../media/image103.svg"/><Relationship Id="rId13" Type="http://schemas.openxmlformats.org/officeDocument/2006/relationships/image" Target="../media/image13.svg"/><Relationship Id="rId3" Type="http://schemas.openxmlformats.org/officeDocument/2006/relationships/notesSlide" Target="../notesSlides/notesSlide10.xml"/><Relationship Id="rId7" Type="http://schemas.openxmlformats.org/officeDocument/2006/relationships/image" Target="../media/image102.svg"/><Relationship Id="rId12" Type="http://schemas.openxmlformats.org/officeDocument/2006/relationships/image" Target="../media/image107.svg"/><Relationship Id="rId2" Type="http://schemas.openxmlformats.org/officeDocument/2006/relationships/slideLayout" Target="../slideLayouts/slideLayout9.xml"/><Relationship Id="rId1" Type="http://schemas.openxmlformats.org/officeDocument/2006/relationships/tags" Target="../tags/tag11.xml"/><Relationship Id="rId6" Type="http://schemas.openxmlformats.org/officeDocument/2006/relationships/image" Target="../media/image101.svg"/><Relationship Id="rId11" Type="http://schemas.openxmlformats.org/officeDocument/2006/relationships/image" Target="../media/image106.svg"/><Relationship Id="rId5" Type="http://schemas.openxmlformats.org/officeDocument/2006/relationships/image" Target="../media/image88.png"/><Relationship Id="rId10" Type="http://schemas.openxmlformats.org/officeDocument/2006/relationships/image" Target="../media/image105.svg"/><Relationship Id="rId4" Type="http://schemas.openxmlformats.org/officeDocument/2006/relationships/image" Target="../media/image89.png"/><Relationship Id="rId9" Type="http://schemas.openxmlformats.org/officeDocument/2006/relationships/image" Target="../media/image104.svg"/><Relationship Id="rId14" Type="http://schemas.openxmlformats.org/officeDocument/2006/relationships/image" Target="../media/image42.svg"/></Relationships>
</file>

<file path=ppt/slides/_rels/slide13.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2.emf"/><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3" Type="http://schemas.openxmlformats.org/officeDocument/2006/relationships/image" Target="../media/image117.png"/><Relationship Id="rId18" Type="http://schemas.openxmlformats.org/officeDocument/2006/relationships/image" Target="../media/image122.png"/><Relationship Id="rId26" Type="http://schemas.openxmlformats.org/officeDocument/2006/relationships/image" Target="../media/image130.png"/><Relationship Id="rId3" Type="http://schemas.openxmlformats.org/officeDocument/2006/relationships/notesSlide" Target="../notesSlides/notesSlide11.xml"/><Relationship Id="rId21" Type="http://schemas.openxmlformats.org/officeDocument/2006/relationships/image" Target="../media/image125.png"/><Relationship Id="rId34" Type="http://schemas.openxmlformats.org/officeDocument/2006/relationships/image" Target="../media/image138.png"/><Relationship Id="rId7" Type="http://schemas.openxmlformats.org/officeDocument/2006/relationships/image" Target="../media/image112.svg"/><Relationship Id="rId12" Type="http://schemas.openxmlformats.org/officeDocument/2006/relationships/image" Target="../media/image116.png"/><Relationship Id="rId17" Type="http://schemas.openxmlformats.org/officeDocument/2006/relationships/image" Target="../media/image121.png"/><Relationship Id="rId25" Type="http://schemas.openxmlformats.org/officeDocument/2006/relationships/image" Target="../media/image129.png"/><Relationship Id="rId33" Type="http://schemas.openxmlformats.org/officeDocument/2006/relationships/image" Target="../media/image137.png"/><Relationship Id="rId2" Type="http://schemas.openxmlformats.org/officeDocument/2006/relationships/slideLayout" Target="../slideLayouts/slideLayout9.xml"/><Relationship Id="rId16" Type="http://schemas.openxmlformats.org/officeDocument/2006/relationships/image" Target="../media/image120.png"/><Relationship Id="rId20" Type="http://schemas.openxmlformats.org/officeDocument/2006/relationships/image" Target="../media/image124.png"/><Relationship Id="rId29" Type="http://schemas.openxmlformats.org/officeDocument/2006/relationships/image" Target="../media/image133.png"/><Relationship Id="rId1" Type="http://schemas.openxmlformats.org/officeDocument/2006/relationships/tags" Target="../tags/tag12.xml"/><Relationship Id="rId6" Type="http://schemas.openxmlformats.org/officeDocument/2006/relationships/image" Target="../media/image111.svg"/><Relationship Id="rId11" Type="http://schemas.openxmlformats.org/officeDocument/2006/relationships/image" Target="../media/image88.png"/><Relationship Id="rId24" Type="http://schemas.openxmlformats.org/officeDocument/2006/relationships/image" Target="../media/image128.png"/><Relationship Id="rId32" Type="http://schemas.openxmlformats.org/officeDocument/2006/relationships/image" Target="../media/image136.png"/><Relationship Id="rId5" Type="http://schemas.openxmlformats.org/officeDocument/2006/relationships/image" Target="../media/image110.svg"/><Relationship Id="rId15" Type="http://schemas.openxmlformats.org/officeDocument/2006/relationships/image" Target="../media/image119.svg"/><Relationship Id="rId23" Type="http://schemas.openxmlformats.org/officeDocument/2006/relationships/image" Target="../media/image127.png"/><Relationship Id="rId28" Type="http://schemas.openxmlformats.org/officeDocument/2006/relationships/image" Target="../media/image132.png"/><Relationship Id="rId36" Type="http://schemas.openxmlformats.org/officeDocument/2006/relationships/image" Target="../media/image140.png"/><Relationship Id="rId10" Type="http://schemas.openxmlformats.org/officeDocument/2006/relationships/image" Target="../media/image115.png"/><Relationship Id="rId19" Type="http://schemas.openxmlformats.org/officeDocument/2006/relationships/image" Target="../media/image123.png"/><Relationship Id="rId31" Type="http://schemas.openxmlformats.org/officeDocument/2006/relationships/image" Target="../media/image135.png"/><Relationship Id="rId4" Type="http://schemas.openxmlformats.org/officeDocument/2006/relationships/image" Target="../media/image109.svg"/><Relationship Id="rId9" Type="http://schemas.openxmlformats.org/officeDocument/2006/relationships/image" Target="../media/image114.png"/><Relationship Id="rId14" Type="http://schemas.openxmlformats.org/officeDocument/2006/relationships/image" Target="../media/image118.png"/><Relationship Id="rId22" Type="http://schemas.openxmlformats.org/officeDocument/2006/relationships/image" Target="../media/image126.png"/><Relationship Id="rId27" Type="http://schemas.openxmlformats.org/officeDocument/2006/relationships/image" Target="../media/image131.png"/><Relationship Id="rId30" Type="http://schemas.openxmlformats.org/officeDocument/2006/relationships/image" Target="../media/image134.png"/><Relationship Id="rId35" Type="http://schemas.openxmlformats.org/officeDocument/2006/relationships/image" Target="../media/image139.png"/><Relationship Id="rId8" Type="http://schemas.openxmlformats.org/officeDocument/2006/relationships/image" Target="../media/image113.png"/></Relationships>
</file>

<file path=ppt/slides/_rels/slide15.xml.rels><?xml version="1.0" encoding="UTF-8" standalone="yes"?>
<Relationships xmlns="http://schemas.openxmlformats.org/package/2006/relationships"><Relationship Id="rId13" Type="http://schemas.openxmlformats.org/officeDocument/2006/relationships/image" Target="../media/image143.png"/><Relationship Id="rId18" Type="http://schemas.openxmlformats.org/officeDocument/2006/relationships/image" Target="../media/image137.png"/><Relationship Id="rId26" Type="http://schemas.openxmlformats.org/officeDocument/2006/relationships/image" Target="../media/image150.svg"/><Relationship Id="rId3" Type="http://schemas.openxmlformats.org/officeDocument/2006/relationships/notesSlide" Target="../notesSlides/notesSlide12.xml"/><Relationship Id="rId21" Type="http://schemas.openxmlformats.org/officeDocument/2006/relationships/image" Target="../media/image140.png"/><Relationship Id="rId34" Type="http://schemas.openxmlformats.org/officeDocument/2006/relationships/image" Target="../media/image155.png"/><Relationship Id="rId7" Type="http://schemas.openxmlformats.org/officeDocument/2006/relationships/image" Target="../media/image134.png"/><Relationship Id="rId12" Type="http://schemas.openxmlformats.org/officeDocument/2006/relationships/image" Target="../media/image89.png"/><Relationship Id="rId17" Type="http://schemas.openxmlformats.org/officeDocument/2006/relationships/image" Target="../media/image136.png"/><Relationship Id="rId25" Type="http://schemas.openxmlformats.org/officeDocument/2006/relationships/image" Target="../media/image149.png"/><Relationship Id="rId33" Type="http://schemas.openxmlformats.org/officeDocument/2006/relationships/image" Target="../media/image110.svg"/><Relationship Id="rId2" Type="http://schemas.openxmlformats.org/officeDocument/2006/relationships/slideLayout" Target="../slideLayouts/slideLayout9.xml"/><Relationship Id="rId16" Type="http://schemas.openxmlformats.org/officeDocument/2006/relationships/image" Target="../media/image135.png"/><Relationship Id="rId20" Type="http://schemas.openxmlformats.org/officeDocument/2006/relationships/image" Target="../media/image139.png"/><Relationship Id="rId29" Type="http://schemas.openxmlformats.org/officeDocument/2006/relationships/image" Target="../media/image152.svg"/><Relationship Id="rId1" Type="http://schemas.openxmlformats.org/officeDocument/2006/relationships/tags" Target="../tags/tag13.xml"/><Relationship Id="rId6" Type="http://schemas.openxmlformats.org/officeDocument/2006/relationships/image" Target="../media/image133.png"/><Relationship Id="rId11" Type="http://schemas.openxmlformats.org/officeDocument/2006/relationships/image" Target="../media/image142.png"/><Relationship Id="rId24" Type="http://schemas.openxmlformats.org/officeDocument/2006/relationships/image" Target="../media/image148.png"/><Relationship Id="rId32" Type="http://schemas.openxmlformats.org/officeDocument/2006/relationships/image" Target="../media/image109.svg"/><Relationship Id="rId5" Type="http://schemas.openxmlformats.org/officeDocument/2006/relationships/image" Target="../media/image132.png"/><Relationship Id="rId15" Type="http://schemas.openxmlformats.org/officeDocument/2006/relationships/image" Target="../media/image145.png"/><Relationship Id="rId23" Type="http://schemas.openxmlformats.org/officeDocument/2006/relationships/image" Target="../media/image147.png"/><Relationship Id="rId28" Type="http://schemas.openxmlformats.org/officeDocument/2006/relationships/image" Target="../media/image151.svg"/><Relationship Id="rId10" Type="http://schemas.openxmlformats.org/officeDocument/2006/relationships/image" Target="../media/image141.png"/><Relationship Id="rId19" Type="http://schemas.openxmlformats.org/officeDocument/2006/relationships/image" Target="../media/image138.png"/><Relationship Id="rId31" Type="http://schemas.openxmlformats.org/officeDocument/2006/relationships/image" Target="../media/image154.svg"/><Relationship Id="rId4" Type="http://schemas.openxmlformats.org/officeDocument/2006/relationships/image" Target="../media/image118.png"/><Relationship Id="rId9" Type="http://schemas.openxmlformats.org/officeDocument/2006/relationships/image" Target="../media/image119.svg"/><Relationship Id="rId14" Type="http://schemas.openxmlformats.org/officeDocument/2006/relationships/image" Target="../media/image144.png"/><Relationship Id="rId22" Type="http://schemas.openxmlformats.org/officeDocument/2006/relationships/image" Target="../media/image146.png"/><Relationship Id="rId27" Type="http://schemas.openxmlformats.org/officeDocument/2006/relationships/image" Target="../media/image126.png"/><Relationship Id="rId30" Type="http://schemas.openxmlformats.org/officeDocument/2006/relationships/image" Target="../media/image153.svg"/><Relationship Id="rId35" Type="http://schemas.openxmlformats.org/officeDocument/2006/relationships/image" Target="../media/image156.svg"/><Relationship Id="rId8" Type="http://schemas.openxmlformats.org/officeDocument/2006/relationships/image" Target="../media/image116.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9.xml"/><Relationship Id="rId1" Type="http://schemas.openxmlformats.org/officeDocument/2006/relationships/tags" Target="../tags/tag14.xml"/><Relationship Id="rId4" Type="http://schemas.openxmlformats.org/officeDocument/2006/relationships/image" Target="../media/image157.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9.xml"/><Relationship Id="rId1" Type="http://schemas.openxmlformats.org/officeDocument/2006/relationships/tags" Target="../tags/tag15.xml"/><Relationship Id="rId4" Type="http://schemas.openxmlformats.org/officeDocument/2006/relationships/image" Target="../media/image158.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9.xml"/><Relationship Id="rId1" Type="http://schemas.openxmlformats.org/officeDocument/2006/relationships/tags" Target="../tags/tag16.xml"/><Relationship Id="rId4" Type="http://schemas.openxmlformats.org/officeDocument/2006/relationships/image" Target="../media/image15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9.xml"/><Relationship Id="rId1" Type="http://schemas.openxmlformats.org/officeDocument/2006/relationships/tags" Target="../tags/tag17.xml"/><Relationship Id="rId4" Type="http://schemas.openxmlformats.org/officeDocument/2006/relationships/image" Target="../media/image160.png"/></Relationships>
</file>

<file path=ppt/slides/_rels/slide20.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image" Target="../media/image161.jpe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picture containing invertebrate&#10;&#10;Description automatically generated">
            <a:extLst>
              <a:ext uri="{FF2B5EF4-FFF2-40B4-BE49-F238E27FC236}">
                <a16:creationId xmlns:a16="http://schemas.microsoft.com/office/drawing/2014/main" id="{3D7DC16C-74AF-4E46-BB22-8C64A04DEC60}"/>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t="15177" r="54315" b="2614"/>
          <a:stretch/>
        </p:blipFill>
        <p:spPr>
          <a:xfrm>
            <a:off x="8567225" y="0"/>
            <a:ext cx="3624776" cy="6858000"/>
          </a:xfrm>
          <a:prstGeom prst="rect">
            <a:avLst/>
          </a:prstGeom>
        </p:spPr>
      </p:pic>
      <p:pic>
        <p:nvPicPr>
          <p:cNvPr id="3" name="Immagine 9">
            <a:extLst>
              <a:ext uri="{FF2B5EF4-FFF2-40B4-BE49-F238E27FC236}">
                <a16:creationId xmlns:a16="http://schemas.microsoft.com/office/drawing/2014/main" id="{604D2627-1C6B-FC31-F09B-C65F77CD7DAE}"/>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273168" y="290532"/>
            <a:ext cx="1848441" cy="418609"/>
          </a:xfrm>
          <a:prstGeom prst="rect">
            <a:avLst/>
          </a:prstGeom>
        </p:spPr>
      </p:pic>
      <p:sp>
        <p:nvSpPr>
          <p:cNvPr id="2" name="Title 1">
            <a:extLst>
              <a:ext uri="{FF2B5EF4-FFF2-40B4-BE49-F238E27FC236}">
                <a16:creationId xmlns:a16="http://schemas.microsoft.com/office/drawing/2014/main" id="{275FD64F-5FCF-2696-E5CD-4560F1443B7B}"/>
              </a:ext>
            </a:extLst>
          </p:cNvPr>
          <p:cNvSpPr txBox="1">
            <a:spLocks/>
          </p:cNvSpPr>
          <p:nvPr/>
        </p:nvSpPr>
        <p:spPr>
          <a:xfrm>
            <a:off x="280351" y="4481209"/>
            <a:ext cx="9720899" cy="651460"/>
          </a:xfrm>
          <a:prstGeom prst="rect">
            <a:avLst/>
          </a:prstGeom>
          <a:noFill/>
        </p:spPr>
        <p:txBody>
          <a:bodyP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it-IT" sz="4000" b="0" i="0" u="none" strike="noStrike" kern="1200" cap="none" spc="0" normalizeH="0" baseline="0" noProof="0" dirty="0">
                <a:ln>
                  <a:noFill/>
                </a:ln>
                <a:gradFill>
                  <a:gsLst>
                    <a:gs pos="75000">
                      <a:srgbClr val="0099CC"/>
                    </a:gs>
                    <a:gs pos="90000">
                      <a:srgbClr val="2A6FCC"/>
                    </a:gs>
                    <a:gs pos="48000">
                      <a:srgbClr val="33CCCC"/>
                    </a:gs>
                    <a:gs pos="11000">
                      <a:srgbClr val="00FFCC"/>
                    </a:gs>
                    <a:gs pos="62000">
                      <a:srgbClr val="2691B5"/>
                    </a:gs>
                    <a:gs pos="27000">
                      <a:srgbClr val="99FFCC"/>
                    </a:gs>
                  </a:gsLst>
                  <a:lin ang="2700000" scaled="1"/>
                </a:gradFill>
                <a:effectLst/>
                <a:uLnTx/>
                <a:uFillTx/>
                <a:latin typeface="Poppins SemiBold" pitchFamily="2" charset="77"/>
                <a:ea typeface="+mj-ea"/>
                <a:cs typeface="Poppins SemiBold" pitchFamily="2" charset="77"/>
              </a:rPr>
              <a:t>Data Pipeline Blueprint</a:t>
            </a:r>
            <a:endParaRPr kumimoji="0" lang="it-IT" sz="6600" b="0" i="0" u="none" strike="noStrike" kern="1200" cap="none" spc="0" normalizeH="0" baseline="0" noProof="0" dirty="0">
              <a:ln>
                <a:noFill/>
              </a:ln>
              <a:gradFill>
                <a:gsLst>
                  <a:gs pos="75000">
                    <a:srgbClr val="0099CC"/>
                  </a:gs>
                  <a:gs pos="90000">
                    <a:srgbClr val="2A6FCC"/>
                  </a:gs>
                  <a:gs pos="48000">
                    <a:srgbClr val="33CCCC"/>
                  </a:gs>
                  <a:gs pos="11000">
                    <a:srgbClr val="00FFCC"/>
                  </a:gs>
                  <a:gs pos="62000">
                    <a:srgbClr val="2691B5"/>
                  </a:gs>
                  <a:gs pos="27000">
                    <a:srgbClr val="99FFCC"/>
                  </a:gs>
                </a:gsLst>
                <a:lin ang="2700000" scaled="1"/>
              </a:gradFill>
              <a:effectLst/>
              <a:uLnTx/>
              <a:uFillTx/>
              <a:latin typeface="Poppins SemiBold" panose="00000700000000000000" pitchFamily="2" charset="0"/>
              <a:ea typeface="+mj-ea"/>
              <a:cs typeface="Poppins SemiBold" panose="00000700000000000000" pitchFamily="2" charset="0"/>
            </a:endParaRPr>
          </a:p>
        </p:txBody>
      </p:sp>
      <p:sp>
        <p:nvSpPr>
          <p:cNvPr id="4" name="Styles come and go.…">
            <a:extLst>
              <a:ext uri="{FF2B5EF4-FFF2-40B4-BE49-F238E27FC236}">
                <a16:creationId xmlns:a16="http://schemas.microsoft.com/office/drawing/2014/main" id="{0002BF09-5A95-3F7D-4E8F-5B1DB1AF1ECE}"/>
              </a:ext>
            </a:extLst>
          </p:cNvPr>
          <p:cNvSpPr txBox="1"/>
          <p:nvPr/>
        </p:nvSpPr>
        <p:spPr>
          <a:xfrm>
            <a:off x="417616" y="6157480"/>
            <a:ext cx="1575752" cy="279051"/>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marL="0" marR="0" lvl="0" indent="0" algn="l" defTabSz="914400" rtl="0" eaLnBrk="1" fontAlgn="auto" latinLnBrk="0" hangingPunct="1">
              <a:lnSpc>
                <a:spcPct val="120000"/>
              </a:lnSpc>
              <a:spcBef>
                <a:spcPts val="0"/>
              </a:spcBef>
              <a:spcAft>
                <a:spcPts val="0"/>
              </a:spcAft>
              <a:buClrTx/>
              <a:buSzTx/>
              <a:buFontTx/>
              <a:buNone/>
              <a:tabLst/>
              <a:defRPr sz="4000" b="0">
                <a:solidFill>
                  <a:srgbClr val="2C2E3C"/>
                </a:solidFill>
                <a:latin typeface="Roboto Light"/>
                <a:ea typeface="Roboto Light"/>
                <a:cs typeface="Roboto Light"/>
                <a:sym typeface="Roboto Light"/>
              </a:defRPr>
            </a:pPr>
            <a:r>
              <a:rPr lang="it-IT" sz="1600" dirty="0">
                <a:solidFill>
                  <a:prstClr val="black">
                    <a:lumMod val="75000"/>
                    <a:lumOff val="25000"/>
                  </a:prstClr>
                </a:solidFill>
                <a:latin typeface="Poppins" pitchFamily="2" charset="77"/>
                <a:ea typeface="Roboto Light"/>
                <a:cs typeface="Poppins" pitchFamily="2" charset="77"/>
                <a:sym typeface="Roboto Light"/>
              </a:rPr>
              <a:t>30 giugno 2026</a:t>
            </a:r>
            <a:endParaRPr kumimoji="0" sz="1600" b="0" i="0" u="none" strike="noStrike" kern="1200" cap="none" spc="0" normalizeH="0" baseline="0" noProof="0" dirty="0">
              <a:ln>
                <a:noFill/>
              </a:ln>
              <a:solidFill>
                <a:prstClr val="black">
                  <a:lumMod val="75000"/>
                  <a:lumOff val="25000"/>
                </a:prstClr>
              </a:solidFill>
              <a:effectLst/>
              <a:uLnTx/>
              <a:uFillTx/>
              <a:latin typeface="Poppins" pitchFamily="2" charset="77"/>
              <a:ea typeface="Roboto Light"/>
              <a:cs typeface="Poppins" pitchFamily="2" charset="77"/>
              <a:sym typeface="Roboto Light"/>
            </a:endParaRPr>
          </a:p>
        </p:txBody>
      </p:sp>
      <p:sp>
        <p:nvSpPr>
          <p:cNvPr id="6" name="Styles come and go.…">
            <a:extLst>
              <a:ext uri="{FF2B5EF4-FFF2-40B4-BE49-F238E27FC236}">
                <a16:creationId xmlns:a16="http://schemas.microsoft.com/office/drawing/2014/main" id="{064116E2-3B0A-A666-64D4-6B046579F3AD}"/>
              </a:ext>
            </a:extLst>
          </p:cNvPr>
          <p:cNvSpPr txBox="1"/>
          <p:nvPr/>
        </p:nvSpPr>
        <p:spPr>
          <a:xfrm>
            <a:off x="407988" y="5047139"/>
            <a:ext cx="65" cy="348813"/>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nSpc>
                <a:spcPct val="120000"/>
              </a:lnSpc>
              <a:defRPr sz="4000" b="0">
                <a:solidFill>
                  <a:srgbClr val="2C2E3C"/>
                </a:solidFill>
                <a:latin typeface="Roboto Light"/>
                <a:ea typeface="Roboto Light"/>
                <a:cs typeface="Roboto Light"/>
                <a:sym typeface="Roboto Light"/>
              </a:defRPr>
            </a:pPr>
            <a:endParaRPr lang="it-IT" sz="2000" i="1">
              <a:solidFill>
                <a:prstClr val="black">
                  <a:lumMod val="75000"/>
                  <a:lumOff val="25000"/>
                </a:prstClr>
              </a:solidFill>
              <a:latin typeface="Poppins" pitchFamily="2" charset="77"/>
              <a:ea typeface="Roboto Light"/>
              <a:cs typeface="Poppins" pitchFamily="2" charset="77"/>
              <a:sym typeface="Roboto Light"/>
            </a:endParaRPr>
          </a:p>
        </p:txBody>
      </p:sp>
      <p:sp>
        <p:nvSpPr>
          <p:cNvPr id="5" name="Title 1">
            <a:extLst>
              <a:ext uri="{FF2B5EF4-FFF2-40B4-BE49-F238E27FC236}">
                <a16:creationId xmlns:a16="http://schemas.microsoft.com/office/drawing/2014/main" id="{0B0C31A5-BD22-ACB3-2948-50B86D19A782}"/>
              </a:ext>
            </a:extLst>
          </p:cNvPr>
          <p:cNvSpPr txBox="1">
            <a:spLocks/>
          </p:cNvSpPr>
          <p:nvPr/>
        </p:nvSpPr>
        <p:spPr>
          <a:xfrm>
            <a:off x="280351" y="5087229"/>
            <a:ext cx="7381213" cy="343940"/>
          </a:xfrm>
          <a:prstGeom prst="rect">
            <a:avLst/>
          </a:prstGeom>
          <a:no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it-IT" sz="1800" noProof="0" dirty="0">
                <a:solidFill>
                  <a:schemeClr val="tx1">
                    <a:lumMod val="65000"/>
                    <a:lumOff val="35000"/>
                  </a:schemeClr>
                </a:solidFill>
              </a:rPr>
              <a:t>Due approcci per pipeline moderne nei progetti data-intensive</a:t>
            </a:r>
            <a:endParaRPr kumimoji="0" lang="it-IT" sz="3200" b="0" i="0" u="none" strike="noStrike" kern="1200" cap="none" spc="0" normalizeH="0" baseline="0" noProof="0" dirty="0">
              <a:ln>
                <a:noFill/>
              </a:ln>
              <a:solidFill>
                <a:schemeClr val="tx1">
                  <a:lumMod val="65000"/>
                  <a:lumOff val="35000"/>
                </a:schemeClr>
              </a:solidFill>
              <a:effectLst/>
              <a:uLnTx/>
              <a:uFillTx/>
              <a:latin typeface="Poppins SemiBold" panose="00000700000000000000" pitchFamily="2" charset="0"/>
              <a:ea typeface="+mj-ea"/>
              <a:cs typeface="Poppins SemiBold" panose="00000700000000000000" pitchFamily="2" charset="0"/>
            </a:endParaRPr>
          </a:p>
        </p:txBody>
      </p:sp>
    </p:spTree>
    <p:custDataLst>
      <p:tags r:id="rId1"/>
    </p:custDataLst>
    <p:extLst>
      <p:ext uri="{BB962C8B-B14F-4D97-AF65-F5344CB8AC3E}">
        <p14:creationId xmlns:p14="http://schemas.microsoft.com/office/powerpoint/2010/main" val="328872546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2A87C-470C-8B12-D60F-333EEC9F92F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E24B67D-7955-0EBD-C984-DF789E5605DB}"/>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rPr>
              <a:t>Contesto ed esigenza</a:t>
            </a:r>
          </a:p>
        </p:txBody>
      </p:sp>
      <p:sp>
        <p:nvSpPr>
          <p:cNvPr id="2" name="TextBox 13">
            <a:extLst>
              <a:ext uri="{FF2B5EF4-FFF2-40B4-BE49-F238E27FC236}">
                <a16:creationId xmlns:a16="http://schemas.microsoft.com/office/drawing/2014/main" id="{EA4F494F-DF27-FB0D-7CBF-1FCE6585939C}"/>
              </a:ext>
            </a:extLst>
          </p:cNvPr>
          <p:cNvSpPr txBox="1"/>
          <p:nvPr/>
        </p:nvSpPr>
        <p:spPr>
          <a:xfrm>
            <a:off x="118173" y="2311752"/>
            <a:ext cx="2065863" cy="369332"/>
          </a:xfrm>
          <a:prstGeom prst="rect">
            <a:avLst/>
          </a:prstGeom>
          <a:noFill/>
        </p:spPr>
        <p:txBody>
          <a:bodyPr wrap="square" rtlCol="0">
            <a:spAutoFit/>
          </a:bodyPr>
          <a:lstStyle/>
          <a:p>
            <a:pPr marL="0" marR="0" lvl="0" indent="0" algn="r" defTabSz="908294" rtl="0" eaLnBrk="1" fontAlgn="auto" latinLnBrk="0" hangingPunct="1">
              <a:lnSpc>
                <a:spcPct val="100000"/>
              </a:lnSpc>
              <a:spcBef>
                <a:spcPts val="0"/>
              </a:spcBef>
              <a:spcAft>
                <a:spcPts val="0"/>
              </a:spcAft>
              <a:buClrTx/>
              <a:buSzTx/>
              <a:buFontTx/>
              <a:buNone/>
              <a:tabLst/>
              <a:defRPr/>
            </a:pPr>
            <a:r>
              <a:rPr lang="it-IT" b="1">
                <a:gradFill>
                  <a:gsLst>
                    <a:gs pos="0">
                      <a:srgbClr val="56B093"/>
                    </a:gs>
                    <a:gs pos="100000">
                      <a:srgbClr val="307FE2"/>
                    </a:gs>
                  </a:gsLst>
                  <a:lin ang="17400000" scaled="0"/>
                </a:gradFill>
                <a:latin typeface="+mj-lt"/>
                <a:cs typeface="Poppins SemiBold" panose="00000700000000000000" pitchFamily="2" charset="0"/>
              </a:rPr>
              <a:t>Contesto</a:t>
            </a:r>
            <a:endParaRPr kumimoji="0" lang="it-IT" b="1" i="0" u="none" strike="noStrike" kern="1200" cap="none" spc="0" normalizeH="0" baseline="0" noProof="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3" name="Line">
            <a:extLst>
              <a:ext uri="{FF2B5EF4-FFF2-40B4-BE49-F238E27FC236}">
                <a16:creationId xmlns:a16="http://schemas.microsoft.com/office/drawing/2014/main" id="{FEF7F38A-08C6-C143-046E-C4E7391F4CF3}"/>
              </a:ext>
            </a:extLst>
          </p:cNvPr>
          <p:cNvSpPr/>
          <p:nvPr/>
        </p:nvSpPr>
        <p:spPr>
          <a:xfrm flipH="1">
            <a:off x="2519307" y="1029949"/>
            <a:ext cx="0" cy="5328036"/>
          </a:xfrm>
          <a:prstGeom prst="line">
            <a:avLst/>
          </a:prstGeom>
          <a:ln w="254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u="none" strike="noStrike" kern="0" cap="none" spc="0" normalizeH="0" baseline="0" noProof="0" dirty="0">
                <a:ln>
                  <a:noFill/>
                </a:ln>
                <a:solidFill>
                  <a:srgbClr val="FFFFFF"/>
                </a:solidFill>
                <a:effectLst/>
                <a:uLnTx/>
                <a:uFillTx/>
                <a:latin typeface="+mj-lt"/>
                <a:ea typeface="+mn-ea"/>
                <a:cs typeface="+mn-cs"/>
                <a:sym typeface="Helvetica Neue Medium"/>
              </a:rPr>
              <a:t>v</a:t>
            </a: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sp>
        <p:nvSpPr>
          <p:cNvPr id="4" name="TextBox 13">
            <a:extLst>
              <a:ext uri="{FF2B5EF4-FFF2-40B4-BE49-F238E27FC236}">
                <a16:creationId xmlns:a16="http://schemas.microsoft.com/office/drawing/2014/main" id="{21A8B25A-EE16-5A0B-17C0-B35A61FA35D4}"/>
              </a:ext>
            </a:extLst>
          </p:cNvPr>
          <p:cNvSpPr txBox="1"/>
          <p:nvPr/>
        </p:nvSpPr>
        <p:spPr>
          <a:xfrm>
            <a:off x="172325" y="4935284"/>
            <a:ext cx="2065863" cy="369332"/>
          </a:xfrm>
          <a:prstGeom prst="rect">
            <a:avLst/>
          </a:prstGeom>
          <a:noFill/>
        </p:spPr>
        <p:txBody>
          <a:bodyPr wrap="square" rtlCol="0">
            <a:spAutoFit/>
          </a:bodyPr>
          <a:lstStyle/>
          <a:p>
            <a:pPr marL="0" marR="0" lvl="0" indent="0" algn="r" defTabSz="908294" rtl="0" eaLnBrk="1" fontAlgn="auto" latinLnBrk="0" hangingPunct="1">
              <a:lnSpc>
                <a:spcPct val="100000"/>
              </a:lnSpc>
              <a:spcBef>
                <a:spcPts val="0"/>
              </a:spcBef>
              <a:spcAft>
                <a:spcPts val="0"/>
              </a:spcAft>
              <a:buClrTx/>
              <a:buSzTx/>
              <a:buFontTx/>
              <a:buNone/>
              <a:tabLst/>
              <a:defRPr/>
            </a:pPr>
            <a:r>
              <a:rPr lang="it-IT" b="1" dirty="0">
                <a:gradFill>
                  <a:gsLst>
                    <a:gs pos="0">
                      <a:srgbClr val="56B093"/>
                    </a:gs>
                    <a:gs pos="100000">
                      <a:srgbClr val="307FE2"/>
                    </a:gs>
                  </a:gsLst>
                  <a:lin ang="17400000" scaled="0"/>
                </a:gradFill>
                <a:latin typeface="+mj-lt"/>
                <a:cs typeface="Poppins SemiBold" panose="00000700000000000000" pitchFamily="2" charset="0"/>
              </a:rPr>
              <a:t>Esigenza</a:t>
            </a:r>
            <a:endParaRPr kumimoji="0" lang="it-IT" b="1" i="0" u="none"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11" name="Tittle Function 01…">
            <a:extLst>
              <a:ext uri="{FF2B5EF4-FFF2-40B4-BE49-F238E27FC236}">
                <a16:creationId xmlns:a16="http://schemas.microsoft.com/office/drawing/2014/main" id="{423A6B96-7F5B-1BAD-A310-9148A616A305}"/>
              </a:ext>
            </a:extLst>
          </p:cNvPr>
          <p:cNvSpPr txBox="1"/>
          <p:nvPr/>
        </p:nvSpPr>
        <p:spPr>
          <a:xfrm>
            <a:off x="2928806" y="1880865"/>
            <a:ext cx="8368468" cy="123110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ProSIGNAL</a:t>
            </a:r>
            <a:r>
              <a:rPr lang="it-IT" sz="1600" dirty="0">
                <a:latin typeface="+mj-lt"/>
              </a:rPr>
              <a:t>,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Kiron CDG </a:t>
            </a:r>
            <a:r>
              <a:rPr lang="it-IT" sz="1600" dirty="0">
                <a:solidFill>
                  <a:schemeClr val="tx1">
                    <a:lumMod val="85000"/>
                    <a:lumOff val="15000"/>
                  </a:schemeClr>
                </a:solidFill>
                <a:latin typeface="+mj-lt"/>
              </a:rPr>
              <a:t>e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CDG interno </a:t>
            </a:r>
            <a:r>
              <a:rPr lang="it-IT" sz="1600" dirty="0">
                <a:solidFill>
                  <a:schemeClr val="tx1">
                    <a:lumMod val="85000"/>
                    <a:lumOff val="15000"/>
                  </a:schemeClr>
                </a:solidFill>
                <a:latin typeface="+mj-lt"/>
              </a:rPr>
              <a:t>partono da fonti e obiettivi diversi, ma pongono lo stesso tema di governo del dato. Non basta caricare informazioni in una dashboard: bisogna sapere da dove arrivano, quali regole sono state applicate, quali anomalie sono emerse e quale output può essere usato con fiducia da utenti e stakeholder.</a:t>
            </a:r>
            <a:endParaRPr lang="it-IT" sz="1600" b="1" dirty="0">
              <a:solidFill>
                <a:schemeClr val="tx1">
                  <a:lumMod val="85000"/>
                  <a:lumOff val="15000"/>
                </a:schemeClr>
              </a:solidFill>
              <a:latin typeface="+mj-lt"/>
              <a:cs typeface="Poppins SemiBold"/>
            </a:endParaRPr>
          </a:p>
        </p:txBody>
      </p:sp>
      <p:sp>
        <p:nvSpPr>
          <p:cNvPr id="13" name="Tittle Function 01…">
            <a:extLst>
              <a:ext uri="{FF2B5EF4-FFF2-40B4-BE49-F238E27FC236}">
                <a16:creationId xmlns:a16="http://schemas.microsoft.com/office/drawing/2014/main" id="{1FB3327E-B3E2-46BE-BC96-8AB9B290586B}"/>
              </a:ext>
            </a:extLst>
          </p:cNvPr>
          <p:cNvSpPr txBox="1"/>
          <p:nvPr/>
        </p:nvSpPr>
        <p:spPr>
          <a:xfrm>
            <a:off x="2928806" y="4504397"/>
            <a:ext cx="8368466" cy="126188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dirty="0">
                <a:solidFill>
                  <a:schemeClr val="tx1">
                    <a:lumMod val="85000"/>
                    <a:lumOff val="15000"/>
                  </a:schemeClr>
                </a:solidFill>
                <a:latin typeface="+mj-lt"/>
              </a:rPr>
              <a:t>Senza una </a:t>
            </a:r>
            <a:r>
              <a:rPr lang="en-US" sz="1600" noProof="0" dirty="0">
                <a:solidFill>
                  <a:schemeClr val="tx1">
                    <a:lumMod val="85000"/>
                    <a:lumOff val="15000"/>
                  </a:schemeClr>
                </a:solidFill>
                <a:latin typeface="+mj-lt"/>
              </a:rPr>
              <a:t>blueprint</a:t>
            </a:r>
            <a:r>
              <a:rPr lang="it-IT" sz="1600" dirty="0">
                <a:solidFill>
                  <a:schemeClr val="tx1">
                    <a:lumMod val="85000"/>
                    <a:lumOff val="15000"/>
                  </a:schemeClr>
                </a:solidFill>
                <a:latin typeface="+mj-lt"/>
              </a:rPr>
              <a:t> comune, ogni progetto rischia di rifare da zero tracciati, mapping, controlli, log e gestione degli scarti. </a:t>
            </a:r>
          </a:p>
          <a:p>
            <a:r>
              <a:rPr lang="it-IT" sz="1600" dirty="0">
                <a:solidFill>
                  <a:schemeClr val="tx1">
                    <a:lumMod val="85000"/>
                    <a:lumOff val="15000"/>
                  </a:schemeClr>
                </a:solidFill>
                <a:latin typeface="+mj-lt"/>
              </a:rPr>
              <a:t>Questo aumenta tempi, dipendenza dalle singole persone e difficoltà di riuso. Serve un modello comune: </a:t>
            </a:r>
            <a:r>
              <a:rPr lang="it-IT" sz="1600" noProof="0" dirty="0"/>
              <a:t>flessibile sui casi specifici</a:t>
            </a:r>
            <a:r>
              <a:rPr lang="en-US" sz="1600" dirty="0"/>
              <a:t>, </a:t>
            </a:r>
            <a:r>
              <a:rPr lang="it-IT" sz="1600" dirty="0">
                <a:solidFill>
                  <a:schemeClr val="tx1">
                    <a:lumMod val="85000"/>
                    <a:lumOff val="15000"/>
                  </a:schemeClr>
                </a:solidFill>
                <a:latin typeface="+mj-lt"/>
              </a:rPr>
              <a:t>ma renda standard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qualità</a:t>
            </a:r>
            <a:r>
              <a:rPr lang="it-IT" sz="1600" dirty="0">
                <a:latin typeface="+mj-lt"/>
              </a:rPr>
              <a:t>,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auditabilità</a:t>
            </a:r>
            <a:r>
              <a:rPr lang="it-IT" sz="1600" dirty="0">
                <a:latin typeface="+mj-lt"/>
              </a:rPr>
              <a:t> e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costi di gestione</a:t>
            </a:r>
            <a:r>
              <a:rPr lang="it-IT" sz="1600" dirty="0">
                <a:latin typeface="+mj-lt"/>
              </a:rPr>
              <a:t>.</a:t>
            </a:r>
          </a:p>
        </p:txBody>
      </p:sp>
      <p:grpSp>
        <p:nvGrpSpPr>
          <p:cNvPr id="63" name="Gruppo 62">
            <a:extLst>
              <a:ext uri="{FF2B5EF4-FFF2-40B4-BE49-F238E27FC236}">
                <a16:creationId xmlns:a16="http://schemas.microsoft.com/office/drawing/2014/main" id="{57ABDB5B-4372-BCF1-4174-57D23A7839FB}"/>
              </a:ext>
            </a:extLst>
          </p:cNvPr>
          <p:cNvGrpSpPr/>
          <p:nvPr/>
        </p:nvGrpSpPr>
        <p:grpSpPr>
          <a:xfrm>
            <a:off x="8967395" y="370238"/>
            <a:ext cx="2750029" cy="406706"/>
            <a:chOff x="6734403" y="623243"/>
            <a:chExt cx="2750029" cy="406706"/>
          </a:xfrm>
        </p:grpSpPr>
        <p:sp>
          <p:nvSpPr>
            <p:cNvPr id="61" name="Line">
              <a:extLst>
                <a:ext uri="{FF2B5EF4-FFF2-40B4-BE49-F238E27FC236}">
                  <a16:creationId xmlns:a16="http://schemas.microsoft.com/office/drawing/2014/main" id="{A0BAD907-B64A-2186-7A81-A437879F8EA6}"/>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62" name="Gruppo 61">
              <a:extLst>
                <a:ext uri="{FF2B5EF4-FFF2-40B4-BE49-F238E27FC236}">
                  <a16:creationId xmlns:a16="http://schemas.microsoft.com/office/drawing/2014/main" id="{12E9804F-AD65-81CA-8E3D-7F83A6884DBC}"/>
                </a:ext>
              </a:extLst>
            </p:cNvPr>
            <p:cNvGrpSpPr/>
            <p:nvPr/>
          </p:nvGrpSpPr>
          <p:grpSpPr>
            <a:xfrm>
              <a:off x="6734403" y="623243"/>
              <a:ext cx="2750029" cy="406706"/>
              <a:chOff x="6734403" y="623243"/>
              <a:chExt cx="2750029" cy="406706"/>
            </a:xfrm>
          </p:grpSpPr>
          <p:grpSp>
            <p:nvGrpSpPr>
              <p:cNvPr id="54" name="Gruppo 53">
                <a:extLst>
                  <a:ext uri="{FF2B5EF4-FFF2-40B4-BE49-F238E27FC236}">
                    <a16:creationId xmlns:a16="http://schemas.microsoft.com/office/drawing/2014/main" id="{83F36865-96E1-1853-33DA-31DC7C80039D}"/>
                  </a:ext>
                </a:extLst>
              </p:cNvPr>
              <p:cNvGrpSpPr/>
              <p:nvPr/>
            </p:nvGrpSpPr>
            <p:grpSpPr>
              <a:xfrm>
                <a:off x="6734403" y="623243"/>
                <a:ext cx="576000" cy="406706"/>
                <a:chOff x="6734403" y="623243"/>
                <a:chExt cx="576000" cy="406706"/>
              </a:xfrm>
            </p:grpSpPr>
            <p:pic>
              <p:nvPicPr>
                <p:cNvPr id="8" name="Elemento grafico 7">
                  <a:extLst>
                    <a:ext uri="{FF2B5EF4-FFF2-40B4-BE49-F238E27FC236}">
                      <a16:creationId xmlns:a16="http://schemas.microsoft.com/office/drawing/2014/main" id="{22BEAD62-E504-1544-A9A4-8384EAF24E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08103" y="801349"/>
                  <a:ext cx="228600" cy="228600"/>
                </a:xfrm>
                <a:prstGeom prst="rect">
                  <a:avLst/>
                </a:prstGeom>
              </p:spPr>
            </p:pic>
            <p:sp>
              <p:nvSpPr>
                <p:cNvPr id="18" name="CasellaDiTesto 17">
                  <a:extLst>
                    <a:ext uri="{FF2B5EF4-FFF2-40B4-BE49-F238E27FC236}">
                      <a16:creationId xmlns:a16="http://schemas.microsoft.com/office/drawing/2014/main" id="{5C265654-7025-0025-FE08-85A2A133FEF0}"/>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PERCHÉ</a:t>
                  </a:r>
                  <a:endParaRPr lang="en-US" sz="1400" spc="-70" dirty="0">
                    <a:solidFill>
                      <a:srgbClr val="42B59F"/>
                    </a:solidFill>
                    <a:latin typeface="Poppins SemiBold" panose="00000700000000000000" pitchFamily="2" charset="0"/>
                    <a:cs typeface="Poppins SemiBold" panose="00000700000000000000" pitchFamily="2" charset="0"/>
                  </a:endParaRPr>
                </a:p>
              </p:txBody>
            </p:sp>
          </p:grpSp>
          <p:grpSp>
            <p:nvGrpSpPr>
              <p:cNvPr id="55" name="Gruppo 54">
                <a:extLst>
                  <a:ext uri="{FF2B5EF4-FFF2-40B4-BE49-F238E27FC236}">
                    <a16:creationId xmlns:a16="http://schemas.microsoft.com/office/drawing/2014/main" id="{A33803EF-D722-B687-CE1B-21A45A5639A3}"/>
                  </a:ext>
                </a:extLst>
              </p:cNvPr>
              <p:cNvGrpSpPr/>
              <p:nvPr/>
            </p:nvGrpSpPr>
            <p:grpSpPr>
              <a:xfrm>
                <a:off x="7277910" y="623243"/>
                <a:ext cx="576000" cy="406706"/>
                <a:chOff x="7291884" y="623243"/>
                <a:chExt cx="576000" cy="406706"/>
              </a:xfrm>
            </p:grpSpPr>
            <p:pic>
              <p:nvPicPr>
                <p:cNvPr id="21" name="Elemento grafico 20">
                  <a:extLst>
                    <a:ext uri="{FF2B5EF4-FFF2-40B4-BE49-F238E27FC236}">
                      <a16:creationId xmlns:a16="http://schemas.microsoft.com/office/drawing/2014/main" id="{9F23063B-681D-4639-D4EE-6A120B4A18E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65584" y="801349"/>
                  <a:ext cx="228600" cy="228600"/>
                </a:xfrm>
                <a:prstGeom prst="rect">
                  <a:avLst/>
                </a:prstGeom>
              </p:spPr>
            </p:pic>
            <p:sp>
              <p:nvSpPr>
                <p:cNvPr id="26" name="CasellaDiTesto 25">
                  <a:extLst>
                    <a:ext uri="{FF2B5EF4-FFF2-40B4-BE49-F238E27FC236}">
                      <a16:creationId xmlns:a16="http://schemas.microsoft.com/office/drawing/2014/main" id="{09AAD113-93F7-A849-F8C2-C7B418FA805E}"/>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6" name="Gruppo 55">
                <a:extLst>
                  <a:ext uri="{FF2B5EF4-FFF2-40B4-BE49-F238E27FC236}">
                    <a16:creationId xmlns:a16="http://schemas.microsoft.com/office/drawing/2014/main" id="{E6B775CC-2A47-4BE0-744D-5CD49F13DD17}"/>
                  </a:ext>
                </a:extLst>
              </p:cNvPr>
              <p:cNvGrpSpPr/>
              <p:nvPr/>
            </p:nvGrpSpPr>
            <p:grpSpPr>
              <a:xfrm>
                <a:off x="7821417" y="623243"/>
                <a:ext cx="576000" cy="406706"/>
                <a:chOff x="7855777" y="623243"/>
                <a:chExt cx="576000" cy="406706"/>
              </a:xfrm>
            </p:grpSpPr>
            <p:pic>
              <p:nvPicPr>
                <p:cNvPr id="28" name="Elemento grafico 27">
                  <a:extLst>
                    <a:ext uri="{FF2B5EF4-FFF2-40B4-BE49-F238E27FC236}">
                      <a16:creationId xmlns:a16="http://schemas.microsoft.com/office/drawing/2014/main" id="{6699DE1D-BF0A-6D89-19E6-6067ED703F7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29477" y="801349"/>
                  <a:ext cx="228600" cy="228600"/>
                </a:xfrm>
                <a:prstGeom prst="rect">
                  <a:avLst/>
                </a:prstGeom>
              </p:spPr>
            </p:pic>
            <p:sp>
              <p:nvSpPr>
                <p:cNvPr id="29" name="CasellaDiTesto 28">
                  <a:extLst>
                    <a:ext uri="{FF2B5EF4-FFF2-40B4-BE49-F238E27FC236}">
                      <a16:creationId xmlns:a16="http://schemas.microsoft.com/office/drawing/2014/main" id="{BEEFE6F0-2540-57CF-C8AB-8657EC92C81E}"/>
                    </a:ext>
                  </a:extLst>
                </p:cNvPr>
                <p:cNvSpPr txBox="1"/>
                <p:nvPr/>
              </p:nvSpPr>
              <p:spPr>
                <a:xfrm>
                  <a:off x="7855777"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7" name="Gruppo 56">
                <a:extLst>
                  <a:ext uri="{FF2B5EF4-FFF2-40B4-BE49-F238E27FC236}">
                    <a16:creationId xmlns:a16="http://schemas.microsoft.com/office/drawing/2014/main" id="{F5EED8C0-8175-0D7F-323A-A7879EB626FF}"/>
                  </a:ext>
                </a:extLst>
              </p:cNvPr>
              <p:cNvGrpSpPr/>
              <p:nvPr/>
            </p:nvGrpSpPr>
            <p:grpSpPr>
              <a:xfrm>
                <a:off x="8364924" y="623243"/>
                <a:ext cx="576000" cy="406706"/>
                <a:chOff x="8576444" y="623243"/>
                <a:chExt cx="576000" cy="406706"/>
              </a:xfrm>
            </p:grpSpPr>
            <p:pic>
              <p:nvPicPr>
                <p:cNvPr id="31" name="Elemento grafico 30">
                  <a:extLst>
                    <a:ext uri="{FF2B5EF4-FFF2-40B4-BE49-F238E27FC236}">
                      <a16:creationId xmlns:a16="http://schemas.microsoft.com/office/drawing/2014/main" id="{F8237503-A4CD-62F8-BDC3-68D9CBF161B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750144" y="801349"/>
                  <a:ext cx="228600" cy="228600"/>
                </a:xfrm>
                <a:prstGeom prst="rect">
                  <a:avLst/>
                </a:prstGeom>
              </p:spPr>
            </p:pic>
            <p:sp>
              <p:nvSpPr>
                <p:cNvPr id="32" name="CasellaDiTesto 31">
                  <a:extLst>
                    <a:ext uri="{FF2B5EF4-FFF2-40B4-BE49-F238E27FC236}">
                      <a16:creationId xmlns:a16="http://schemas.microsoft.com/office/drawing/2014/main" id="{2E2B4883-38C0-0214-DB42-F271D34E667C}"/>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8" name="Gruppo 57">
                <a:extLst>
                  <a:ext uri="{FF2B5EF4-FFF2-40B4-BE49-F238E27FC236}">
                    <a16:creationId xmlns:a16="http://schemas.microsoft.com/office/drawing/2014/main" id="{64F31D9C-B144-4062-184F-3AA4ABFF91EC}"/>
                  </a:ext>
                </a:extLst>
              </p:cNvPr>
              <p:cNvGrpSpPr/>
              <p:nvPr/>
            </p:nvGrpSpPr>
            <p:grpSpPr>
              <a:xfrm>
                <a:off x="8908432" y="623243"/>
                <a:ext cx="576000" cy="406706"/>
                <a:chOff x="9067561" y="623243"/>
                <a:chExt cx="576000" cy="406706"/>
              </a:xfrm>
            </p:grpSpPr>
            <p:pic>
              <p:nvPicPr>
                <p:cNvPr id="51" name="Elemento grafico 50">
                  <a:extLst>
                    <a:ext uri="{FF2B5EF4-FFF2-40B4-BE49-F238E27FC236}">
                      <a16:creationId xmlns:a16="http://schemas.microsoft.com/office/drawing/2014/main" id="{836C713B-C910-64A1-8691-96C41C5E75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41261" y="801349"/>
                  <a:ext cx="228600" cy="228600"/>
                </a:xfrm>
                <a:prstGeom prst="rect">
                  <a:avLst/>
                </a:prstGeom>
              </p:spPr>
            </p:pic>
            <p:sp>
              <p:nvSpPr>
                <p:cNvPr id="53" name="CasellaDiTesto 52">
                  <a:extLst>
                    <a:ext uri="{FF2B5EF4-FFF2-40B4-BE49-F238E27FC236}">
                      <a16:creationId xmlns:a16="http://schemas.microsoft.com/office/drawing/2014/main" id="{DD51E34A-5D55-35A4-19E4-7BC0D7579233}"/>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274013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693F1-0E54-BE37-3951-51E4EDFEC93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5A33A6C-3539-9AAC-4887-B9B6DFBF991B}"/>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spc="-50" dirty="0">
                <a:solidFill>
                  <a:schemeClr val="tx1"/>
                </a:solidFill>
              </a:rPr>
              <a:t>Non investiamo più volte sullo stesso problema?</a:t>
            </a:r>
          </a:p>
        </p:txBody>
      </p:sp>
      <p:grpSp>
        <p:nvGrpSpPr>
          <p:cNvPr id="148" name="Gruppo 147">
            <a:extLst>
              <a:ext uri="{FF2B5EF4-FFF2-40B4-BE49-F238E27FC236}">
                <a16:creationId xmlns:a16="http://schemas.microsoft.com/office/drawing/2014/main" id="{51871440-01B5-1B26-1AE5-F5C87121BB5D}"/>
              </a:ext>
            </a:extLst>
          </p:cNvPr>
          <p:cNvGrpSpPr/>
          <p:nvPr/>
        </p:nvGrpSpPr>
        <p:grpSpPr>
          <a:xfrm>
            <a:off x="1315320" y="1112180"/>
            <a:ext cx="9561361" cy="5098099"/>
            <a:chOff x="1059084" y="1025965"/>
            <a:chExt cx="9561361" cy="5098099"/>
          </a:xfrm>
        </p:grpSpPr>
        <p:grpSp>
          <p:nvGrpSpPr>
            <p:cNvPr id="144" name="Gruppo 143">
              <a:extLst>
                <a:ext uri="{FF2B5EF4-FFF2-40B4-BE49-F238E27FC236}">
                  <a16:creationId xmlns:a16="http://schemas.microsoft.com/office/drawing/2014/main" id="{516284D4-5D5D-1316-CCD7-88CF94A15688}"/>
                </a:ext>
              </a:extLst>
            </p:cNvPr>
            <p:cNvGrpSpPr/>
            <p:nvPr/>
          </p:nvGrpSpPr>
          <p:grpSpPr>
            <a:xfrm>
              <a:off x="1059084" y="1025965"/>
              <a:ext cx="9561361" cy="3322011"/>
              <a:chOff x="1059084" y="1303324"/>
              <a:chExt cx="9561361" cy="3322011"/>
            </a:xfrm>
          </p:grpSpPr>
          <p:grpSp>
            <p:nvGrpSpPr>
              <p:cNvPr id="119" name="Gruppo 118">
                <a:extLst>
                  <a:ext uri="{FF2B5EF4-FFF2-40B4-BE49-F238E27FC236}">
                    <a16:creationId xmlns:a16="http://schemas.microsoft.com/office/drawing/2014/main" id="{7712F5DA-C3DB-B976-7044-6EBF17A744FA}"/>
                  </a:ext>
                </a:extLst>
              </p:cNvPr>
              <p:cNvGrpSpPr/>
              <p:nvPr/>
            </p:nvGrpSpPr>
            <p:grpSpPr>
              <a:xfrm>
                <a:off x="4450976" y="1303324"/>
                <a:ext cx="2777577" cy="3322011"/>
                <a:chOff x="3721373" y="1303324"/>
                <a:chExt cx="2777577" cy="3322011"/>
              </a:xfrm>
            </p:grpSpPr>
            <p:sp>
              <p:nvSpPr>
                <p:cNvPr id="113" name="Rettangolo con angoli arrotondati 112">
                  <a:extLst>
                    <a:ext uri="{FF2B5EF4-FFF2-40B4-BE49-F238E27FC236}">
                      <a16:creationId xmlns:a16="http://schemas.microsoft.com/office/drawing/2014/main" id="{EAB30721-53E1-363F-E9F6-7E50FAFC5496}"/>
                    </a:ext>
                  </a:extLst>
                </p:cNvPr>
                <p:cNvSpPr>
                  <a:spLocks/>
                </p:cNvSpPr>
                <p:nvPr/>
              </p:nvSpPr>
              <p:spPr>
                <a:xfrm>
                  <a:off x="3721374" y="1460912"/>
                  <a:ext cx="2777576" cy="3164423"/>
                </a:xfrm>
                <a:prstGeom prst="roundRect">
                  <a:avLst>
                    <a:gd name="adj" fmla="val 4786"/>
                  </a:avLst>
                </a:prstGeom>
                <a:solidFill>
                  <a:srgbClr val="3DAFD3"/>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114" name="Rettangolo con angoli arrotondati 113">
                  <a:extLst>
                    <a:ext uri="{FF2B5EF4-FFF2-40B4-BE49-F238E27FC236}">
                      <a16:creationId xmlns:a16="http://schemas.microsoft.com/office/drawing/2014/main" id="{EC71B059-5C78-74BF-0941-F19DCB8D0C77}"/>
                    </a:ext>
                  </a:extLst>
                </p:cNvPr>
                <p:cNvSpPr>
                  <a:spLocks/>
                </p:cNvSpPr>
                <p:nvPr/>
              </p:nvSpPr>
              <p:spPr>
                <a:xfrm>
                  <a:off x="3721374" y="1774121"/>
                  <a:ext cx="2777576" cy="2851214"/>
                </a:xfrm>
                <a:prstGeom prst="roundRect">
                  <a:avLst>
                    <a:gd name="adj" fmla="val 4786"/>
                  </a:avLst>
                </a:prstGeom>
                <a:solidFill>
                  <a:schemeClr val="bg1"/>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sp>
              <p:nvSpPr>
                <p:cNvPr id="96" name="CasellaDiTesto 95">
                  <a:extLst>
                    <a:ext uri="{FF2B5EF4-FFF2-40B4-BE49-F238E27FC236}">
                      <a16:creationId xmlns:a16="http://schemas.microsoft.com/office/drawing/2014/main" id="{12101677-831F-3C60-8CBE-27D5311D71D6}"/>
                    </a:ext>
                  </a:extLst>
                </p:cNvPr>
                <p:cNvSpPr txBox="1">
                  <a:spLocks/>
                </p:cNvSpPr>
                <p:nvPr/>
              </p:nvSpPr>
              <p:spPr>
                <a:xfrm>
                  <a:off x="3721373" y="1592801"/>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grpSp>
              <p:nvGrpSpPr>
                <p:cNvPr id="97" name="Gruppo 96">
                  <a:extLst>
                    <a:ext uri="{FF2B5EF4-FFF2-40B4-BE49-F238E27FC236}">
                      <a16:creationId xmlns:a16="http://schemas.microsoft.com/office/drawing/2014/main" id="{3D3084E4-7DE7-424B-3284-55E38B16A24F}"/>
                    </a:ext>
                  </a:extLst>
                </p:cNvPr>
                <p:cNvGrpSpPr/>
                <p:nvPr/>
              </p:nvGrpSpPr>
              <p:grpSpPr>
                <a:xfrm>
                  <a:off x="3998076" y="2720314"/>
                  <a:ext cx="2184184" cy="288000"/>
                  <a:chOff x="832828" y="2661668"/>
                  <a:chExt cx="2184184" cy="288000"/>
                </a:xfrm>
              </p:grpSpPr>
              <p:pic>
                <p:nvPicPr>
                  <p:cNvPr id="111" name="Elemento grafico 110">
                    <a:extLst>
                      <a:ext uri="{FF2B5EF4-FFF2-40B4-BE49-F238E27FC236}">
                        <a16:creationId xmlns:a16="http://schemas.microsoft.com/office/drawing/2014/main" id="{07DC9053-AB34-49CF-551A-1699512C7D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2828" y="2661668"/>
                    <a:ext cx="288000" cy="288000"/>
                  </a:xfrm>
                  <a:prstGeom prst="rect">
                    <a:avLst/>
                  </a:prstGeom>
                </p:spPr>
              </p:pic>
              <p:sp>
                <p:nvSpPr>
                  <p:cNvPr id="112" name="Tittle Function 01…">
                    <a:extLst>
                      <a:ext uri="{FF2B5EF4-FFF2-40B4-BE49-F238E27FC236}">
                        <a16:creationId xmlns:a16="http://schemas.microsoft.com/office/drawing/2014/main" id="{50904453-C6F1-C066-A760-006F44BC862D}"/>
                      </a:ext>
                    </a:extLst>
                  </p:cNvPr>
                  <p:cNvSpPr txBox="1">
                    <a:spLocks/>
                  </p:cNvSpPr>
                  <p:nvPr/>
                </p:nvSpPr>
                <p:spPr>
                  <a:xfrm>
                    <a:off x="1410090" y="2732571"/>
                    <a:ext cx="160692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Mapping e trasformazioni</a:t>
                    </a:r>
                    <a:endParaRPr lang="it-IT" sz="950" b="1" spc="-10" dirty="0">
                      <a:latin typeface="Poppins SemiBold" panose="00000700000000000000" pitchFamily="2" charset="0"/>
                      <a:cs typeface="Poppins SemiBold" panose="00000700000000000000" pitchFamily="2" charset="0"/>
                    </a:endParaRPr>
                  </a:p>
                </p:txBody>
              </p:sp>
            </p:grpSp>
            <p:sp>
              <p:nvSpPr>
                <p:cNvPr id="98" name="Ovale 97">
                  <a:extLst>
                    <a:ext uri="{FF2B5EF4-FFF2-40B4-BE49-F238E27FC236}">
                      <a16:creationId xmlns:a16="http://schemas.microsoft.com/office/drawing/2014/main" id="{1D6D0AAA-2C13-3018-453E-35E6175694DE}"/>
                    </a:ext>
                  </a:extLst>
                </p:cNvPr>
                <p:cNvSpPr/>
                <p:nvPr/>
              </p:nvSpPr>
              <p:spPr>
                <a:xfrm>
                  <a:off x="4422970" y="1303324"/>
                  <a:ext cx="1363225" cy="724172"/>
                </a:xfrm>
                <a:prstGeom prst="ellipse">
                  <a:avLst/>
                </a:prstGeom>
                <a:solidFill>
                  <a:srgbClr val="3DAFD3"/>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spc="-20" dirty="0">
                      <a:solidFill>
                        <a:schemeClr val="bg1"/>
                      </a:solidFill>
                      <a:latin typeface="Poppins SemiBold" panose="00000700000000000000" pitchFamily="2" charset="0"/>
                      <a:cs typeface="Poppins SemiBold" panose="00000700000000000000" pitchFamily="2" charset="0"/>
                    </a:rPr>
                    <a:t>K</a:t>
                  </a:r>
                  <a:r>
                    <a:rPr lang="en-US" sz="1200" spc="-20" dirty="0">
                      <a:solidFill>
                        <a:schemeClr val="bg1"/>
                      </a:solidFill>
                      <a:latin typeface="Poppins SemiBold" panose="00000700000000000000" pitchFamily="2" charset="0"/>
                      <a:cs typeface="Poppins SemiBold" panose="00000700000000000000" pitchFamily="2" charset="0"/>
                    </a:rPr>
                    <a:t>iron CDG</a:t>
                  </a:r>
                </a:p>
              </p:txBody>
            </p:sp>
            <p:sp>
              <p:nvSpPr>
                <p:cNvPr id="109" name="Tittle Function 01…">
                  <a:extLst>
                    <a:ext uri="{FF2B5EF4-FFF2-40B4-BE49-F238E27FC236}">
                      <a16:creationId xmlns:a16="http://schemas.microsoft.com/office/drawing/2014/main" id="{60ED9098-7FCD-D200-73E0-1C91D86F1F25}"/>
                    </a:ext>
                  </a:extLst>
                </p:cNvPr>
                <p:cNvSpPr txBox="1">
                  <a:spLocks/>
                </p:cNvSpPr>
                <p:nvPr/>
              </p:nvSpPr>
              <p:spPr>
                <a:xfrm>
                  <a:off x="4545794" y="2307942"/>
                  <a:ext cx="160692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Acquisizione dati</a:t>
                  </a:r>
                  <a:endParaRPr lang="it-IT" sz="950" b="1" spc="-10" dirty="0">
                    <a:latin typeface="Poppins SemiBold" panose="00000700000000000000" pitchFamily="2" charset="0"/>
                    <a:cs typeface="Poppins SemiBold" panose="00000700000000000000" pitchFamily="2" charset="0"/>
                  </a:endParaRPr>
                </a:p>
              </p:txBody>
            </p:sp>
            <p:grpSp>
              <p:nvGrpSpPr>
                <p:cNvPr id="100" name="Gruppo 99">
                  <a:extLst>
                    <a:ext uri="{FF2B5EF4-FFF2-40B4-BE49-F238E27FC236}">
                      <a16:creationId xmlns:a16="http://schemas.microsoft.com/office/drawing/2014/main" id="{BEBA4F08-7BF0-B3B8-3770-690DDA49F7AA}"/>
                    </a:ext>
                  </a:extLst>
                </p:cNvPr>
                <p:cNvGrpSpPr/>
                <p:nvPr/>
              </p:nvGrpSpPr>
              <p:grpSpPr>
                <a:xfrm>
                  <a:off x="3998076" y="3203589"/>
                  <a:ext cx="2330728" cy="288000"/>
                  <a:chOff x="832828" y="3222236"/>
                  <a:chExt cx="2330728" cy="288000"/>
                </a:xfrm>
              </p:grpSpPr>
              <p:sp>
                <p:nvSpPr>
                  <p:cNvPr id="107" name="Tittle Function 01…">
                    <a:extLst>
                      <a:ext uri="{FF2B5EF4-FFF2-40B4-BE49-F238E27FC236}">
                        <a16:creationId xmlns:a16="http://schemas.microsoft.com/office/drawing/2014/main" id="{15F92E6A-5420-0511-D539-F4F5A3E958B8}"/>
                      </a:ext>
                    </a:extLst>
                  </p:cNvPr>
                  <p:cNvSpPr txBox="1">
                    <a:spLocks/>
                  </p:cNvSpPr>
                  <p:nvPr/>
                </p:nvSpPr>
                <p:spPr>
                  <a:xfrm>
                    <a:off x="1380545" y="3293139"/>
                    <a:ext cx="1783011"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Controlli e </a:t>
                    </a:r>
                    <a:r>
                      <a:rPr lang="en-US" sz="950" spc="-10" noProof="0" dirty="0">
                        <a:latin typeface="Poppins SemiBold" panose="00000700000000000000" pitchFamily="2" charset="0"/>
                        <a:cs typeface="Poppins SemiBold" panose="00000700000000000000" pitchFamily="2" charset="0"/>
                      </a:rPr>
                      <a:t>quality</a:t>
                    </a:r>
                    <a:r>
                      <a:rPr lang="it-IT" sz="950" spc="-10" dirty="0">
                        <a:latin typeface="Poppins SemiBold" panose="00000700000000000000" pitchFamily="2" charset="0"/>
                        <a:cs typeface="Poppins SemiBold" panose="00000700000000000000" pitchFamily="2" charset="0"/>
                      </a:rPr>
                      <a:t> check</a:t>
                    </a:r>
                    <a:endParaRPr lang="it-IT" sz="950" b="1" spc="-10" dirty="0">
                      <a:latin typeface="Poppins SemiBold" panose="00000700000000000000" pitchFamily="2" charset="0"/>
                      <a:cs typeface="Poppins SemiBold" panose="00000700000000000000" pitchFamily="2" charset="0"/>
                    </a:endParaRPr>
                  </a:p>
                </p:txBody>
              </p:sp>
              <p:pic>
                <p:nvPicPr>
                  <p:cNvPr id="108" name="Elemento grafico 107">
                    <a:extLst>
                      <a:ext uri="{FF2B5EF4-FFF2-40B4-BE49-F238E27FC236}">
                        <a16:creationId xmlns:a16="http://schemas.microsoft.com/office/drawing/2014/main" id="{0351E2DF-75C7-051B-C115-8418A20E2DE9}"/>
                      </a:ext>
                    </a:extLst>
                  </p:cNvPr>
                  <p:cNvPicPr/>
                  <p:nvPr/>
                </p:nvPicPr>
                <p:blipFill>
                  <a:blip>
                    <a:extLst>
                      <a:ext uri="{96DAC541-7B7A-43D3-8B79-37D633B846F1}">
                        <asvg:svgBlip xmlns:asvg="http://schemas.microsoft.com/office/drawing/2016/SVG/main" r:embed="rId5"/>
                      </a:ext>
                    </a:extLst>
                  </a:blip>
                  <a:stretch>
                    <a:fillRect/>
                  </a:stretch>
                </p:blipFill>
                <p:spPr>
                  <a:xfrm>
                    <a:off x="832828" y="3222236"/>
                    <a:ext cx="288000" cy="288000"/>
                  </a:xfrm>
                  <a:prstGeom prst="rect">
                    <a:avLst/>
                  </a:prstGeom>
                </p:spPr>
              </p:pic>
            </p:grpSp>
            <p:grpSp>
              <p:nvGrpSpPr>
                <p:cNvPr id="101" name="Gruppo 100">
                  <a:extLst>
                    <a:ext uri="{FF2B5EF4-FFF2-40B4-BE49-F238E27FC236}">
                      <a16:creationId xmlns:a16="http://schemas.microsoft.com/office/drawing/2014/main" id="{90AF8C5E-41A8-7453-6884-ED61B6FEB789}"/>
                    </a:ext>
                  </a:extLst>
                </p:cNvPr>
                <p:cNvGrpSpPr/>
                <p:nvPr/>
              </p:nvGrpSpPr>
              <p:grpSpPr>
                <a:xfrm>
                  <a:off x="3998076" y="3686864"/>
                  <a:ext cx="2041150" cy="288000"/>
                  <a:chOff x="832828" y="3610606"/>
                  <a:chExt cx="2041150" cy="288000"/>
                </a:xfrm>
              </p:grpSpPr>
              <p:sp>
                <p:nvSpPr>
                  <p:cNvPr id="105" name="Tittle Function 01…">
                    <a:extLst>
                      <a:ext uri="{FF2B5EF4-FFF2-40B4-BE49-F238E27FC236}">
                        <a16:creationId xmlns:a16="http://schemas.microsoft.com/office/drawing/2014/main" id="{E73334E6-1F98-85EF-64C8-C64F51052074}"/>
                      </a:ext>
                    </a:extLst>
                  </p:cNvPr>
                  <p:cNvSpPr txBox="1">
                    <a:spLocks/>
                  </p:cNvSpPr>
                  <p:nvPr/>
                </p:nvSpPr>
                <p:spPr>
                  <a:xfrm>
                    <a:off x="1380546" y="3681509"/>
                    <a:ext cx="149343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Audit e tracciabilità</a:t>
                    </a:r>
                    <a:endParaRPr lang="it-IT" sz="950" b="1" spc="-10" dirty="0">
                      <a:latin typeface="Poppins SemiBold" panose="00000700000000000000" pitchFamily="2" charset="0"/>
                      <a:cs typeface="Poppins SemiBold" panose="00000700000000000000" pitchFamily="2" charset="0"/>
                    </a:endParaRPr>
                  </a:p>
                </p:txBody>
              </p:sp>
              <p:pic>
                <p:nvPicPr>
                  <p:cNvPr id="106" name="Elemento grafico 105">
                    <a:extLst>
                      <a:ext uri="{FF2B5EF4-FFF2-40B4-BE49-F238E27FC236}">
                        <a16:creationId xmlns:a16="http://schemas.microsoft.com/office/drawing/2014/main" id="{69F34CCE-E596-8755-99D6-5C785525360B}"/>
                      </a:ext>
                    </a:extLst>
                  </p:cNvPr>
                  <p:cNvPicPr/>
                  <p:nvPr/>
                </p:nvPicPr>
                <p:blipFill>
                  <a:blip>
                    <a:extLst>
                      <a:ext uri="{96DAC541-7B7A-43D3-8B79-37D633B846F1}">
                        <asvg:svgBlip xmlns:asvg="http://schemas.microsoft.com/office/drawing/2016/SVG/main" r:embed="rId6"/>
                      </a:ext>
                    </a:extLst>
                  </a:blip>
                  <a:stretch>
                    <a:fillRect/>
                  </a:stretch>
                </p:blipFill>
                <p:spPr>
                  <a:xfrm>
                    <a:off x="832828" y="3610606"/>
                    <a:ext cx="288000" cy="288000"/>
                  </a:xfrm>
                  <a:prstGeom prst="rect">
                    <a:avLst/>
                  </a:prstGeom>
                </p:spPr>
              </p:pic>
            </p:grpSp>
            <p:grpSp>
              <p:nvGrpSpPr>
                <p:cNvPr id="102" name="Gruppo 101">
                  <a:extLst>
                    <a:ext uri="{FF2B5EF4-FFF2-40B4-BE49-F238E27FC236}">
                      <a16:creationId xmlns:a16="http://schemas.microsoft.com/office/drawing/2014/main" id="{A94CB683-9FB1-618C-EE36-50A101BC6C23}"/>
                    </a:ext>
                  </a:extLst>
                </p:cNvPr>
                <p:cNvGrpSpPr/>
                <p:nvPr/>
              </p:nvGrpSpPr>
              <p:grpSpPr>
                <a:xfrm>
                  <a:off x="3998076" y="4170141"/>
                  <a:ext cx="2330729" cy="288000"/>
                  <a:chOff x="832828" y="4034429"/>
                  <a:chExt cx="2330729" cy="288000"/>
                </a:xfrm>
              </p:grpSpPr>
              <p:sp>
                <p:nvSpPr>
                  <p:cNvPr id="103" name="Tittle Function 01…">
                    <a:extLst>
                      <a:ext uri="{FF2B5EF4-FFF2-40B4-BE49-F238E27FC236}">
                        <a16:creationId xmlns:a16="http://schemas.microsoft.com/office/drawing/2014/main" id="{21A70A50-52CA-30E8-BC09-DF0A223D6EF6}"/>
                      </a:ext>
                    </a:extLst>
                  </p:cNvPr>
                  <p:cNvSpPr txBox="1">
                    <a:spLocks/>
                  </p:cNvSpPr>
                  <p:nvPr/>
                </p:nvSpPr>
                <p:spPr>
                  <a:xfrm>
                    <a:off x="1380547" y="4105332"/>
                    <a:ext cx="1783010"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Output e dashboard</a:t>
                    </a:r>
                    <a:endParaRPr lang="it-IT" sz="950" b="1" spc="-10" dirty="0">
                      <a:latin typeface="Poppins SemiBold" panose="00000700000000000000" pitchFamily="2" charset="0"/>
                      <a:cs typeface="Poppins SemiBold" panose="00000700000000000000" pitchFamily="2" charset="0"/>
                    </a:endParaRPr>
                  </a:p>
                </p:txBody>
              </p:sp>
              <p:pic>
                <p:nvPicPr>
                  <p:cNvPr id="104" name="Elemento grafico 103">
                    <a:extLst>
                      <a:ext uri="{FF2B5EF4-FFF2-40B4-BE49-F238E27FC236}">
                        <a16:creationId xmlns:a16="http://schemas.microsoft.com/office/drawing/2014/main" id="{E18C3EC2-6769-2312-6C66-477040615C8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2828" y="4034429"/>
                    <a:ext cx="288000" cy="288000"/>
                  </a:xfrm>
                  <a:prstGeom prst="rect">
                    <a:avLst/>
                  </a:prstGeom>
                </p:spPr>
              </p:pic>
            </p:grpSp>
            <p:pic>
              <p:nvPicPr>
                <p:cNvPr id="116" name="Elemento grafico 115">
                  <a:extLst>
                    <a:ext uri="{FF2B5EF4-FFF2-40B4-BE49-F238E27FC236}">
                      <a16:creationId xmlns:a16="http://schemas.microsoft.com/office/drawing/2014/main" id="{2079B4FC-E957-D99D-4195-D1E9D441956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019284" y="2265554"/>
                  <a:ext cx="228600" cy="228600"/>
                </a:xfrm>
                <a:prstGeom prst="rect">
                  <a:avLst/>
                </a:prstGeom>
              </p:spPr>
            </p:pic>
          </p:grpSp>
          <p:grpSp>
            <p:nvGrpSpPr>
              <p:cNvPr id="118" name="Gruppo 117">
                <a:extLst>
                  <a:ext uri="{FF2B5EF4-FFF2-40B4-BE49-F238E27FC236}">
                    <a16:creationId xmlns:a16="http://schemas.microsoft.com/office/drawing/2014/main" id="{D20C9FE4-00C1-EB0E-995F-9DADED9003BC}"/>
                  </a:ext>
                </a:extLst>
              </p:cNvPr>
              <p:cNvGrpSpPr/>
              <p:nvPr/>
            </p:nvGrpSpPr>
            <p:grpSpPr>
              <a:xfrm>
                <a:off x="1059084" y="1303324"/>
                <a:ext cx="2777577" cy="3322011"/>
                <a:chOff x="556125" y="1303324"/>
                <a:chExt cx="2777577" cy="3322011"/>
              </a:xfrm>
            </p:grpSpPr>
            <p:grpSp>
              <p:nvGrpSpPr>
                <p:cNvPr id="30" name="Gruppo 29">
                  <a:extLst>
                    <a:ext uri="{FF2B5EF4-FFF2-40B4-BE49-F238E27FC236}">
                      <a16:creationId xmlns:a16="http://schemas.microsoft.com/office/drawing/2014/main" id="{B6D94195-8BD7-131C-BF7F-CD58140DE5AF}"/>
                    </a:ext>
                  </a:extLst>
                </p:cNvPr>
                <p:cNvGrpSpPr>
                  <a:grpSpLocks/>
                </p:cNvGrpSpPr>
                <p:nvPr/>
              </p:nvGrpSpPr>
              <p:grpSpPr>
                <a:xfrm>
                  <a:off x="556126" y="1460912"/>
                  <a:ext cx="2777576" cy="3164423"/>
                  <a:chOff x="824373" y="1072529"/>
                  <a:chExt cx="2777576" cy="3164423"/>
                </a:xfrm>
              </p:grpSpPr>
              <p:sp>
                <p:nvSpPr>
                  <p:cNvPr id="80" name="Rettangolo con angoli arrotondati 79">
                    <a:extLst>
                      <a:ext uri="{FF2B5EF4-FFF2-40B4-BE49-F238E27FC236}">
                        <a16:creationId xmlns:a16="http://schemas.microsoft.com/office/drawing/2014/main" id="{DCE89F8A-3EDF-80EF-6DA4-D7273D2ABF02}"/>
                      </a:ext>
                    </a:extLst>
                  </p:cNvPr>
                  <p:cNvSpPr>
                    <a:spLocks/>
                  </p:cNvSpPr>
                  <p:nvPr/>
                </p:nvSpPr>
                <p:spPr>
                  <a:xfrm>
                    <a:off x="824373" y="1072529"/>
                    <a:ext cx="2777576" cy="3164423"/>
                  </a:xfrm>
                  <a:prstGeom prst="roundRect">
                    <a:avLst>
                      <a:gd name="adj" fmla="val 4786"/>
                    </a:avLst>
                  </a:prstGeom>
                  <a:solidFill>
                    <a:srgbClr val="1680C9"/>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81" name="Rettangolo con angoli arrotondati 80">
                    <a:extLst>
                      <a:ext uri="{FF2B5EF4-FFF2-40B4-BE49-F238E27FC236}">
                        <a16:creationId xmlns:a16="http://schemas.microsoft.com/office/drawing/2014/main" id="{1FAD61B2-1052-0095-10FD-C8D1BE7069ED}"/>
                      </a:ext>
                    </a:extLst>
                  </p:cNvPr>
                  <p:cNvSpPr>
                    <a:spLocks/>
                  </p:cNvSpPr>
                  <p:nvPr/>
                </p:nvSpPr>
                <p:spPr>
                  <a:xfrm>
                    <a:off x="824373" y="1385738"/>
                    <a:ext cx="2777576" cy="2851214"/>
                  </a:xfrm>
                  <a:prstGeom prst="roundRect">
                    <a:avLst>
                      <a:gd name="adj" fmla="val 4786"/>
                    </a:avLst>
                  </a:prstGeom>
                  <a:solidFill>
                    <a:schemeClr val="bg1"/>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33" name="CasellaDiTesto 32">
                  <a:extLst>
                    <a:ext uri="{FF2B5EF4-FFF2-40B4-BE49-F238E27FC236}">
                      <a16:creationId xmlns:a16="http://schemas.microsoft.com/office/drawing/2014/main" id="{F4D8AFC0-6C85-0CBE-FF52-07EB956346C6}"/>
                    </a:ext>
                  </a:extLst>
                </p:cNvPr>
                <p:cNvSpPr txBox="1">
                  <a:spLocks/>
                </p:cNvSpPr>
                <p:nvPr/>
              </p:nvSpPr>
              <p:spPr>
                <a:xfrm>
                  <a:off x="556125" y="1592801"/>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grpSp>
              <p:nvGrpSpPr>
                <p:cNvPr id="89" name="Gruppo 88">
                  <a:extLst>
                    <a:ext uri="{FF2B5EF4-FFF2-40B4-BE49-F238E27FC236}">
                      <a16:creationId xmlns:a16="http://schemas.microsoft.com/office/drawing/2014/main" id="{CB5AC825-B17F-17C8-9863-D38C7618B4B8}"/>
                    </a:ext>
                  </a:extLst>
                </p:cNvPr>
                <p:cNvGrpSpPr/>
                <p:nvPr/>
              </p:nvGrpSpPr>
              <p:grpSpPr>
                <a:xfrm>
                  <a:off x="832828" y="2720314"/>
                  <a:ext cx="2184184" cy="288000"/>
                  <a:chOff x="832828" y="2661668"/>
                  <a:chExt cx="2184184" cy="288000"/>
                </a:xfrm>
              </p:grpSpPr>
              <p:pic>
                <p:nvPicPr>
                  <p:cNvPr id="79" name="Elemento grafico 78">
                    <a:extLst>
                      <a:ext uri="{FF2B5EF4-FFF2-40B4-BE49-F238E27FC236}">
                        <a16:creationId xmlns:a16="http://schemas.microsoft.com/office/drawing/2014/main" id="{4B80EAD4-5638-099D-FD65-7E5948315D1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32828" y="2661668"/>
                    <a:ext cx="288000" cy="288000"/>
                  </a:xfrm>
                  <a:prstGeom prst="rect">
                    <a:avLst/>
                  </a:prstGeom>
                </p:spPr>
              </p:pic>
              <p:sp>
                <p:nvSpPr>
                  <p:cNvPr id="82" name="Tittle Function 01…">
                    <a:extLst>
                      <a:ext uri="{FF2B5EF4-FFF2-40B4-BE49-F238E27FC236}">
                        <a16:creationId xmlns:a16="http://schemas.microsoft.com/office/drawing/2014/main" id="{0D4A0FC1-8950-F83B-124E-CA3033F118CC}"/>
                      </a:ext>
                    </a:extLst>
                  </p:cNvPr>
                  <p:cNvSpPr txBox="1">
                    <a:spLocks/>
                  </p:cNvSpPr>
                  <p:nvPr/>
                </p:nvSpPr>
                <p:spPr>
                  <a:xfrm>
                    <a:off x="1410090" y="2732571"/>
                    <a:ext cx="160692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Mapping e trasformazioni</a:t>
                    </a:r>
                    <a:endParaRPr lang="it-IT" sz="950" b="1" spc="-10" dirty="0">
                      <a:latin typeface="Poppins SemiBold" panose="00000700000000000000" pitchFamily="2" charset="0"/>
                      <a:cs typeface="Poppins SemiBold" panose="00000700000000000000" pitchFamily="2" charset="0"/>
                    </a:endParaRPr>
                  </a:p>
                </p:txBody>
              </p:sp>
            </p:grpSp>
            <p:sp>
              <p:nvSpPr>
                <p:cNvPr id="11" name="Ovale 10">
                  <a:extLst>
                    <a:ext uri="{FF2B5EF4-FFF2-40B4-BE49-F238E27FC236}">
                      <a16:creationId xmlns:a16="http://schemas.microsoft.com/office/drawing/2014/main" id="{04C52999-C539-B9FD-A064-CBF51FF8632F}"/>
                    </a:ext>
                  </a:extLst>
                </p:cNvPr>
                <p:cNvSpPr/>
                <p:nvPr/>
              </p:nvSpPr>
              <p:spPr>
                <a:xfrm>
                  <a:off x="1257722" y="1303324"/>
                  <a:ext cx="1363225" cy="724172"/>
                </a:xfrm>
                <a:prstGeom prst="ellipse">
                  <a:avLst/>
                </a:prstGeom>
                <a:solidFill>
                  <a:srgbClr val="1680C9"/>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spc="-20" dirty="0">
                      <a:solidFill>
                        <a:schemeClr val="bg1"/>
                      </a:solidFill>
                      <a:latin typeface="Poppins SemiBold" panose="00000700000000000000" pitchFamily="2" charset="0"/>
                      <a:cs typeface="Poppins SemiBold" panose="00000700000000000000" pitchFamily="2" charset="0"/>
                    </a:rPr>
                    <a:t>ProSIGNAL</a:t>
                  </a:r>
                </a:p>
              </p:txBody>
            </p:sp>
            <p:sp>
              <p:nvSpPr>
                <p:cNvPr id="58" name="Tittle Function 01…">
                  <a:extLst>
                    <a:ext uri="{FF2B5EF4-FFF2-40B4-BE49-F238E27FC236}">
                      <a16:creationId xmlns:a16="http://schemas.microsoft.com/office/drawing/2014/main" id="{66583A9B-6F61-C594-1657-49C13A9D5247}"/>
                    </a:ext>
                  </a:extLst>
                </p:cNvPr>
                <p:cNvSpPr txBox="1">
                  <a:spLocks/>
                </p:cNvSpPr>
                <p:nvPr/>
              </p:nvSpPr>
              <p:spPr>
                <a:xfrm>
                  <a:off x="1380546" y="2307942"/>
                  <a:ext cx="160692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Acquisizione dati</a:t>
                  </a:r>
                  <a:endParaRPr lang="it-IT" sz="950" b="1" spc="-10" dirty="0">
                    <a:latin typeface="Poppins SemiBold" panose="00000700000000000000" pitchFamily="2" charset="0"/>
                    <a:cs typeface="Poppins SemiBold" panose="00000700000000000000" pitchFamily="2" charset="0"/>
                  </a:endParaRPr>
                </a:p>
              </p:txBody>
            </p:sp>
            <p:grpSp>
              <p:nvGrpSpPr>
                <p:cNvPr id="90" name="Gruppo 89">
                  <a:extLst>
                    <a:ext uri="{FF2B5EF4-FFF2-40B4-BE49-F238E27FC236}">
                      <a16:creationId xmlns:a16="http://schemas.microsoft.com/office/drawing/2014/main" id="{6A8631ED-8C0A-7FCA-A45A-4218EB4D38C4}"/>
                    </a:ext>
                  </a:extLst>
                </p:cNvPr>
                <p:cNvGrpSpPr/>
                <p:nvPr/>
              </p:nvGrpSpPr>
              <p:grpSpPr>
                <a:xfrm>
                  <a:off x="832828" y="3203589"/>
                  <a:ext cx="2330728" cy="288000"/>
                  <a:chOff x="832828" y="3222236"/>
                  <a:chExt cx="2330728" cy="288000"/>
                </a:xfrm>
              </p:grpSpPr>
              <p:sp>
                <p:nvSpPr>
                  <p:cNvPr id="65" name="Tittle Function 01…">
                    <a:extLst>
                      <a:ext uri="{FF2B5EF4-FFF2-40B4-BE49-F238E27FC236}">
                        <a16:creationId xmlns:a16="http://schemas.microsoft.com/office/drawing/2014/main" id="{7127D527-A711-CE8C-A614-AE5FC9D8C80D}"/>
                      </a:ext>
                    </a:extLst>
                  </p:cNvPr>
                  <p:cNvSpPr txBox="1">
                    <a:spLocks/>
                  </p:cNvSpPr>
                  <p:nvPr/>
                </p:nvSpPr>
                <p:spPr>
                  <a:xfrm>
                    <a:off x="1380545" y="3293139"/>
                    <a:ext cx="1783011"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Controlli e </a:t>
                    </a:r>
                    <a:r>
                      <a:rPr lang="en-US" sz="950" spc="-10" noProof="0" dirty="0">
                        <a:latin typeface="Poppins SemiBold" panose="00000700000000000000" pitchFamily="2" charset="0"/>
                        <a:cs typeface="Poppins SemiBold" panose="00000700000000000000" pitchFamily="2" charset="0"/>
                      </a:rPr>
                      <a:t>quality</a:t>
                    </a:r>
                    <a:r>
                      <a:rPr lang="it-IT" sz="950" spc="-10" dirty="0">
                        <a:latin typeface="Poppins SemiBold" panose="00000700000000000000" pitchFamily="2" charset="0"/>
                        <a:cs typeface="Poppins SemiBold" panose="00000700000000000000" pitchFamily="2" charset="0"/>
                      </a:rPr>
                      <a:t> check</a:t>
                    </a:r>
                    <a:endParaRPr lang="it-IT" sz="950" b="1" spc="-10" dirty="0">
                      <a:latin typeface="Poppins SemiBold" panose="00000700000000000000" pitchFamily="2" charset="0"/>
                      <a:cs typeface="Poppins SemiBold" panose="00000700000000000000" pitchFamily="2" charset="0"/>
                    </a:endParaRPr>
                  </a:p>
                </p:txBody>
              </p:sp>
              <p:pic>
                <p:nvPicPr>
                  <p:cNvPr id="85" name="Elemento grafico 84">
                    <a:extLst>
                      <a:ext uri="{FF2B5EF4-FFF2-40B4-BE49-F238E27FC236}">
                        <a16:creationId xmlns:a16="http://schemas.microsoft.com/office/drawing/2014/main" id="{0635A33F-6512-5AB7-BF14-117D0FB066A2}"/>
                      </a:ext>
                    </a:extLst>
                  </p:cNvPr>
                  <p:cNvPicPr/>
                  <p:nvPr/>
                </p:nvPicPr>
                <p:blipFill>
                  <a:blip>
                    <a:extLst>
                      <a:ext uri="{96DAC541-7B7A-43D3-8B79-37D633B846F1}">
                        <asvg:svgBlip xmlns:asvg="http://schemas.microsoft.com/office/drawing/2016/SVG/main" r:embed="rId10"/>
                      </a:ext>
                    </a:extLst>
                  </a:blip>
                  <a:stretch>
                    <a:fillRect/>
                  </a:stretch>
                </p:blipFill>
                <p:spPr>
                  <a:xfrm>
                    <a:off x="832828" y="3222236"/>
                    <a:ext cx="288000" cy="288000"/>
                  </a:xfrm>
                  <a:prstGeom prst="rect">
                    <a:avLst/>
                  </a:prstGeom>
                </p:spPr>
              </p:pic>
            </p:grpSp>
            <p:grpSp>
              <p:nvGrpSpPr>
                <p:cNvPr id="91" name="Gruppo 90">
                  <a:extLst>
                    <a:ext uri="{FF2B5EF4-FFF2-40B4-BE49-F238E27FC236}">
                      <a16:creationId xmlns:a16="http://schemas.microsoft.com/office/drawing/2014/main" id="{BE00D2A1-2B08-96D3-2FA2-668786F37AC6}"/>
                    </a:ext>
                  </a:extLst>
                </p:cNvPr>
                <p:cNvGrpSpPr/>
                <p:nvPr/>
              </p:nvGrpSpPr>
              <p:grpSpPr>
                <a:xfrm>
                  <a:off x="832828" y="3686864"/>
                  <a:ext cx="2041150" cy="288000"/>
                  <a:chOff x="832828" y="3610606"/>
                  <a:chExt cx="2041150" cy="288000"/>
                </a:xfrm>
              </p:grpSpPr>
              <p:sp>
                <p:nvSpPr>
                  <p:cNvPr id="55" name="Tittle Function 01…">
                    <a:extLst>
                      <a:ext uri="{FF2B5EF4-FFF2-40B4-BE49-F238E27FC236}">
                        <a16:creationId xmlns:a16="http://schemas.microsoft.com/office/drawing/2014/main" id="{C8C4F99A-C689-0809-C5D1-25370856A9AC}"/>
                      </a:ext>
                    </a:extLst>
                  </p:cNvPr>
                  <p:cNvSpPr txBox="1">
                    <a:spLocks/>
                  </p:cNvSpPr>
                  <p:nvPr/>
                </p:nvSpPr>
                <p:spPr>
                  <a:xfrm>
                    <a:off x="1380546" y="3681509"/>
                    <a:ext cx="149343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Audit e tracciabilità</a:t>
                    </a:r>
                    <a:endParaRPr lang="it-IT" sz="950" b="1" spc="-10" dirty="0">
                      <a:latin typeface="Poppins SemiBold" panose="00000700000000000000" pitchFamily="2" charset="0"/>
                      <a:cs typeface="Poppins SemiBold" panose="00000700000000000000" pitchFamily="2" charset="0"/>
                    </a:endParaRPr>
                  </a:p>
                </p:txBody>
              </p:sp>
              <p:pic>
                <p:nvPicPr>
                  <p:cNvPr id="86" name="Elemento grafico 85">
                    <a:extLst>
                      <a:ext uri="{FF2B5EF4-FFF2-40B4-BE49-F238E27FC236}">
                        <a16:creationId xmlns:a16="http://schemas.microsoft.com/office/drawing/2014/main" id="{BF6084F6-915B-E373-497A-5A7852CEC856}"/>
                      </a:ext>
                    </a:extLst>
                  </p:cNvPr>
                  <p:cNvPicPr/>
                  <p:nvPr/>
                </p:nvPicPr>
                <p:blipFill>
                  <a:blip>
                    <a:extLst>
                      <a:ext uri="{96DAC541-7B7A-43D3-8B79-37D633B846F1}">
                        <asvg:svgBlip xmlns:asvg="http://schemas.microsoft.com/office/drawing/2016/SVG/main" r:embed="rId11"/>
                      </a:ext>
                    </a:extLst>
                  </a:blip>
                  <a:stretch>
                    <a:fillRect/>
                  </a:stretch>
                </p:blipFill>
                <p:spPr>
                  <a:xfrm>
                    <a:off x="832828" y="3610606"/>
                    <a:ext cx="288000" cy="288000"/>
                  </a:xfrm>
                  <a:prstGeom prst="rect">
                    <a:avLst/>
                  </a:prstGeom>
                </p:spPr>
              </p:pic>
            </p:grpSp>
            <p:grpSp>
              <p:nvGrpSpPr>
                <p:cNvPr id="92" name="Gruppo 91">
                  <a:extLst>
                    <a:ext uri="{FF2B5EF4-FFF2-40B4-BE49-F238E27FC236}">
                      <a16:creationId xmlns:a16="http://schemas.microsoft.com/office/drawing/2014/main" id="{232E6D6C-6C1C-234C-BFD9-D39FAB46618A}"/>
                    </a:ext>
                  </a:extLst>
                </p:cNvPr>
                <p:cNvGrpSpPr/>
                <p:nvPr/>
              </p:nvGrpSpPr>
              <p:grpSpPr>
                <a:xfrm>
                  <a:off x="832828" y="4170141"/>
                  <a:ext cx="2330729" cy="288000"/>
                  <a:chOff x="832828" y="4034429"/>
                  <a:chExt cx="2330729" cy="288000"/>
                </a:xfrm>
              </p:grpSpPr>
              <p:sp>
                <p:nvSpPr>
                  <p:cNvPr id="75" name="Tittle Function 01…">
                    <a:extLst>
                      <a:ext uri="{FF2B5EF4-FFF2-40B4-BE49-F238E27FC236}">
                        <a16:creationId xmlns:a16="http://schemas.microsoft.com/office/drawing/2014/main" id="{6BA911D8-90E9-8204-A8E2-84716278B620}"/>
                      </a:ext>
                    </a:extLst>
                  </p:cNvPr>
                  <p:cNvSpPr txBox="1">
                    <a:spLocks/>
                  </p:cNvSpPr>
                  <p:nvPr/>
                </p:nvSpPr>
                <p:spPr>
                  <a:xfrm>
                    <a:off x="1380547" y="4105332"/>
                    <a:ext cx="1783010"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Output e dashboard</a:t>
                    </a:r>
                    <a:endParaRPr lang="it-IT" sz="950" b="1" spc="-10" dirty="0">
                      <a:latin typeface="Poppins SemiBold" panose="00000700000000000000" pitchFamily="2" charset="0"/>
                      <a:cs typeface="Poppins SemiBold" panose="00000700000000000000" pitchFamily="2" charset="0"/>
                    </a:endParaRPr>
                  </a:p>
                </p:txBody>
              </p:sp>
              <p:pic>
                <p:nvPicPr>
                  <p:cNvPr id="87" name="Elemento grafico 86">
                    <a:extLst>
                      <a:ext uri="{FF2B5EF4-FFF2-40B4-BE49-F238E27FC236}">
                        <a16:creationId xmlns:a16="http://schemas.microsoft.com/office/drawing/2014/main" id="{C958A929-E383-9424-D046-B3C2A1C202B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32828" y="4034429"/>
                    <a:ext cx="288000" cy="288000"/>
                  </a:xfrm>
                  <a:prstGeom prst="rect">
                    <a:avLst/>
                  </a:prstGeom>
                </p:spPr>
              </p:pic>
            </p:grpSp>
            <p:pic>
              <p:nvPicPr>
                <p:cNvPr id="117" name="Elemento grafico 116">
                  <a:extLst>
                    <a:ext uri="{FF2B5EF4-FFF2-40B4-BE49-F238E27FC236}">
                      <a16:creationId xmlns:a16="http://schemas.microsoft.com/office/drawing/2014/main" id="{1DCA34DF-40B4-9940-5B9A-906548528D4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62528" y="2265554"/>
                  <a:ext cx="228600" cy="228600"/>
                </a:xfrm>
                <a:prstGeom prst="rect">
                  <a:avLst/>
                </a:prstGeom>
              </p:spPr>
            </p:pic>
          </p:grpSp>
          <p:grpSp>
            <p:nvGrpSpPr>
              <p:cNvPr id="140" name="Gruppo 139">
                <a:extLst>
                  <a:ext uri="{FF2B5EF4-FFF2-40B4-BE49-F238E27FC236}">
                    <a16:creationId xmlns:a16="http://schemas.microsoft.com/office/drawing/2014/main" id="{9F9EA566-B8EA-92C7-C62D-7C2DAA0EF9BD}"/>
                  </a:ext>
                </a:extLst>
              </p:cNvPr>
              <p:cNvGrpSpPr/>
              <p:nvPr/>
            </p:nvGrpSpPr>
            <p:grpSpPr>
              <a:xfrm>
                <a:off x="7842868" y="1303324"/>
                <a:ext cx="2777577" cy="3322011"/>
                <a:chOff x="6765211" y="1303324"/>
                <a:chExt cx="2777577" cy="3322011"/>
              </a:xfrm>
            </p:grpSpPr>
            <p:sp>
              <p:nvSpPr>
                <p:cNvPr id="121" name="Rettangolo con angoli arrotondati 120">
                  <a:extLst>
                    <a:ext uri="{FF2B5EF4-FFF2-40B4-BE49-F238E27FC236}">
                      <a16:creationId xmlns:a16="http://schemas.microsoft.com/office/drawing/2014/main" id="{B3D35E02-BB0B-B406-DE7D-19BE4162B0C6}"/>
                    </a:ext>
                  </a:extLst>
                </p:cNvPr>
                <p:cNvSpPr>
                  <a:spLocks/>
                </p:cNvSpPr>
                <p:nvPr/>
              </p:nvSpPr>
              <p:spPr>
                <a:xfrm>
                  <a:off x="6765212" y="1460912"/>
                  <a:ext cx="2777576" cy="3164423"/>
                </a:xfrm>
                <a:prstGeom prst="roundRect">
                  <a:avLst>
                    <a:gd name="adj" fmla="val 4786"/>
                  </a:avLst>
                </a:prstGeom>
                <a:solidFill>
                  <a:srgbClr val="52B3B4"/>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122" name="Rettangolo con angoli arrotondati 121">
                  <a:extLst>
                    <a:ext uri="{FF2B5EF4-FFF2-40B4-BE49-F238E27FC236}">
                      <a16:creationId xmlns:a16="http://schemas.microsoft.com/office/drawing/2014/main" id="{F8C17170-2E33-CFFC-7101-DFD0D27F7523}"/>
                    </a:ext>
                  </a:extLst>
                </p:cNvPr>
                <p:cNvSpPr>
                  <a:spLocks/>
                </p:cNvSpPr>
                <p:nvPr/>
              </p:nvSpPr>
              <p:spPr>
                <a:xfrm>
                  <a:off x="6765212" y="1774121"/>
                  <a:ext cx="2777576" cy="2851214"/>
                </a:xfrm>
                <a:prstGeom prst="roundRect">
                  <a:avLst>
                    <a:gd name="adj" fmla="val 4786"/>
                  </a:avLst>
                </a:prstGeom>
                <a:solidFill>
                  <a:schemeClr val="bg1"/>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sp>
              <p:nvSpPr>
                <p:cNvPr id="123" name="CasellaDiTesto 122">
                  <a:extLst>
                    <a:ext uri="{FF2B5EF4-FFF2-40B4-BE49-F238E27FC236}">
                      <a16:creationId xmlns:a16="http://schemas.microsoft.com/office/drawing/2014/main" id="{4AB582F2-7D7C-EDD7-331E-5A02D8A03A43}"/>
                    </a:ext>
                  </a:extLst>
                </p:cNvPr>
                <p:cNvSpPr txBox="1">
                  <a:spLocks/>
                </p:cNvSpPr>
                <p:nvPr/>
              </p:nvSpPr>
              <p:spPr>
                <a:xfrm>
                  <a:off x="6765211" y="1592801"/>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125" name="Ovale 124">
                  <a:extLst>
                    <a:ext uri="{FF2B5EF4-FFF2-40B4-BE49-F238E27FC236}">
                      <a16:creationId xmlns:a16="http://schemas.microsoft.com/office/drawing/2014/main" id="{EC68A698-99EF-FC5C-BB48-6F4FA8201029}"/>
                    </a:ext>
                  </a:extLst>
                </p:cNvPr>
                <p:cNvSpPr/>
                <p:nvPr/>
              </p:nvSpPr>
              <p:spPr>
                <a:xfrm>
                  <a:off x="7466808" y="1303324"/>
                  <a:ext cx="1363225" cy="724172"/>
                </a:xfrm>
                <a:prstGeom prst="ellipse">
                  <a:avLst/>
                </a:prstGeom>
                <a:solidFill>
                  <a:srgbClr val="52B3B4"/>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spc="-20" dirty="0">
                      <a:solidFill>
                        <a:schemeClr val="bg1"/>
                      </a:solidFill>
                      <a:latin typeface="Poppins SemiBold" panose="00000700000000000000" pitchFamily="2" charset="0"/>
                      <a:cs typeface="Poppins SemiBold" panose="00000700000000000000" pitchFamily="2" charset="0"/>
                    </a:rPr>
                    <a:t>CDG </a:t>
                  </a:r>
                  <a:r>
                    <a:rPr lang="it-IT" sz="1200" spc="-20" noProof="0" dirty="0">
                      <a:solidFill>
                        <a:schemeClr val="bg1"/>
                      </a:solidFill>
                      <a:latin typeface="Poppins SemiBold" panose="00000700000000000000" pitchFamily="2" charset="0"/>
                      <a:cs typeface="Poppins SemiBold" panose="00000700000000000000" pitchFamily="2" charset="0"/>
                    </a:rPr>
                    <a:t>Interno</a:t>
                  </a: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126" name="Tittle Function 01…">
                  <a:extLst>
                    <a:ext uri="{FF2B5EF4-FFF2-40B4-BE49-F238E27FC236}">
                      <a16:creationId xmlns:a16="http://schemas.microsoft.com/office/drawing/2014/main" id="{DBDC850F-5878-9086-7AA3-72FDE16FCCA2}"/>
                    </a:ext>
                  </a:extLst>
                </p:cNvPr>
                <p:cNvSpPr txBox="1">
                  <a:spLocks/>
                </p:cNvSpPr>
                <p:nvPr/>
              </p:nvSpPr>
              <p:spPr>
                <a:xfrm>
                  <a:off x="7589632" y="2307942"/>
                  <a:ext cx="160692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Acquisizione dati</a:t>
                  </a:r>
                  <a:endParaRPr lang="it-IT" sz="950" b="1" spc="-10" dirty="0">
                    <a:latin typeface="Poppins SemiBold" panose="00000700000000000000" pitchFamily="2" charset="0"/>
                    <a:cs typeface="Poppins SemiBold" panose="00000700000000000000" pitchFamily="2" charset="0"/>
                  </a:endParaRPr>
                </a:p>
              </p:txBody>
            </p:sp>
            <p:sp>
              <p:nvSpPr>
                <p:cNvPr id="135" name="Tittle Function 01…">
                  <a:extLst>
                    <a:ext uri="{FF2B5EF4-FFF2-40B4-BE49-F238E27FC236}">
                      <a16:creationId xmlns:a16="http://schemas.microsoft.com/office/drawing/2014/main" id="{C55861C9-3937-654B-28B3-19F0A8535682}"/>
                    </a:ext>
                  </a:extLst>
                </p:cNvPr>
                <p:cNvSpPr txBox="1">
                  <a:spLocks/>
                </p:cNvSpPr>
                <p:nvPr/>
              </p:nvSpPr>
              <p:spPr>
                <a:xfrm>
                  <a:off x="7589631" y="3274492"/>
                  <a:ext cx="1783011"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Controlli e </a:t>
                  </a:r>
                  <a:r>
                    <a:rPr lang="en-US" sz="950" spc="-10" noProof="0" dirty="0">
                      <a:latin typeface="Poppins SemiBold" panose="00000700000000000000" pitchFamily="2" charset="0"/>
                      <a:cs typeface="Poppins SemiBold" panose="00000700000000000000" pitchFamily="2" charset="0"/>
                    </a:rPr>
                    <a:t>quality</a:t>
                  </a:r>
                  <a:r>
                    <a:rPr lang="it-IT" sz="950" spc="-10" dirty="0">
                      <a:latin typeface="Poppins SemiBold" panose="00000700000000000000" pitchFamily="2" charset="0"/>
                      <a:cs typeface="Poppins SemiBold" panose="00000700000000000000" pitchFamily="2" charset="0"/>
                    </a:rPr>
                    <a:t> check</a:t>
                  </a:r>
                  <a:endParaRPr lang="it-IT" sz="950" b="1" spc="-10" dirty="0">
                    <a:latin typeface="Poppins SemiBold" panose="00000700000000000000" pitchFamily="2" charset="0"/>
                    <a:cs typeface="Poppins SemiBold" panose="00000700000000000000" pitchFamily="2" charset="0"/>
                  </a:endParaRPr>
                </a:p>
              </p:txBody>
            </p:sp>
            <p:pic>
              <p:nvPicPr>
                <p:cNvPr id="136" name="Elemento grafico 135">
                  <a:extLst>
                    <a:ext uri="{FF2B5EF4-FFF2-40B4-BE49-F238E27FC236}">
                      <a16:creationId xmlns:a16="http://schemas.microsoft.com/office/drawing/2014/main" id="{DDDF9952-0649-66AE-6D3A-637D49B3952E}"/>
                    </a:ext>
                  </a:extLst>
                </p:cNvPr>
                <p:cNvPicPr/>
                <p:nvPr/>
              </p:nvPicPr>
              <p:blipFill>
                <a:blip>
                  <a:extLst>
                    <a:ext uri="{96DAC541-7B7A-43D3-8B79-37D633B846F1}">
                      <asvg:svgBlip xmlns:asvg="http://schemas.microsoft.com/office/drawing/2016/SVG/main" r:embed="rId14"/>
                    </a:ext>
                  </a:extLst>
                </a:blip>
                <a:stretch>
                  <a:fillRect/>
                </a:stretch>
              </p:blipFill>
              <p:spPr>
                <a:xfrm>
                  <a:off x="7041914" y="3203589"/>
                  <a:ext cx="288000" cy="288000"/>
                </a:xfrm>
                <a:prstGeom prst="rect">
                  <a:avLst/>
                </a:prstGeom>
              </p:spPr>
            </p:pic>
            <p:sp>
              <p:nvSpPr>
                <p:cNvPr id="133" name="Tittle Function 01…">
                  <a:extLst>
                    <a:ext uri="{FF2B5EF4-FFF2-40B4-BE49-F238E27FC236}">
                      <a16:creationId xmlns:a16="http://schemas.microsoft.com/office/drawing/2014/main" id="{6DF60E8B-4657-EED6-8938-5694C9B00534}"/>
                    </a:ext>
                  </a:extLst>
                </p:cNvPr>
                <p:cNvSpPr txBox="1">
                  <a:spLocks/>
                </p:cNvSpPr>
                <p:nvPr/>
              </p:nvSpPr>
              <p:spPr>
                <a:xfrm>
                  <a:off x="7589632" y="3757767"/>
                  <a:ext cx="149343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Audit e tracciabilità</a:t>
                  </a:r>
                  <a:endParaRPr lang="it-IT" sz="950" b="1" spc="-10" dirty="0">
                    <a:latin typeface="Poppins SemiBold" panose="00000700000000000000" pitchFamily="2" charset="0"/>
                    <a:cs typeface="Poppins SemiBold" panose="00000700000000000000" pitchFamily="2" charset="0"/>
                  </a:endParaRPr>
                </a:p>
              </p:txBody>
            </p:sp>
            <p:pic>
              <p:nvPicPr>
                <p:cNvPr id="134" name="Elemento grafico 133">
                  <a:extLst>
                    <a:ext uri="{FF2B5EF4-FFF2-40B4-BE49-F238E27FC236}">
                      <a16:creationId xmlns:a16="http://schemas.microsoft.com/office/drawing/2014/main" id="{EF7DBA99-D629-136B-A70A-AC4EF7E4F7FD}"/>
                    </a:ext>
                  </a:extLst>
                </p:cNvPr>
                <p:cNvPicPr/>
                <p:nvPr/>
              </p:nvPicPr>
              <p:blipFill>
                <a:blip>
                  <a:extLst>
                    <a:ext uri="{96DAC541-7B7A-43D3-8B79-37D633B846F1}">
                      <asvg:svgBlip xmlns:asvg="http://schemas.microsoft.com/office/drawing/2016/SVG/main" r:embed="rId15"/>
                    </a:ext>
                  </a:extLst>
                </a:blip>
                <a:stretch>
                  <a:fillRect/>
                </a:stretch>
              </p:blipFill>
              <p:spPr>
                <a:xfrm>
                  <a:off x="7041914" y="3686864"/>
                  <a:ext cx="288000" cy="288000"/>
                </a:xfrm>
                <a:prstGeom prst="rect">
                  <a:avLst/>
                </a:prstGeom>
              </p:spPr>
            </p:pic>
            <p:sp>
              <p:nvSpPr>
                <p:cNvPr id="131" name="Tittle Function 01…">
                  <a:extLst>
                    <a:ext uri="{FF2B5EF4-FFF2-40B4-BE49-F238E27FC236}">
                      <a16:creationId xmlns:a16="http://schemas.microsoft.com/office/drawing/2014/main" id="{0ECDFE88-E6FD-9C1A-944F-9701CE41EAFB}"/>
                    </a:ext>
                  </a:extLst>
                </p:cNvPr>
                <p:cNvSpPr txBox="1">
                  <a:spLocks/>
                </p:cNvSpPr>
                <p:nvPr/>
              </p:nvSpPr>
              <p:spPr>
                <a:xfrm>
                  <a:off x="7589633" y="4241044"/>
                  <a:ext cx="1783010"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Output e dashboard</a:t>
                  </a:r>
                  <a:endParaRPr lang="it-IT" sz="950" b="1" spc="-10" dirty="0">
                    <a:latin typeface="Poppins SemiBold" panose="00000700000000000000" pitchFamily="2" charset="0"/>
                    <a:cs typeface="Poppins SemiBold" panose="00000700000000000000" pitchFamily="2" charset="0"/>
                  </a:endParaRPr>
                </a:p>
              </p:txBody>
            </p:sp>
            <p:pic>
              <p:nvPicPr>
                <p:cNvPr id="132" name="Elemento grafico 131">
                  <a:extLst>
                    <a:ext uri="{FF2B5EF4-FFF2-40B4-BE49-F238E27FC236}">
                      <a16:creationId xmlns:a16="http://schemas.microsoft.com/office/drawing/2014/main" id="{17767CCF-5D95-B312-0376-7C5E6C180527}"/>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041914" y="4170141"/>
                  <a:ext cx="288000" cy="288000"/>
                </a:xfrm>
                <a:prstGeom prst="rect">
                  <a:avLst/>
                </a:prstGeom>
              </p:spPr>
            </p:pic>
            <p:pic>
              <p:nvPicPr>
                <p:cNvPr id="137" name="Elemento grafico 136">
                  <a:extLst>
                    <a:ext uri="{FF2B5EF4-FFF2-40B4-BE49-F238E27FC236}">
                      <a16:creationId xmlns:a16="http://schemas.microsoft.com/office/drawing/2014/main" id="{18080225-AED8-E70A-6A60-5211DFFF7773}"/>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041914" y="2720314"/>
                  <a:ext cx="288000" cy="288000"/>
                </a:xfrm>
                <a:prstGeom prst="rect">
                  <a:avLst/>
                </a:prstGeom>
              </p:spPr>
            </p:pic>
            <p:sp>
              <p:nvSpPr>
                <p:cNvPr id="138" name="Tittle Function 01…">
                  <a:extLst>
                    <a:ext uri="{FF2B5EF4-FFF2-40B4-BE49-F238E27FC236}">
                      <a16:creationId xmlns:a16="http://schemas.microsoft.com/office/drawing/2014/main" id="{7CDFE213-E15C-3E04-DB0D-BDE8D189A26F}"/>
                    </a:ext>
                  </a:extLst>
                </p:cNvPr>
                <p:cNvSpPr txBox="1">
                  <a:spLocks/>
                </p:cNvSpPr>
                <p:nvPr/>
              </p:nvSpPr>
              <p:spPr>
                <a:xfrm>
                  <a:off x="7619176" y="2791217"/>
                  <a:ext cx="160692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Mapping e trasformazioni</a:t>
                  </a:r>
                  <a:endParaRPr lang="it-IT" sz="950" b="1" spc="-10" dirty="0">
                    <a:latin typeface="Poppins SemiBold" panose="00000700000000000000" pitchFamily="2" charset="0"/>
                    <a:cs typeface="Poppins SemiBold" panose="00000700000000000000" pitchFamily="2" charset="0"/>
                  </a:endParaRPr>
                </a:p>
              </p:txBody>
            </p:sp>
            <p:pic>
              <p:nvPicPr>
                <p:cNvPr id="130" name="Elemento grafico 129">
                  <a:extLst>
                    <a:ext uri="{FF2B5EF4-FFF2-40B4-BE49-F238E27FC236}">
                      <a16:creationId xmlns:a16="http://schemas.microsoft.com/office/drawing/2014/main" id="{4095A6E6-5DEB-9A23-6E1B-0087736A928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7063122" y="2265554"/>
                  <a:ext cx="228600" cy="228600"/>
                </a:xfrm>
                <a:prstGeom prst="rect">
                  <a:avLst/>
                </a:prstGeom>
              </p:spPr>
            </p:pic>
          </p:grpSp>
        </p:grpSp>
        <p:grpSp>
          <p:nvGrpSpPr>
            <p:cNvPr id="143" name="Gruppo 142">
              <a:extLst>
                <a:ext uri="{FF2B5EF4-FFF2-40B4-BE49-F238E27FC236}">
                  <a16:creationId xmlns:a16="http://schemas.microsoft.com/office/drawing/2014/main" id="{57ECCE94-BCF8-D77F-AE86-1EC8F8EB7030}"/>
                </a:ext>
              </a:extLst>
            </p:cNvPr>
            <p:cNvGrpSpPr/>
            <p:nvPr/>
          </p:nvGrpSpPr>
          <p:grpSpPr>
            <a:xfrm>
              <a:off x="1059084" y="5459802"/>
              <a:ext cx="9555783" cy="664262"/>
              <a:chOff x="1059084" y="5064960"/>
              <a:chExt cx="9555783" cy="664262"/>
            </a:xfrm>
          </p:grpSpPr>
          <p:grpSp>
            <p:nvGrpSpPr>
              <p:cNvPr id="71" name="Gruppo 70">
                <a:extLst>
                  <a:ext uri="{FF2B5EF4-FFF2-40B4-BE49-F238E27FC236}">
                    <a16:creationId xmlns:a16="http://schemas.microsoft.com/office/drawing/2014/main" id="{7B35165E-C549-3CCB-4D6C-640C74918D8C}"/>
                  </a:ext>
                </a:extLst>
              </p:cNvPr>
              <p:cNvGrpSpPr/>
              <p:nvPr/>
            </p:nvGrpSpPr>
            <p:grpSpPr>
              <a:xfrm>
                <a:off x="1059084" y="5064960"/>
                <a:ext cx="9555783" cy="664262"/>
                <a:chOff x="659066" y="5500822"/>
                <a:chExt cx="10646833" cy="723835"/>
              </a:xfrm>
            </p:grpSpPr>
            <p:sp>
              <p:nvSpPr>
                <p:cNvPr id="31" name="Rettangolo con angoli arrotondati 30">
                  <a:extLst>
                    <a:ext uri="{FF2B5EF4-FFF2-40B4-BE49-F238E27FC236}">
                      <a16:creationId xmlns:a16="http://schemas.microsoft.com/office/drawing/2014/main" id="{E32E9CCE-7EDF-6552-EC9C-395A1E7F0C5C}"/>
                    </a:ext>
                  </a:extLst>
                </p:cNvPr>
                <p:cNvSpPr/>
                <p:nvPr/>
              </p:nvSpPr>
              <p:spPr>
                <a:xfrm>
                  <a:off x="659066" y="5500822"/>
                  <a:ext cx="10646833" cy="723835"/>
                </a:xfrm>
                <a:prstGeom prst="roundRect">
                  <a:avLst>
                    <a:gd name="adj" fmla="val 12756"/>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ittle Function 01…">
                  <a:extLst>
                    <a:ext uri="{FF2B5EF4-FFF2-40B4-BE49-F238E27FC236}">
                      <a16:creationId xmlns:a16="http://schemas.microsoft.com/office/drawing/2014/main" id="{336E06CA-A121-A27B-C408-4D20B3CD5BCB}"/>
                    </a:ext>
                  </a:extLst>
                </p:cNvPr>
                <p:cNvSpPr txBox="1"/>
                <p:nvPr/>
              </p:nvSpPr>
              <p:spPr>
                <a:xfrm>
                  <a:off x="1740358" y="5762126"/>
                  <a:ext cx="9334628" cy="201227"/>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dirty="0">
                      <a:solidFill>
                        <a:schemeClr val="tx1">
                          <a:lumMod val="75000"/>
                          <a:lumOff val="25000"/>
                        </a:schemeClr>
                      </a:solidFill>
                      <a:latin typeface="+mj-lt"/>
                    </a:rPr>
                    <a:t>Questo comporta duplicazioni, costi maggiori, tempi più lunghi e maggiore rischio di errori e incoerenze.</a:t>
                  </a:r>
                </a:p>
              </p:txBody>
            </p:sp>
          </p:grpSp>
          <p:pic>
            <p:nvPicPr>
              <p:cNvPr id="142" name="Elemento grafico 141">
                <a:extLst>
                  <a:ext uri="{FF2B5EF4-FFF2-40B4-BE49-F238E27FC236}">
                    <a16:creationId xmlns:a16="http://schemas.microsoft.com/office/drawing/2014/main" id="{34027F77-C28B-23A7-06C0-04647FAE025C}"/>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256681" y="5145091"/>
                <a:ext cx="504000" cy="504000"/>
              </a:xfrm>
              <a:prstGeom prst="rect">
                <a:avLst/>
              </a:prstGeom>
            </p:spPr>
          </p:pic>
        </p:grpSp>
        <p:sp>
          <p:nvSpPr>
            <p:cNvPr id="145" name="CasellaDiTesto 144">
              <a:extLst>
                <a:ext uri="{FF2B5EF4-FFF2-40B4-BE49-F238E27FC236}">
                  <a16:creationId xmlns:a16="http://schemas.microsoft.com/office/drawing/2014/main" id="{E48CA933-E502-4F8D-B85F-7CDC0F3D2672}"/>
                </a:ext>
              </a:extLst>
            </p:cNvPr>
            <p:cNvSpPr txBox="1"/>
            <p:nvPr/>
          </p:nvSpPr>
          <p:spPr>
            <a:xfrm>
              <a:off x="3338149" y="4549946"/>
              <a:ext cx="4992072" cy="707886"/>
            </a:xfrm>
            <a:prstGeom prst="rect">
              <a:avLst/>
            </a:prstGeom>
            <a:noFill/>
          </p:spPr>
          <p:txBody>
            <a:bodyPr wrap="none" rtlCol="0">
              <a:spAutoFit/>
            </a:bodyPr>
            <a:lstStyle/>
            <a:p>
              <a:r>
                <a:rPr lang="it-IT" sz="2000" b="1" dirty="0">
                  <a:gradFill>
                    <a:gsLst>
                      <a:gs pos="0">
                        <a:srgbClr val="56B093"/>
                      </a:gs>
                      <a:gs pos="100000">
                        <a:srgbClr val="307FE2"/>
                      </a:gs>
                    </a:gsLst>
                    <a:lin ang="17400000" scaled="0"/>
                  </a:gradFill>
                  <a:latin typeface="+mj-lt"/>
                  <a:cs typeface="Poppins SemiBold" panose="00000700000000000000" pitchFamily="2" charset="0"/>
                </a:rPr>
                <a:t>TRE PROGETTI. TRE IMPLEMENTAZIONI.</a:t>
              </a:r>
            </a:p>
            <a:p>
              <a:pPr algn="ctr"/>
              <a:r>
                <a:rPr lang="it-IT" sz="2000" b="1" dirty="0">
                  <a:gradFill>
                    <a:gsLst>
                      <a:gs pos="0">
                        <a:srgbClr val="56B093"/>
                      </a:gs>
                      <a:gs pos="100000">
                        <a:srgbClr val="307FE2"/>
                      </a:gs>
                    </a:gsLst>
                    <a:lin ang="17400000" scaled="0"/>
                  </a:gradFill>
                  <a:latin typeface="+mj-lt"/>
                  <a:cs typeface="Poppins SemiBold" panose="00000700000000000000" pitchFamily="2" charset="0"/>
                </a:rPr>
                <a:t>MOLTI ELEMENTI IDENTICI.</a:t>
              </a:r>
              <a:endParaRPr lang="en-US" sz="2000" b="1" dirty="0">
                <a:gradFill>
                  <a:gsLst>
                    <a:gs pos="0">
                      <a:srgbClr val="56B093"/>
                    </a:gs>
                    <a:gs pos="100000">
                      <a:srgbClr val="307FE2"/>
                    </a:gs>
                  </a:gsLst>
                  <a:lin ang="17400000" scaled="0"/>
                </a:gradFill>
                <a:latin typeface="+mj-lt"/>
                <a:cs typeface="Poppins SemiBold" panose="00000700000000000000" pitchFamily="2" charset="0"/>
              </a:endParaRPr>
            </a:p>
          </p:txBody>
        </p:sp>
      </p:grpSp>
      <p:grpSp>
        <p:nvGrpSpPr>
          <p:cNvPr id="149" name="Gruppo 148">
            <a:extLst>
              <a:ext uri="{FF2B5EF4-FFF2-40B4-BE49-F238E27FC236}">
                <a16:creationId xmlns:a16="http://schemas.microsoft.com/office/drawing/2014/main" id="{EF1EE113-7F6B-A018-127F-4CDB2BD0A361}"/>
              </a:ext>
            </a:extLst>
          </p:cNvPr>
          <p:cNvGrpSpPr/>
          <p:nvPr/>
        </p:nvGrpSpPr>
        <p:grpSpPr>
          <a:xfrm>
            <a:off x="8967395" y="370238"/>
            <a:ext cx="2750029" cy="406706"/>
            <a:chOff x="6734403" y="623243"/>
            <a:chExt cx="2750029" cy="406706"/>
          </a:xfrm>
        </p:grpSpPr>
        <p:sp>
          <p:nvSpPr>
            <p:cNvPr id="150" name="Line">
              <a:extLst>
                <a:ext uri="{FF2B5EF4-FFF2-40B4-BE49-F238E27FC236}">
                  <a16:creationId xmlns:a16="http://schemas.microsoft.com/office/drawing/2014/main" id="{4B5D0E8C-2769-23EC-71CD-A5D6420B51A5}"/>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151" name="Gruppo 150">
              <a:extLst>
                <a:ext uri="{FF2B5EF4-FFF2-40B4-BE49-F238E27FC236}">
                  <a16:creationId xmlns:a16="http://schemas.microsoft.com/office/drawing/2014/main" id="{D0ACF786-F697-03B2-06FE-7B6B4BEAD8C1}"/>
                </a:ext>
              </a:extLst>
            </p:cNvPr>
            <p:cNvGrpSpPr/>
            <p:nvPr/>
          </p:nvGrpSpPr>
          <p:grpSpPr>
            <a:xfrm>
              <a:off x="6734403" y="623243"/>
              <a:ext cx="2750029" cy="406706"/>
              <a:chOff x="6734403" y="623243"/>
              <a:chExt cx="2750029" cy="406706"/>
            </a:xfrm>
          </p:grpSpPr>
          <p:grpSp>
            <p:nvGrpSpPr>
              <p:cNvPr id="152" name="Gruppo 151">
                <a:extLst>
                  <a:ext uri="{FF2B5EF4-FFF2-40B4-BE49-F238E27FC236}">
                    <a16:creationId xmlns:a16="http://schemas.microsoft.com/office/drawing/2014/main" id="{0C330B85-7099-A4AC-CC5C-16865656FDBD}"/>
                  </a:ext>
                </a:extLst>
              </p:cNvPr>
              <p:cNvGrpSpPr/>
              <p:nvPr/>
            </p:nvGrpSpPr>
            <p:grpSpPr>
              <a:xfrm>
                <a:off x="6734403" y="623243"/>
                <a:ext cx="576000" cy="406706"/>
                <a:chOff x="6734403" y="623243"/>
                <a:chExt cx="576000" cy="406706"/>
              </a:xfrm>
            </p:grpSpPr>
            <p:pic>
              <p:nvPicPr>
                <p:cNvPr id="165" name="Elemento grafico 164">
                  <a:extLst>
                    <a:ext uri="{FF2B5EF4-FFF2-40B4-BE49-F238E27FC236}">
                      <a16:creationId xmlns:a16="http://schemas.microsoft.com/office/drawing/2014/main" id="{5EA23193-C151-49D7-3CC6-944BB3C518A7}"/>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6908103" y="801349"/>
                  <a:ext cx="228600" cy="228600"/>
                </a:xfrm>
                <a:prstGeom prst="rect">
                  <a:avLst/>
                </a:prstGeom>
              </p:spPr>
            </p:pic>
            <p:sp>
              <p:nvSpPr>
                <p:cNvPr id="166" name="CasellaDiTesto 165">
                  <a:extLst>
                    <a:ext uri="{FF2B5EF4-FFF2-40B4-BE49-F238E27FC236}">
                      <a16:creationId xmlns:a16="http://schemas.microsoft.com/office/drawing/2014/main" id="{1FC37563-3559-3C91-CA67-A5ED20B270F9}"/>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53" name="Gruppo 152">
                <a:extLst>
                  <a:ext uri="{FF2B5EF4-FFF2-40B4-BE49-F238E27FC236}">
                    <a16:creationId xmlns:a16="http://schemas.microsoft.com/office/drawing/2014/main" id="{8AC9DD4A-6136-595B-6EEC-09EF95514AF0}"/>
                  </a:ext>
                </a:extLst>
              </p:cNvPr>
              <p:cNvGrpSpPr/>
              <p:nvPr/>
            </p:nvGrpSpPr>
            <p:grpSpPr>
              <a:xfrm>
                <a:off x="7277910" y="623243"/>
                <a:ext cx="576000" cy="406706"/>
                <a:chOff x="7291884" y="623243"/>
                <a:chExt cx="576000" cy="406706"/>
              </a:xfrm>
            </p:grpSpPr>
            <p:pic>
              <p:nvPicPr>
                <p:cNvPr id="163" name="Elemento grafico 162">
                  <a:extLst>
                    <a:ext uri="{FF2B5EF4-FFF2-40B4-BE49-F238E27FC236}">
                      <a16:creationId xmlns:a16="http://schemas.microsoft.com/office/drawing/2014/main" id="{158F9391-9A73-59D2-3B72-0C5AD8AC6425}"/>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7465584" y="801349"/>
                  <a:ext cx="228600" cy="228600"/>
                </a:xfrm>
                <a:prstGeom prst="rect">
                  <a:avLst/>
                </a:prstGeom>
              </p:spPr>
            </p:pic>
            <p:sp>
              <p:nvSpPr>
                <p:cNvPr id="164" name="CasellaDiTesto 163">
                  <a:extLst>
                    <a:ext uri="{FF2B5EF4-FFF2-40B4-BE49-F238E27FC236}">
                      <a16:creationId xmlns:a16="http://schemas.microsoft.com/office/drawing/2014/main" id="{E927EF8D-7B6C-1AB3-202F-4CA990C6B725}"/>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VALORE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54" name="Gruppo 153">
                <a:extLst>
                  <a:ext uri="{FF2B5EF4-FFF2-40B4-BE49-F238E27FC236}">
                    <a16:creationId xmlns:a16="http://schemas.microsoft.com/office/drawing/2014/main" id="{ED20FBFF-19C0-41F7-09B7-955A09460617}"/>
                  </a:ext>
                </a:extLst>
              </p:cNvPr>
              <p:cNvGrpSpPr/>
              <p:nvPr/>
            </p:nvGrpSpPr>
            <p:grpSpPr>
              <a:xfrm>
                <a:off x="7821417" y="623243"/>
                <a:ext cx="576000" cy="406706"/>
                <a:chOff x="7855777" y="623243"/>
                <a:chExt cx="576000" cy="406706"/>
              </a:xfrm>
            </p:grpSpPr>
            <p:pic>
              <p:nvPicPr>
                <p:cNvPr id="161" name="Elemento grafico 160">
                  <a:extLst>
                    <a:ext uri="{FF2B5EF4-FFF2-40B4-BE49-F238E27FC236}">
                      <a16:creationId xmlns:a16="http://schemas.microsoft.com/office/drawing/2014/main" id="{35C70668-6FFB-34BA-AB0D-F720A98617C4}"/>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8029477" y="801349"/>
                  <a:ext cx="228600" cy="228600"/>
                </a:xfrm>
                <a:prstGeom prst="rect">
                  <a:avLst/>
                </a:prstGeom>
              </p:spPr>
            </p:pic>
            <p:sp>
              <p:nvSpPr>
                <p:cNvPr id="162" name="CasellaDiTesto 161">
                  <a:extLst>
                    <a:ext uri="{FF2B5EF4-FFF2-40B4-BE49-F238E27FC236}">
                      <a16:creationId xmlns:a16="http://schemas.microsoft.com/office/drawing/2014/main" id="{8CC31122-F2C0-1F31-85E0-555160076ADD}"/>
                    </a:ext>
                  </a:extLst>
                </p:cNvPr>
                <p:cNvSpPr txBox="1"/>
                <p:nvPr/>
              </p:nvSpPr>
              <p:spPr>
                <a:xfrm>
                  <a:off x="7855777"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155" name="Gruppo 154">
                <a:extLst>
                  <a:ext uri="{FF2B5EF4-FFF2-40B4-BE49-F238E27FC236}">
                    <a16:creationId xmlns:a16="http://schemas.microsoft.com/office/drawing/2014/main" id="{3CFB65CF-18AE-4192-8B2F-B0DEDF6E0D9E}"/>
                  </a:ext>
                </a:extLst>
              </p:cNvPr>
              <p:cNvGrpSpPr/>
              <p:nvPr/>
            </p:nvGrpSpPr>
            <p:grpSpPr>
              <a:xfrm>
                <a:off x="8364924" y="623243"/>
                <a:ext cx="576000" cy="406706"/>
                <a:chOff x="8576444" y="623243"/>
                <a:chExt cx="576000" cy="406706"/>
              </a:xfrm>
            </p:grpSpPr>
            <p:pic>
              <p:nvPicPr>
                <p:cNvPr id="159" name="Elemento grafico 158">
                  <a:extLst>
                    <a:ext uri="{FF2B5EF4-FFF2-40B4-BE49-F238E27FC236}">
                      <a16:creationId xmlns:a16="http://schemas.microsoft.com/office/drawing/2014/main" id="{8276095D-529B-32AF-9FC5-C24535AA0466}"/>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8750144" y="801349"/>
                  <a:ext cx="228600" cy="228600"/>
                </a:xfrm>
                <a:prstGeom prst="rect">
                  <a:avLst/>
                </a:prstGeom>
              </p:spPr>
            </p:pic>
            <p:sp>
              <p:nvSpPr>
                <p:cNvPr id="160" name="CasellaDiTesto 159">
                  <a:extLst>
                    <a:ext uri="{FF2B5EF4-FFF2-40B4-BE49-F238E27FC236}">
                      <a16:creationId xmlns:a16="http://schemas.microsoft.com/office/drawing/2014/main" id="{8EAB49EA-D327-F4B3-4F38-4551359662C2}"/>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156" name="Gruppo 155">
                <a:extLst>
                  <a:ext uri="{FF2B5EF4-FFF2-40B4-BE49-F238E27FC236}">
                    <a16:creationId xmlns:a16="http://schemas.microsoft.com/office/drawing/2014/main" id="{BE515E26-B5F0-8E64-33B1-01C711DA183E}"/>
                  </a:ext>
                </a:extLst>
              </p:cNvPr>
              <p:cNvGrpSpPr/>
              <p:nvPr/>
            </p:nvGrpSpPr>
            <p:grpSpPr>
              <a:xfrm>
                <a:off x="8908432" y="623243"/>
                <a:ext cx="576000" cy="406706"/>
                <a:chOff x="9067561" y="623243"/>
                <a:chExt cx="576000" cy="406706"/>
              </a:xfrm>
            </p:grpSpPr>
            <p:pic>
              <p:nvPicPr>
                <p:cNvPr id="157" name="Elemento grafico 156">
                  <a:extLst>
                    <a:ext uri="{FF2B5EF4-FFF2-40B4-BE49-F238E27FC236}">
                      <a16:creationId xmlns:a16="http://schemas.microsoft.com/office/drawing/2014/main" id="{A9ACA96A-CC2C-FAAA-7BDE-6D40B74C2150}"/>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9241261" y="801349"/>
                  <a:ext cx="228600" cy="228600"/>
                </a:xfrm>
                <a:prstGeom prst="rect">
                  <a:avLst/>
                </a:prstGeom>
              </p:spPr>
            </p:pic>
            <p:sp>
              <p:nvSpPr>
                <p:cNvPr id="158" name="CasellaDiTesto 157">
                  <a:extLst>
                    <a:ext uri="{FF2B5EF4-FFF2-40B4-BE49-F238E27FC236}">
                      <a16:creationId xmlns:a16="http://schemas.microsoft.com/office/drawing/2014/main" id="{B4C8F6E2-AAA0-CCD8-E3DB-2DF2FC2DD401}"/>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3181398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C7A40-70DA-E577-CFDD-2877D654C20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C3395B3-228A-B8F5-28F8-707BE5F6C9E9}"/>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rPr>
              <a:t>Perché siamo qui?</a:t>
            </a:r>
          </a:p>
        </p:txBody>
      </p:sp>
      <p:grpSp>
        <p:nvGrpSpPr>
          <p:cNvPr id="73" name="Gruppo 72">
            <a:extLst>
              <a:ext uri="{FF2B5EF4-FFF2-40B4-BE49-F238E27FC236}">
                <a16:creationId xmlns:a16="http://schemas.microsoft.com/office/drawing/2014/main" id="{B99AF0F7-281D-9FA2-0BE2-4D8CF528A462}"/>
              </a:ext>
            </a:extLst>
          </p:cNvPr>
          <p:cNvGrpSpPr/>
          <p:nvPr/>
        </p:nvGrpSpPr>
        <p:grpSpPr>
          <a:xfrm>
            <a:off x="772584" y="1435705"/>
            <a:ext cx="10646833" cy="3986591"/>
            <a:chOff x="659066" y="1978136"/>
            <a:chExt cx="10646833" cy="3986591"/>
          </a:xfrm>
        </p:grpSpPr>
        <p:grpSp>
          <p:nvGrpSpPr>
            <p:cNvPr id="72" name="Gruppo 71">
              <a:extLst>
                <a:ext uri="{FF2B5EF4-FFF2-40B4-BE49-F238E27FC236}">
                  <a16:creationId xmlns:a16="http://schemas.microsoft.com/office/drawing/2014/main" id="{C2F86DFE-32C6-1D6C-5AF6-43143F1312BF}"/>
                </a:ext>
              </a:extLst>
            </p:cNvPr>
            <p:cNvGrpSpPr/>
            <p:nvPr/>
          </p:nvGrpSpPr>
          <p:grpSpPr>
            <a:xfrm>
              <a:off x="659067" y="1978136"/>
              <a:ext cx="10486654" cy="2373282"/>
              <a:chOff x="659067" y="1978136"/>
              <a:chExt cx="10486654" cy="2373282"/>
            </a:xfrm>
          </p:grpSpPr>
          <p:sp>
            <p:nvSpPr>
              <p:cNvPr id="2" name="TextBox 13">
                <a:extLst>
                  <a:ext uri="{FF2B5EF4-FFF2-40B4-BE49-F238E27FC236}">
                    <a16:creationId xmlns:a16="http://schemas.microsoft.com/office/drawing/2014/main" id="{5058C7FB-7600-A73A-A774-1565184DA79E}"/>
                  </a:ext>
                </a:extLst>
              </p:cNvPr>
              <p:cNvSpPr txBox="1"/>
              <p:nvPr/>
            </p:nvSpPr>
            <p:spPr>
              <a:xfrm>
                <a:off x="659067" y="3244333"/>
                <a:ext cx="2556000" cy="307777"/>
              </a:xfrm>
              <a:prstGeom prst="rect">
                <a:avLst/>
              </a:prstGeom>
              <a:noFill/>
            </p:spPr>
            <p:txBody>
              <a:bodyPr wrap="square" lIns="36000" rIns="36000" rtlCol="0">
                <a:spAutoFit/>
              </a:bodyPr>
              <a:lstStyle/>
              <a:p>
                <a:pPr marL="0" lvl="1" algn="ctr" defTabSz="908294">
                  <a:defRPr/>
                </a:pPr>
                <a:r>
                  <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rPr>
                  <a:t>STANDARDIZZAZIONE</a:t>
                </a:r>
              </a:p>
            </p:txBody>
          </p:sp>
          <p:sp>
            <p:nvSpPr>
              <p:cNvPr id="3" name="Line">
                <a:extLst>
                  <a:ext uri="{FF2B5EF4-FFF2-40B4-BE49-F238E27FC236}">
                    <a16:creationId xmlns:a16="http://schemas.microsoft.com/office/drawing/2014/main" id="{CCF26D18-B1F8-1DF3-10C3-B3739409DCB0}"/>
                  </a:ext>
                </a:extLst>
              </p:cNvPr>
              <p:cNvSpPr/>
              <p:nvPr/>
            </p:nvSpPr>
            <p:spPr>
              <a:xfrm flipH="1">
                <a:off x="3258843" y="2185494"/>
                <a:ext cx="0" cy="2117679"/>
              </a:xfrm>
              <a:prstGeom prst="line">
                <a:avLst/>
              </a:prstGeom>
              <a:ln w="9525">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strike="noStrike" kern="0" cap="none" spc="0" normalizeH="0" baseline="0" noProof="0">
                    <a:ln>
                      <a:noFill/>
                    </a:ln>
                    <a:solidFill>
                      <a:srgbClr val="FFFFFF"/>
                    </a:solidFill>
                    <a:effectLst/>
                    <a:uLnTx/>
                    <a:uFillTx/>
                    <a:latin typeface="+mj-lt"/>
                    <a:ea typeface="+mn-ea"/>
                    <a:cs typeface="+mn-cs"/>
                    <a:sym typeface="Helvetica Neue Medium"/>
                  </a:rPr>
                  <a:t>v</a:t>
                </a:r>
                <a:endParaRPr kumimoji="0" b="0" i="0" strike="noStrike" kern="0" cap="none" spc="0" normalizeH="0" baseline="0" noProof="0">
                  <a:ln>
                    <a:noFill/>
                  </a:ln>
                  <a:solidFill>
                    <a:srgbClr val="FFFFFF"/>
                  </a:solidFill>
                  <a:effectLst/>
                  <a:uLnTx/>
                  <a:uFillTx/>
                  <a:latin typeface="+mj-lt"/>
                  <a:ea typeface="+mn-ea"/>
                  <a:cs typeface="+mn-cs"/>
                  <a:sym typeface="Helvetica Neue Medium"/>
                </a:endParaRPr>
              </a:p>
            </p:txBody>
          </p:sp>
          <p:sp>
            <p:nvSpPr>
              <p:cNvPr id="6" name="TextBox 13">
                <a:extLst>
                  <a:ext uri="{FF2B5EF4-FFF2-40B4-BE49-F238E27FC236}">
                    <a16:creationId xmlns:a16="http://schemas.microsoft.com/office/drawing/2014/main" id="{B76B19ED-B2A3-CB47-1E0E-A808837C90E0}"/>
                  </a:ext>
                </a:extLst>
              </p:cNvPr>
              <p:cNvSpPr txBox="1"/>
              <p:nvPr/>
            </p:nvSpPr>
            <p:spPr>
              <a:xfrm>
                <a:off x="3302619" y="3244333"/>
                <a:ext cx="2556000" cy="307777"/>
              </a:xfrm>
              <a:prstGeom prst="rect">
                <a:avLst/>
              </a:prstGeom>
              <a:noFill/>
            </p:spPr>
            <p:txBody>
              <a:bodyPr wrap="square" rtlCol="0">
                <a:spAutoFit/>
              </a:bodyPr>
              <a:lstStyle/>
              <a:p>
                <a:pPr marL="0" marR="0" lvl="0" indent="0" algn="ctr" defTabSz="908294" rtl="0" eaLnBrk="1" fontAlgn="auto" latinLnBrk="0" hangingPunct="1">
                  <a:lnSpc>
                    <a:spcPct val="100000"/>
                  </a:lnSpc>
                  <a:spcBef>
                    <a:spcPts val="0"/>
                  </a:spcBef>
                  <a:spcAft>
                    <a:spcPts val="0"/>
                  </a:spcAft>
                  <a:buClrTx/>
                  <a:buSzTx/>
                  <a:buFontTx/>
                  <a:buNone/>
                  <a:tabLst/>
                  <a:defRPr/>
                </a:pPr>
                <a:r>
                  <a:rPr lang="it-IT" sz="1400" b="1" dirty="0">
                    <a:gradFill>
                      <a:gsLst>
                        <a:gs pos="0">
                          <a:srgbClr val="56B093"/>
                        </a:gs>
                        <a:gs pos="100000">
                          <a:srgbClr val="307FE2"/>
                        </a:gs>
                      </a:gsLst>
                      <a:lin ang="17400000" scaled="0"/>
                    </a:gradFill>
                    <a:latin typeface="+mj-lt"/>
                    <a:cs typeface="Poppins SemiBold" panose="00000700000000000000" pitchFamily="2" charset="0"/>
                  </a:rPr>
                  <a:t>RIUSO</a:t>
                </a:r>
                <a:endPar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8" name="TextBox 13">
                <a:extLst>
                  <a:ext uri="{FF2B5EF4-FFF2-40B4-BE49-F238E27FC236}">
                    <a16:creationId xmlns:a16="http://schemas.microsoft.com/office/drawing/2014/main" id="{3BD5E78B-8563-D385-8564-3BC2E8531193}"/>
                  </a:ext>
                </a:extLst>
              </p:cNvPr>
              <p:cNvSpPr txBox="1"/>
              <p:nvPr/>
            </p:nvSpPr>
            <p:spPr>
              <a:xfrm>
                <a:off x="5946171" y="3244333"/>
                <a:ext cx="2556000" cy="307777"/>
              </a:xfrm>
              <a:prstGeom prst="rect">
                <a:avLst/>
              </a:prstGeom>
              <a:noFill/>
            </p:spPr>
            <p:txBody>
              <a:bodyPr wrap="square" rtlCol="0">
                <a:spAutoFit/>
              </a:bodyPr>
              <a:lstStyle/>
              <a:p>
                <a:pPr marL="0" marR="0" lvl="0" indent="0" algn="ctr" defTabSz="908294" rtl="0" eaLnBrk="1" fontAlgn="auto" latinLnBrk="0" hangingPunct="1">
                  <a:lnSpc>
                    <a:spcPct val="100000"/>
                  </a:lnSpc>
                  <a:spcBef>
                    <a:spcPts val="0"/>
                  </a:spcBef>
                  <a:spcAft>
                    <a:spcPts val="0"/>
                  </a:spcAft>
                  <a:buClrTx/>
                  <a:buSzTx/>
                  <a:buFontTx/>
                  <a:buNone/>
                  <a:tabLst/>
                  <a:defRPr/>
                </a:pPr>
                <a:r>
                  <a:rPr lang="it-IT" sz="1400" b="1" dirty="0">
                    <a:gradFill>
                      <a:gsLst>
                        <a:gs pos="0">
                          <a:srgbClr val="56B093"/>
                        </a:gs>
                        <a:gs pos="100000">
                          <a:srgbClr val="307FE2"/>
                        </a:gs>
                      </a:gsLst>
                      <a:lin ang="17400000" scaled="0"/>
                    </a:gradFill>
                    <a:latin typeface="+mj-lt"/>
                    <a:cs typeface="Poppins SemiBold" panose="00000700000000000000" pitchFamily="2" charset="0"/>
                  </a:rPr>
                  <a:t>QUALITÀ E GOVERNANCE</a:t>
                </a:r>
                <a:endPar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9" name="TextBox 13">
                <a:extLst>
                  <a:ext uri="{FF2B5EF4-FFF2-40B4-BE49-F238E27FC236}">
                    <a16:creationId xmlns:a16="http://schemas.microsoft.com/office/drawing/2014/main" id="{FE236A60-E040-282D-A3D4-7713F832906B}"/>
                  </a:ext>
                </a:extLst>
              </p:cNvPr>
              <p:cNvSpPr txBox="1"/>
              <p:nvPr/>
            </p:nvSpPr>
            <p:spPr>
              <a:xfrm>
                <a:off x="8589721" y="3244333"/>
                <a:ext cx="2556000" cy="307777"/>
              </a:xfrm>
              <a:prstGeom prst="rect">
                <a:avLst/>
              </a:prstGeom>
              <a:noFill/>
            </p:spPr>
            <p:txBody>
              <a:bodyPr wrap="square" rtlCol="0">
                <a:spAutoFit/>
              </a:bodyPr>
              <a:lstStyle/>
              <a:p>
                <a:pPr marL="0" marR="0" lvl="0" indent="0" algn="ctr" defTabSz="908294" rtl="0" eaLnBrk="1" fontAlgn="auto" latinLnBrk="0" hangingPunct="1">
                  <a:lnSpc>
                    <a:spcPct val="100000"/>
                  </a:lnSpc>
                  <a:spcBef>
                    <a:spcPts val="0"/>
                  </a:spcBef>
                  <a:spcAft>
                    <a:spcPts val="0"/>
                  </a:spcAft>
                  <a:buClrTx/>
                  <a:buSzTx/>
                  <a:buFontTx/>
                  <a:buNone/>
                  <a:tabLst/>
                  <a:defRPr/>
                </a:pPr>
                <a:r>
                  <a:rPr lang="it-IT" sz="1400" b="1" dirty="0">
                    <a:gradFill>
                      <a:gsLst>
                        <a:gs pos="0">
                          <a:srgbClr val="56B093"/>
                        </a:gs>
                        <a:gs pos="100000">
                          <a:srgbClr val="307FE2"/>
                        </a:gs>
                      </a:gsLst>
                      <a:lin ang="17400000" scaled="0"/>
                    </a:gradFill>
                    <a:latin typeface="+mj-lt"/>
                    <a:cs typeface="Poppins SemiBold" panose="00000700000000000000" pitchFamily="2" charset="0"/>
                  </a:rPr>
                  <a:t>VALORE</a:t>
                </a:r>
                <a:endPar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12" name="Line">
                <a:extLst>
                  <a:ext uri="{FF2B5EF4-FFF2-40B4-BE49-F238E27FC236}">
                    <a16:creationId xmlns:a16="http://schemas.microsoft.com/office/drawing/2014/main" id="{323A5BD4-2083-8DAB-0DCD-3306806E8939}"/>
                  </a:ext>
                </a:extLst>
              </p:cNvPr>
              <p:cNvSpPr/>
              <p:nvPr/>
            </p:nvSpPr>
            <p:spPr>
              <a:xfrm flipH="1">
                <a:off x="5902395" y="2185494"/>
                <a:ext cx="0" cy="2117679"/>
              </a:xfrm>
              <a:prstGeom prst="line">
                <a:avLst/>
              </a:prstGeom>
              <a:ln w="9525">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strike="noStrike" kern="0" cap="none" spc="0" normalizeH="0" baseline="0" noProof="0">
                    <a:ln>
                      <a:noFill/>
                    </a:ln>
                    <a:solidFill>
                      <a:srgbClr val="FFFFFF"/>
                    </a:solidFill>
                    <a:effectLst/>
                    <a:uLnTx/>
                    <a:uFillTx/>
                    <a:latin typeface="+mj-lt"/>
                    <a:ea typeface="+mn-ea"/>
                    <a:cs typeface="+mn-cs"/>
                    <a:sym typeface="Helvetica Neue Medium"/>
                  </a:rPr>
                  <a:t>v</a:t>
                </a:r>
                <a:endParaRPr kumimoji="0" b="0" i="0" strike="noStrike" kern="0" cap="none" spc="0" normalizeH="0" baseline="0" noProof="0">
                  <a:ln>
                    <a:noFill/>
                  </a:ln>
                  <a:solidFill>
                    <a:srgbClr val="FFFFFF"/>
                  </a:solidFill>
                  <a:effectLst/>
                  <a:uLnTx/>
                  <a:uFillTx/>
                  <a:latin typeface="+mj-lt"/>
                  <a:ea typeface="+mn-ea"/>
                  <a:cs typeface="+mn-cs"/>
                  <a:sym typeface="Helvetica Neue Medium"/>
                </a:endParaRPr>
              </a:p>
            </p:txBody>
          </p:sp>
          <p:sp>
            <p:nvSpPr>
              <p:cNvPr id="14" name="Line">
                <a:extLst>
                  <a:ext uri="{FF2B5EF4-FFF2-40B4-BE49-F238E27FC236}">
                    <a16:creationId xmlns:a16="http://schemas.microsoft.com/office/drawing/2014/main" id="{8EA7DC94-C5DC-DE36-6E36-97ECCAA651F3}"/>
                  </a:ext>
                </a:extLst>
              </p:cNvPr>
              <p:cNvSpPr/>
              <p:nvPr/>
            </p:nvSpPr>
            <p:spPr>
              <a:xfrm flipH="1">
                <a:off x="8545947" y="2185494"/>
                <a:ext cx="0" cy="2117679"/>
              </a:xfrm>
              <a:prstGeom prst="line">
                <a:avLst/>
              </a:prstGeom>
              <a:ln w="9525">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strike="noStrike" kern="0" cap="none" spc="0" normalizeH="0" baseline="0" noProof="0">
                    <a:ln>
                      <a:noFill/>
                    </a:ln>
                    <a:solidFill>
                      <a:srgbClr val="FFFFFF"/>
                    </a:solidFill>
                    <a:effectLst/>
                    <a:uLnTx/>
                    <a:uFillTx/>
                    <a:latin typeface="+mj-lt"/>
                    <a:ea typeface="+mn-ea"/>
                    <a:cs typeface="+mn-cs"/>
                    <a:sym typeface="Helvetica Neue Medium"/>
                  </a:rPr>
                  <a:t>v</a:t>
                </a:r>
                <a:endParaRPr kumimoji="0" b="0" i="0" strike="noStrike" kern="0" cap="none" spc="0" normalizeH="0" baseline="0" noProof="0">
                  <a:ln>
                    <a:noFill/>
                  </a:ln>
                  <a:solidFill>
                    <a:srgbClr val="FFFFFF"/>
                  </a:solidFill>
                  <a:effectLst/>
                  <a:uLnTx/>
                  <a:uFillTx/>
                  <a:latin typeface="+mj-lt"/>
                  <a:ea typeface="+mn-ea"/>
                  <a:cs typeface="+mn-cs"/>
                  <a:sym typeface="Helvetica Neue Medium"/>
                </a:endParaRPr>
              </a:p>
            </p:txBody>
          </p:sp>
          <p:sp>
            <p:nvSpPr>
              <p:cNvPr id="15" name="Tittle Function 01…">
                <a:extLst>
                  <a:ext uri="{FF2B5EF4-FFF2-40B4-BE49-F238E27FC236}">
                    <a16:creationId xmlns:a16="http://schemas.microsoft.com/office/drawing/2014/main" id="{6D3A4612-4C81-181A-2B7B-CF8FED39B1FC}"/>
                  </a:ext>
                </a:extLst>
              </p:cNvPr>
              <p:cNvSpPr txBox="1"/>
              <p:nvPr/>
            </p:nvSpPr>
            <p:spPr>
              <a:xfrm>
                <a:off x="659069" y="3751254"/>
                <a:ext cx="2555997" cy="60016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Oggi ogni progetto reinventa regole, controlli e processi.</a:t>
                </a:r>
                <a:endParaRPr lang="it-IT" sz="1300" dirty="0">
                  <a:latin typeface="+mj-lt"/>
                </a:endParaRPr>
              </a:p>
            </p:txBody>
          </p:sp>
          <p:sp>
            <p:nvSpPr>
              <p:cNvPr id="18" name="Tittle Function 01…">
                <a:extLst>
                  <a:ext uri="{FF2B5EF4-FFF2-40B4-BE49-F238E27FC236}">
                    <a16:creationId xmlns:a16="http://schemas.microsoft.com/office/drawing/2014/main" id="{275D8235-D460-14AA-082F-61F34E8072DE}"/>
                  </a:ext>
                </a:extLst>
              </p:cNvPr>
              <p:cNvSpPr txBox="1"/>
              <p:nvPr/>
            </p:nvSpPr>
            <p:spPr>
              <a:xfrm>
                <a:off x="3302621" y="3749846"/>
                <a:ext cx="2555997" cy="60016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Riutilizzare componenti già validati accelerai nuovi progetti.</a:t>
                </a:r>
                <a:endParaRPr lang="it-IT" sz="1300" dirty="0">
                  <a:latin typeface="+mj-lt"/>
                </a:endParaRPr>
              </a:p>
            </p:txBody>
          </p:sp>
          <p:sp>
            <p:nvSpPr>
              <p:cNvPr id="19" name="Tittle Function 01…">
                <a:extLst>
                  <a:ext uri="{FF2B5EF4-FFF2-40B4-BE49-F238E27FC236}">
                    <a16:creationId xmlns:a16="http://schemas.microsoft.com/office/drawing/2014/main" id="{E3B02074-0689-AAC3-D847-7D6D2BC5EDA3}"/>
                  </a:ext>
                </a:extLst>
              </p:cNvPr>
              <p:cNvSpPr txBox="1"/>
              <p:nvPr/>
            </p:nvSpPr>
            <p:spPr>
              <a:xfrm>
                <a:off x="5946173" y="3749846"/>
                <a:ext cx="2555997" cy="60016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Controlli e governance coerenti garantiscono qualità e compliance.</a:t>
                </a:r>
                <a:endParaRPr lang="it-IT" sz="1300" dirty="0">
                  <a:latin typeface="+mj-lt"/>
                </a:endParaRPr>
              </a:p>
            </p:txBody>
          </p:sp>
          <p:sp>
            <p:nvSpPr>
              <p:cNvPr id="20" name="Tittle Function 01…">
                <a:extLst>
                  <a:ext uri="{FF2B5EF4-FFF2-40B4-BE49-F238E27FC236}">
                    <a16:creationId xmlns:a16="http://schemas.microsoft.com/office/drawing/2014/main" id="{D0B33904-B86A-50E3-324D-CE9AC98828A4}"/>
                  </a:ext>
                </a:extLst>
              </p:cNvPr>
              <p:cNvSpPr txBox="1"/>
              <p:nvPr/>
            </p:nvSpPr>
            <p:spPr>
              <a:xfrm>
                <a:off x="8589723" y="3749846"/>
                <a:ext cx="2555997" cy="60016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Meno </a:t>
                </a:r>
                <a:r>
                  <a:rPr lang="en-US" sz="1300" noProof="0" dirty="0">
                    <a:solidFill>
                      <a:schemeClr val="tx1">
                        <a:lumMod val="85000"/>
                        <a:lumOff val="15000"/>
                      </a:schemeClr>
                    </a:solidFill>
                    <a:latin typeface="+mj-lt"/>
                  </a:rPr>
                  <a:t>effort</a:t>
                </a:r>
                <a:r>
                  <a:rPr lang="it-IT" sz="1300" dirty="0">
                    <a:solidFill>
                      <a:schemeClr val="tx1">
                        <a:lumMod val="85000"/>
                        <a:lumOff val="15000"/>
                      </a:schemeClr>
                    </a:solidFill>
                    <a:latin typeface="+mj-lt"/>
                  </a:rPr>
                  <a:t> operativo, più tempo per generare valore dai dati.</a:t>
                </a:r>
                <a:endParaRPr lang="it-IT" sz="1300" dirty="0">
                  <a:latin typeface="+mj-lt"/>
                </a:endParaRPr>
              </a:p>
            </p:txBody>
          </p:sp>
          <p:pic>
            <p:nvPicPr>
              <p:cNvPr id="21" name="Elemento grafico 20">
                <a:extLst>
                  <a:ext uri="{FF2B5EF4-FFF2-40B4-BE49-F238E27FC236}">
                    <a16:creationId xmlns:a16="http://schemas.microsoft.com/office/drawing/2014/main" id="{9013B518-5A6A-A67F-617B-BF4318F62162}"/>
                  </a:ext>
                </a:extLst>
              </p:cNvPr>
              <p:cNvPicPr/>
              <p:nvPr/>
            </p:nvPicPr>
            <p:blipFill>
              <a:blip>
                <a:extLst>
                  <a:ext uri="{96DAC541-7B7A-43D3-8B79-37D633B846F1}">
                    <asvg:svgBlip xmlns:asvg="http://schemas.microsoft.com/office/drawing/2016/SVG/main" r:embed="rId4"/>
                  </a:ext>
                </a:extLst>
              </a:blip>
              <a:stretch>
                <a:fillRect/>
              </a:stretch>
            </p:blipFill>
            <p:spPr>
              <a:xfrm>
                <a:off x="1487067" y="1978136"/>
                <a:ext cx="900000" cy="900000"/>
              </a:xfrm>
              <a:prstGeom prst="rect">
                <a:avLst/>
              </a:prstGeom>
            </p:spPr>
          </p:pic>
          <p:pic>
            <p:nvPicPr>
              <p:cNvPr id="26" name="Elemento grafico 25">
                <a:extLst>
                  <a:ext uri="{FF2B5EF4-FFF2-40B4-BE49-F238E27FC236}">
                    <a16:creationId xmlns:a16="http://schemas.microsoft.com/office/drawing/2014/main" id="{58C6E936-F723-8418-4F00-C8D2CE0799E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30619" y="1978136"/>
                <a:ext cx="900000" cy="900000"/>
              </a:xfrm>
              <a:prstGeom prst="rect">
                <a:avLst/>
              </a:prstGeom>
            </p:spPr>
          </p:pic>
          <p:pic>
            <p:nvPicPr>
              <p:cNvPr id="27" name="Elemento grafico 26">
                <a:extLst>
                  <a:ext uri="{FF2B5EF4-FFF2-40B4-BE49-F238E27FC236}">
                    <a16:creationId xmlns:a16="http://schemas.microsoft.com/office/drawing/2014/main" id="{34152623-5BEE-54F1-7691-45B30619FB10}"/>
                  </a:ext>
                </a:extLst>
              </p:cNvPr>
              <p:cNvPicPr/>
              <p:nvPr/>
            </p:nvPicPr>
            <p:blipFill>
              <a:blip>
                <a:extLst>
                  <a:ext uri="{96DAC541-7B7A-43D3-8B79-37D633B846F1}">
                    <asvg:svgBlip xmlns:asvg="http://schemas.microsoft.com/office/drawing/2016/SVG/main" r:embed="rId6"/>
                  </a:ext>
                </a:extLst>
              </a:blip>
              <a:stretch>
                <a:fillRect/>
              </a:stretch>
            </p:blipFill>
            <p:spPr>
              <a:xfrm>
                <a:off x="6774171" y="1978136"/>
                <a:ext cx="900000" cy="900000"/>
              </a:xfrm>
              <a:prstGeom prst="rect">
                <a:avLst/>
              </a:prstGeom>
            </p:spPr>
          </p:pic>
          <p:pic>
            <p:nvPicPr>
              <p:cNvPr id="28" name="Elemento grafico 27">
                <a:extLst>
                  <a:ext uri="{FF2B5EF4-FFF2-40B4-BE49-F238E27FC236}">
                    <a16:creationId xmlns:a16="http://schemas.microsoft.com/office/drawing/2014/main" id="{9EEDFFC7-5C12-D778-0E50-0477696C0EB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417721" y="1978136"/>
                <a:ext cx="900000" cy="900000"/>
              </a:xfrm>
              <a:prstGeom prst="rect">
                <a:avLst/>
              </a:prstGeom>
            </p:spPr>
          </p:pic>
        </p:grpSp>
        <p:sp>
          <p:nvSpPr>
            <p:cNvPr id="31" name="Rettangolo con angoli arrotondati 30">
              <a:extLst>
                <a:ext uri="{FF2B5EF4-FFF2-40B4-BE49-F238E27FC236}">
                  <a16:creationId xmlns:a16="http://schemas.microsoft.com/office/drawing/2014/main" id="{8B72DAB0-EAAB-1BE3-DF76-F9515FCDC206}"/>
                </a:ext>
              </a:extLst>
            </p:cNvPr>
            <p:cNvSpPr/>
            <p:nvPr/>
          </p:nvSpPr>
          <p:spPr>
            <a:xfrm>
              <a:off x="659066" y="5017417"/>
              <a:ext cx="10646833" cy="947310"/>
            </a:xfrm>
            <a:prstGeom prst="roundRect">
              <a:avLst>
                <a:gd name="adj" fmla="val 15054"/>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Elemento grafico 28">
              <a:extLst>
                <a:ext uri="{FF2B5EF4-FFF2-40B4-BE49-F238E27FC236}">
                  <a16:creationId xmlns:a16="http://schemas.microsoft.com/office/drawing/2014/main" id="{4DF4C51D-4AC4-DF23-0674-3B8CDAE4F7B7}"/>
                </a:ext>
              </a:extLst>
            </p:cNvPr>
            <p:cNvPicPr/>
            <p:nvPr/>
          </p:nvPicPr>
          <p:blipFill>
            <a:blip>
              <a:extLst>
                <a:ext uri="{96DAC541-7B7A-43D3-8B79-37D633B846F1}">
                  <asvg:svgBlip xmlns:asvg="http://schemas.microsoft.com/office/drawing/2016/SVG/main" r:embed="rId8"/>
                </a:ext>
              </a:extLst>
            </a:blip>
            <a:stretch>
              <a:fillRect/>
            </a:stretch>
          </p:blipFill>
          <p:spPr>
            <a:xfrm>
              <a:off x="980948" y="5266753"/>
              <a:ext cx="514090" cy="514090"/>
            </a:xfrm>
            <a:prstGeom prst="rect">
              <a:avLst/>
            </a:prstGeom>
          </p:spPr>
        </p:pic>
        <p:cxnSp>
          <p:nvCxnSpPr>
            <p:cNvPr id="67" name="Connettore 2 66">
              <a:extLst>
                <a:ext uri="{FF2B5EF4-FFF2-40B4-BE49-F238E27FC236}">
                  <a16:creationId xmlns:a16="http://schemas.microsoft.com/office/drawing/2014/main" id="{32A2DCB4-0B4E-4531-0E79-2F7101E54828}"/>
                </a:ext>
              </a:extLst>
            </p:cNvPr>
            <p:cNvCxnSpPr>
              <a:cxnSpLocks/>
            </p:cNvCxnSpPr>
            <p:nvPr/>
          </p:nvCxnSpPr>
          <p:spPr>
            <a:xfrm flipV="1">
              <a:off x="1235854" y="5333502"/>
              <a:ext cx="259184" cy="186672"/>
            </a:xfrm>
            <a:prstGeom prst="straightConnector1">
              <a:avLst/>
            </a:prstGeom>
            <a:noFill/>
            <a:ln w="25400" cap="rnd">
              <a:solidFill>
                <a:srgbClr val="42B4A3"/>
              </a:solidFill>
              <a:prstDash val="solid"/>
              <a:round/>
            </a:ln>
          </p:spPr>
          <p:style>
            <a:lnRef idx="1">
              <a:schemeClr val="accent1"/>
            </a:lnRef>
            <a:fillRef idx="0">
              <a:schemeClr val="accent1"/>
            </a:fillRef>
            <a:effectRef idx="0">
              <a:schemeClr val="accent1"/>
            </a:effectRef>
            <a:fontRef idx="minor">
              <a:schemeClr val="tx1"/>
            </a:fontRef>
          </p:style>
        </p:cxnSp>
        <p:sp>
          <p:nvSpPr>
            <p:cNvPr id="13" name="Tittle Function 01…">
              <a:extLst>
                <a:ext uri="{FF2B5EF4-FFF2-40B4-BE49-F238E27FC236}">
                  <a16:creationId xmlns:a16="http://schemas.microsoft.com/office/drawing/2014/main" id="{DBD3586A-989F-1EBA-CE9A-951D69E6B2CE}"/>
                </a:ext>
              </a:extLst>
            </p:cNvPr>
            <p:cNvSpPr txBox="1"/>
            <p:nvPr/>
          </p:nvSpPr>
          <p:spPr>
            <a:xfrm>
              <a:off x="1944914" y="5241138"/>
              <a:ext cx="9089082" cy="5511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200"/>
                </a:lnSpc>
              </a:pP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Obiettivo</a:t>
              </a:r>
              <a:r>
                <a:rPr lang="it-IT" sz="1600" dirty="0">
                  <a:solidFill>
                    <a:schemeClr val="tx1">
                      <a:lumMod val="85000"/>
                      <a:lumOff val="15000"/>
                    </a:schemeClr>
                  </a:solidFill>
                  <a:latin typeface="+mj-lt"/>
                </a:rPr>
                <a:t>: standardizzare il modo in cui Novigo realizza soluzioni data intensive, per aumentare velocità, qualità e riusabilità.</a:t>
              </a:r>
              <a:endParaRPr lang="it-IT" sz="1600" dirty="0">
                <a:latin typeface="+mj-lt"/>
              </a:endParaRPr>
            </a:p>
          </p:txBody>
        </p:sp>
      </p:grpSp>
      <p:grpSp>
        <p:nvGrpSpPr>
          <p:cNvPr id="74" name="Gruppo 73">
            <a:extLst>
              <a:ext uri="{FF2B5EF4-FFF2-40B4-BE49-F238E27FC236}">
                <a16:creationId xmlns:a16="http://schemas.microsoft.com/office/drawing/2014/main" id="{73064B11-DE85-4213-3188-F11995FBFE01}"/>
              </a:ext>
            </a:extLst>
          </p:cNvPr>
          <p:cNvGrpSpPr/>
          <p:nvPr/>
        </p:nvGrpSpPr>
        <p:grpSpPr>
          <a:xfrm>
            <a:off x="8967395" y="370238"/>
            <a:ext cx="2750029" cy="406706"/>
            <a:chOff x="6734403" y="623243"/>
            <a:chExt cx="2750029" cy="406706"/>
          </a:xfrm>
        </p:grpSpPr>
        <p:sp>
          <p:nvSpPr>
            <p:cNvPr id="75" name="Line">
              <a:extLst>
                <a:ext uri="{FF2B5EF4-FFF2-40B4-BE49-F238E27FC236}">
                  <a16:creationId xmlns:a16="http://schemas.microsoft.com/office/drawing/2014/main" id="{E72DB128-E20F-7C8C-6EC9-93EC23DD6B3C}"/>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76" name="Gruppo 75">
              <a:extLst>
                <a:ext uri="{FF2B5EF4-FFF2-40B4-BE49-F238E27FC236}">
                  <a16:creationId xmlns:a16="http://schemas.microsoft.com/office/drawing/2014/main" id="{6508EE9F-E698-D1FE-962F-E6F89879A577}"/>
                </a:ext>
              </a:extLst>
            </p:cNvPr>
            <p:cNvGrpSpPr/>
            <p:nvPr/>
          </p:nvGrpSpPr>
          <p:grpSpPr>
            <a:xfrm>
              <a:off x="6734403" y="623243"/>
              <a:ext cx="2750029" cy="406706"/>
              <a:chOff x="6734403" y="623243"/>
              <a:chExt cx="2750029" cy="406706"/>
            </a:xfrm>
          </p:grpSpPr>
          <p:grpSp>
            <p:nvGrpSpPr>
              <p:cNvPr id="77" name="Gruppo 76">
                <a:extLst>
                  <a:ext uri="{FF2B5EF4-FFF2-40B4-BE49-F238E27FC236}">
                    <a16:creationId xmlns:a16="http://schemas.microsoft.com/office/drawing/2014/main" id="{E285E2C9-9A53-797D-CE65-0EF15798BC47}"/>
                  </a:ext>
                </a:extLst>
              </p:cNvPr>
              <p:cNvGrpSpPr/>
              <p:nvPr/>
            </p:nvGrpSpPr>
            <p:grpSpPr>
              <a:xfrm>
                <a:off x="6734403" y="623243"/>
                <a:ext cx="576000" cy="406706"/>
                <a:chOff x="6734403" y="623243"/>
                <a:chExt cx="576000" cy="406706"/>
              </a:xfrm>
            </p:grpSpPr>
            <p:pic>
              <p:nvPicPr>
                <p:cNvPr id="90" name="Elemento grafico 89">
                  <a:extLst>
                    <a:ext uri="{FF2B5EF4-FFF2-40B4-BE49-F238E27FC236}">
                      <a16:creationId xmlns:a16="http://schemas.microsoft.com/office/drawing/2014/main" id="{D9C3A29D-AEBE-0673-28F6-5D237F305C1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08103" y="801349"/>
                  <a:ext cx="228600" cy="228600"/>
                </a:xfrm>
                <a:prstGeom prst="rect">
                  <a:avLst/>
                </a:prstGeom>
              </p:spPr>
            </p:pic>
            <p:sp>
              <p:nvSpPr>
                <p:cNvPr id="91" name="CasellaDiTesto 90">
                  <a:extLst>
                    <a:ext uri="{FF2B5EF4-FFF2-40B4-BE49-F238E27FC236}">
                      <a16:creationId xmlns:a16="http://schemas.microsoft.com/office/drawing/2014/main" id="{5EC73A6D-06D3-46FC-2BF8-3370BC34214D}"/>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78" name="Gruppo 77">
                <a:extLst>
                  <a:ext uri="{FF2B5EF4-FFF2-40B4-BE49-F238E27FC236}">
                    <a16:creationId xmlns:a16="http://schemas.microsoft.com/office/drawing/2014/main" id="{6CBA9122-7E09-2627-1325-6EB728128526}"/>
                  </a:ext>
                </a:extLst>
              </p:cNvPr>
              <p:cNvGrpSpPr/>
              <p:nvPr/>
            </p:nvGrpSpPr>
            <p:grpSpPr>
              <a:xfrm>
                <a:off x="7277910" y="623243"/>
                <a:ext cx="576000" cy="406706"/>
                <a:chOff x="7291884" y="623243"/>
                <a:chExt cx="576000" cy="406706"/>
              </a:xfrm>
            </p:grpSpPr>
            <p:pic>
              <p:nvPicPr>
                <p:cNvPr id="88" name="Elemento grafico 87">
                  <a:extLst>
                    <a:ext uri="{FF2B5EF4-FFF2-40B4-BE49-F238E27FC236}">
                      <a16:creationId xmlns:a16="http://schemas.microsoft.com/office/drawing/2014/main" id="{C8F329DE-452D-071C-8D1E-5CE45ABBC3B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465584" y="801349"/>
                  <a:ext cx="228600" cy="228600"/>
                </a:xfrm>
                <a:prstGeom prst="rect">
                  <a:avLst/>
                </a:prstGeom>
              </p:spPr>
            </p:pic>
            <p:sp>
              <p:nvSpPr>
                <p:cNvPr id="89" name="CasellaDiTesto 88">
                  <a:extLst>
                    <a:ext uri="{FF2B5EF4-FFF2-40B4-BE49-F238E27FC236}">
                      <a16:creationId xmlns:a16="http://schemas.microsoft.com/office/drawing/2014/main" id="{43A4F825-083C-60DF-3FA9-834BAC5CC684}"/>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VALORE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79" name="Gruppo 78">
                <a:extLst>
                  <a:ext uri="{FF2B5EF4-FFF2-40B4-BE49-F238E27FC236}">
                    <a16:creationId xmlns:a16="http://schemas.microsoft.com/office/drawing/2014/main" id="{404E65BC-4CA9-239E-8786-7E4320AABC6C}"/>
                  </a:ext>
                </a:extLst>
              </p:cNvPr>
              <p:cNvGrpSpPr/>
              <p:nvPr/>
            </p:nvGrpSpPr>
            <p:grpSpPr>
              <a:xfrm>
                <a:off x="7821417" y="623243"/>
                <a:ext cx="576000" cy="406706"/>
                <a:chOff x="7855777" y="623243"/>
                <a:chExt cx="576000" cy="406706"/>
              </a:xfrm>
            </p:grpSpPr>
            <p:pic>
              <p:nvPicPr>
                <p:cNvPr id="86" name="Elemento grafico 85">
                  <a:extLst>
                    <a:ext uri="{FF2B5EF4-FFF2-40B4-BE49-F238E27FC236}">
                      <a16:creationId xmlns:a16="http://schemas.microsoft.com/office/drawing/2014/main" id="{8BCFCE4B-C588-EFAC-8B14-DA35292F580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029477" y="801349"/>
                  <a:ext cx="228600" cy="228600"/>
                </a:xfrm>
                <a:prstGeom prst="rect">
                  <a:avLst/>
                </a:prstGeom>
              </p:spPr>
            </p:pic>
            <p:sp>
              <p:nvSpPr>
                <p:cNvPr id="87" name="CasellaDiTesto 86">
                  <a:extLst>
                    <a:ext uri="{FF2B5EF4-FFF2-40B4-BE49-F238E27FC236}">
                      <a16:creationId xmlns:a16="http://schemas.microsoft.com/office/drawing/2014/main" id="{9DA13BA2-EC46-9E1E-BEA4-9B00641738E8}"/>
                    </a:ext>
                  </a:extLst>
                </p:cNvPr>
                <p:cNvSpPr txBox="1"/>
                <p:nvPr/>
              </p:nvSpPr>
              <p:spPr>
                <a:xfrm>
                  <a:off x="7855777"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80" name="Gruppo 79">
                <a:extLst>
                  <a:ext uri="{FF2B5EF4-FFF2-40B4-BE49-F238E27FC236}">
                    <a16:creationId xmlns:a16="http://schemas.microsoft.com/office/drawing/2014/main" id="{3CC7A0FA-A667-6936-5327-5526C306044A}"/>
                  </a:ext>
                </a:extLst>
              </p:cNvPr>
              <p:cNvGrpSpPr/>
              <p:nvPr/>
            </p:nvGrpSpPr>
            <p:grpSpPr>
              <a:xfrm>
                <a:off x="8364924" y="623243"/>
                <a:ext cx="576000" cy="406706"/>
                <a:chOff x="8576444" y="623243"/>
                <a:chExt cx="576000" cy="406706"/>
              </a:xfrm>
            </p:grpSpPr>
            <p:pic>
              <p:nvPicPr>
                <p:cNvPr id="84" name="Elemento grafico 83">
                  <a:extLst>
                    <a:ext uri="{FF2B5EF4-FFF2-40B4-BE49-F238E27FC236}">
                      <a16:creationId xmlns:a16="http://schemas.microsoft.com/office/drawing/2014/main" id="{E53AC829-F50B-F560-5C23-9257CCFBB0A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50144" y="801349"/>
                  <a:ext cx="228600" cy="228600"/>
                </a:xfrm>
                <a:prstGeom prst="rect">
                  <a:avLst/>
                </a:prstGeom>
              </p:spPr>
            </p:pic>
            <p:sp>
              <p:nvSpPr>
                <p:cNvPr id="85" name="CasellaDiTesto 84">
                  <a:extLst>
                    <a:ext uri="{FF2B5EF4-FFF2-40B4-BE49-F238E27FC236}">
                      <a16:creationId xmlns:a16="http://schemas.microsoft.com/office/drawing/2014/main" id="{E85034DE-298A-CF63-176A-66DA5DD490A4}"/>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81" name="Gruppo 80">
                <a:extLst>
                  <a:ext uri="{FF2B5EF4-FFF2-40B4-BE49-F238E27FC236}">
                    <a16:creationId xmlns:a16="http://schemas.microsoft.com/office/drawing/2014/main" id="{4D67EC3C-942B-9CEC-3A67-6F71B5825D38}"/>
                  </a:ext>
                </a:extLst>
              </p:cNvPr>
              <p:cNvGrpSpPr/>
              <p:nvPr/>
            </p:nvGrpSpPr>
            <p:grpSpPr>
              <a:xfrm>
                <a:off x="8908432" y="623243"/>
                <a:ext cx="576000" cy="406706"/>
                <a:chOff x="9067561" y="623243"/>
                <a:chExt cx="576000" cy="406706"/>
              </a:xfrm>
            </p:grpSpPr>
            <p:pic>
              <p:nvPicPr>
                <p:cNvPr id="82" name="Elemento grafico 81">
                  <a:extLst>
                    <a:ext uri="{FF2B5EF4-FFF2-40B4-BE49-F238E27FC236}">
                      <a16:creationId xmlns:a16="http://schemas.microsoft.com/office/drawing/2014/main" id="{E1E35838-FB96-E4E3-29D5-EC5DAE726E7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241261" y="801349"/>
                  <a:ext cx="228600" cy="228600"/>
                </a:xfrm>
                <a:prstGeom prst="rect">
                  <a:avLst/>
                </a:prstGeom>
              </p:spPr>
            </p:pic>
            <p:sp>
              <p:nvSpPr>
                <p:cNvPr id="83" name="CasellaDiTesto 82">
                  <a:extLst>
                    <a:ext uri="{FF2B5EF4-FFF2-40B4-BE49-F238E27FC236}">
                      <a16:creationId xmlns:a16="http://schemas.microsoft.com/office/drawing/2014/main" id="{43E063D6-AD84-A01A-C2AA-6841BE7E90DC}"/>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3411566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B723E-8F1C-F512-2FF9-904FCD55234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A07FED2-BF90-53B5-2D52-159117E69B93}"/>
              </a:ext>
            </a:extLst>
          </p:cNvPr>
          <p:cNvSpPr>
            <a:spLocks noGrp="1" noRot="1" noMove="1" noResize="1" noEditPoints="1" noAdjustHandles="1" noChangeArrowheads="1" noChangeShapeType="1"/>
          </p:cNvSpPr>
          <p:nvPr>
            <p:ph type="title"/>
          </p:nvPr>
        </p:nvSpPr>
        <p:spPr/>
        <p:txBody>
          <a:bodyPr/>
          <a:lstStyle/>
          <a:p>
            <a:r>
              <a:rPr lang="it-IT" spc="-80" dirty="0"/>
              <a:t>Data pipeline | </a:t>
            </a:r>
            <a:r>
              <a:rPr lang="it-IT" spc="-80" dirty="0">
                <a:solidFill>
                  <a:schemeClr val="tx1"/>
                </a:solidFill>
              </a:rPr>
              <a:t>La capacità aziendale che vogliamo costruire, un modello</a:t>
            </a:r>
          </a:p>
        </p:txBody>
      </p:sp>
      <p:sp>
        <p:nvSpPr>
          <p:cNvPr id="2" name="Tittle Function 01…">
            <a:extLst>
              <a:ext uri="{FF2B5EF4-FFF2-40B4-BE49-F238E27FC236}">
                <a16:creationId xmlns:a16="http://schemas.microsoft.com/office/drawing/2014/main" id="{E127DC34-26CB-151E-2F83-50CEE92D3F30}"/>
              </a:ext>
            </a:extLst>
          </p:cNvPr>
          <p:cNvSpPr txBox="1"/>
          <p:nvPr/>
        </p:nvSpPr>
        <p:spPr>
          <a:xfrm>
            <a:off x="1785878" y="532592"/>
            <a:ext cx="8378048" cy="184666"/>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dirty="0">
                <a:solidFill>
                  <a:schemeClr val="tx1">
                    <a:lumMod val="75000"/>
                    <a:lumOff val="25000"/>
                  </a:schemeClr>
                </a:solidFill>
                <a:latin typeface="+mj-lt"/>
              </a:rPr>
              <a:t>Un modello comune per gestire dati e controlli in modo coerente e riutilizzabile.</a:t>
            </a:r>
          </a:p>
        </p:txBody>
      </p:sp>
      <p:grpSp>
        <p:nvGrpSpPr>
          <p:cNvPr id="77" name="Gruppo 76">
            <a:extLst>
              <a:ext uri="{FF2B5EF4-FFF2-40B4-BE49-F238E27FC236}">
                <a16:creationId xmlns:a16="http://schemas.microsoft.com/office/drawing/2014/main" id="{DBCF95EA-D66E-9B40-4B09-74540EAE931E}"/>
              </a:ext>
            </a:extLst>
          </p:cNvPr>
          <p:cNvGrpSpPr/>
          <p:nvPr/>
        </p:nvGrpSpPr>
        <p:grpSpPr>
          <a:xfrm>
            <a:off x="1318108" y="1229098"/>
            <a:ext cx="9555784" cy="4399805"/>
            <a:chOff x="1315319" y="1724259"/>
            <a:chExt cx="9555784" cy="4399805"/>
          </a:xfrm>
        </p:grpSpPr>
        <p:grpSp>
          <p:nvGrpSpPr>
            <p:cNvPr id="71" name="Gruppo 70">
              <a:extLst>
                <a:ext uri="{FF2B5EF4-FFF2-40B4-BE49-F238E27FC236}">
                  <a16:creationId xmlns:a16="http://schemas.microsoft.com/office/drawing/2014/main" id="{8A2B938F-6688-EF89-FC09-883C8D37822D}"/>
                </a:ext>
              </a:extLst>
            </p:cNvPr>
            <p:cNvGrpSpPr/>
            <p:nvPr/>
          </p:nvGrpSpPr>
          <p:grpSpPr>
            <a:xfrm>
              <a:off x="1315320" y="5459802"/>
              <a:ext cx="9555783" cy="664262"/>
              <a:chOff x="659066" y="5500822"/>
              <a:chExt cx="10646833" cy="723835"/>
            </a:xfrm>
          </p:grpSpPr>
          <p:sp>
            <p:nvSpPr>
              <p:cNvPr id="31" name="Rettangolo con angoli arrotondati 30">
                <a:extLst>
                  <a:ext uri="{FF2B5EF4-FFF2-40B4-BE49-F238E27FC236}">
                    <a16:creationId xmlns:a16="http://schemas.microsoft.com/office/drawing/2014/main" id="{1ED87C46-16E5-0D3F-FECC-3B178E754FC7}"/>
                  </a:ext>
                </a:extLst>
              </p:cNvPr>
              <p:cNvSpPr/>
              <p:nvPr/>
            </p:nvSpPr>
            <p:spPr>
              <a:xfrm>
                <a:off x="659066" y="5500822"/>
                <a:ext cx="10646833" cy="723835"/>
              </a:xfrm>
              <a:prstGeom prst="roundRect">
                <a:avLst>
                  <a:gd name="adj" fmla="val 12756"/>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ittle Function 01…">
                <a:extLst>
                  <a:ext uri="{FF2B5EF4-FFF2-40B4-BE49-F238E27FC236}">
                    <a16:creationId xmlns:a16="http://schemas.microsoft.com/office/drawing/2014/main" id="{6BE313A1-DB73-C47F-4390-6D92593C1C8A}"/>
                  </a:ext>
                </a:extLst>
              </p:cNvPr>
              <p:cNvSpPr txBox="1"/>
              <p:nvPr/>
            </p:nvSpPr>
            <p:spPr>
              <a:xfrm>
                <a:off x="1740358" y="5762126"/>
                <a:ext cx="9334628" cy="20122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dirty="0">
                    <a:solidFill>
                      <a:schemeClr val="tx1">
                        <a:lumMod val="75000"/>
                        <a:lumOff val="25000"/>
                      </a:schemeClr>
                    </a:solidFill>
                    <a:latin typeface="+mj-lt"/>
                  </a:rPr>
                  <a:t>Una capacità unica, flessibile e condivisa che si adatta alle specificità di ogni progetto.</a:t>
                </a:r>
              </a:p>
            </p:txBody>
          </p:sp>
        </p:grpSp>
        <p:grpSp>
          <p:nvGrpSpPr>
            <p:cNvPr id="66" name="Gruppo 65">
              <a:extLst>
                <a:ext uri="{FF2B5EF4-FFF2-40B4-BE49-F238E27FC236}">
                  <a16:creationId xmlns:a16="http://schemas.microsoft.com/office/drawing/2014/main" id="{3174B511-95BD-10AE-2A5C-C46880479ED6}"/>
                </a:ext>
              </a:extLst>
            </p:cNvPr>
            <p:cNvGrpSpPr/>
            <p:nvPr/>
          </p:nvGrpSpPr>
          <p:grpSpPr>
            <a:xfrm>
              <a:off x="1315319" y="1724259"/>
              <a:ext cx="9555784" cy="3193000"/>
              <a:chOff x="1315319" y="1315441"/>
              <a:chExt cx="9555784" cy="3193000"/>
            </a:xfrm>
          </p:grpSpPr>
          <p:sp>
            <p:nvSpPr>
              <p:cNvPr id="80" name="Rettangolo con angoli arrotondati 79">
                <a:extLst>
                  <a:ext uri="{FF2B5EF4-FFF2-40B4-BE49-F238E27FC236}">
                    <a16:creationId xmlns:a16="http://schemas.microsoft.com/office/drawing/2014/main" id="{6BE765CF-6C89-16D7-18CF-82B287B57D48}"/>
                  </a:ext>
                </a:extLst>
              </p:cNvPr>
              <p:cNvSpPr>
                <a:spLocks/>
              </p:cNvSpPr>
              <p:nvPr/>
            </p:nvSpPr>
            <p:spPr>
              <a:xfrm rot="10800000">
                <a:off x="1315321" y="1344018"/>
                <a:ext cx="9555782" cy="3164423"/>
              </a:xfrm>
              <a:prstGeom prst="roundRect">
                <a:avLst>
                  <a:gd name="adj" fmla="val 4786"/>
                </a:avLst>
              </a:prstGeom>
              <a:solidFill>
                <a:srgbClr val="1680C9">
                  <a:alpha val="20000"/>
                </a:srgbClr>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81" name="Rettangolo con angoli arrotondati 80">
                <a:extLst>
                  <a:ext uri="{FF2B5EF4-FFF2-40B4-BE49-F238E27FC236}">
                    <a16:creationId xmlns:a16="http://schemas.microsoft.com/office/drawing/2014/main" id="{05AE0E29-BB4F-0C0A-5435-24BA53314257}"/>
                  </a:ext>
                </a:extLst>
              </p:cNvPr>
              <p:cNvSpPr>
                <a:spLocks/>
              </p:cNvSpPr>
              <p:nvPr/>
            </p:nvSpPr>
            <p:spPr>
              <a:xfrm rot="10800000">
                <a:off x="1315321" y="1344018"/>
                <a:ext cx="9555782" cy="2443050"/>
              </a:xfrm>
              <a:prstGeom prst="roundRect">
                <a:avLst>
                  <a:gd name="adj" fmla="val 4786"/>
                </a:avLst>
              </a:prstGeom>
              <a:solidFill>
                <a:schemeClr val="bg1"/>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sp>
            <p:nvSpPr>
              <p:cNvPr id="33" name="CasellaDiTesto 32">
                <a:extLst>
                  <a:ext uri="{FF2B5EF4-FFF2-40B4-BE49-F238E27FC236}">
                    <a16:creationId xmlns:a16="http://schemas.microsoft.com/office/drawing/2014/main" id="{8CB28358-1EB2-3F26-50BA-B8BEEA3E2DE0}"/>
                  </a:ext>
                </a:extLst>
              </p:cNvPr>
              <p:cNvSpPr txBox="1">
                <a:spLocks/>
              </p:cNvSpPr>
              <p:nvPr/>
            </p:nvSpPr>
            <p:spPr>
              <a:xfrm rot="10800000">
                <a:off x="1315319" y="1315441"/>
                <a:ext cx="9536595"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pic>
            <p:nvPicPr>
              <p:cNvPr id="79" name="Elemento grafico 78">
                <a:extLst>
                  <a:ext uri="{FF2B5EF4-FFF2-40B4-BE49-F238E27FC236}">
                    <a16:creationId xmlns:a16="http://schemas.microsoft.com/office/drawing/2014/main" id="{11DE2277-0028-F21C-CC28-A206C54E6A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9524" y="2037321"/>
                <a:ext cx="540000" cy="540000"/>
              </a:xfrm>
              <a:prstGeom prst="rect">
                <a:avLst/>
              </a:prstGeom>
            </p:spPr>
          </p:pic>
          <p:sp>
            <p:nvSpPr>
              <p:cNvPr id="58" name="Tittle Function 01…">
                <a:extLst>
                  <a:ext uri="{FF2B5EF4-FFF2-40B4-BE49-F238E27FC236}">
                    <a16:creationId xmlns:a16="http://schemas.microsoft.com/office/drawing/2014/main" id="{CD8967D9-7712-0640-3FC5-4DD34C7AFBA3}"/>
                  </a:ext>
                </a:extLst>
              </p:cNvPr>
              <p:cNvSpPr txBox="1">
                <a:spLocks/>
              </p:cNvSpPr>
              <p:nvPr/>
            </p:nvSpPr>
            <p:spPr>
              <a:xfrm>
                <a:off x="1616208" y="2702608"/>
                <a:ext cx="990852" cy="169277"/>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Sorgenti</a:t>
                </a:r>
                <a:endParaRPr lang="it-IT" sz="1100" b="1" spc="-10" dirty="0">
                  <a:solidFill>
                    <a:srgbClr val="1680C9"/>
                  </a:solidFill>
                  <a:latin typeface="Poppins SemiBold" panose="00000700000000000000" pitchFamily="2" charset="0"/>
                  <a:cs typeface="Poppins SemiBold" panose="00000700000000000000" pitchFamily="2" charset="0"/>
                </a:endParaRPr>
              </a:p>
            </p:txBody>
          </p:sp>
          <p:pic>
            <p:nvPicPr>
              <p:cNvPr id="85" name="Elemento grafico 84">
                <a:extLst>
                  <a:ext uri="{FF2B5EF4-FFF2-40B4-BE49-F238E27FC236}">
                    <a16:creationId xmlns:a16="http://schemas.microsoft.com/office/drawing/2014/main" id="{4BFEE755-F478-CF1F-B602-EE377E1B3BB5}"/>
                  </a:ext>
                </a:extLst>
              </p:cNvPr>
              <p:cNvPicPr/>
              <p:nvPr/>
            </p:nvPicPr>
            <p:blipFill>
              <a:blip>
                <a:extLst>
                  <a:ext uri="{96DAC541-7B7A-43D3-8B79-37D633B846F1}">
                    <asvg:svgBlip xmlns:asvg="http://schemas.microsoft.com/office/drawing/2016/SVG/main" r:embed="rId5"/>
                  </a:ext>
                </a:extLst>
              </a:blip>
              <a:stretch>
                <a:fillRect/>
              </a:stretch>
            </p:blipFill>
            <p:spPr>
              <a:xfrm>
                <a:off x="5026894" y="2064333"/>
                <a:ext cx="540000" cy="540000"/>
              </a:xfrm>
              <a:prstGeom prst="rect">
                <a:avLst/>
              </a:prstGeom>
            </p:spPr>
          </p:pic>
          <p:pic>
            <p:nvPicPr>
              <p:cNvPr id="87" name="Elemento grafico 86">
                <a:extLst>
                  <a:ext uri="{FF2B5EF4-FFF2-40B4-BE49-F238E27FC236}">
                    <a16:creationId xmlns:a16="http://schemas.microsoft.com/office/drawing/2014/main" id="{E47F7156-1B9F-94AE-203C-830FD17F957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804784" y="1991045"/>
                <a:ext cx="540000" cy="540000"/>
              </a:xfrm>
              <a:prstGeom prst="rect">
                <a:avLst/>
              </a:prstGeom>
            </p:spPr>
          </p:pic>
          <p:pic>
            <p:nvPicPr>
              <p:cNvPr id="117" name="Elemento grafico 116">
                <a:extLst>
                  <a:ext uri="{FF2B5EF4-FFF2-40B4-BE49-F238E27FC236}">
                    <a16:creationId xmlns:a16="http://schemas.microsoft.com/office/drawing/2014/main" id="{B88BB698-9315-4E40-312D-0B674843A30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34264" y="2040274"/>
                <a:ext cx="540000" cy="540000"/>
              </a:xfrm>
              <a:prstGeom prst="rect">
                <a:avLst/>
              </a:prstGeom>
            </p:spPr>
          </p:pic>
          <p:sp>
            <p:nvSpPr>
              <p:cNvPr id="145" name="CasellaDiTesto 144">
                <a:extLst>
                  <a:ext uri="{FF2B5EF4-FFF2-40B4-BE49-F238E27FC236}">
                    <a16:creationId xmlns:a16="http://schemas.microsoft.com/office/drawing/2014/main" id="{B1303C80-5D2F-A5FD-5F36-313E557E8D82}"/>
                  </a:ext>
                </a:extLst>
              </p:cNvPr>
              <p:cNvSpPr txBox="1"/>
              <p:nvPr/>
            </p:nvSpPr>
            <p:spPr>
              <a:xfrm>
                <a:off x="3994294" y="3976259"/>
                <a:ext cx="4663456" cy="307777"/>
              </a:xfrm>
              <a:prstGeom prst="rect">
                <a:avLst/>
              </a:prstGeom>
              <a:noFill/>
            </p:spPr>
            <p:txBody>
              <a:bodyPr wrap="none" rtlCol="0">
                <a:spAutoFit/>
              </a:bodyPr>
              <a:lstStyle/>
              <a:p>
                <a:r>
                  <a:rPr lang="it-IT" sz="1400" b="1" dirty="0">
                    <a:solidFill>
                      <a:srgbClr val="1680C9"/>
                    </a:solidFill>
                    <a:latin typeface="+mj-lt"/>
                    <a:cs typeface="Poppins SemiBold" panose="00000700000000000000" pitchFamily="2" charset="0"/>
                  </a:rPr>
                  <a:t>GOVERNANCE TRASVERSALE E AUDIT END-TO-END</a:t>
                </a:r>
                <a:endParaRPr lang="en-US" sz="1400" b="1" dirty="0">
                  <a:solidFill>
                    <a:srgbClr val="1680C9"/>
                  </a:solidFill>
                  <a:latin typeface="+mj-lt"/>
                  <a:cs typeface="Poppins SemiBold" panose="00000700000000000000" pitchFamily="2" charset="0"/>
                </a:endParaRPr>
              </a:p>
            </p:txBody>
          </p:sp>
          <p:pic>
            <p:nvPicPr>
              <p:cNvPr id="6" name="Elemento grafico 5">
                <a:extLst>
                  <a:ext uri="{FF2B5EF4-FFF2-40B4-BE49-F238E27FC236}">
                    <a16:creationId xmlns:a16="http://schemas.microsoft.com/office/drawing/2014/main" id="{E71D22DF-A38E-3B89-B2B0-1DA5C3A0346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528674" y="3950148"/>
                <a:ext cx="360000" cy="360000"/>
              </a:xfrm>
              <a:prstGeom prst="rect">
                <a:avLst/>
              </a:prstGeom>
            </p:spPr>
          </p:pic>
          <p:pic>
            <p:nvPicPr>
              <p:cNvPr id="3" name="Elemento grafico 2">
                <a:extLst>
                  <a:ext uri="{FF2B5EF4-FFF2-40B4-BE49-F238E27FC236}">
                    <a16:creationId xmlns:a16="http://schemas.microsoft.com/office/drawing/2014/main" id="{ED250D50-60F0-ED9C-A7F0-4B4FD30A1FB2}"/>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1841634" y="2037321"/>
                <a:ext cx="540000" cy="540000"/>
              </a:xfrm>
              <a:prstGeom prst="rect">
                <a:avLst/>
              </a:prstGeom>
            </p:spPr>
          </p:pic>
          <p:pic>
            <p:nvPicPr>
              <p:cNvPr id="15" name="Elemento grafico 14">
                <a:extLst>
                  <a:ext uri="{FF2B5EF4-FFF2-40B4-BE49-F238E27FC236}">
                    <a16:creationId xmlns:a16="http://schemas.microsoft.com/office/drawing/2014/main" id="{B8329033-8EDB-154F-9A69-E3C60455256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212154" y="1991215"/>
                <a:ext cx="540000" cy="540000"/>
              </a:xfrm>
              <a:prstGeom prst="rect">
                <a:avLst/>
              </a:prstGeom>
            </p:spPr>
          </p:pic>
          <p:cxnSp>
            <p:nvCxnSpPr>
              <p:cNvPr id="20" name="Connettore diritto 19">
                <a:extLst>
                  <a:ext uri="{FF2B5EF4-FFF2-40B4-BE49-F238E27FC236}">
                    <a16:creationId xmlns:a16="http://schemas.microsoft.com/office/drawing/2014/main" id="{78B837D4-C209-CFD6-50BD-A6070622D8EC}"/>
                  </a:ext>
                </a:extLst>
              </p:cNvPr>
              <p:cNvCxnSpPr>
                <a:cxnSpLocks/>
              </p:cNvCxnSpPr>
              <p:nvPr/>
            </p:nvCxnSpPr>
            <p:spPr>
              <a:xfrm>
                <a:off x="2907949" y="1365024"/>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6" name="Connettore diritto 25">
                <a:extLst>
                  <a:ext uri="{FF2B5EF4-FFF2-40B4-BE49-F238E27FC236}">
                    <a16:creationId xmlns:a16="http://schemas.microsoft.com/office/drawing/2014/main" id="{BF010204-D2F6-71DE-423E-1AB973139621}"/>
                  </a:ext>
                </a:extLst>
              </p:cNvPr>
              <p:cNvCxnSpPr>
                <a:cxnSpLocks/>
              </p:cNvCxnSpPr>
              <p:nvPr/>
            </p:nvCxnSpPr>
            <p:spPr>
              <a:xfrm>
                <a:off x="4500579" y="134285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7" name="Connettore diritto 26">
                <a:extLst>
                  <a:ext uri="{FF2B5EF4-FFF2-40B4-BE49-F238E27FC236}">
                    <a16:creationId xmlns:a16="http://schemas.microsoft.com/office/drawing/2014/main" id="{189232DA-F130-63D9-D22F-E2AE2773A103}"/>
                  </a:ext>
                </a:extLst>
              </p:cNvPr>
              <p:cNvCxnSpPr>
                <a:cxnSpLocks/>
              </p:cNvCxnSpPr>
              <p:nvPr/>
            </p:nvCxnSpPr>
            <p:spPr>
              <a:xfrm>
                <a:off x="6093209" y="134169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8" name="Connettore diritto 27">
                <a:extLst>
                  <a:ext uri="{FF2B5EF4-FFF2-40B4-BE49-F238E27FC236}">
                    <a16:creationId xmlns:a16="http://schemas.microsoft.com/office/drawing/2014/main" id="{DBE1C84D-7F79-534B-5864-09B6351B08F6}"/>
                  </a:ext>
                </a:extLst>
              </p:cNvPr>
              <p:cNvCxnSpPr>
                <a:cxnSpLocks/>
              </p:cNvCxnSpPr>
              <p:nvPr/>
            </p:nvCxnSpPr>
            <p:spPr>
              <a:xfrm>
                <a:off x="7685839" y="134053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9" name="Connettore diritto 28">
                <a:extLst>
                  <a:ext uri="{FF2B5EF4-FFF2-40B4-BE49-F238E27FC236}">
                    <a16:creationId xmlns:a16="http://schemas.microsoft.com/office/drawing/2014/main" id="{02DADAE9-5065-C920-D233-1D935F497779}"/>
                  </a:ext>
                </a:extLst>
              </p:cNvPr>
              <p:cNvCxnSpPr>
                <a:cxnSpLocks/>
              </p:cNvCxnSpPr>
              <p:nvPr/>
            </p:nvCxnSpPr>
            <p:spPr>
              <a:xfrm>
                <a:off x="9278469" y="133937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7" name="Tittle Function 01…">
                <a:extLst>
                  <a:ext uri="{FF2B5EF4-FFF2-40B4-BE49-F238E27FC236}">
                    <a16:creationId xmlns:a16="http://schemas.microsoft.com/office/drawing/2014/main" id="{B810FBE8-B919-45D5-1812-B1AB1CEAE819}"/>
                  </a:ext>
                </a:extLst>
              </p:cNvPr>
              <p:cNvSpPr txBox="1">
                <a:spLocks/>
              </p:cNvSpPr>
              <p:nvPr/>
            </p:nvSpPr>
            <p:spPr>
              <a:xfrm>
                <a:off x="3208836" y="2702608"/>
                <a:ext cx="990852" cy="169277"/>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Acquisizione</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59" name="Tittle Function 01…">
                <a:extLst>
                  <a:ext uri="{FF2B5EF4-FFF2-40B4-BE49-F238E27FC236}">
                    <a16:creationId xmlns:a16="http://schemas.microsoft.com/office/drawing/2014/main" id="{0E7AE439-00FB-CD1A-1448-39CBA154179F}"/>
                  </a:ext>
                </a:extLst>
              </p:cNvPr>
              <p:cNvSpPr txBox="1">
                <a:spLocks/>
              </p:cNvSpPr>
              <p:nvPr/>
            </p:nvSpPr>
            <p:spPr>
              <a:xfrm>
                <a:off x="4801468" y="2702608"/>
                <a:ext cx="990852" cy="33855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Verifica e Controlli</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60" name="Tittle Function 01…">
                <a:extLst>
                  <a:ext uri="{FF2B5EF4-FFF2-40B4-BE49-F238E27FC236}">
                    <a16:creationId xmlns:a16="http://schemas.microsoft.com/office/drawing/2014/main" id="{AB7B58E0-663E-A35B-4FE2-32AA60DC5AD8}"/>
                  </a:ext>
                </a:extLst>
              </p:cNvPr>
              <p:cNvSpPr txBox="1">
                <a:spLocks/>
              </p:cNvSpPr>
              <p:nvPr/>
            </p:nvSpPr>
            <p:spPr>
              <a:xfrm>
                <a:off x="6231612" y="2702608"/>
                <a:ext cx="1315816" cy="169277"/>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Trasformazioni</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61" name="Tittle Function 01…">
                <a:extLst>
                  <a:ext uri="{FF2B5EF4-FFF2-40B4-BE49-F238E27FC236}">
                    <a16:creationId xmlns:a16="http://schemas.microsoft.com/office/drawing/2014/main" id="{0EF0A062-DE6A-EF54-0F0F-790DCBAFB954}"/>
                  </a:ext>
                </a:extLst>
              </p:cNvPr>
              <p:cNvSpPr txBox="1">
                <a:spLocks/>
              </p:cNvSpPr>
              <p:nvPr/>
            </p:nvSpPr>
            <p:spPr>
              <a:xfrm>
                <a:off x="7824246" y="2702608"/>
                <a:ext cx="1315816" cy="169277"/>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Esposizione</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62" name="Tittle Function 01…">
                <a:extLst>
                  <a:ext uri="{FF2B5EF4-FFF2-40B4-BE49-F238E27FC236}">
                    <a16:creationId xmlns:a16="http://schemas.microsoft.com/office/drawing/2014/main" id="{D604BB58-4E64-EB26-0D19-9E9D32FD6991}"/>
                  </a:ext>
                </a:extLst>
              </p:cNvPr>
              <p:cNvSpPr txBox="1">
                <a:spLocks/>
              </p:cNvSpPr>
              <p:nvPr/>
            </p:nvSpPr>
            <p:spPr>
              <a:xfrm>
                <a:off x="9416877" y="2702608"/>
                <a:ext cx="1315816" cy="169277"/>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Dashboard</a:t>
                </a:r>
                <a:endParaRPr lang="it-IT" sz="1100" b="1" spc="-10" dirty="0">
                  <a:solidFill>
                    <a:srgbClr val="1680C9"/>
                  </a:solidFill>
                  <a:latin typeface="Poppins SemiBold" panose="00000700000000000000" pitchFamily="2" charset="0"/>
                  <a:cs typeface="Poppins SemiBold" panose="00000700000000000000" pitchFamily="2" charset="0"/>
                </a:endParaRPr>
              </a:p>
            </p:txBody>
          </p:sp>
        </p:grpSp>
        <p:cxnSp>
          <p:nvCxnSpPr>
            <p:cNvPr id="68" name="Connettore 2 67">
              <a:extLst>
                <a:ext uri="{FF2B5EF4-FFF2-40B4-BE49-F238E27FC236}">
                  <a16:creationId xmlns:a16="http://schemas.microsoft.com/office/drawing/2014/main" id="{32E84D15-4A67-1A81-D2F6-317FFB86C3B4}"/>
                </a:ext>
              </a:extLst>
            </p:cNvPr>
            <p:cNvCxnSpPr/>
            <p:nvPr/>
          </p:nvCxnSpPr>
          <p:spPr>
            <a:xfrm>
              <a:off x="2764971"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Connettore 2 68">
              <a:extLst>
                <a:ext uri="{FF2B5EF4-FFF2-40B4-BE49-F238E27FC236}">
                  <a16:creationId xmlns:a16="http://schemas.microsoft.com/office/drawing/2014/main" id="{28A7404E-D9B4-F366-E6C5-1671886076F9}"/>
                </a:ext>
              </a:extLst>
            </p:cNvPr>
            <p:cNvCxnSpPr/>
            <p:nvPr/>
          </p:nvCxnSpPr>
          <p:spPr>
            <a:xfrm>
              <a:off x="4362693"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0" name="Connettore 2 69">
              <a:extLst>
                <a:ext uri="{FF2B5EF4-FFF2-40B4-BE49-F238E27FC236}">
                  <a16:creationId xmlns:a16="http://schemas.microsoft.com/office/drawing/2014/main" id="{4936E320-75B8-FC0C-B99E-87F1DC9964FF}"/>
                </a:ext>
              </a:extLst>
            </p:cNvPr>
            <p:cNvCxnSpPr/>
            <p:nvPr/>
          </p:nvCxnSpPr>
          <p:spPr>
            <a:xfrm>
              <a:off x="5960415"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2" name="Connettore 2 71">
              <a:extLst>
                <a:ext uri="{FF2B5EF4-FFF2-40B4-BE49-F238E27FC236}">
                  <a16:creationId xmlns:a16="http://schemas.microsoft.com/office/drawing/2014/main" id="{8924AD9B-4D33-4228-D093-6F221E4ED0D9}"/>
                </a:ext>
              </a:extLst>
            </p:cNvPr>
            <p:cNvCxnSpPr/>
            <p:nvPr/>
          </p:nvCxnSpPr>
          <p:spPr>
            <a:xfrm>
              <a:off x="7558137"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Connettore 2 72">
              <a:extLst>
                <a:ext uri="{FF2B5EF4-FFF2-40B4-BE49-F238E27FC236}">
                  <a16:creationId xmlns:a16="http://schemas.microsoft.com/office/drawing/2014/main" id="{9A96E522-0A50-A2CB-6A45-A2F7A6105303}"/>
                </a:ext>
              </a:extLst>
            </p:cNvPr>
            <p:cNvCxnSpPr/>
            <p:nvPr/>
          </p:nvCxnSpPr>
          <p:spPr>
            <a:xfrm>
              <a:off x="9155859"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76" name="Elemento grafico 75">
              <a:extLst>
                <a:ext uri="{FF2B5EF4-FFF2-40B4-BE49-F238E27FC236}">
                  <a16:creationId xmlns:a16="http://schemas.microsoft.com/office/drawing/2014/main" id="{B4042632-1E15-CA7C-FB0A-FE4CC7CC957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12917" y="5539933"/>
              <a:ext cx="504000" cy="504000"/>
            </a:xfrm>
            <a:prstGeom prst="rect">
              <a:avLst/>
            </a:prstGeom>
          </p:spPr>
        </p:pic>
      </p:grpSp>
      <p:grpSp>
        <p:nvGrpSpPr>
          <p:cNvPr id="78" name="Gruppo 77">
            <a:extLst>
              <a:ext uri="{FF2B5EF4-FFF2-40B4-BE49-F238E27FC236}">
                <a16:creationId xmlns:a16="http://schemas.microsoft.com/office/drawing/2014/main" id="{3B5384F4-1D47-EE9A-DA0F-F08721BA3CB3}"/>
              </a:ext>
            </a:extLst>
          </p:cNvPr>
          <p:cNvGrpSpPr/>
          <p:nvPr/>
        </p:nvGrpSpPr>
        <p:grpSpPr>
          <a:xfrm>
            <a:off x="8967395" y="370238"/>
            <a:ext cx="2750029" cy="406706"/>
            <a:chOff x="6734403" y="623243"/>
            <a:chExt cx="2750029" cy="406706"/>
          </a:xfrm>
        </p:grpSpPr>
        <p:sp>
          <p:nvSpPr>
            <p:cNvPr id="83" name="Line">
              <a:extLst>
                <a:ext uri="{FF2B5EF4-FFF2-40B4-BE49-F238E27FC236}">
                  <a16:creationId xmlns:a16="http://schemas.microsoft.com/office/drawing/2014/main" id="{98485CD2-0761-67E8-A2E2-C529A8B5B968}"/>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84" name="Gruppo 83">
              <a:extLst>
                <a:ext uri="{FF2B5EF4-FFF2-40B4-BE49-F238E27FC236}">
                  <a16:creationId xmlns:a16="http://schemas.microsoft.com/office/drawing/2014/main" id="{7567A2FB-352A-B4E5-F020-E44A8D385DDB}"/>
                </a:ext>
              </a:extLst>
            </p:cNvPr>
            <p:cNvGrpSpPr/>
            <p:nvPr/>
          </p:nvGrpSpPr>
          <p:grpSpPr>
            <a:xfrm>
              <a:off x="6734403" y="623243"/>
              <a:ext cx="2750029" cy="406706"/>
              <a:chOff x="6734403" y="623243"/>
              <a:chExt cx="2750029" cy="406706"/>
            </a:xfrm>
          </p:grpSpPr>
          <p:grpSp>
            <p:nvGrpSpPr>
              <p:cNvPr id="88" name="Gruppo 87">
                <a:extLst>
                  <a:ext uri="{FF2B5EF4-FFF2-40B4-BE49-F238E27FC236}">
                    <a16:creationId xmlns:a16="http://schemas.microsoft.com/office/drawing/2014/main" id="{174A2492-EB4B-A635-99CD-612D6C954D7F}"/>
                  </a:ext>
                </a:extLst>
              </p:cNvPr>
              <p:cNvGrpSpPr/>
              <p:nvPr/>
            </p:nvGrpSpPr>
            <p:grpSpPr>
              <a:xfrm>
                <a:off x="6734403" y="623243"/>
                <a:ext cx="576000" cy="406706"/>
                <a:chOff x="6734403" y="623243"/>
                <a:chExt cx="576000" cy="406706"/>
              </a:xfrm>
            </p:grpSpPr>
            <p:pic>
              <p:nvPicPr>
                <p:cNvPr id="141" name="Elemento grafico 140">
                  <a:extLst>
                    <a:ext uri="{FF2B5EF4-FFF2-40B4-BE49-F238E27FC236}">
                      <a16:creationId xmlns:a16="http://schemas.microsoft.com/office/drawing/2014/main" id="{E182A8C3-EBF2-484D-EB1F-CAFCBE73915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908103" y="801349"/>
                  <a:ext cx="228600" cy="228600"/>
                </a:xfrm>
                <a:prstGeom prst="rect">
                  <a:avLst/>
                </a:prstGeom>
              </p:spPr>
            </p:pic>
            <p:sp>
              <p:nvSpPr>
                <p:cNvPr id="146" name="CasellaDiTesto 145">
                  <a:extLst>
                    <a:ext uri="{FF2B5EF4-FFF2-40B4-BE49-F238E27FC236}">
                      <a16:creationId xmlns:a16="http://schemas.microsoft.com/office/drawing/2014/main" id="{4A7E6FF5-4DEF-E2FE-67D8-343B75FD0816}"/>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93" name="Gruppo 92">
                <a:extLst>
                  <a:ext uri="{FF2B5EF4-FFF2-40B4-BE49-F238E27FC236}">
                    <a16:creationId xmlns:a16="http://schemas.microsoft.com/office/drawing/2014/main" id="{9C6B9981-BA04-0D88-8137-9273A2CDA2AF}"/>
                  </a:ext>
                </a:extLst>
              </p:cNvPr>
              <p:cNvGrpSpPr/>
              <p:nvPr/>
            </p:nvGrpSpPr>
            <p:grpSpPr>
              <a:xfrm>
                <a:off x="7277910" y="623243"/>
                <a:ext cx="576000" cy="406706"/>
                <a:chOff x="7291884" y="623243"/>
                <a:chExt cx="576000" cy="406706"/>
              </a:xfrm>
            </p:grpSpPr>
            <p:pic>
              <p:nvPicPr>
                <p:cNvPr id="129" name="Elemento grafico 128">
                  <a:extLst>
                    <a:ext uri="{FF2B5EF4-FFF2-40B4-BE49-F238E27FC236}">
                      <a16:creationId xmlns:a16="http://schemas.microsoft.com/office/drawing/2014/main" id="{58B208FD-3B60-D20B-DFFA-5C38EE8BDA6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465584" y="801349"/>
                  <a:ext cx="228600" cy="228600"/>
                </a:xfrm>
                <a:prstGeom prst="rect">
                  <a:avLst/>
                </a:prstGeom>
              </p:spPr>
            </p:pic>
            <p:sp>
              <p:nvSpPr>
                <p:cNvPr id="139" name="CasellaDiTesto 138">
                  <a:extLst>
                    <a:ext uri="{FF2B5EF4-FFF2-40B4-BE49-F238E27FC236}">
                      <a16:creationId xmlns:a16="http://schemas.microsoft.com/office/drawing/2014/main" id="{CAF8D575-F7F5-2212-CA29-95FC1FC3F19B}"/>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94" name="Gruppo 93">
                <a:extLst>
                  <a:ext uri="{FF2B5EF4-FFF2-40B4-BE49-F238E27FC236}">
                    <a16:creationId xmlns:a16="http://schemas.microsoft.com/office/drawing/2014/main" id="{72699BC7-4FD5-C966-724E-CC611B58488D}"/>
                  </a:ext>
                </a:extLst>
              </p:cNvPr>
              <p:cNvGrpSpPr/>
              <p:nvPr/>
            </p:nvGrpSpPr>
            <p:grpSpPr>
              <a:xfrm>
                <a:off x="7743611" y="623243"/>
                <a:ext cx="731612" cy="406706"/>
                <a:chOff x="7777971" y="623243"/>
                <a:chExt cx="731612" cy="406706"/>
              </a:xfrm>
            </p:grpSpPr>
            <p:pic>
              <p:nvPicPr>
                <p:cNvPr id="127" name="Elemento grafico 126">
                  <a:extLst>
                    <a:ext uri="{FF2B5EF4-FFF2-40B4-BE49-F238E27FC236}">
                      <a16:creationId xmlns:a16="http://schemas.microsoft.com/office/drawing/2014/main" id="{842AE949-59C7-9F0C-44C0-6200C99BE6FD}"/>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029477" y="801349"/>
                  <a:ext cx="228600" cy="228600"/>
                </a:xfrm>
                <a:prstGeom prst="rect">
                  <a:avLst/>
                </a:prstGeom>
              </p:spPr>
            </p:pic>
            <p:sp>
              <p:nvSpPr>
                <p:cNvPr id="128" name="CasellaDiTesto 127">
                  <a:extLst>
                    <a:ext uri="{FF2B5EF4-FFF2-40B4-BE49-F238E27FC236}">
                      <a16:creationId xmlns:a16="http://schemas.microsoft.com/office/drawing/2014/main" id="{C64BA579-819E-DDFE-4835-7DDAED30BC44}"/>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PROPOSTA</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95" name="Gruppo 94">
                <a:extLst>
                  <a:ext uri="{FF2B5EF4-FFF2-40B4-BE49-F238E27FC236}">
                    <a16:creationId xmlns:a16="http://schemas.microsoft.com/office/drawing/2014/main" id="{97B36A32-B482-ADAB-A499-1F7745B153EC}"/>
                  </a:ext>
                </a:extLst>
              </p:cNvPr>
              <p:cNvGrpSpPr/>
              <p:nvPr/>
            </p:nvGrpSpPr>
            <p:grpSpPr>
              <a:xfrm>
                <a:off x="8364924" y="623243"/>
                <a:ext cx="576000" cy="406706"/>
                <a:chOff x="8576444" y="623243"/>
                <a:chExt cx="576000" cy="406706"/>
              </a:xfrm>
            </p:grpSpPr>
            <p:pic>
              <p:nvPicPr>
                <p:cNvPr id="120" name="Elemento grafico 119">
                  <a:extLst>
                    <a:ext uri="{FF2B5EF4-FFF2-40B4-BE49-F238E27FC236}">
                      <a16:creationId xmlns:a16="http://schemas.microsoft.com/office/drawing/2014/main" id="{D79EB0F9-590F-027A-F7DA-849624B544A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750144" y="801349"/>
                  <a:ext cx="228600" cy="228600"/>
                </a:xfrm>
                <a:prstGeom prst="rect">
                  <a:avLst/>
                </a:prstGeom>
              </p:spPr>
            </p:pic>
            <p:sp>
              <p:nvSpPr>
                <p:cNvPr id="124" name="CasellaDiTesto 123">
                  <a:extLst>
                    <a:ext uri="{FF2B5EF4-FFF2-40B4-BE49-F238E27FC236}">
                      <a16:creationId xmlns:a16="http://schemas.microsoft.com/office/drawing/2014/main" id="{353F27EA-C420-48B8-CCD1-EADD2074975E}"/>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99" name="Gruppo 98">
                <a:extLst>
                  <a:ext uri="{FF2B5EF4-FFF2-40B4-BE49-F238E27FC236}">
                    <a16:creationId xmlns:a16="http://schemas.microsoft.com/office/drawing/2014/main" id="{5DDBA503-FB68-F80B-C509-ACF03B90CFBD}"/>
                  </a:ext>
                </a:extLst>
              </p:cNvPr>
              <p:cNvGrpSpPr/>
              <p:nvPr/>
            </p:nvGrpSpPr>
            <p:grpSpPr>
              <a:xfrm>
                <a:off x="8908432" y="623243"/>
                <a:ext cx="576000" cy="406706"/>
                <a:chOff x="9067561" y="623243"/>
                <a:chExt cx="576000" cy="406706"/>
              </a:xfrm>
            </p:grpSpPr>
            <p:pic>
              <p:nvPicPr>
                <p:cNvPr id="110" name="Elemento grafico 109">
                  <a:extLst>
                    <a:ext uri="{FF2B5EF4-FFF2-40B4-BE49-F238E27FC236}">
                      <a16:creationId xmlns:a16="http://schemas.microsoft.com/office/drawing/2014/main" id="{25BF6646-65BF-623C-2D06-0C2F337A823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241261" y="801349"/>
                  <a:ext cx="228600" cy="228600"/>
                </a:xfrm>
                <a:prstGeom prst="rect">
                  <a:avLst/>
                </a:prstGeom>
              </p:spPr>
            </p:pic>
            <p:sp>
              <p:nvSpPr>
                <p:cNvPr id="115" name="CasellaDiTesto 114">
                  <a:extLst>
                    <a:ext uri="{FF2B5EF4-FFF2-40B4-BE49-F238E27FC236}">
                      <a16:creationId xmlns:a16="http://schemas.microsoft.com/office/drawing/2014/main" id="{446C024E-12AB-1043-0AEA-30F3190243BC}"/>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92786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0C303C5-31BC-36B8-F182-08B9828F4202}"/>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rPr>
              <a:t>Il percorso del dato</a:t>
            </a:r>
            <a:endParaRPr lang="en-US" dirty="0"/>
          </a:p>
        </p:txBody>
      </p:sp>
      <p:pic>
        <p:nvPicPr>
          <p:cNvPr id="4" name="Immagine 3">
            <a:extLst>
              <a:ext uri="{FF2B5EF4-FFF2-40B4-BE49-F238E27FC236}">
                <a16:creationId xmlns:a16="http://schemas.microsoft.com/office/drawing/2014/main" id="{6CB64994-58C7-E5E4-E252-276CDCD47243}"/>
              </a:ext>
            </a:extLst>
          </p:cNvPr>
          <p:cNvPicPr>
            <a:picLocks noChangeAspect="1"/>
          </p:cNvPicPr>
          <p:nvPr/>
        </p:nvPicPr>
        <p:blipFill>
          <a:blip r:embed="rId2">
            <a:extLst>
              <a:ext uri="{28A0092B-C50C-407E-A947-70E740481C1C}">
                <a14:useLocalDpi xmlns:a14="http://schemas.microsoft.com/office/drawing/2010/main" val="0"/>
              </a:ext>
            </a:extLst>
          </a:blip>
          <a:srcRect b="6183"/>
          <a:stretch>
            <a:fillRect/>
          </a:stretch>
        </p:blipFill>
        <p:spPr>
          <a:xfrm>
            <a:off x="65441" y="1298528"/>
            <a:ext cx="11929840" cy="3964494"/>
          </a:xfrm>
          <a:prstGeom prst="rect">
            <a:avLst/>
          </a:prstGeom>
        </p:spPr>
      </p:pic>
      <p:sp>
        <p:nvSpPr>
          <p:cNvPr id="77" name="Tittle Function 01…">
            <a:extLst>
              <a:ext uri="{FF2B5EF4-FFF2-40B4-BE49-F238E27FC236}">
                <a16:creationId xmlns:a16="http://schemas.microsoft.com/office/drawing/2014/main" id="{8B41BC66-204F-A03D-CAE5-ECED92A82D7A}"/>
              </a:ext>
            </a:extLst>
          </p:cNvPr>
          <p:cNvSpPr txBox="1"/>
          <p:nvPr/>
        </p:nvSpPr>
        <p:spPr>
          <a:xfrm>
            <a:off x="3326962" y="5559472"/>
            <a:ext cx="5261226" cy="43088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400" i="1" dirty="0">
                <a:solidFill>
                  <a:schemeClr val="tx1">
                    <a:lumMod val="85000"/>
                    <a:lumOff val="15000"/>
                  </a:schemeClr>
                </a:solidFill>
                <a:latin typeface="+mj-lt"/>
              </a:rPr>
              <a:t>Il percorso che rende il dato affidabile, controllato e disponibile per processi, analisi e decisioni.</a:t>
            </a:r>
            <a:endParaRPr lang="it-IT" sz="1400" b="1" i="1" dirty="0">
              <a:solidFill>
                <a:schemeClr val="tx1">
                  <a:lumMod val="85000"/>
                  <a:lumOff val="15000"/>
                </a:schemeClr>
              </a:solidFill>
              <a:latin typeface="+mj-lt"/>
              <a:cs typeface="Poppins SemiBold"/>
            </a:endParaRPr>
          </a:p>
        </p:txBody>
      </p:sp>
      <p:grpSp>
        <p:nvGrpSpPr>
          <p:cNvPr id="7" name="Gruppo 6">
            <a:extLst>
              <a:ext uri="{FF2B5EF4-FFF2-40B4-BE49-F238E27FC236}">
                <a16:creationId xmlns:a16="http://schemas.microsoft.com/office/drawing/2014/main" id="{6818A263-84A3-2E1D-A418-8999E3BA1B18}"/>
              </a:ext>
            </a:extLst>
          </p:cNvPr>
          <p:cNvGrpSpPr/>
          <p:nvPr/>
        </p:nvGrpSpPr>
        <p:grpSpPr>
          <a:xfrm>
            <a:off x="8967395" y="370238"/>
            <a:ext cx="2750029" cy="406706"/>
            <a:chOff x="6734403" y="623243"/>
            <a:chExt cx="2750029" cy="406706"/>
          </a:xfrm>
        </p:grpSpPr>
        <p:sp>
          <p:nvSpPr>
            <p:cNvPr id="8" name="Line">
              <a:extLst>
                <a:ext uri="{FF2B5EF4-FFF2-40B4-BE49-F238E27FC236}">
                  <a16:creationId xmlns:a16="http://schemas.microsoft.com/office/drawing/2014/main" id="{B0255C60-0E9F-6345-03C7-CDCA5BDC8EB5}"/>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9" name="Gruppo 8">
              <a:extLst>
                <a:ext uri="{FF2B5EF4-FFF2-40B4-BE49-F238E27FC236}">
                  <a16:creationId xmlns:a16="http://schemas.microsoft.com/office/drawing/2014/main" id="{CAD693C0-D743-FC6A-791B-8836576F570E}"/>
                </a:ext>
              </a:extLst>
            </p:cNvPr>
            <p:cNvGrpSpPr/>
            <p:nvPr/>
          </p:nvGrpSpPr>
          <p:grpSpPr>
            <a:xfrm>
              <a:off x="6734403" y="623243"/>
              <a:ext cx="2750029" cy="406706"/>
              <a:chOff x="6734403" y="623243"/>
              <a:chExt cx="2750029" cy="406706"/>
            </a:xfrm>
          </p:grpSpPr>
          <p:grpSp>
            <p:nvGrpSpPr>
              <p:cNvPr id="10" name="Gruppo 9">
                <a:extLst>
                  <a:ext uri="{FF2B5EF4-FFF2-40B4-BE49-F238E27FC236}">
                    <a16:creationId xmlns:a16="http://schemas.microsoft.com/office/drawing/2014/main" id="{2CBBA131-DE37-5437-CED5-B4180B029E25}"/>
                  </a:ext>
                </a:extLst>
              </p:cNvPr>
              <p:cNvGrpSpPr/>
              <p:nvPr/>
            </p:nvGrpSpPr>
            <p:grpSpPr>
              <a:xfrm>
                <a:off x="6734403" y="623243"/>
                <a:ext cx="576000" cy="406706"/>
                <a:chOff x="6734403" y="623243"/>
                <a:chExt cx="576000" cy="406706"/>
              </a:xfrm>
            </p:grpSpPr>
            <p:pic>
              <p:nvPicPr>
                <p:cNvPr id="23" name="Elemento grafico 22">
                  <a:extLst>
                    <a:ext uri="{FF2B5EF4-FFF2-40B4-BE49-F238E27FC236}">
                      <a16:creationId xmlns:a16="http://schemas.microsoft.com/office/drawing/2014/main" id="{46C9494C-86D1-BBE0-94CD-9CC3B5D49D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08103" y="801349"/>
                  <a:ext cx="228600" cy="228600"/>
                </a:xfrm>
                <a:prstGeom prst="rect">
                  <a:avLst/>
                </a:prstGeom>
              </p:spPr>
            </p:pic>
            <p:sp>
              <p:nvSpPr>
                <p:cNvPr id="24" name="CasellaDiTesto 23">
                  <a:extLst>
                    <a:ext uri="{FF2B5EF4-FFF2-40B4-BE49-F238E27FC236}">
                      <a16:creationId xmlns:a16="http://schemas.microsoft.com/office/drawing/2014/main" id="{2FD10659-498F-9369-CD7D-BA1C4518B551}"/>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1" name="Gruppo 10">
                <a:extLst>
                  <a:ext uri="{FF2B5EF4-FFF2-40B4-BE49-F238E27FC236}">
                    <a16:creationId xmlns:a16="http://schemas.microsoft.com/office/drawing/2014/main" id="{EAD14926-1583-4B54-5C34-91226DF1EDE1}"/>
                  </a:ext>
                </a:extLst>
              </p:cNvPr>
              <p:cNvGrpSpPr/>
              <p:nvPr/>
            </p:nvGrpSpPr>
            <p:grpSpPr>
              <a:xfrm>
                <a:off x="7277910" y="623243"/>
                <a:ext cx="576000" cy="406706"/>
                <a:chOff x="7291884" y="623243"/>
                <a:chExt cx="576000" cy="406706"/>
              </a:xfrm>
            </p:grpSpPr>
            <p:pic>
              <p:nvPicPr>
                <p:cNvPr id="21" name="Elemento grafico 20">
                  <a:extLst>
                    <a:ext uri="{FF2B5EF4-FFF2-40B4-BE49-F238E27FC236}">
                      <a16:creationId xmlns:a16="http://schemas.microsoft.com/office/drawing/2014/main" id="{F2C4C22C-A996-C031-2C5B-56D1CDB11E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65584" y="801349"/>
                  <a:ext cx="228600" cy="228600"/>
                </a:xfrm>
                <a:prstGeom prst="rect">
                  <a:avLst/>
                </a:prstGeom>
              </p:spPr>
            </p:pic>
            <p:sp>
              <p:nvSpPr>
                <p:cNvPr id="22" name="CasellaDiTesto 21">
                  <a:extLst>
                    <a:ext uri="{FF2B5EF4-FFF2-40B4-BE49-F238E27FC236}">
                      <a16:creationId xmlns:a16="http://schemas.microsoft.com/office/drawing/2014/main" id="{4E652960-6C0F-3074-8DE2-7A0A2CAD656A}"/>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2" name="Gruppo 11">
                <a:extLst>
                  <a:ext uri="{FF2B5EF4-FFF2-40B4-BE49-F238E27FC236}">
                    <a16:creationId xmlns:a16="http://schemas.microsoft.com/office/drawing/2014/main" id="{D7759E8A-635A-C151-6769-1259A0FA8009}"/>
                  </a:ext>
                </a:extLst>
              </p:cNvPr>
              <p:cNvGrpSpPr/>
              <p:nvPr/>
            </p:nvGrpSpPr>
            <p:grpSpPr>
              <a:xfrm>
                <a:off x="7743611" y="623243"/>
                <a:ext cx="731612" cy="406706"/>
                <a:chOff x="7777971" y="623243"/>
                <a:chExt cx="731612" cy="406706"/>
              </a:xfrm>
            </p:grpSpPr>
            <p:pic>
              <p:nvPicPr>
                <p:cNvPr id="19" name="Elemento grafico 18">
                  <a:extLst>
                    <a:ext uri="{FF2B5EF4-FFF2-40B4-BE49-F238E27FC236}">
                      <a16:creationId xmlns:a16="http://schemas.microsoft.com/office/drawing/2014/main" id="{1444C2E3-99FE-8D7D-2C85-87334272EE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29477" y="801349"/>
                  <a:ext cx="228600" cy="228600"/>
                </a:xfrm>
                <a:prstGeom prst="rect">
                  <a:avLst/>
                </a:prstGeom>
              </p:spPr>
            </p:pic>
            <p:sp>
              <p:nvSpPr>
                <p:cNvPr id="20" name="CasellaDiTesto 19">
                  <a:extLst>
                    <a:ext uri="{FF2B5EF4-FFF2-40B4-BE49-F238E27FC236}">
                      <a16:creationId xmlns:a16="http://schemas.microsoft.com/office/drawing/2014/main" id="{36F2F29A-8663-90E9-4D7D-C4780702933B}"/>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PROPOSTA</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3" name="Gruppo 12">
                <a:extLst>
                  <a:ext uri="{FF2B5EF4-FFF2-40B4-BE49-F238E27FC236}">
                    <a16:creationId xmlns:a16="http://schemas.microsoft.com/office/drawing/2014/main" id="{ACD89764-F879-7E39-A096-6C26D0D7935C}"/>
                  </a:ext>
                </a:extLst>
              </p:cNvPr>
              <p:cNvGrpSpPr/>
              <p:nvPr/>
            </p:nvGrpSpPr>
            <p:grpSpPr>
              <a:xfrm>
                <a:off x="8364924" y="623243"/>
                <a:ext cx="576000" cy="406706"/>
                <a:chOff x="8576444" y="623243"/>
                <a:chExt cx="576000" cy="406706"/>
              </a:xfrm>
            </p:grpSpPr>
            <p:pic>
              <p:nvPicPr>
                <p:cNvPr id="17" name="Elemento grafico 16">
                  <a:extLst>
                    <a:ext uri="{FF2B5EF4-FFF2-40B4-BE49-F238E27FC236}">
                      <a16:creationId xmlns:a16="http://schemas.microsoft.com/office/drawing/2014/main" id="{D3E92406-18A8-74D6-E976-E8544622CC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50144" y="801349"/>
                  <a:ext cx="228600" cy="228600"/>
                </a:xfrm>
                <a:prstGeom prst="rect">
                  <a:avLst/>
                </a:prstGeom>
              </p:spPr>
            </p:pic>
            <p:sp>
              <p:nvSpPr>
                <p:cNvPr id="18" name="CasellaDiTesto 17">
                  <a:extLst>
                    <a:ext uri="{FF2B5EF4-FFF2-40B4-BE49-F238E27FC236}">
                      <a16:creationId xmlns:a16="http://schemas.microsoft.com/office/drawing/2014/main" id="{49EFC053-401C-F388-DBE8-2B7A38311100}"/>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14" name="Gruppo 13">
                <a:extLst>
                  <a:ext uri="{FF2B5EF4-FFF2-40B4-BE49-F238E27FC236}">
                    <a16:creationId xmlns:a16="http://schemas.microsoft.com/office/drawing/2014/main" id="{44547CB1-757D-21DD-C161-CC889AA083E3}"/>
                  </a:ext>
                </a:extLst>
              </p:cNvPr>
              <p:cNvGrpSpPr/>
              <p:nvPr/>
            </p:nvGrpSpPr>
            <p:grpSpPr>
              <a:xfrm>
                <a:off x="8908432" y="623243"/>
                <a:ext cx="576000" cy="406706"/>
                <a:chOff x="9067561" y="623243"/>
                <a:chExt cx="576000" cy="406706"/>
              </a:xfrm>
            </p:grpSpPr>
            <p:pic>
              <p:nvPicPr>
                <p:cNvPr id="15" name="Elemento grafico 14">
                  <a:extLst>
                    <a:ext uri="{FF2B5EF4-FFF2-40B4-BE49-F238E27FC236}">
                      <a16:creationId xmlns:a16="http://schemas.microsoft.com/office/drawing/2014/main" id="{838303D1-81A5-C8EA-D649-6141A138C0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41261" y="801349"/>
                  <a:ext cx="228600" cy="228600"/>
                </a:xfrm>
                <a:prstGeom prst="rect">
                  <a:avLst/>
                </a:prstGeom>
              </p:spPr>
            </p:pic>
            <p:sp>
              <p:nvSpPr>
                <p:cNvPr id="16" name="CasellaDiTesto 15">
                  <a:extLst>
                    <a:ext uri="{FF2B5EF4-FFF2-40B4-BE49-F238E27FC236}">
                      <a16:creationId xmlns:a16="http://schemas.microsoft.com/office/drawing/2014/main" id="{D7ED86A7-6018-C7DF-AA34-C076B6D4E856}"/>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extLst>
      <p:ext uri="{BB962C8B-B14F-4D97-AF65-F5344CB8AC3E}">
        <p14:creationId xmlns:p14="http://schemas.microsoft.com/office/powerpoint/2010/main" val="928945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EB060-48F3-CEA0-E3BF-66B4CF1A605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4371BD6-146A-12BE-C266-6FA407215892}"/>
              </a:ext>
            </a:extLst>
          </p:cNvPr>
          <p:cNvSpPr>
            <a:spLocks noGrp="1"/>
          </p:cNvSpPr>
          <p:nvPr>
            <p:ph type="title"/>
          </p:nvPr>
        </p:nvSpPr>
        <p:spPr/>
        <p:txBody>
          <a:bodyPr/>
          <a:lstStyle/>
          <a:p>
            <a:r>
              <a:rPr lang="it-IT" dirty="0"/>
              <a:t>Data pipeline | </a:t>
            </a:r>
            <a:r>
              <a:rPr lang="it-IT" dirty="0">
                <a:solidFill>
                  <a:schemeClr val="tx1"/>
                </a:solidFill>
                <a:ea typeface="+mn-ea"/>
                <a:cs typeface="+mn-cs"/>
              </a:rPr>
              <a:t>Il modello in dettaglio</a:t>
            </a:r>
          </a:p>
        </p:txBody>
      </p:sp>
      <p:sp>
        <p:nvSpPr>
          <p:cNvPr id="26" name="Tittle Function 01…">
            <a:extLst>
              <a:ext uri="{FF2B5EF4-FFF2-40B4-BE49-F238E27FC236}">
                <a16:creationId xmlns:a16="http://schemas.microsoft.com/office/drawing/2014/main" id="{BFFEF7BF-F014-CEC0-E578-489D4D4CE82F}"/>
              </a:ext>
            </a:extLst>
          </p:cNvPr>
          <p:cNvSpPr txBox="1">
            <a:spLocks noGrp="1" noRot="1" noMove="1" noResize="1" noEditPoints="1" noAdjustHandles="1" noChangeArrowheads="1" noChangeShapeType="1"/>
          </p:cNvSpPr>
          <p:nvPr/>
        </p:nvSpPr>
        <p:spPr>
          <a:xfrm>
            <a:off x="3502986" y="6133976"/>
            <a:ext cx="5991927" cy="21544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400" i="1" dirty="0">
                <a:solidFill>
                  <a:schemeClr val="tx1">
                    <a:lumMod val="85000"/>
                    <a:lumOff val="15000"/>
                  </a:schemeClr>
                </a:solidFill>
                <a:latin typeface="+mj-lt"/>
              </a:rPr>
              <a:t>Dal dato grezzo all’output finale, con controlli in ogni fase</a:t>
            </a:r>
          </a:p>
        </p:txBody>
      </p:sp>
      <p:grpSp>
        <p:nvGrpSpPr>
          <p:cNvPr id="2" name="Gruppo 1">
            <a:extLst>
              <a:ext uri="{FF2B5EF4-FFF2-40B4-BE49-F238E27FC236}">
                <a16:creationId xmlns:a16="http://schemas.microsoft.com/office/drawing/2014/main" id="{384317C2-F686-55CF-27AA-0CBEC006ADA9}"/>
              </a:ext>
            </a:extLst>
          </p:cNvPr>
          <p:cNvGrpSpPr>
            <a:grpSpLocks noGrp="1" noUngrp="1" noRot="1" noMove="1" noResize="1"/>
          </p:cNvGrpSpPr>
          <p:nvPr/>
        </p:nvGrpSpPr>
        <p:grpSpPr>
          <a:xfrm>
            <a:off x="790831" y="1364035"/>
            <a:ext cx="10808757" cy="4373832"/>
            <a:chOff x="790831" y="1229565"/>
            <a:chExt cx="10808757" cy="4373832"/>
          </a:xfrm>
        </p:grpSpPr>
        <p:grpSp>
          <p:nvGrpSpPr>
            <p:cNvPr id="46" name="Gruppo 45">
              <a:extLst>
                <a:ext uri="{FF2B5EF4-FFF2-40B4-BE49-F238E27FC236}">
                  <a16:creationId xmlns:a16="http://schemas.microsoft.com/office/drawing/2014/main" id="{07EC4567-F7C5-EDF0-78A6-D46D9F582B72}"/>
                </a:ext>
              </a:extLst>
            </p:cNvPr>
            <p:cNvGrpSpPr>
              <a:grpSpLocks noGrp="1" noUngrp="1" noRot="1" noMove="1" noResize="1"/>
            </p:cNvGrpSpPr>
            <p:nvPr/>
          </p:nvGrpSpPr>
          <p:grpSpPr>
            <a:xfrm>
              <a:off x="1618735" y="1229565"/>
              <a:ext cx="5542006" cy="792000"/>
              <a:chOff x="1618735" y="1307379"/>
              <a:chExt cx="5542006" cy="792000"/>
            </a:xfrm>
          </p:grpSpPr>
          <p:sp>
            <p:nvSpPr>
              <p:cNvPr id="16" name="Rettangolo con angoli arrotondati 15">
                <a:extLst>
                  <a:ext uri="{FF2B5EF4-FFF2-40B4-BE49-F238E27FC236}">
                    <a16:creationId xmlns:a16="http://schemas.microsoft.com/office/drawing/2014/main" id="{B20EECBC-B667-CDD8-8B45-71D3D48C1B78}"/>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ttangolo con angoli arrotondati 20">
                <a:extLst>
                  <a:ext uri="{FF2B5EF4-FFF2-40B4-BE49-F238E27FC236}">
                    <a16:creationId xmlns:a16="http://schemas.microsoft.com/office/drawing/2014/main" id="{76A05A8E-C211-2033-07C8-145D41AFED43}"/>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0650"/>
                <a:r>
                  <a:rPr lang="it-IT" sz="800" spc="-30" dirty="0">
                    <a:solidFill>
                      <a:srgbClr val="158D7E"/>
                    </a:solidFill>
                    <a:latin typeface="Poppins SemiBold" panose="00000700000000000000" pitchFamily="2" charset="0"/>
                    <a:cs typeface="Poppins SemiBold" panose="00000700000000000000" pitchFamily="2" charset="0"/>
                  </a:rPr>
                  <a:t>Fonte tracciata</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27" name="Connettore 26">
                <a:extLst>
                  <a:ext uri="{FF2B5EF4-FFF2-40B4-BE49-F238E27FC236}">
                    <a16:creationId xmlns:a16="http://schemas.microsoft.com/office/drawing/2014/main" id="{934B2D56-C993-FFC1-BEF6-0CC9697AA7AE}"/>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3787CE"/>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1</a:t>
                </a:r>
                <a:endParaRPr lang="en-US" sz="1000" dirty="0"/>
              </a:p>
            </p:txBody>
          </p:sp>
          <p:sp>
            <p:nvSpPr>
              <p:cNvPr id="31" name="Tittle Function 01…">
                <a:extLst>
                  <a:ext uri="{FF2B5EF4-FFF2-40B4-BE49-F238E27FC236}">
                    <a16:creationId xmlns:a16="http://schemas.microsoft.com/office/drawing/2014/main" id="{0DD0ADF3-9AE1-21BE-AC65-AFB5365DACD1}"/>
                  </a:ext>
                </a:extLst>
              </p:cNvPr>
              <p:cNvSpPr txBox="1">
                <a:spLocks noGrp="1" noRot="1" noMove="1" noResize="1" noEditPoints="1" noAdjustHandles="1" noChangeArrowheads="1" noChangeShapeType="1"/>
              </p:cNvSpPr>
              <p:nvPr/>
            </p:nvSpPr>
            <p:spPr>
              <a:xfrm>
                <a:off x="1968294" y="1370484"/>
                <a:ext cx="664882" cy="184666"/>
              </a:xfrm>
              <a:prstGeom prst="rect">
                <a:avLst/>
              </a:prstGeom>
              <a:ln w="12700">
                <a:noFill/>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dirty="0">
                    <a:solidFill>
                      <a:srgbClr val="3787CE"/>
                    </a:solidFill>
                    <a:latin typeface="+mj-lt"/>
                  </a:rPr>
                  <a:t>Fonte</a:t>
                </a:r>
                <a:endParaRPr lang="it-IT" sz="1200" b="1" dirty="0">
                  <a:solidFill>
                    <a:srgbClr val="3787CE"/>
                  </a:solidFill>
                  <a:latin typeface="+mj-lt"/>
                  <a:cs typeface="Poppins SemiBold"/>
                </a:endParaRPr>
              </a:p>
            </p:txBody>
          </p:sp>
          <p:sp>
            <p:nvSpPr>
              <p:cNvPr id="32" name="Tittle Function 01…">
                <a:extLst>
                  <a:ext uri="{FF2B5EF4-FFF2-40B4-BE49-F238E27FC236}">
                    <a16:creationId xmlns:a16="http://schemas.microsoft.com/office/drawing/2014/main" id="{89729689-8FDC-1922-64D1-200C9A2CA2EA}"/>
                  </a:ext>
                </a:extLst>
              </p:cNvPr>
              <p:cNvSpPr txBox="1">
                <a:spLocks noGrp="1" noRot="1" noMove="1" noResize="1" noEditPoints="1" noAdjustHandles="1" noChangeArrowheads="1" noChangeShapeType="1"/>
              </p:cNvSpPr>
              <p:nvPr/>
            </p:nvSpPr>
            <p:spPr>
              <a:xfrm>
                <a:off x="1968294" y="1576276"/>
                <a:ext cx="206842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b="1" dirty="0">
                    <a:latin typeface="Poppins SemiBold" panose="00000700000000000000" pitchFamily="2" charset="0"/>
                    <a:cs typeface="Poppins SemiBold" panose="00000700000000000000" pitchFamily="2" charset="0"/>
                  </a:rPr>
                  <a:t>Acquisizione controllata</a:t>
                </a:r>
              </a:p>
            </p:txBody>
          </p:sp>
          <p:sp>
            <p:nvSpPr>
              <p:cNvPr id="33" name="Tittle Function 01…">
                <a:extLst>
                  <a:ext uri="{FF2B5EF4-FFF2-40B4-BE49-F238E27FC236}">
                    <a16:creationId xmlns:a16="http://schemas.microsoft.com/office/drawing/2014/main" id="{88A812FF-1E39-8B7E-C1D7-1F5CFC8CC032}"/>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API, file, database e sistemi cliente entrano nella pipeline senza perdere il legame con la fonte.</a:t>
                </a:r>
              </a:p>
            </p:txBody>
          </p:sp>
          <p:sp>
            <p:nvSpPr>
              <p:cNvPr id="34" name="Tittle Function 01…">
                <a:extLst>
                  <a:ext uri="{FF2B5EF4-FFF2-40B4-BE49-F238E27FC236}">
                    <a16:creationId xmlns:a16="http://schemas.microsoft.com/office/drawing/2014/main" id="{64E80D29-D1A1-554E-6F36-7FE28A3B9851}"/>
                  </a:ext>
                </a:extLst>
              </p:cNvPr>
              <p:cNvSpPr txBox="1">
                <a:spLocks noGrp="1" noRot="1" noMove="1" noResize="1" noEditPoints="1" noAdjustHandles="1" noChangeArrowheads="1" noChangeShapeType="1"/>
              </p:cNvSpPr>
              <p:nvPr/>
            </p:nvSpPr>
            <p:spPr>
              <a:xfrm>
                <a:off x="5166268" y="1664889"/>
                <a:ext cx="1932978" cy="33855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API, file, DB e </a:t>
                </a:r>
                <a:r>
                  <a:rPr lang="it-IT" sz="800" dirty="0">
                    <a:solidFill>
                      <a:schemeClr val="tx1">
                        <a:lumMod val="50000"/>
                        <a:lumOff val="50000"/>
                      </a:schemeClr>
                    </a:solidFill>
                    <a:latin typeface="Poppins" panose="00000500000000000000" pitchFamily="2" charset="0"/>
                    <a:cs typeface="Poppins" panose="00000500000000000000" pitchFamily="2" charset="0"/>
                  </a:rPr>
                  <a:t>sistemi</a:t>
                </a:r>
                <a:r>
                  <a:rPr lang="it-IT" sz="700" dirty="0">
                    <a:solidFill>
                      <a:schemeClr val="tx1">
                        <a:lumMod val="50000"/>
                        <a:lumOff val="50000"/>
                      </a:schemeClr>
                    </a:solidFill>
                    <a:latin typeface="Poppins" panose="00000500000000000000" pitchFamily="2" charset="0"/>
                    <a:cs typeface="Poppins" panose="00000500000000000000" pitchFamily="2" charset="0"/>
                  </a:rPr>
                  <a:t> cliente entrano in una landing/</a:t>
                </a:r>
                <a:r>
                  <a:rPr lang="en-US" sz="700" noProof="0" dirty="0">
                    <a:solidFill>
                      <a:schemeClr val="tx1">
                        <a:lumMod val="50000"/>
                        <a:lumOff val="50000"/>
                      </a:schemeClr>
                    </a:solidFill>
                    <a:latin typeface="Poppins" panose="00000500000000000000" pitchFamily="2" charset="0"/>
                    <a:cs typeface="Poppins" panose="00000500000000000000" pitchFamily="2" charset="0"/>
                  </a:rPr>
                  <a:t>raw</a:t>
                </a:r>
                <a:r>
                  <a:rPr lang="it-IT" sz="700" dirty="0">
                    <a:solidFill>
                      <a:schemeClr val="tx1">
                        <a:lumMod val="50000"/>
                        <a:lumOff val="50000"/>
                      </a:schemeClr>
                    </a:solidFill>
                    <a:latin typeface="Poppins" panose="00000500000000000000" pitchFamily="2" charset="0"/>
                    <a:cs typeface="Poppins" panose="00000500000000000000" pitchFamily="2" charset="0"/>
                  </a:rPr>
                  <a:t> zone senza perdere il legame con la fonte.</a:t>
                </a:r>
              </a:p>
            </p:txBody>
          </p:sp>
          <p:sp>
            <p:nvSpPr>
              <p:cNvPr id="44" name="Figura a mano libera: forma 43">
                <a:extLst>
                  <a:ext uri="{FF2B5EF4-FFF2-40B4-BE49-F238E27FC236}">
                    <a16:creationId xmlns:a16="http://schemas.microsoft.com/office/drawing/2014/main" id="{DA61DBB3-5704-1324-D546-C9CDC6CC53AC}"/>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86" name="Gruppo 85">
              <a:extLst>
                <a:ext uri="{FF2B5EF4-FFF2-40B4-BE49-F238E27FC236}">
                  <a16:creationId xmlns:a16="http://schemas.microsoft.com/office/drawing/2014/main" id="{398E8C5F-5579-1BC1-9414-B2E130F257B5}"/>
                </a:ext>
              </a:extLst>
            </p:cNvPr>
            <p:cNvGrpSpPr>
              <a:grpSpLocks noGrp="1" noUngrp="1" noRot="1" noMove="1" noResize="1"/>
            </p:cNvGrpSpPr>
            <p:nvPr/>
          </p:nvGrpSpPr>
          <p:grpSpPr>
            <a:xfrm>
              <a:off x="790831" y="1307379"/>
              <a:ext cx="636373" cy="636373"/>
              <a:chOff x="790831" y="1307379"/>
              <a:chExt cx="636373" cy="636373"/>
            </a:xfrm>
          </p:grpSpPr>
          <p:sp>
            <p:nvSpPr>
              <p:cNvPr id="9" name="Ovale 8">
                <a:extLst>
                  <a:ext uri="{FF2B5EF4-FFF2-40B4-BE49-F238E27FC236}">
                    <a16:creationId xmlns:a16="http://schemas.microsoft.com/office/drawing/2014/main" id="{0B24EAA5-6AF4-65EB-1B1B-A545B4955C5F}"/>
                  </a:ext>
                </a:extLst>
              </p:cNvPr>
              <p:cNvSpPr>
                <a:spLocks noGrp="1" noRot="1" noMove="1" noResize="1" noEditPoints="1" noAdjustHandles="1" noChangeArrowheads="1" noChangeShapeType="1"/>
              </p:cNvSpPr>
              <p:nvPr/>
            </p:nvSpPr>
            <p:spPr>
              <a:xfrm>
                <a:off x="790831" y="1307379"/>
                <a:ext cx="636373" cy="636373"/>
              </a:xfrm>
              <a:prstGeom prst="ellipse">
                <a:avLst/>
              </a:prstGeom>
              <a:noFill/>
              <a:ln>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Elemento grafico 41">
                <a:extLst>
                  <a:ext uri="{FF2B5EF4-FFF2-40B4-BE49-F238E27FC236}">
                    <a16:creationId xmlns:a16="http://schemas.microsoft.com/office/drawing/2014/main" id="{127C451E-C507-9791-A3CC-4BC4DB87B3E5}"/>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4"/>
                  </a:ext>
                </a:extLst>
              </a:blip>
              <a:stretch>
                <a:fillRect/>
              </a:stretch>
            </p:blipFill>
            <p:spPr>
              <a:xfrm>
                <a:off x="965017" y="1481565"/>
                <a:ext cx="288000" cy="288000"/>
              </a:xfrm>
              <a:prstGeom prst="rect">
                <a:avLst/>
              </a:prstGeom>
            </p:spPr>
          </p:pic>
        </p:grpSp>
        <p:grpSp>
          <p:nvGrpSpPr>
            <p:cNvPr id="87" name="Gruppo 86">
              <a:extLst>
                <a:ext uri="{FF2B5EF4-FFF2-40B4-BE49-F238E27FC236}">
                  <a16:creationId xmlns:a16="http://schemas.microsoft.com/office/drawing/2014/main" id="{E4A39C26-44D6-FC4C-0D9E-AC7E219653CD}"/>
                </a:ext>
              </a:extLst>
            </p:cNvPr>
            <p:cNvGrpSpPr>
              <a:grpSpLocks noGrp="1" noUngrp="1" noRot="1" noMove="1" noResize="1"/>
            </p:cNvGrpSpPr>
            <p:nvPr/>
          </p:nvGrpSpPr>
          <p:grpSpPr>
            <a:xfrm>
              <a:off x="790831" y="2202837"/>
              <a:ext cx="636373" cy="636373"/>
              <a:chOff x="790831" y="2202837"/>
              <a:chExt cx="636373" cy="636373"/>
            </a:xfrm>
          </p:grpSpPr>
          <p:sp>
            <p:nvSpPr>
              <p:cNvPr id="10" name="Ovale 9">
                <a:extLst>
                  <a:ext uri="{FF2B5EF4-FFF2-40B4-BE49-F238E27FC236}">
                    <a16:creationId xmlns:a16="http://schemas.microsoft.com/office/drawing/2014/main" id="{164E8EE3-D7EB-B546-7AB3-47F6CB237E29}"/>
                  </a:ext>
                </a:extLst>
              </p:cNvPr>
              <p:cNvSpPr>
                <a:spLocks noGrp="1" noRot="1" noMove="1" noResize="1" noEditPoints="1" noAdjustHandles="1" noChangeArrowheads="1" noChangeShapeType="1"/>
              </p:cNvSpPr>
              <p:nvPr/>
            </p:nvSpPr>
            <p:spPr>
              <a:xfrm>
                <a:off x="790831" y="2202837"/>
                <a:ext cx="636373" cy="636373"/>
              </a:xfrm>
              <a:prstGeom prst="ellipse">
                <a:avLst/>
              </a:prstGeom>
              <a:noFill/>
              <a:ln>
                <a:solidFill>
                  <a:srgbClr val="2AA2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9" name="Elemento grafico 78">
                <a:extLst>
                  <a:ext uri="{FF2B5EF4-FFF2-40B4-BE49-F238E27FC236}">
                    <a16:creationId xmlns:a16="http://schemas.microsoft.com/office/drawing/2014/main" id="{936F29DF-F754-2EB9-6A77-4DEAB3C37B4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5"/>
                  </a:ext>
                </a:extLst>
              </a:blip>
              <a:stretch>
                <a:fillRect/>
              </a:stretch>
            </p:blipFill>
            <p:spPr>
              <a:xfrm>
                <a:off x="965017" y="2349736"/>
                <a:ext cx="288000" cy="342575"/>
              </a:xfrm>
              <a:prstGeom prst="rect">
                <a:avLst/>
              </a:prstGeom>
            </p:spPr>
          </p:pic>
        </p:grpSp>
        <p:grpSp>
          <p:nvGrpSpPr>
            <p:cNvPr id="88" name="Gruppo 87">
              <a:extLst>
                <a:ext uri="{FF2B5EF4-FFF2-40B4-BE49-F238E27FC236}">
                  <a16:creationId xmlns:a16="http://schemas.microsoft.com/office/drawing/2014/main" id="{75ECD2C5-235E-D5FC-8016-233BDF5A78E1}"/>
                </a:ext>
              </a:extLst>
            </p:cNvPr>
            <p:cNvGrpSpPr>
              <a:grpSpLocks noGrp="1" noUngrp="1" noRot="1" noMove="1" noResize="1"/>
            </p:cNvGrpSpPr>
            <p:nvPr/>
          </p:nvGrpSpPr>
          <p:grpSpPr>
            <a:xfrm>
              <a:off x="790831" y="3098295"/>
              <a:ext cx="636373" cy="636373"/>
              <a:chOff x="790831" y="3098295"/>
              <a:chExt cx="636373" cy="636373"/>
            </a:xfrm>
          </p:grpSpPr>
          <p:sp>
            <p:nvSpPr>
              <p:cNvPr id="12" name="Ovale 11">
                <a:extLst>
                  <a:ext uri="{FF2B5EF4-FFF2-40B4-BE49-F238E27FC236}">
                    <a16:creationId xmlns:a16="http://schemas.microsoft.com/office/drawing/2014/main" id="{B846FCFB-E4A2-4C38-66F4-A1EAB3FE2919}"/>
                  </a:ext>
                </a:extLst>
              </p:cNvPr>
              <p:cNvSpPr>
                <a:spLocks noGrp="1" noRot="1" noMove="1" noResize="1" noEditPoints="1" noAdjustHandles="1" noChangeArrowheads="1" noChangeShapeType="1"/>
              </p:cNvSpPr>
              <p:nvPr/>
            </p:nvSpPr>
            <p:spPr>
              <a:xfrm>
                <a:off x="790831" y="3098295"/>
                <a:ext cx="636373" cy="636373"/>
              </a:xfrm>
              <a:prstGeom prst="ellipse">
                <a:avLst/>
              </a:prstGeom>
              <a:noFill/>
              <a:ln>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 name="Elemento grafico 80">
                <a:extLst>
                  <a:ext uri="{FF2B5EF4-FFF2-40B4-BE49-F238E27FC236}">
                    <a16:creationId xmlns:a16="http://schemas.microsoft.com/office/drawing/2014/main" id="{88129BC4-24CA-604C-5310-4D45132CE8A4}"/>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6"/>
                  </a:ext>
                </a:extLst>
              </a:blip>
              <a:stretch>
                <a:fillRect/>
              </a:stretch>
            </p:blipFill>
            <p:spPr>
              <a:xfrm>
                <a:off x="935520" y="3242984"/>
                <a:ext cx="346995" cy="346995"/>
              </a:xfrm>
              <a:prstGeom prst="rect">
                <a:avLst/>
              </a:prstGeom>
            </p:spPr>
          </p:pic>
        </p:grpSp>
        <p:grpSp>
          <p:nvGrpSpPr>
            <p:cNvPr id="89" name="Gruppo 88">
              <a:extLst>
                <a:ext uri="{FF2B5EF4-FFF2-40B4-BE49-F238E27FC236}">
                  <a16:creationId xmlns:a16="http://schemas.microsoft.com/office/drawing/2014/main" id="{1C078036-9B50-9D1A-FAC9-9CCB3F6E7A0F}"/>
                </a:ext>
              </a:extLst>
            </p:cNvPr>
            <p:cNvGrpSpPr>
              <a:grpSpLocks noGrp="1" noUngrp="1" noRot="1" noMove="1" noResize="1"/>
            </p:cNvGrpSpPr>
            <p:nvPr/>
          </p:nvGrpSpPr>
          <p:grpSpPr>
            <a:xfrm>
              <a:off x="790831" y="3993753"/>
              <a:ext cx="636373" cy="636373"/>
              <a:chOff x="790831" y="3993753"/>
              <a:chExt cx="636373" cy="636373"/>
            </a:xfrm>
          </p:grpSpPr>
          <p:sp>
            <p:nvSpPr>
              <p:cNvPr id="14" name="Ovale 13">
                <a:extLst>
                  <a:ext uri="{FF2B5EF4-FFF2-40B4-BE49-F238E27FC236}">
                    <a16:creationId xmlns:a16="http://schemas.microsoft.com/office/drawing/2014/main" id="{3243455A-4C85-263F-D4F8-E0F0309EEFA4}"/>
                  </a:ext>
                </a:extLst>
              </p:cNvPr>
              <p:cNvSpPr>
                <a:spLocks noGrp="1" noRot="1" noMove="1" noResize="1" noEditPoints="1" noAdjustHandles="1" noChangeArrowheads="1" noChangeShapeType="1"/>
              </p:cNvSpPr>
              <p:nvPr/>
            </p:nvSpPr>
            <p:spPr>
              <a:xfrm>
                <a:off x="790831" y="3993753"/>
                <a:ext cx="636373" cy="636373"/>
              </a:xfrm>
              <a:prstGeom prst="ellipse">
                <a:avLst/>
              </a:prstGeom>
              <a:noFill/>
              <a:ln>
                <a:solidFill>
                  <a:srgbClr val="40B2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3" name="Elemento grafico 82">
                <a:extLst>
                  <a:ext uri="{FF2B5EF4-FFF2-40B4-BE49-F238E27FC236}">
                    <a16:creationId xmlns:a16="http://schemas.microsoft.com/office/drawing/2014/main" id="{6027C0F7-7FA9-134D-BF49-625730DBDF96}"/>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7"/>
                  </a:ext>
                </a:extLst>
              </a:blip>
              <a:stretch>
                <a:fillRect/>
              </a:stretch>
            </p:blipFill>
            <p:spPr>
              <a:xfrm>
                <a:off x="965017" y="4167939"/>
                <a:ext cx="288000" cy="288000"/>
              </a:xfrm>
              <a:prstGeom prst="rect">
                <a:avLst/>
              </a:prstGeom>
            </p:spPr>
          </p:pic>
        </p:grpSp>
        <p:grpSp>
          <p:nvGrpSpPr>
            <p:cNvPr id="90" name="Gruppo 89">
              <a:extLst>
                <a:ext uri="{FF2B5EF4-FFF2-40B4-BE49-F238E27FC236}">
                  <a16:creationId xmlns:a16="http://schemas.microsoft.com/office/drawing/2014/main" id="{9DC1F5DC-C4EE-6BDE-9529-3854855C8A91}"/>
                </a:ext>
              </a:extLst>
            </p:cNvPr>
            <p:cNvGrpSpPr>
              <a:grpSpLocks noGrp="1" noUngrp="1" noRot="1" noMove="1" noResize="1"/>
            </p:cNvGrpSpPr>
            <p:nvPr/>
          </p:nvGrpSpPr>
          <p:grpSpPr>
            <a:xfrm>
              <a:off x="790831" y="4889211"/>
              <a:ext cx="636373" cy="636373"/>
              <a:chOff x="790831" y="4889211"/>
              <a:chExt cx="636373" cy="636373"/>
            </a:xfrm>
          </p:grpSpPr>
          <p:sp>
            <p:nvSpPr>
              <p:cNvPr id="15" name="Ovale 14">
                <a:extLst>
                  <a:ext uri="{FF2B5EF4-FFF2-40B4-BE49-F238E27FC236}">
                    <a16:creationId xmlns:a16="http://schemas.microsoft.com/office/drawing/2014/main" id="{66B7523B-5A06-5D9D-AB41-6797D45FDD98}"/>
                  </a:ext>
                </a:extLst>
              </p:cNvPr>
              <p:cNvSpPr>
                <a:spLocks noGrp="1" noRot="1" noMove="1" noResize="1" noEditPoints="1" noAdjustHandles="1" noChangeArrowheads="1" noChangeShapeType="1"/>
              </p:cNvSpPr>
              <p:nvPr/>
            </p:nvSpPr>
            <p:spPr>
              <a:xfrm>
                <a:off x="790831" y="4889211"/>
                <a:ext cx="636373" cy="636373"/>
              </a:xfrm>
              <a:prstGeom prst="ellipse">
                <a:avLst/>
              </a:prstGeom>
              <a:noFill/>
              <a:ln>
                <a:solidFill>
                  <a:srgbClr val="42B5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5" name="Elemento grafico 84">
                <a:extLst>
                  <a:ext uri="{FF2B5EF4-FFF2-40B4-BE49-F238E27FC236}">
                    <a16:creationId xmlns:a16="http://schemas.microsoft.com/office/drawing/2014/main" id="{FC7D8E02-77F7-A05F-324A-73CFA6EBFE12}"/>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8"/>
                  </a:ext>
                </a:extLst>
              </a:blip>
              <a:stretch>
                <a:fillRect/>
              </a:stretch>
            </p:blipFill>
            <p:spPr>
              <a:xfrm>
                <a:off x="947017" y="5045397"/>
                <a:ext cx="324000" cy="324000"/>
              </a:xfrm>
              <a:prstGeom prst="rect">
                <a:avLst/>
              </a:prstGeom>
            </p:spPr>
          </p:pic>
        </p:grpSp>
        <p:grpSp>
          <p:nvGrpSpPr>
            <p:cNvPr id="91" name="Gruppo 90">
              <a:extLst>
                <a:ext uri="{FF2B5EF4-FFF2-40B4-BE49-F238E27FC236}">
                  <a16:creationId xmlns:a16="http://schemas.microsoft.com/office/drawing/2014/main" id="{741EBE2F-5EE1-4161-6232-F7B9414EB2B2}"/>
                </a:ext>
              </a:extLst>
            </p:cNvPr>
            <p:cNvGrpSpPr>
              <a:grpSpLocks noGrp="1" noUngrp="1" noRot="1" noMove="1" noResize="1"/>
            </p:cNvGrpSpPr>
            <p:nvPr/>
          </p:nvGrpSpPr>
          <p:grpSpPr>
            <a:xfrm>
              <a:off x="1618735" y="2127652"/>
              <a:ext cx="5542006" cy="792000"/>
              <a:chOff x="1618735" y="1307379"/>
              <a:chExt cx="5542006" cy="792000"/>
            </a:xfrm>
          </p:grpSpPr>
          <p:sp>
            <p:nvSpPr>
              <p:cNvPr id="92" name="Rettangolo con angoli arrotondati 91">
                <a:extLst>
                  <a:ext uri="{FF2B5EF4-FFF2-40B4-BE49-F238E27FC236}">
                    <a16:creationId xmlns:a16="http://schemas.microsoft.com/office/drawing/2014/main" id="{B9B2CAFB-0D14-A402-3D5A-EF9927FD1DD1}"/>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ttangolo con angoli arrotondati 92">
                <a:extLst>
                  <a:ext uri="{FF2B5EF4-FFF2-40B4-BE49-F238E27FC236}">
                    <a16:creationId xmlns:a16="http://schemas.microsoft.com/office/drawing/2014/main" id="{D9D6BCE1-49FC-0396-226C-06F52B650C78}"/>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7000"/>
                <a:r>
                  <a:rPr lang="it-IT" sz="800" spc="-30" dirty="0">
                    <a:solidFill>
                      <a:srgbClr val="158D7E"/>
                    </a:solidFill>
                    <a:latin typeface="Poppins SemiBold" panose="00000700000000000000" pitchFamily="2" charset="0"/>
                    <a:cs typeface="Poppins SemiBold" panose="00000700000000000000" pitchFamily="2" charset="0"/>
                  </a:rPr>
                  <a:t>Accettato / Scartato</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94" name="Connettore 93">
                <a:extLst>
                  <a:ext uri="{FF2B5EF4-FFF2-40B4-BE49-F238E27FC236}">
                    <a16:creationId xmlns:a16="http://schemas.microsoft.com/office/drawing/2014/main" id="{ABA3F9C2-F2FF-2268-20D6-D6FFB85FAF0E}"/>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3DAFD3"/>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2</a:t>
                </a:r>
                <a:endParaRPr lang="en-US" dirty="0"/>
              </a:p>
            </p:txBody>
          </p:sp>
          <p:sp>
            <p:nvSpPr>
              <p:cNvPr id="95" name="Tittle Function 01…">
                <a:extLst>
                  <a:ext uri="{FF2B5EF4-FFF2-40B4-BE49-F238E27FC236}">
                    <a16:creationId xmlns:a16="http://schemas.microsoft.com/office/drawing/2014/main" id="{652EFB07-4BFA-A4F6-BA34-66E140E31811}"/>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noProof="0" dirty="0">
                    <a:solidFill>
                      <a:srgbClr val="2AA2C9"/>
                    </a:solidFill>
                    <a:latin typeface="+mj-lt"/>
                  </a:rPr>
                  <a:t>Contratto dati</a:t>
                </a:r>
                <a:endParaRPr lang="it-IT" sz="1200" b="1" noProof="0" dirty="0">
                  <a:solidFill>
                    <a:srgbClr val="2AA2C9"/>
                  </a:solidFill>
                  <a:latin typeface="+mj-lt"/>
                  <a:cs typeface="Poppins SemiBold"/>
                </a:endParaRPr>
              </a:p>
            </p:txBody>
          </p:sp>
          <p:sp>
            <p:nvSpPr>
              <p:cNvPr id="96" name="Tittle Function 01…">
                <a:extLst>
                  <a:ext uri="{FF2B5EF4-FFF2-40B4-BE49-F238E27FC236}">
                    <a16:creationId xmlns:a16="http://schemas.microsoft.com/office/drawing/2014/main" id="{9AD5B86B-04C6-5E0A-50EF-24C3F6D59CAD}"/>
                  </a:ext>
                </a:extLst>
              </p:cNvPr>
              <p:cNvSpPr txBox="1">
                <a:spLocks noGrp="1" noRot="1" noMove="1" noResize="1" noEditPoints="1" noAdjustHandles="1" noChangeArrowheads="1" noChangeShapeType="1"/>
              </p:cNvSpPr>
              <p:nvPr/>
            </p:nvSpPr>
            <p:spPr>
              <a:xfrm>
                <a:off x="1968294" y="1576276"/>
                <a:ext cx="206842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b="1" dirty="0">
                    <a:latin typeface="Poppins SemiBold" panose="00000700000000000000" pitchFamily="2" charset="0"/>
                    <a:cs typeface="Poppins SemiBold" panose="00000700000000000000" pitchFamily="2" charset="0"/>
                  </a:rPr>
                  <a:t>Verifica formati e regole minime</a:t>
                </a:r>
              </a:p>
            </p:txBody>
          </p:sp>
          <p:sp>
            <p:nvSpPr>
              <p:cNvPr id="97" name="Tittle Function 01…">
                <a:extLst>
                  <a:ext uri="{FF2B5EF4-FFF2-40B4-BE49-F238E27FC236}">
                    <a16:creationId xmlns:a16="http://schemas.microsoft.com/office/drawing/2014/main" id="{6B0FDED9-B071-86C1-CFB8-DDAC52F47B1E}"/>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Campi obbligatori, formati, </a:t>
                </a:r>
                <a:r>
                  <a:rPr lang="en-US" sz="900" noProof="0" dirty="0">
                    <a:solidFill>
                      <a:schemeClr val="tx1">
                        <a:lumMod val="50000"/>
                        <a:lumOff val="50000"/>
                      </a:schemeClr>
                    </a:solidFill>
                    <a:latin typeface="Poppins" panose="00000500000000000000" pitchFamily="2" charset="0"/>
                    <a:cs typeface="Poppins" panose="00000500000000000000" pitchFamily="2" charset="0"/>
                  </a:rPr>
                  <a:t>header</a:t>
                </a:r>
                <a:r>
                  <a:rPr lang="it-IT" sz="900" dirty="0">
                    <a:solidFill>
                      <a:schemeClr val="tx1">
                        <a:lumMod val="50000"/>
                        <a:lumOff val="50000"/>
                      </a:schemeClr>
                    </a:solidFill>
                    <a:latin typeface="Poppins" panose="00000500000000000000" pitchFamily="2" charset="0"/>
                    <a:cs typeface="Poppins" panose="00000500000000000000" pitchFamily="2" charset="0"/>
                  </a:rPr>
                  <a:t>/</a:t>
                </a:r>
                <a:r>
                  <a:rPr lang="en-US" sz="900" noProof="0" dirty="0">
                    <a:solidFill>
                      <a:schemeClr val="tx1">
                        <a:lumMod val="50000"/>
                        <a:lumOff val="50000"/>
                      </a:schemeClr>
                    </a:solidFill>
                    <a:latin typeface="Poppins" panose="00000500000000000000" pitchFamily="2" charset="0"/>
                    <a:cs typeface="Poppins" panose="00000500000000000000" pitchFamily="2" charset="0"/>
                  </a:rPr>
                  <a:t>tail</a:t>
                </a:r>
                <a:r>
                  <a:rPr lang="it-IT" sz="900" dirty="0">
                    <a:solidFill>
                      <a:schemeClr val="tx1">
                        <a:lumMod val="50000"/>
                        <a:lumOff val="50000"/>
                      </a:schemeClr>
                    </a:solidFill>
                    <a:latin typeface="Poppins" panose="00000500000000000000" pitchFamily="2" charset="0"/>
                    <a:cs typeface="Poppins" panose="00000500000000000000" pitchFamily="2" charset="0"/>
                  </a:rPr>
                  <a:t>, frequenza, ownership e versioni tracciato.</a:t>
                </a:r>
              </a:p>
            </p:txBody>
          </p:sp>
          <p:sp>
            <p:nvSpPr>
              <p:cNvPr id="98" name="Tittle Function 01…">
                <a:extLst>
                  <a:ext uri="{FF2B5EF4-FFF2-40B4-BE49-F238E27FC236}">
                    <a16:creationId xmlns:a16="http://schemas.microsoft.com/office/drawing/2014/main" id="{C99F4A45-FA04-1387-60AC-DF01B47F1610}"/>
                  </a:ext>
                </a:extLst>
              </p:cNvPr>
              <p:cNvSpPr txBox="1">
                <a:spLocks noGrp="1" noRot="1" noMove="1" noResize="1" noEditPoints="1" noAdjustHandles="1" noChangeArrowheads="1" noChangeShapeType="1"/>
              </p:cNvSpPr>
              <p:nvPr/>
            </p:nvSpPr>
            <p:spPr>
              <a:xfrm>
                <a:off x="5166268" y="1664889"/>
                <a:ext cx="1932978" cy="323165"/>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I dati che rispettano il contratto proseguono, gli altri vengono scartati e tracciati.</a:t>
                </a:r>
              </a:p>
            </p:txBody>
          </p:sp>
          <p:sp>
            <p:nvSpPr>
              <p:cNvPr id="99" name="Figura a mano libera: forma 98">
                <a:extLst>
                  <a:ext uri="{FF2B5EF4-FFF2-40B4-BE49-F238E27FC236}">
                    <a16:creationId xmlns:a16="http://schemas.microsoft.com/office/drawing/2014/main" id="{86F1F789-CBD5-9883-576B-957E311BC2D5}"/>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101" name="Gruppo 100">
              <a:extLst>
                <a:ext uri="{FF2B5EF4-FFF2-40B4-BE49-F238E27FC236}">
                  <a16:creationId xmlns:a16="http://schemas.microsoft.com/office/drawing/2014/main" id="{66688B91-7D6D-5AB0-8C2F-EA9026B19D8E}"/>
                </a:ext>
              </a:extLst>
            </p:cNvPr>
            <p:cNvGrpSpPr>
              <a:grpSpLocks noGrp="1" noUngrp="1" noRot="1" noMove="1" noResize="1"/>
            </p:cNvGrpSpPr>
            <p:nvPr/>
          </p:nvGrpSpPr>
          <p:grpSpPr>
            <a:xfrm>
              <a:off x="1618735" y="3020481"/>
              <a:ext cx="5542006" cy="792000"/>
              <a:chOff x="1618735" y="1307379"/>
              <a:chExt cx="5542006" cy="792000"/>
            </a:xfrm>
          </p:grpSpPr>
          <p:sp>
            <p:nvSpPr>
              <p:cNvPr id="102" name="Rettangolo con angoli arrotondati 101">
                <a:extLst>
                  <a:ext uri="{FF2B5EF4-FFF2-40B4-BE49-F238E27FC236}">
                    <a16:creationId xmlns:a16="http://schemas.microsoft.com/office/drawing/2014/main" id="{E8479678-002D-94B0-7E97-0E4A74193119}"/>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ttangolo con angoli arrotondati 102">
                <a:extLst>
                  <a:ext uri="{FF2B5EF4-FFF2-40B4-BE49-F238E27FC236}">
                    <a16:creationId xmlns:a16="http://schemas.microsoft.com/office/drawing/2014/main" id="{CC49F3B6-414A-F7D7-C1BE-BB41B99251DA}"/>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7000"/>
                <a:r>
                  <a:rPr lang="it-IT" sz="800" spc="-30" noProof="0" dirty="0">
                    <a:solidFill>
                      <a:srgbClr val="158D7E"/>
                    </a:solidFill>
                    <a:latin typeface="Poppins SemiBold" panose="00000700000000000000" pitchFamily="2" charset="0"/>
                    <a:cs typeface="Poppins SemiBold" panose="00000700000000000000" pitchFamily="2" charset="0"/>
                  </a:rPr>
                  <a:t>Dati coerenti</a:t>
                </a:r>
              </a:p>
            </p:txBody>
          </p:sp>
          <p:sp>
            <p:nvSpPr>
              <p:cNvPr id="104" name="Connettore 103">
                <a:extLst>
                  <a:ext uri="{FF2B5EF4-FFF2-40B4-BE49-F238E27FC236}">
                    <a16:creationId xmlns:a16="http://schemas.microsoft.com/office/drawing/2014/main" id="{FF3CCADD-076F-C06A-A94D-B8DF6C287BB9}"/>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3DAFD3"/>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3</a:t>
                </a:r>
                <a:endParaRPr lang="en-US" dirty="0"/>
              </a:p>
            </p:txBody>
          </p:sp>
          <p:sp>
            <p:nvSpPr>
              <p:cNvPr id="105" name="Tittle Function 01…">
                <a:extLst>
                  <a:ext uri="{FF2B5EF4-FFF2-40B4-BE49-F238E27FC236}">
                    <a16:creationId xmlns:a16="http://schemas.microsoft.com/office/drawing/2014/main" id="{1D49D78E-E7FE-0255-6477-E1BF3B053D1E}"/>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noProof="0" dirty="0">
                    <a:solidFill>
                      <a:srgbClr val="3DAFD3"/>
                    </a:solidFill>
                    <a:latin typeface="+mj-lt"/>
                  </a:rPr>
                  <a:t>Preparazione</a:t>
                </a:r>
                <a:endParaRPr lang="it-IT" sz="1200" b="1" dirty="0">
                  <a:solidFill>
                    <a:srgbClr val="3DAFD3"/>
                  </a:solidFill>
                  <a:latin typeface="+mj-lt"/>
                  <a:cs typeface="Poppins SemiBold"/>
                </a:endParaRPr>
              </a:p>
            </p:txBody>
          </p:sp>
          <p:sp>
            <p:nvSpPr>
              <p:cNvPr id="106" name="Tittle Function 01…">
                <a:extLst>
                  <a:ext uri="{FF2B5EF4-FFF2-40B4-BE49-F238E27FC236}">
                    <a16:creationId xmlns:a16="http://schemas.microsoft.com/office/drawing/2014/main" id="{2C74FC0B-A8CA-C576-F284-8EC436A7C4C0}"/>
                  </a:ext>
                </a:extLst>
              </p:cNvPr>
              <p:cNvSpPr txBox="1">
                <a:spLocks noGrp="1" noRot="1" noMove="1" noResize="1" noEditPoints="1" noAdjustHandles="1" noChangeArrowheads="1" noChangeShapeType="1"/>
              </p:cNvSpPr>
              <p:nvPr/>
            </p:nvSpPr>
            <p:spPr>
              <a:xfrm>
                <a:off x="1968294" y="1576276"/>
                <a:ext cx="2718006"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50" b="1" noProof="0" dirty="0">
                    <a:latin typeface="Poppins SemiBold" panose="00000700000000000000" pitchFamily="2" charset="0"/>
                    <a:cs typeface="Poppins SemiBold" panose="00000700000000000000" pitchFamily="2" charset="0"/>
                  </a:rPr>
                  <a:t>Parsing</a:t>
                </a:r>
                <a:r>
                  <a:rPr lang="it-IT" sz="950" b="1" dirty="0">
                    <a:latin typeface="Poppins SemiBold" panose="00000700000000000000" pitchFamily="2" charset="0"/>
                    <a:cs typeface="Poppins SemiBold" panose="00000700000000000000" pitchFamily="2" charset="0"/>
                  </a:rPr>
                  <a:t>, mapping e normalizzazione</a:t>
                </a:r>
              </a:p>
            </p:txBody>
          </p:sp>
          <p:sp>
            <p:nvSpPr>
              <p:cNvPr id="107" name="Tittle Function 01…">
                <a:extLst>
                  <a:ext uri="{FF2B5EF4-FFF2-40B4-BE49-F238E27FC236}">
                    <a16:creationId xmlns:a16="http://schemas.microsoft.com/office/drawing/2014/main" id="{3C0CB783-8F21-D9C3-D9DD-E25031A55174}"/>
                  </a:ext>
                </a:extLst>
              </p:cNvPr>
              <p:cNvSpPr txBox="1">
                <a:spLocks noGrp="1" noRot="1" noMove="1" noResize="1" noEditPoints="1" noAdjustHandles="1" noChangeArrowheads="1" noChangeShapeType="1"/>
              </p:cNvSpPr>
              <p:nvPr/>
            </p:nvSpPr>
            <p:spPr>
              <a:xfrm>
                <a:off x="1968293" y="1768763"/>
                <a:ext cx="2954177" cy="138499"/>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I dati vengono puliti, allineati e resi confrontabili.</a:t>
                </a:r>
              </a:p>
            </p:txBody>
          </p:sp>
          <p:sp>
            <p:nvSpPr>
              <p:cNvPr id="108" name="Tittle Function 01…">
                <a:extLst>
                  <a:ext uri="{FF2B5EF4-FFF2-40B4-BE49-F238E27FC236}">
                    <a16:creationId xmlns:a16="http://schemas.microsoft.com/office/drawing/2014/main" id="{0D4FD044-58FD-26A3-DDC1-4F8656224D0D}"/>
                  </a:ext>
                </a:extLst>
              </p:cNvPr>
              <p:cNvSpPr txBox="1">
                <a:spLocks noGrp="1" noRot="1" noMove="1" noResize="1" noEditPoints="1" noAdjustHandles="1" noChangeArrowheads="1" noChangeShapeType="1"/>
              </p:cNvSpPr>
              <p:nvPr/>
            </p:nvSpPr>
            <p:spPr>
              <a:xfrm>
                <a:off x="5166268" y="1664889"/>
                <a:ext cx="1932978" cy="21544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Dati puliti, standardizzati e allineati per le elaborazioni successive.</a:t>
                </a:r>
              </a:p>
            </p:txBody>
          </p:sp>
          <p:sp>
            <p:nvSpPr>
              <p:cNvPr id="109" name="Figura a mano libera: forma 108">
                <a:extLst>
                  <a:ext uri="{FF2B5EF4-FFF2-40B4-BE49-F238E27FC236}">
                    <a16:creationId xmlns:a16="http://schemas.microsoft.com/office/drawing/2014/main" id="{1DC4FF59-47D4-3C5A-47FA-6E6B39CE384D}"/>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110" name="Gruppo 109">
              <a:extLst>
                <a:ext uri="{FF2B5EF4-FFF2-40B4-BE49-F238E27FC236}">
                  <a16:creationId xmlns:a16="http://schemas.microsoft.com/office/drawing/2014/main" id="{CB3697E7-35D2-B8B2-FE9C-C89B1CDB8AAB}"/>
                </a:ext>
              </a:extLst>
            </p:cNvPr>
            <p:cNvGrpSpPr>
              <a:grpSpLocks noGrp="1" noUngrp="1" noRot="1" noMove="1" noResize="1"/>
            </p:cNvGrpSpPr>
            <p:nvPr/>
          </p:nvGrpSpPr>
          <p:grpSpPr>
            <a:xfrm>
              <a:off x="1618735" y="3915939"/>
              <a:ext cx="5542006" cy="792000"/>
              <a:chOff x="1618735" y="1307379"/>
              <a:chExt cx="5542006" cy="792000"/>
            </a:xfrm>
          </p:grpSpPr>
          <p:sp>
            <p:nvSpPr>
              <p:cNvPr id="111" name="Rettangolo con angoli arrotondati 110">
                <a:extLst>
                  <a:ext uri="{FF2B5EF4-FFF2-40B4-BE49-F238E27FC236}">
                    <a16:creationId xmlns:a16="http://schemas.microsoft.com/office/drawing/2014/main" id="{6EC7684F-8933-EC2A-371B-5799462E5BEA}"/>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ttangolo con angoli arrotondati 111">
                <a:extLst>
                  <a:ext uri="{FF2B5EF4-FFF2-40B4-BE49-F238E27FC236}">
                    <a16:creationId xmlns:a16="http://schemas.microsoft.com/office/drawing/2014/main" id="{A23EC4B2-0161-6D11-1905-224836A2365C}"/>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3350"/>
                <a:r>
                  <a:rPr lang="it-IT" sz="800" spc="-30" dirty="0">
                    <a:solidFill>
                      <a:srgbClr val="158D7E"/>
                    </a:solidFill>
                    <a:latin typeface="Poppins SemiBold" panose="00000700000000000000" pitchFamily="2" charset="0"/>
                    <a:cs typeface="Poppins SemiBold" panose="00000700000000000000" pitchFamily="2" charset="0"/>
                  </a:rPr>
                  <a:t>Dato pronto</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113" name="Connettore 112">
                <a:extLst>
                  <a:ext uri="{FF2B5EF4-FFF2-40B4-BE49-F238E27FC236}">
                    <a16:creationId xmlns:a16="http://schemas.microsoft.com/office/drawing/2014/main" id="{CE368E52-00EF-0864-A97A-8ED40E2C352C}"/>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40B2B8"/>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4</a:t>
                </a:r>
                <a:endParaRPr lang="en-US" sz="1000" dirty="0"/>
              </a:p>
            </p:txBody>
          </p:sp>
          <p:sp>
            <p:nvSpPr>
              <p:cNvPr id="114" name="Tittle Function 01…">
                <a:extLst>
                  <a:ext uri="{FF2B5EF4-FFF2-40B4-BE49-F238E27FC236}">
                    <a16:creationId xmlns:a16="http://schemas.microsoft.com/office/drawing/2014/main" id="{2BC905F4-1F64-C34E-ED76-151C9835FDEA}"/>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dirty="0">
                    <a:solidFill>
                      <a:srgbClr val="40B2B8"/>
                    </a:solidFill>
                    <a:latin typeface="+mj-lt"/>
                  </a:rPr>
                  <a:t>Modello</a:t>
                </a:r>
                <a:endParaRPr lang="it-IT" sz="1200" b="1" dirty="0">
                  <a:solidFill>
                    <a:srgbClr val="40B2B8"/>
                  </a:solidFill>
                  <a:latin typeface="+mj-lt"/>
                  <a:cs typeface="Poppins SemiBold"/>
                </a:endParaRPr>
              </a:p>
            </p:txBody>
          </p:sp>
          <p:sp>
            <p:nvSpPr>
              <p:cNvPr id="115" name="Tittle Function 01…">
                <a:extLst>
                  <a:ext uri="{FF2B5EF4-FFF2-40B4-BE49-F238E27FC236}">
                    <a16:creationId xmlns:a16="http://schemas.microsoft.com/office/drawing/2014/main" id="{23BB5816-5D2F-80BC-1B9F-F401D28E89A7}"/>
                  </a:ext>
                </a:extLst>
              </p:cNvPr>
              <p:cNvSpPr txBox="1">
                <a:spLocks noGrp="1" noRot="1" noMove="1" noResize="1" noEditPoints="1" noAdjustHandles="1" noChangeArrowheads="1" noChangeShapeType="1"/>
              </p:cNvSpPr>
              <p:nvPr/>
            </p:nvSpPr>
            <p:spPr>
              <a:xfrm>
                <a:off x="1968294" y="1576276"/>
                <a:ext cx="2718006"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b="1" dirty="0">
                    <a:latin typeface="Poppins SemiBold" panose="00000700000000000000" pitchFamily="2" charset="0"/>
                    <a:cs typeface="Poppins SemiBold" panose="00000700000000000000" pitchFamily="2" charset="0"/>
                  </a:rPr>
                  <a:t>Regole business e </a:t>
                </a:r>
                <a:r>
                  <a:rPr lang="en-US" sz="950" b="1" noProof="0" dirty="0">
                    <a:latin typeface="Poppins SemiBold" panose="00000700000000000000" pitchFamily="2" charset="0"/>
                    <a:cs typeface="Poppins SemiBold" panose="00000700000000000000" pitchFamily="2" charset="0"/>
                  </a:rPr>
                  <a:t>mart</a:t>
                </a:r>
                <a:endParaRPr lang="it-IT" sz="950" b="1" dirty="0">
                  <a:latin typeface="Poppins SemiBold" panose="00000700000000000000" pitchFamily="2" charset="0"/>
                  <a:cs typeface="Poppins SemiBold" panose="00000700000000000000" pitchFamily="2" charset="0"/>
                </a:endParaRPr>
              </a:p>
            </p:txBody>
          </p:sp>
          <p:sp>
            <p:nvSpPr>
              <p:cNvPr id="116" name="Tittle Function 01…">
                <a:extLst>
                  <a:ext uri="{FF2B5EF4-FFF2-40B4-BE49-F238E27FC236}">
                    <a16:creationId xmlns:a16="http://schemas.microsoft.com/office/drawing/2014/main" id="{D7896410-0CFD-FF97-3EB3-1E3BFA9C1FA9}"/>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Calcoli, ribaltamenti, forecast, aggregazioni e output specifici per caso d'uso.</a:t>
                </a:r>
              </a:p>
            </p:txBody>
          </p:sp>
          <p:sp>
            <p:nvSpPr>
              <p:cNvPr id="117" name="Tittle Function 01…">
                <a:extLst>
                  <a:ext uri="{FF2B5EF4-FFF2-40B4-BE49-F238E27FC236}">
                    <a16:creationId xmlns:a16="http://schemas.microsoft.com/office/drawing/2014/main" id="{484C46C8-E708-AFE2-34C1-BF4EE3864E74}"/>
                  </a:ext>
                </a:extLst>
              </p:cNvPr>
              <p:cNvSpPr txBox="1">
                <a:spLocks noGrp="1" noRot="1" noMove="1" noResize="1" noEditPoints="1" noAdjustHandles="1" noChangeArrowheads="1" noChangeShapeType="1"/>
              </p:cNvSpPr>
              <p:nvPr/>
            </p:nvSpPr>
            <p:spPr>
              <a:xfrm>
                <a:off x="5166268" y="1664889"/>
                <a:ext cx="1932978" cy="21544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Mart pronti per dashboard, report, export e processi operativi.</a:t>
                </a:r>
              </a:p>
            </p:txBody>
          </p:sp>
          <p:sp>
            <p:nvSpPr>
              <p:cNvPr id="118" name="Figura a mano libera: forma 117">
                <a:extLst>
                  <a:ext uri="{FF2B5EF4-FFF2-40B4-BE49-F238E27FC236}">
                    <a16:creationId xmlns:a16="http://schemas.microsoft.com/office/drawing/2014/main" id="{709E4100-A9C5-828C-AA42-E615786183D6}"/>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119" name="Gruppo 118">
              <a:extLst>
                <a:ext uri="{FF2B5EF4-FFF2-40B4-BE49-F238E27FC236}">
                  <a16:creationId xmlns:a16="http://schemas.microsoft.com/office/drawing/2014/main" id="{93FEAAB2-31DC-3156-F659-267E3BC1EEAD}"/>
                </a:ext>
              </a:extLst>
            </p:cNvPr>
            <p:cNvGrpSpPr>
              <a:grpSpLocks noGrp="1" noUngrp="1" noRot="1" noMove="1" noResize="1"/>
            </p:cNvGrpSpPr>
            <p:nvPr/>
          </p:nvGrpSpPr>
          <p:grpSpPr>
            <a:xfrm>
              <a:off x="1618735" y="4811397"/>
              <a:ext cx="5542006" cy="792000"/>
              <a:chOff x="1618735" y="1307379"/>
              <a:chExt cx="5542006" cy="792000"/>
            </a:xfrm>
          </p:grpSpPr>
          <p:sp>
            <p:nvSpPr>
              <p:cNvPr id="120" name="Rettangolo con angoli arrotondati 119">
                <a:extLst>
                  <a:ext uri="{FF2B5EF4-FFF2-40B4-BE49-F238E27FC236}">
                    <a16:creationId xmlns:a16="http://schemas.microsoft.com/office/drawing/2014/main" id="{DF5C353A-8A6F-C2DB-56DC-2CA55E4A963E}"/>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ttangolo con angoli arrotondati 120">
                <a:extLst>
                  <a:ext uri="{FF2B5EF4-FFF2-40B4-BE49-F238E27FC236}">
                    <a16:creationId xmlns:a16="http://schemas.microsoft.com/office/drawing/2014/main" id="{5952FEBC-4BD0-7F4B-466E-DB5F09ABADAF}"/>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3350"/>
                <a:r>
                  <a:rPr lang="it-IT" sz="800" spc="-30" dirty="0">
                    <a:solidFill>
                      <a:srgbClr val="158D7E"/>
                    </a:solidFill>
                    <a:latin typeface="Poppins SemiBold" panose="00000700000000000000" pitchFamily="2" charset="0"/>
                    <a:cs typeface="Poppins SemiBold" panose="00000700000000000000" pitchFamily="2" charset="0"/>
                  </a:rPr>
                  <a:t>Dato affidabile</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122" name="Connettore 121">
                <a:extLst>
                  <a:ext uri="{FF2B5EF4-FFF2-40B4-BE49-F238E27FC236}">
                    <a16:creationId xmlns:a16="http://schemas.microsoft.com/office/drawing/2014/main" id="{8077CE43-2913-0CFD-EDF5-69C4556B5E4F}"/>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6DC6B6"/>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bIns="36000" rtlCol="0" anchor="ctr"/>
              <a:lstStyle/>
              <a:p>
                <a:pPr algn="ctr"/>
                <a:r>
                  <a:rPr lang="it-IT" sz="1000" dirty="0"/>
                  <a:t>5</a:t>
                </a:r>
                <a:endParaRPr lang="en-US" dirty="0"/>
              </a:p>
            </p:txBody>
          </p:sp>
          <p:sp>
            <p:nvSpPr>
              <p:cNvPr id="123" name="Tittle Function 01…">
                <a:extLst>
                  <a:ext uri="{FF2B5EF4-FFF2-40B4-BE49-F238E27FC236}">
                    <a16:creationId xmlns:a16="http://schemas.microsoft.com/office/drawing/2014/main" id="{01828089-F35C-43D1-BA71-FC385EF55193}"/>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dirty="0">
                    <a:solidFill>
                      <a:srgbClr val="4CB9A5"/>
                    </a:solidFill>
                    <a:latin typeface="+mj-lt"/>
                  </a:rPr>
                  <a:t>Controllo</a:t>
                </a:r>
                <a:endParaRPr lang="it-IT" sz="1200" b="1" dirty="0">
                  <a:solidFill>
                    <a:srgbClr val="4CB9A5"/>
                  </a:solidFill>
                  <a:latin typeface="+mj-lt"/>
                  <a:cs typeface="Poppins SemiBold"/>
                </a:endParaRPr>
              </a:p>
            </p:txBody>
          </p:sp>
          <p:sp>
            <p:nvSpPr>
              <p:cNvPr id="124" name="Tittle Function 01…">
                <a:extLst>
                  <a:ext uri="{FF2B5EF4-FFF2-40B4-BE49-F238E27FC236}">
                    <a16:creationId xmlns:a16="http://schemas.microsoft.com/office/drawing/2014/main" id="{D5396945-9325-629D-C60E-74C6CCBD0957}"/>
                  </a:ext>
                </a:extLst>
              </p:cNvPr>
              <p:cNvSpPr txBox="1">
                <a:spLocks noGrp="1" noRot="1" noMove="1" noResize="1" noEditPoints="1" noAdjustHandles="1" noChangeArrowheads="1" noChangeShapeType="1"/>
              </p:cNvSpPr>
              <p:nvPr/>
            </p:nvSpPr>
            <p:spPr>
              <a:xfrm>
                <a:off x="1968294" y="1576276"/>
                <a:ext cx="2718006"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50" b="1" dirty="0">
                    <a:latin typeface="Poppins SemiBold" panose="00000700000000000000" pitchFamily="2" charset="0"/>
                    <a:cs typeface="Poppins SemiBold" panose="00000700000000000000" pitchFamily="2" charset="0"/>
                  </a:rPr>
                  <a:t>Quality, audit e run history</a:t>
                </a:r>
                <a:endParaRPr lang="it-IT" sz="950" b="1" dirty="0">
                  <a:latin typeface="Poppins SemiBold" panose="00000700000000000000" pitchFamily="2" charset="0"/>
                  <a:cs typeface="Poppins SemiBold" panose="00000700000000000000" pitchFamily="2" charset="0"/>
                </a:endParaRPr>
              </a:p>
            </p:txBody>
          </p:sp>
          <p:sp>
            <p:nvSpPr>
              <p:cNvPr id="125" name="Tittle Function 01…">
                <a:extLst>
                  <a:ext uri="{FF2B5EF4-FFF2-40B4-BE49-F238E27FC236}">
                    <a16:creationId xmlns:a16="http://schemas.microsoft.com/office/drawing/2014/main" id="{DABA80A6-E56B-3507-88E8-6B8BCDB9CC8D}"/>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Ogni esecuzione lascia evidenze: log, anomalie, scarti, controlli e riconciliazioni.</a:t>
                </a:r>
              </a:p>
            </p:txBody>
          </p:sp>
          <p:sp>
            <p:nvSpPr>
              <p:cNvPr id="126" name="Tittle Function 01…">
                <a:extLst>
                  <a:ext uri="{FF2B5EF4-FFF2-40B4-BE49-F238E27FC236}">
                    <a16:creationId xmlns:a16="http://schemas.microsoft.com/office/drawing/2014/main" id="{EB73BB19-E5D4-0C34-C376-C0F56332A248}"/>
                  </a:ext>
                </a:extLst>
              </p:cNvPr>
              <p:cNvSpPr txBox="1">
                <a:spLocks noGrp="1" noRot="1" noMove="1" noResize="1" noEditPoints="1" noAdjustHandles="1" noChangeArrowheads="1" noChangeShapeType="1"/>
              </p:cNvSpPr>
              <p:nvPr/>
            </p:nvSpPr>
            <p:spPr>
              <a:xfrm>
                <a:off x="5166268" y="1664889"/>
                <a:ext cx="1932978" cy="21544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Ogni passaggio resta tracciato: controlli, anomalie, scarti e output prodotti.</a:t>
                </a:r>
              </a:p>
            </p:txBody>
          </p:sp>
          <p:sp>
            <p:nvSpPr>
              <p:cNvPr id="127" name="Figura a mano libera: forma 126">
                <a:extLst>
                  <a:ext uri="{FF2B5EF4-FFF2-40B4-BE49-F238E27FC236}">
                    <a16:creationId xmlns:a16="http://schemas.microsoft.com/office/drawing/2014/main" id="{D1D112CA-8CC9-9E9A-F070-4C8EF24CB61A}"/>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cxnSp>
          <p:nvCxnSpPr>
            <p:cNvPr id="145" name="Connettore 2 144">
              <a:extLst>
                <a:ext uri="{FF2B5EF4-FFF2-40B4-BE49-F238E27FC236}">
                  <a16:creationId xmlns:a16="http://schemas.microsoft.com/office/drawing/2014/main" id="{FAA8E9C5-961A-B9E7-8750-F5D28438DE49}"/>
                </a:ext>
              </a:extLst>
            </p:cNvPr>
            <p:cNvCxnSpPr>
              <a:cxnSpLocks noGrp="1" noRot="1" noMove="1" noResize="1" noEditPoints="1" noAdjustHandles="1" noChangeArrowheads="1" noChangeShapeType="1"/>
              <a:stCxn id="9" idx="4"/>
              <a:endCxn id="10" idx="0"/>
            </p:cNvCxnSpPr>
            <p:nvPr/>
          </p:nvCxnSpPr>
          <p:spPr>
            <a:xfrm>
              <a:off x="1109018" y="1943752"/>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cxnSp>
          <p:nvCxnSpPr>
            <p:cNvPr id="146" name="Connettore 2 145">
              <a:extLst>
                <a:ext uri="{FF2B5EF4-FFF2-40B4-BE49-F238E27FC236}">
                  <a16:creationId xmlns:a16="http://schemas.microsoft.com/office/drawing/2014/main" id="{C3ADB873-497F-4166-1800-BA678CD43BA7}"/>
                </a:ext>
              </a:extLst>
            </p:cNvPr>
            <p:cNvCxnSpPr>
              <a:cxnSpLocks noGrp="1" noRot="1" noMove="1" noResize="1" noEditPoints="1" noAdjustHandles="1" noChangeArrowheads="1" noChangeShapeType="1"/>
            </p:cNvCxnSpPr>
            <p:nvPr/>
          </p:nvCxnSpPr>
          <p:spPr>
            <a:xfrm>
              <a:off x="1109017" y="2839210"/>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cxnSp>
          <p:nvCxnSpPr>
            <p:cNvPr id="147" name="Connettore 2 146">
              <a:extLst>
                <a:ext uri="{FF2B5EF4-FFF2-40B4-BE49-F238E27FC236}">
                  <a16:creationId xmlns:a16="http://schemas.microsoft.com/office/drawing/2014/main" id="{063790E7-B4EF-44E2-7A85-CF5307856FBA}"/>
                </a:ext>
              </a:extLst>
            </p:cNvPr>
            <p:cNvCxnSpPr>
              <a:cxnSpLocks noGrp="1" noRot="1" noMove="1" noResize="1" noEditPoints="1" noAdjustHandles="1" noChangeArrowheads="1" noChangeShapeType="1"/>
            </p:cNvCxnSpPr>
            <p:nvPr/>
          </p:nvCxnSpPr>
          <p:spPr>
            <a:xfrm>
              <a:off x="1109016" y="3734668"/>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cxnSp>
          <p:nvCxnSpPr>
            <p:cNvPr id="148" name="Connettore 2 147">
              <a:extLst>
                <a:ext uri="{FF2B5EF4-FFF2-40B4-BE49-F238E27FC236}">
                  <a16:creationId xmlns:a16="http://schemas.microsoft.com/office/drawing/2014/main" id="{184F9874-EB1D-EA98-7A0F-B18304D5239E}"/>
                </a:ext>
              </a:extLst>
            </p:cNvPr>
            <p:cNvCxnSpPr>
              <a:cxnSpLocks noGrp="1" noRot="1" noMove="1" noResize="1" noEditPoints="1" noAdjustHandles="1" noChangeArrowheads="1" noChangeShapeType="1"/>
            </p:cNvCxnSpPr>
            <p:nvPr/>
          </p:nvCxnSpPr>
          <p:spPr>
            <a:xfrm>
              <a:off x="1109015" y="4630126"/>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grpSp>
          <p:nvGrpSpPr>
            <p:cNvPr id="195" name="Gruppo 194">
              <a:extLst>
                <a:ext uri="{FF2B5EF4-FFF2-40B4-BE49-F238E27FC236}">
                  <a16:creationId xmlns:a16="http://schemas.microsoft.com/office/drawing/2014/main" id="{C909C21E-07E2-ADAA-AAD5-C7AD0D617C4B}"/>
                </a:ext>
              </a:extLst>
            </p:cNvPr>
            <p:cNvGrpSpPr>
              <a:grpSpLocks noGrp="1" noUngrp="1" noRot="1" noMove="1" noResize="1"/>
            </p:cNvGrpSpPr>
            <p:nvPr/>
          </p:nvGrpSpPr>
          <p:grpSpPr>
            <a:xfrm>
              <a:off x="7574903" y="1239796"/>
              <a:ext cx="4024685" cy="1926081"/>
              <a:chOff x="7574903" y="1239796"/>
              <a:chExt cx="4024685" cy="1926081"/>
            </a:xfrm>
          </p:grpSpPr>
          <p:grpSp>
            <p:nvGrpSpPr>
              <p:cNvPr id="143" name="Gruppo 142">
                <a:extLst>
                  <a:ext uri="{FF2B5EF4-FFF2-40B4-BE49-F238E27FC236}">
                    <a16:creationId xmlns:a16="http://schemas.microsoft.com/office/drawing/2014/main" id="{D7FCED7B-CB60-6CC5-269B-DBED5BB517C1}"/>
                  </a:ext>
                </a:extLst>
              </p:cNvPr>
              <p:cNvGrpSpPr>
                <a:grpSpLocks noGrp="1" noUngrp="1" noRot="1" noMove="1" noResize="1"/>
              </p:cNvGrpSpPr>
              <p:nvPr/>
            </p:nvGrpSpPr>
            <p:grpSpPr>
              <a:xfrm>
                <a:off x="7574903" y="1239796"/>
                <a:ext cx="4024685" cy="1926081"/>
                <a:chOff x="7555480" y="1307379"/>
                <a:chExt cx="4024685" cy="1926081"/>
              </a:xfrm>
            </p:grpSpPr>
            <p:sp>
              <p:nvSpPr>
                <p:cNvPr id="23" name="Rettangolo con angoli arrotondati 22">
                  <a:extLst>
                    <a:ext uri="{FF2B5EF4-FFF2-40B4-BE49-F238E27FC236}">
                      <a16:creationId xmlns:a16="http://schemas.microsoft.com/office/drawing/2014/main" id="{6F8CC200-E9C8-9B3F-9B2C-8A8BAC1E76CD}"/>
                    </a:ext>
                  </a:extLst>
                </p:cNvPr>
                <p:cNvSpPr>
                  <a:spLocks noGrp="1" noRot="1" noMove="1" noResize="1" noEditPoints="1" noAdjustHandles="1" noChangeArrowheads="1" noChangeShapeType="1"/>
                </p:cNvSpPr>
                <p:nvPr/>
              </p:nvSpPr>
              <p:spPr>
                <a:xfrm>
                  <a:off x="7555480" y="1307379"/>
                  <a:ext cx="4024685" cy="1923056"/>
                </a:xfrm>
                <a:prstGeom prst="roundRect">
                  <a:avLst>
                    <a:gd name="adj" fmla="val 4519"/>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0" name="Gruppo 139">
                  <a:extLst>
                    <a:ext uri="{FF2B5EF4-FFF2-40B4-BE49-F238E27FC236}">
                      <a16:creationId xmlns:a16="http://schemas.microsoft.com/office/drawing/2014/main" id="{B45D002E-F3A1-55D5-6738-5DADA3CFCB21}"/>
                    </a:ext>
                  </a:extLst>
                </p:cNvPr>
                <p:cNvGrpSpPr>
                  <a:grpSpLocks noGrp="1" noUngrp="1" noRot="1" noMove="1" noResize="1"/>
                </p:cNvGrpSpPr>
                <p:nvPr/>
              </p:nvGrpSpPr>
              <p:grpSpPr>
                <a:xfrm>
                  <a:off x="7555480" y="1307379"/>
                  <a:ext cx="178210" cy="1926081"/>
                  <a:chOff x="7555480" y="1307379"/>
                  <a:chExt cx="178210" cy="1926081"/>
                </a:xfrm>
              </p:grpSpPr>
              <p:cxnSp>
                <p:nvCxnSpPr>
                  <p:cNvPr id="130" name="Connettore diritto 129">
                    <a:extLst>
                      <a:ext uri="{FF2B5EF4-FFF2-40B4-BE49-F238E27FC236}">
                        <a16:creationId xmlns:a16="http://schemas.microsoft.com/office/drawing/2014/main" id="{954A4B8B-707C-F5A4-92D2-8C6089938024}"/>
                      </a:ext>
                    </a:extLst>
                  </p:cNvPr>
                  <p:cNvCxnSpPr>
                    <a:cxnSpLocks noGrp="1" noRot="1" noMove="1" noResize="1" noEditPoints="1" noAdjustHandles="1" noChangeArrowheads="1" noChangeShapeType="1"/>
                    <a:stCxn id="133" idx="0"/>
                    <a:endCxn id="137" idx="0"/>
                  </p:cNvCxnSpPr>
                  <p:nvPr/>
                </p:nvCxnSpPr>
                <p:spPr>
                  <a:xfrm>
                    <a:off x="7555480" y="1395599"/>
                    <a:ext cx="1771" cy="1749641"/>
                  </a:xfrm>
                  <a:prstGeom prst="line">
                    <a:avLst/>
                  </a:prstGeom>
                  <a:ln w="19050">
                    <a:solidFill>
                      <a:srgbClr val="3787CE"/>
                    </a:solidFill>
                  </a:ln>
                </p:spPr>
                <p:style>
                  <a:lnRef idx="1">
                    <a:schemeClr val="accent1"/>
                  </a:lnRef>
                  <a:fillRef idx="0">
                    <a:schemeClr val="accent1"/>
                  </a:fillRef>
                  <a:effectRef idx="0">
                    <a:schemeClr val="accent1"/>
                  </a:effectRef>
                  <a:fontRef idx="minor">
                    <a:schemeClr val="tx1"/>
                  </a:fontRef>
                </p:style>
              </p:cxnSp>
              <p:sp>
                <p:nvSpPr>
                  <p:cNvPr id="133" name="Arco 132">
                    <a:extLst>
                      <a:ext uri="{FF2B5EF4-FFF2-40B4-BE49-F238E27FC236}">
                        <a16:creationId xmlns:a16="http://schemas.microsoft.com/office/drawing/2014/main" id="{109F38CB-9C44-F640-85D7-0B06DD199E9E}"/>
                      </a:ext>
                    </a:extLst>
                  </p:cNvPr>
                  <p:cNvSpPr>
                    <a:spLocks noGrp="1" noRot="1" noMove="1" noResize="1" noEditPoints="1" noAdjustHandles="1" noChangeArrowheads="1" noChangeShapeType="1"/>
                  </p:cNvSpPr>
                  <p:nvPr/>
                </p:nvSpPr>
                <p:spPr>
                  <a:xfrm rot="16200000">
                    <a:off x="7555480" y="1307379"/>
                    <a:ext cx="176439" cy="176439"/>
                  </a:xfrm>
                  <a:prstGeom prst="arc">
                    <a:avLst/>
                  </a:prstGeom>
                  <a:ln w="19050">
                    <a:solidFill>
                      <a:srgbClr val="3787C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7" name="Arco 136">
                    <a:extLst>
                      <a:ext uri="{FF2B5EF4-FFF2-40B4-BE49-F238E27FC236}">
                        <a16:creationId xmlns:a16="http://schemas.microsoft.com/office/drawing/2014/main" id="{BCDAEDFD-EA5E-369B-1D3B-6FC349FE66D7}"/>
                      </a:ext>
                    </a:extLst>
                  </p:cNvPr>
                  <p:cNvSpPr>
                    <a:spLocks noGrp="1" noRot="1" noMove="1" noResize="1" noEditPoints="1" noAdjustHandles="1" noChangeArrowheads="1" noChangeShapeType="1"/>
                  </p:cNvSpPr>
                  <p:nvPr/>
                </p:nvSpPr>
                <p:spPr>
                  <a:xfrm rot="5400000" flipV="1">
                    <a:off x="7557251" y="3057021"/>
                    <a:ext cx="176439" cy="176439"/>
                  </a:xfrm>
                  <a:prstGeom prst="arc">
                    <a:avLst/>
                  </a:prstGeom>
                  <a:ln w="19050">
                    <a:solidFill>
                      <a:srgbClr val="3787C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sp>
            <p:nvSpPr>
              <p:cNvPr id="149" name="Tittle Function 01…">
                <a:extLst>
                  <a:ext uri="{FF2B5EF4-FFF2-40B4-BE49-F238E27FC236}">
                    <a16:creationId xmlns:a16="http://schemas.microsoft.com/office/drawing/2014/main" id="{8032E64E-A8E5-66D0-506E-35714E4CEBED}"/>
                  </a:ext>
                </a:extLst>
              </p:cNvPr>
              <p:cNvSpPr txBox="1">
                <a:spLocks noGrp="1" noRot="1" noMove="1" noResize="1" noEditPoints="1" noAdjustHandles="1" noChangeArrowheads="1" noChangeShapeType="1"/>
              </p:cNvSpPr>
              <p:nvPr/>
            </p:nvSpPr>
            <p:spPr>
              <a:xfrm>
                <a:off x="8376397" y="1456211"/>
                <a:ext cx="1507457" cy="246221"/>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b="1" dirty="0">
                    <a:latin typeface="Poppins SemiBold" panose="00000700000000000000" pitchFamily="2" charset="0"/>
                    <a:cs typeface="Poppins SemiBold" panose="00000700000000000000" pitchFamily="2" charset="0"/>
                  </a:rPr>
                  <a:t>Perché serve</a:t>
                </a:r>
              </a:p>
            </p:txBody>
          </p:sp>
          <p:pic>
            <p:nvPicPr>
              <p:cNvPr id="151" name="Elemento grafico 150">
                <a:extLst>
                  <a:ext uri="{FF2B5EF4-FFF2-40B4-BE49-F238E27FC236}">
                    <a16:creationId xmlns:a16="http://schemas.microsoft.com/office/drawing/2014/main" id="{F0A4C602-7598-79B6-2C50-3E1A63A5AD0A}"/>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9"/>
                  </a:ext>
                </a:extLst>
              </a:blip>
              <a:stretch>
                <a:fillRect/>
              </a:stretch>
            </p:blipFill>
            <p:spPr>
              <a:xfrm>
                <a:off x="7783573" y="1400132"/>
                <a:ext cx="372600" cy="372600"/>
              </a:xfrm>
              <a:prstGeom prst="rect">
                <a:avLst/>
              </a:prstGeom>
            </p:spPr>
          </p:pic>
          <p:pic>
            <p:nvPicPr>
              <p:cNvPr id="153" name="Elemento grafico 152">
                <a:extLst>
                  <a:ext uri="{FF2B5EF4-FFF2-40B4-BE49-F238E27FC236}">
                    <a16:creationId xmlns:a16="http://schemas.microsoft.com/office/drawing/2014/main" id="{455B3840-4FAF-B694-2972-D481233D3EE0}"/>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1921139"/>
                <a:ext cx="180000" cy="180000"/>
              </a:xfrm>
              <a:prstGeom prst="rect">
                <a:avLst/>
              </a:prstGeom>
            </p:spPr>
          </p:pic>
          <p:pic>
            <p:nvPicPr>
              <p:cNvPr id="154" name="Elemento grafico 153">
                <a:extLst>
                  <a:ext uri="{FF2B5EF4-FFF2-40B4-BE49-F238E27FC236}">
                    <a16:creationId xmlns:a16="http://schemas.microsoft.com/office/drawing/2014/main" id="{C58F5C44-699D-C29B-653D-CFB79DF9C3E4}"/>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2226094"/>
                <a:ext cx="180000" cy="180000"/>
              </a:xfrm>
              <a:prstGeom prst="rect">
                <a:avLst/>
              </a:prstGeom>
            </p:spPr>
          </p:pic>
          <p:pic>
            <p:nvPicPr>
              <p:cNvPr id="155" name="Elemento grafico 154">
                <a:extLst>
                  <a:ext uri="{FF2B5EF4-FFF2-40B4-BE49-F238E27FC236}">
                    <a16:creationId xmlns:a16="http://schemas.microsoft.com/office/drawing/2014/main" id="{D5B2D571-9E2E-40DA-0245-7A4959BABA0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2531049"/>
                <a:ext cx="180000" cy="180000"/>
              </a:xfrm>
              <a:prstGeom prst="rect">
                <a:avLst/>
              </a:prstGeom>
            </p:spPr>
          </p:pic>
          <p:pic>
            <p:nvPicPr>
              <p:cNvPr id="156" name="Elemento grafico 155">
                <a:extLst>
                  <a:ext uri="{FF2B5EF4-FFF2-40B4-BE49-F238E27FC236}">
                    <a16:creationId xmlns:a16="http://schemas.microsoft.com/office/drawing/2014/main" id="{58F76259-A4B7-6ECE-4758-204689613C28}"/>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2836003"/>
                <a:ext cx="180000" cy="180000"/>
              </a:xfrm>
              <a:prstGeom prst="rect">
                <a:avLst/>
              </a:prstGeom>
            </p:spPr>
          </p:pic>
          <p:sp>
            <p:nvSpPr>
              <p:cNvPr id="157" name="Tittle Function 01…">
                <a:extLst>
                  <a:ext uri="{FF2B5EF4-FFF2-40B4-BE49-F238E27FC236}">
                    <a16:creationId xmlns:a16="http://schemas.microsoft.com/office/drawing/2014/main" id="{03929B49-CC10-2CA5-561D-0956A7F513AA}"/>
                  </a:ext>
                </a:extLst>
              </p:cNvPr>
              <p:cNvSpPr txBox="1">
                <a:spLocks noGrp="1" noRot="1" noMove="1" noResize="1" noEditPoints="1" noAdjustHandles="1" noChangeArrowheads="1" noChangeShapeType="1"/>
              </p:cNvSpPr>
              <p:nvPr/>
            </p:nvSpPr>
            <p:spPr>
              <a:xfrm>
                <a:off x="8243713" y="1934625"/>
                <a:ext cx="3222898" cy="138499"/>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Standardizza il flusso e il significato del dato.</a:t>
                </a:r>
              </a:p>
            </p:txBody>
          </p:sp>
          <p:sp>
            <p:nvSpPr>
              <p:cNvPr id="158" name="Tittle Function 01…">
                <a:extLst>
                  <a:ext uri="{FF2B5EF4-FFF2-40B4-BE49-F238E27FC236}">
                    <a16:creationId xmlns:a16="http://schemas.microsoft.com/office/drawing/2014/main" id="{A3A786A8-0D26-F587-6B0B-37AB3FC32C15}"/>
                  </a:ext>
                </a:extLst>
              </p:cNvPr>
              <p:cNvSpPr txBox="1">
                <a:spLocks noGrp="1" noRot="1" noMove="1" noResize="1" noEditPoints="1" noAdjustHandles="1" noChangeArrowheads="1" noChangeShapeType="1"/>
              </p:cNvSpPr>
              <p:nvPr/>
            </p:nvSpPr>
            <p:spPr>
              <a:xfrm>
                <a:off x="8243713" y="2246844"/>
                <a:ext cx="3222898" cy="138499"/>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Separa regole comuni da quelle di progetto.</a:t>
                </a:r>
              </a:p>
            </p:txBody>
          </p:sp>
          <p:sp>
            <p:nvSpPr>
              <p:cNvPr id="159" name="Tittle Function 01…">
                <a:extLst>
                  <a:ext uri="{FF2B5EF4-FFF2-40B4-BE49-F238E27FC236}">
                    <a16:creationId xmlns:a16="http://schemas.microsoft.com/office/drawing/2014/main" id="{6F881BBD-54D6-2A4E-DC57-19E9817895B8}"/>
                  </a:ext>
                </a:extLst>
              </p:cNvPr>
              <p:cNvSpPr txBox="1">
                <a:spLocks noGrp="1" noRot="1" noMove="1" noResize="1" noEditPoints="1" noAdjustHandles="1" noChangeArrowheads="1" noChangeShapeType="1"/>
              </p:cNvSpPr>
              <p:nvPr/>
            </p:nvSpPr>
            <p:spPr>
              <a:xfrm>
                <a:off x="8243713" y="2548903"/>
                <a:ext cx="3222898" cy="138499"/>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Garantisce qualità, controlli e tracciabilità.</a:t>
                </a:r>
              </a:p>
            </p:txBody>
          </p:sp>
          <p:sp>
            <p:nvSpPr>
              <p:cNvPr id="160" name="Tittle Function 01…">
                <a:extLst>
                  <a:ext uri="{FF2B5EF4-FFF2-40B4-BE49-F238E27FC236}">
                    <a16:creationId xmlns:a16="http://schemas.microsoft.com/office/drawing/2014/main" id="{F88870B7-0D08-38D8-0617-2C0BD60EE3C3}"/>
                  </a:ext>
                </a:extLst>
              </p:cNvPr>
              <p:cNvSpPr txBox="1">
                <a:spLocks noGrp="1" noRot="1" noMove="1" noResize="1" noEditPoints="1" noAdjustHandles="1" noChangeArrowheads="1" noChangeShapeType="1"/>
              </p:cNvSpPr>
              <p:nvPr/>
            </p:nvSpPr>
            <p:spPr>
              <a:xfrm>
                <a:off x="8243713" y="2850961"/>
                <a:ext cx="3222898" cy="138499"/>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Rende il dato disponibile, affidabile e riutilizzabile.</a:t>
                </a:r>
              </a:p>
            </p:txBody>
          </p:sp>
        </p:grpSp>
        <p:grpSp>
          <p:nvGrpSpPr>
            <p:cNvPr id="194" name="Gruppo 193">
              <a:extLst>
                <a:ext uri="{FF2B5EF4-FFF2-40B4-BE49-F238E27FC236}">
                  <a16:creationId xmlns:a16="http://schemas.microsoft.com/office/drawing/2014/main" id="{B50D05C2-E308-5358-5D85-DB394F6BCD0F}"/>
                </a:ext>
              </a:extLst>
            </p:cNvPr>
            <p:cNvGrpSpPr>
              <a:grpSpLocks noGrp="1" noUngrp="1" noRot="1" noMove="1" noResize="1"/>
            </p:cNvGrpSpPr>
            <p:nvPr/>
          </p:nvGrpSpPr>
          <p:grpSpPr>
            <a:xfrm>
              <a:off x="7574903" y="3666879"/>
              <a:ext cx="4024685" cy="1926081"/>
              <a:chOff x="7574903" y="3666879"/>
              <a:chExt cx="4024685" cy="1926081"/>
            </a:xfrm>
          </p:grpSpPr>
          <p:grpSp>
            <p:nvGrpSpPr>
              <p:cNvPr id="163" name="Gruppo 162">
                <a:extLst>
                  <a:ext uri="{FF2B5EF4-FFF2-40B4-BE49-F238E27FC236}">
                    <a16:creationId xmlns:a16="http://schemas.microsoft.com/office/drawing/2014/main" id="{42E702F1-CAA8-8892-C89F-8A792AC0844D}"/>
                  </a:ext>
                </a:extLst>
              </p:cNvPr>
              <p:cNvGrpSpPr>
                <a:grpSpLocks noGrp="1" noUngrp="1" noRot="1" noMove="1" noResize="1"/>
              </p:cNvGrpSpPr>
              <p:nvPr/>
            </p:nvGrpSpPr>
            <p:grpSpPr>
              <a:xfrm>
                <a:off x="7574903" y="3666879"/>
                <a:ext cx="4024685" cy="1926081"/>
                <a:chOff x="7555480" y="1307379"/>
                <a:chExt cx="4024685" cy="1926081"/>
              </a:xfrm>
            </p:grpSpPr>
            <p:sp>
              <p:nvSpPr>
                <p:cNvPr id="174" name="Rettangolo con angoli arrotondati 173">
                  <a:extLst>
                    <a:ext uri="{FF2B5EF4-FFF2-40B4-BE49-F238E27FC236}">
                      <a16:creationId xmlns:a16="http://schemas.microsoft.com/office/drawing/2014/main" id="{BDAFFCBF-63EC-AB9B-BE78-A0B65380F33F}"/>
                    </a:ext>
                  </a:extLst>
                </p:cNvPr>
                <p:cNvSpPr>
                  <a:spLocks noGrp="1" noRot="1" noMove="1" noResize="1" noEditPoints="1" noAdjustHandles="1" noChangeArrowheads="1" noChangeShapeType="1"/>
                </p:cNvSpPr>
                <p:nvPr/>
              </p:nvSpPr>
              <p:spPr>
                <a:xfrm>
                  <a:off x="7555480" y="1307379"/>
                  <a:ext cx="4024685" cy="1923056"/>
                </a:xfrm>
                <a:prstGeom prst="roundRect">
                  <a:avLst>
                    <a:gd name="adj" fmla="val 4519"/>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5" name="Gruppo 174">
                  <a:extLst>
                    <a:ext uri="{FF2B5EF4-FFF2-40B4-BE49-F238E27FC236}">
                      <a16:creationId xmlns:a16="http://schemas.microsoft.com/office/drawing/2014/main" id="{F59CED46-8C08-E0EB-B417-F363B0C8ECEC}"/>
                    </a:ext>
                  </a:extLst>
                </p:cNvPr>
                <p:cNvGrpSpPr>
                  <a:grpSpLocks noGrp="1" noUngrp="1" noRot="1" noMove="1" noResize="1"/>
                </p:cNvGrpSpPr>
                <p:nvPr/>
              </p:nvGrpSpPr>
              <p:grpSpPr>
                <a:xfrm>
                  <a:off x="7555480" y="1307379"/>
                  <a:ext cx="178210" cy="1926081"/>
                  <a:chOff x="7555480" y="1307379"/>
                  <a:chExt cx="178210" cy="1926081"/>
                </a:xfrm>
              </p:grpSpPr>
              <p:cxnSp>
                <p:nvCxnSpPr>
                  <p:cNvPr id="176" name="Connettore diritto 175">
                    <a:extLst>
                      <a:ext uri="{FF2B5EF4-FFF2-40B4-BE49-F238E27FC236}">
                        <a16:creationId xmlns:a16="http://schemas.microsoft.com/office/drawing/2014/main" id="{F79BC3CB-0B92-A9DE-ABB5-C554019A02A1}"/>
                      </a:ext>
                    </a:extLst>
                  </p:cNvPr>
                  <p:cNvCxnSpPr>
                    <a:cxnSpLocks noGrp="1" noRot="1" noMove="1" noResize="1" noEditPoints="1" noAdjustHandles="1" noChangeArrowheads="1" noChangeShapeType="1"/>
                    <a:stCxn id="177" idx="0"/>
                    <a:endCxn id="178" idx="0"/>
                  </p:cNvCxnSpPr>
                  <p:nvPr/>
                </p:nvCxnSpPr>
                <p:spPr>
                  <a:xfrm>
                    <a:off x="7555480" y="1395599"/>
                    <a:ext cx="1771" cy="1749641"/>
                  </a:xfrm>
                  <a:prstGeom prst="line">
                    <a:avLst/>
                  </a:prstGeom>
                  <a:ln w="19050">
                    <a:solidFill>
                      <a:srgbClr val="52B3B4"/>
                    </a:solidFill>
                  </a:ln>
                </p:spPr>
                <p:style>
                  <a:lnRef idx="1">
                    <a:schemeClr val="accent1"/>
                  </a:lnRef>
                  <a:fillRef idx="0">
                    <a:schemeClr val="accent1"/>
                  </a:fillRef>
                  <a:effectRef idx="0">
                    <a:schemeClr val="accent1"/>
                  </a:effectRef>
                  <a:fontRef idx="minor">
                    <a:schemeClr val="tx1"/>
                  </a:fontRef>
                </p:style>
              </p:cxnSp>
              <p:sp>
                <p:nvSpPr>
                  <p:cNvPr id="177" name="Arco 176">
                    <a:extLst>
                      <a:ext uri="{FF2B5EF4-FFF2-40B4-BE49-F238E27FC236}">
                        <a16:creationId xmlns:a16="http://schemas.microsoft.com/office/drawing/2014/main" id="{E4BD95DF-352F-D5A1-61B2-60B8F8A3C739}"/>
                      </a:ext>
                    </a:extLst>
                  </p:cNvPr>
                  <p:cNvSpPr>
                    <a:spLocks noGrp="1" noRot="1" noMove="1" noResize="1" noEditPoints="1" noAdjustHandles="1" noChangeArrowheads="1" noChangeShapeType="1"/>
                  </p:cNvSpPr>
                  <p:nvPr/>
                </p:nvSpPr>
                <p:spPr>
                  <a:xfrm rot="16200000">
                    <a:off x="7555480" y="1307379"/>
                    <a:ext cx="176439" cy="176439"/>
                  </a:xfrm>
                  <a:prstGeom prst="arc">
                    <a:avLst/>
                  </a:prstGeom>
                  <a:ln w="19050">
                    <a:solidFill>
                      <a:srgbClr val="52B3B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8" name="Arco 177">
                    <a:extLst>
                      <a:ext uri="{FF2B5EF4-FFF2-40B4-BE49-F238E27FC236}">
                        <a16:creationId xmlns:a16="http://schemas.microsoft.com/office/drawing/2014/main" id="{15BD1BA4-C8DC-8DDC-013C-EFCFBD80DC59}"/>
                      </a:ext>
                    </a:extLst>
                  </p:cNvPr>
                  <p:cNvSpPr>
                    <a:spLocks noGrp="1" noRot="1" noMove="1" noResize="1" noEditPoints="1" noAdjustHandles="1" noChangeArrowheads="1" noChangeShapeType="1"/>
                  </p:cNvSpPr>
                  <p:nvPr/>
                </p:nvSpPr>
                <p:spPr>
                  <a:xfrm rot="5400000" flipV="1">
                    <a:off x="7557251" y="3057021"/>
                    <a:ext cx="176439" cy="176439"/>
                  </a:xfrm>
                  <a:prstGeom prst="arc">
                    <a:avLst/>
                  </a:prstGeom>
                  <a:ln w="19050">
                    <a:solidFill>
                      <a:srgbClr val="52B3B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sp>
            <p:nvSpPr>
              <p:cNvPr id="164" name="Tittle Function 01…">
                <a:extLst>
                  <a:ext uri="{FF2B5EF4-FFF2-40B4-BE49-F238E27FC236}">
                    <a16:creationId xmlns:a16="http://schemas.microsoft.com/office/drawing/2014/main" id="{8B10731D-6ED5-6465-57C1-3913E99F53D8}"/>
                  </a:ext>
                </a:extLst>
              </p:cNvPr>
              <p:cNvSpPr txBox="1">
                <a:spLocks noGrp="1" noRot="1" noMove="1" noResize="1" noEditPoints="1" noAdjustHandles="1" noChangeArrowheads="1" noChangeShapeType="1"/>
              </p:cNvSpPr>
              <p:nvPr/>
            </p:nvSpPr>
            <p:spPr>
              <a:xfrm>
                <a:off x="8376397" y="3883294"/>
                <a:ext cx="1507457" cy="246221"/>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b="1" dirty="0">
                    <a:latin typeface="Poppins SemiBold" panose="00000700000000000000" pitchFamily="2" charset="0"/>
                    <a:cs typeface="Poppins SemiBold" panose="00000700000000000000" pitchFamily="2" charset="0"/>
                  </a:rPr>
                  <a:t>Cosa produce</a:t>
                </a:r>
              </a:p>
            </p:txBody>
          </p:sp>
          <p:sp>
            <p:nvSpPr>
              <p:cNvPr id="170" name="Tittle Function 01…">
                <a:extLst>
                  <a:ext uri="{FF2B5EF4-FFF2-40B4-BE49-F238E27FC236}">
                    <a16:creationId xmlns:a16="http://schemas.microsoft.com/office/drawing/2014/main" id="{2EB7E262-FD3B-9D8F-8AA9-7117CC347EC4}"/>
                  </a:ext>
                </a:extLst>
              </p:cNvPr>
              <p:cNvSpPr txBox="1">
                <a:spLocks noGrp="1" noRot="1" noMove="1" noResize="1" noEditPoints="1" noAdjustHandles="1" noChangeArrowheads="1" noChangeShapeType="1"/>
              </p:cNvSpPr>
              <p:nvPr/>
            </p:nvSpPr>
            <p:spPr>
              <a:xfrm>
                <a:off x="8243713" y="4346656"/>
                <a:ext cx="3222898" cy="138499"/>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Data Mart</a:t>
                </a:r>
              </a:p>
            </p:txBody>
          </p:sp>
          <p:sp>
            <p:nvSpPr>
              <p:cNvPr id="171" name="Tittle Function 01…">
                <a:extLst>
                  <a:ext uri="{FF2B5EF4-FFF2-40B4-BE49-F238E27FC236}">
                    <a16:creationId xmlns:a16="http://schemas.microsoft.com/office/drawing/2014/main" id="{4D6452F2-5DBB-7DA5-9E32-16B637B6AE58}"/>
                  </a:ext>
                </a:extLst>
              </p:cNvPr>
              <p:cNvSpPr txBox="1">
                <a:spLocks noGrp="1" noRot="1" noMove="1" noResize="1" noEditPoints="1" noAdjustHandles="1" noChangeArrowheads="1" noChangeShapeType="1"/>
              </p:cNvSpPr>
              <p:nvPr/>
            </p:nvSpPr>
            <p:spPr>
              <a:xfrm>
                <a:off x="8243713" y="4580288"/>
                <a:ext cx="3222898" cy="138499"/>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Output operativi per processi</a:t>
                </a:r>
              </a:p>
            </p:txBody>
          </p:sp>
          <p:sp>
            <p:nvSpPr>
              <p:cNvPr id="172" name="Tittle Function 01…">
                <a:extLst>
                  <a:ext uri="{FF2B5EF4-FFF2-40B4-BE49-F238E27FC236}">
                    <a16:creationId xmlns:a16="http://schemas.microsoft.com/office/drawing/2014/main" id="{E6C4A2C5-A675-A97A-139C-F7CFC57ABBD9}"/>
                  </a:ext>
                </a:extLst>
              </p:cNvPr>
              <p:cNvSpPr txBox="1">
                <a:spLocks noGrp="1" noRot="1" noMove="1" noResize="1" noEditPoints="1" noAdjustHandles="1" noChangeArrowheads="1" noChangeShapeType="1"/>
              </p:cNvSpPr>
              <p:nvPr/>
            </p:nvSpPr>
            <p:spPr>
              <a:xfrm>
                <a:off x="8243713" y="4815915"/>
                <a:ext cx="3222898" cy="138499"/>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Dashboard e report</a:t>
                </a:r>
              </a:p>
            </p:txBody>
          </p:sp>
          <p:sp>
            <p:nvSpPr>
              <p:cNvPr id="173" name="Tittle Function 01…">
                <a:extLst>
                  <a:ext uri="{FF2B5EF4-FFF2-40B4-BE49-F238E27FC236}">
                    <a16:creationId xmlns:a16="http://schemas.microsoft.com/office/drawing/2014/main" id="{7ACF6E4F-715E-35FC-2975-D1E2EACCA502}"/>
                  </a:ext>
                </a:extLst>
              </p:cNvPr>
              <p:cNvSpPr txBox="1">
                <a:spLocks noGrp="1" noRot="1" noMove="1" noResize="1" noEditPoints="1" noAdjustHandles="1" noChangeArrowheads="1" noChangeShapeType="1"/>
              </p:cNvSpPr>
              <p:nvPr/>
            </p:nvSpPr>
            <p:spPr>
              <a:xfrm>
                <a:off x="8243713" y="5051542"/>
                <a:ext cx="3222898" cy="138499"/>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Audit &amp; Log e controlli</a:t>
                </a:r>
              </a:p>
            </p:txBody>
          </p:sp>
          <p:sp>
            <p:nvSpPr>
              <p:cNvPr id="181" name="Tittle Function 01…">
                <a:extLst>
                  <a:ext uri="{FF2B5EF4-FFF2-40B4-BE49-F238E27FC236}">
                    <a16:creationId xmlns:a16="http://schemas.microsoft.com/office/drawing/2014/main" id="{53995162-9A9D-A946-6F08-9CE35C8F759A}"/>
                  </a:ext>
                </a:extLst>
              </p:cNvPr>
              <p:cNvSpPr txBox="1">
                <a:spLocks noGrp="1" noRot="1" noMove="1" noResize="1" noEditPoints="1" noAdjustHandles="1" noChangeArrowheads="1" noChangeShapeType="1"/>
              </p:cNvSpPr>
              <p:nvPr/>
            </p:nvSpPr>
            <p:spPr>
              <a:xfrm>
                <a:off x="8243713" y="5287169"/>
                <a:ext cx="3222898" cy="138499"/>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b-NO" sz="900" dirty="0">
                    <a:cs typeface="Poppins SemiBold" panose="00000700000000000000" pitchFamily="2" charset="0"/>
                  </a:rPr>
                  <a:t>Export per utenti e stakeholder</a:t>
                </a:r>
                <a:endParaRPr lang="it-IT" sz="900" dirty="0">
                  <a:cs typeface="Poppins SemiBold" panose="00000700000000000000" pitchFamily="2" charset="0"/>
                </a:endParaRPr>
              </a:p>
            </p:txBody>
          </p:sp>
          <p:pic>
            <p:nvPicPr>
              <p:cNvPr id="184" name="Elemento grafico 183">
                <a:extLst>
                  <a:ext uri="{FF2B5EF4-FFF2-40B4-BE49-F238E27FC236}">
                    <a16:creationId xmlns:a16="http://schemas.microsoft.com/office/drawing/2014/main" id="{1F471141-541E-5756-A2B3-AD517B5953CF}"/>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1"/>
                  </a:ext>
                </a:extLst>
              </a:blip>
              <a:stretch>
                <a:fillRect/>
              </a:stretch>
            </p:blipFill>
            <p:spPr>
              <a:xfrm>
                <a:off x="7789873" y="3827215"/>
                <a:ext cx="360000" cy="360000"/>
              </a:xfrm>
              <a:prstGeom prst="rect">
                <a:avLst/>
              </a:prstGeom>
            </p:spPr>
          </p:pic>
          <p:pic>
            <p:nvPicPr>
              <p:cNvPr id="186" name="Elemento grafico 185">
                <a:extLst>
                  <a:ext uri="{FF2B5EF4-FFF2-40B4-BE49-F238E27FC236}">
                    <a16:creationId xmlns:a16="http://schemas.microsoft.com/office/drawing/2014/main" id="{0F6D20B1-4A75-95C8-9191-9462040301C9}"/>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2"/>
                  </a:ext>
                </a:extLst>
              </a:blip>
              <a:stretch>
                <a:fillRect/>
              </a:stretch>
            </p:blipFill>
            <p:spPr>
              <a:xfrm>
                <a:off x="7879873" y="4323911"/>
                <a:ext cx="180000" cy="180000"/>
              </a:xfrm>
              <a:prstGeom prst="rect">
                <a:avLst/>
              </a:prstGeom>
            </p:spPr>
          </p:pic>
          <p:pic>
            <p:nvPicPr>
              <p:cNvPr id="187" name="Elemento grafico 186">
                <a:extLst>
                  <a:ext uri="{FF2B5EF4-FFF2-40B4-BE49-F238E27FC236}">
                    <a16:creationId xmlns:a16="http://schemas.microsoft.com/office/drawing/2014/main" id="{E9214404-15D1-A397-1244-FE873FBB2B74}"/>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3"/>
                  </a:ext>
                </a:extLst>
              </a:blip>
              <a:stretch>
                <a:fillRect/>
              </a:stretch>
            </p:blipFill>
            <p:spPr>
              <a:xfrm>
                <a:off x="7879873" y="4559538"/>
                <a:ext cx="180000" cy="180000"/>
              </a:xfrm>
              <a:prstGeom prst="rect">
                <a:avLst/>
              </a:prstGeom>
            </p:spPr>
          </p:pic>
          <p:pic>
            <p:nvPicPr>
              <p:cNvPr id="189" name="Elemento grafico 188">
                <a:extLst>
                  <a:ext uri="{FF2B5EF4-FFF2-40B4-BE49-F238E27FC236}">
                    <a16:creationId xmlns:a16="http://schemas.microsoft.com/office/drawing/2014/main" id="{D142135E-FB60-F031-48A8-AA43941F04A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4"/>
                  </a:ext>
                </a:extLst>
              </a:blip>
              <a:stretch>
                <a:fillRect/>
              </a:stretch>
            </p:blipFill>
            <p:spPr>
              <a:xfrm>
                <a:off x="7879873" y="4795165"/>
                <a:ext cx="180000" cy="180000"/>
              </a:xfrm>
              <a:prstGeom prst="rect">
                <a:avLst/>
              </a:prstGeom>
            </p:spPr>
          </p:pic>
          <p:pic>
            <p:nvPicPr>
              <p:cNvPr id="191" name="Elemento grafico 190">
                <a:extLst>
                  <a:ext uri="{FF2B5EF4-FFF2-40B4-BE49-F238E27FC236}">
                    <a16:creationId xmlns:a16="http://schemas.microsoft.com/office/drawing/2014/main" id="{8E636E2B-7545-2FD5-66AE-8B34A624F15C}"/>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5"/>
                  </a:ext>
                </a:extLst>
              </a:blip>
              <a:stretch>
                <a:fillRect/>
              </a:stretch>
            </p:blipFill>
            <p:spPr>
              <a:xfrm>
                <a:off x="7879873" y="5030792"/>
                <a:ext cx="180000" cy="180000"/>
              </a:xfrm>
              <a:prstGeom prst="rect">
                <a:avLst/>
              </a:prstGeom>
            </p:spPr>
          </p:pic>
          <p:pic>
            <p:nvPicPr>
              <p:cNvPr id="193" name="Elemento grafico 192">
                <a:extLst>
                  <a:ext uri="{FF2B5EF4-FFF2-40B4-BE49-F238E27FC236}">
                    <a16:creationId xmlns:a16="http://schemas.microsoft.com/office/drawing/2014/main" id="{A77724EA-11EA-F5C7-0A68-E81592E83818}"/>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6"/>
                  </a:ext>
                </a:extLst>
              </a:blip>
              <a:stretch>
                <a:fillRect/>
              </a:stretch>
            </p:blipFill>
            <p:spPr>
              <a:xfrm>
                <a:off x="7879873" y="5266419"/>
                <a:ext cx="180000" cy="180000"/>
              </a:xfrm>
              <a:prstGeom prst="rect">
                <a:avLst/>
              </a:prstGeom>
            </p:spPr>
          </p:pic>
        </p:grpSp>
      </p:grpSp>
      <p:grpSp>
        <p:nvGrpSpPr>
          <p:cNvPr id="45" name="Gruppo 44">
            <a:extLst>
              <a:ext uri="{FF2B5EF4-FFF2-40B4-BE49-F238E27FC236}">
                <a16:creationId xmlns:a16="http://schemas.microsoft.com/office/drawing/2014/main" id="{CFF8DDCF-63C1-9E11-D239-499C57BD86CE}"/>
              </a:ext>
            </a:extLst>
          </p:cNvPr>
          <p:cNvGrpSpPr/>
          <p:nvPr/>
        </p:nvGrpSpPr>
        <p:grpSpPr>
          <a:xfrm>
            <a:off x="8967395" y="370238"/>
            <a:ext cx="2750029" cy="406706"/>
            <a:chOff x="6734403" y="623243"/>
            <a:chExt cx="2750029" cy="406706"/>
          </a:xfrm>
        </p:grpSpPr>
        <p:sp>
          <p:nvSpPr>
            <p:cNvPr id="47" name="Line">
              <a:extLst>
                <a:ext uri="{FF2B5EF4-FFF2-40B4-BE49-F238E27FC236}">
                  <a16:creationId xmlns:a16="http://schemas.microsoft.com/office/drawing/2014/main" id="{A4BF1FDF-D654-65DE-92DF-1D13C5A1E808}"/>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48" name="Gruppo 47">
              <a:extLst>
                <a:ext uri="{FF2B5EF4-FFF2-40B4-BE49-F238E27FC236}">
                  <a16:creationId xmlns:a16="http://schemas.microsoft.com/office/drawing/2014/main" id="{B5BA3F57-5A0A-E411-2EAB-178A07BCF7E7}"/>
                </a:ext>
              </a:extLst>
            </p:cNvPr>
            <p:cNvGrpSpPr/>
            <p:nvPr/>
          </p:nvGrpSpPr>
          <p:grpSpPr>
            <a:xfrm>
              <a:off x="6734403" y="623243"/>
              <a:ext cx="2750029" cy="406706"/>
              <a:chOff x="6734403" y="623243"/>
              <a:chExt cx="2750029" cy="406706"/>
            </a:xfrm>
          </p:grpSpPr>
          <p:grpSp>
            <p:nvGrpSpPr>
              <p:cNvPr id="49" name="Gruppo 48">
                <a:extLst>
                  <a:ext uri="{FF2B5EF4-FFF2-40B4-BE49-F238E27FC236}">
                    <a16:creationId xmlns:a16="http://schemas.microsoft.com/office/drawing/2014/main" id="{7683240C-F43A-CB64-8536-CFBEC8F79F0C}"/>
                  </a:ext>
                </a:extLst>
              </p:cNvPr>
              <p:cNvGrpSpPr/>
              <p:nvPr/>
            </p:nvGrpSpPr>
            <p:grpSpPr>
              <a:xfrm>
                <a:off x="6734403" y="623243"/>
                <a:ext cx="576000" cy="406706"/>
                <a:chOff x="6734403" y="623243"/>
                <a:chExt cx="576000" cy="406706"/>
              </a:xfrm>
            </p:grpSpPr>
            <p:pic>
              <p:nvPicPr>
                <p:cNvPr id="62" name="Elemento grafico 61">
                  <a:extLst>
                    <a:ext uri="{FF2B5EF4-FFF2-40B4-BE49-F238E27FC236}">
                      <a16:creationId xmlns:a16="http://schemas.microsoft.com/office/drawing/2014/main" id="{C2880304-DF8A-D311-3815-0C2321D9359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908103" y="801349"/>
                  <a:ext cx="228600" cy="228600"/>
                </a:xfrm>
                <a:prstGeom prst="rect">
                  <a:avLst/>
                </a:prstGeom>
              </p:spPr>
            </p:pic>
            <p:sp>
              <p:nvSpPr>
                <p:cNvPr id="63" name="CasellaDiTesto 62">
                  <a:extLst>
                    <a:ext uri="{FF2B5EF4-FFF2-40B4-BE49-F238E27FC236}">
                      <a16:creationId xmlns:a16="http://schemas.microsoft.com/office/drawing/2014/main" id="{4B82B981-9D12-0A69-6475-91A362634FE8}"/>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50" name="Gruppo 49">
                <a:extLst>
                  <a:ext uri="{FF2B5EF4-FFF2-40B4-BE49-F238E27FC236}">
                    <a16:creationId xmlns:a16="http://schemas.microsoft.com/office/drawing/2014/main" id="{E91B32C7-7939-9D84-9E49-3353631DB370}"/>
                  </a:ext>
                </a:extLst>
              </p:cNvPr>
              <p:cNvGrpSpPr/>
              <p:nvPr/>
            </p:nvGrpSpPr>
            <p:grpSpPr>
              <a:xfrm>
                <a:off x="7277910" y="623243"/>
                <a:ext cx="576000" cy="406706"/>
                <a:chOff x="7291884" y="623243"/>
                <a:chExt cx="576000" cy="406706"/>
              </a:xfrm>
            </p:grpSpPr>
            <p:pic>
              <p:nvPicPr>
                <p:cNvPr id="60" name="Elemento grafico 59">
                  <a:extLst>
                    <a:ext uri="{FF2B5EF4-FFF2-40B4-BE49-F238E27FC236}">
                      <a16:creationId xmlns:a16="http://schemas.microsoft.com/office/drawing/2014/main" id="{F7686B9B-7A3A-711F-B65A-43AF599F603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465584" y="801349"/>
                  <a:ext cx="228600" cy="228600"/>
                </a:xfrm>
                <a:prstGeom prst="rect">
                  <a:avLst/>
                </a:prstGeom>
              </p:spPr>
            </p:pic>
            <p:sp>
              <p:nvSpPr>
                <p:cNvPr id="61" name="CasellaDiTesto 60">
                  <a:extLst>
                    <a:ext uri="{FF2B5EF4-FFF2-40B4-BE49-F238E27FC236}">
                      <a16:creationId xmlns:a16="http://schemas.microsoft.com/office/drawing/2014/main" id="{AD66035B-BA66-FFDD-E938-5B8B8FBF6F01}"/>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51" name="Gruppo 50">
                <a:extLst>
                  <a:ext uri="{FF2B5EF4-FFF2-40B4-BE49-F238E27FC236}">
                    <a16:creationId xmlns:a16="http://schemas.microsoft.com/office/drawing/2014/main" id="{03A8FBA3-7734-B73E-D299-6B02CA8965EC}"/>
                  </a:ext>
                </a:extLst>
              </p:cNvPr>
              <p:cNvGrpSpPr/>
              <p:nvPr/>
            </p:nvGrpSpPr>
            <p:grpSpPr>
              <a:xfrm>
                <a:off x="7743611" y="623243"/>
                <a:ext cx="731612" cy="406706"/>
                <a:chOff x="7777971" y="623243"/>
                <a:chExt cx="731612" cy="406706"/>
              </a:xfrm>
            </p:grpSpPr>
            <p:pic>
              <p:nvPicPr>
                <p:cNvPr id="58" name="Elemento grafico 57">
                  <a:extLst>
                    <a:ext uri="{FF2B5EF4-FFF2-40B4-BE49-F238E27FC236}">
                      <a16:creationId xmlns:a16="http://schemas.microsoft.com/office/drawing/2014/main" id="{4A04DF43-8DDB-C0C5-55FD-C02C814BCCEB}"/>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8029477" y="801349"/>
                  <a:ext cx="228600" cy="228600"/>
                </a:xfrm>
                <a:prstGeom prst="rect">
                  <a:avLst/>
                </a:prstGeom>
              </p:spPr>
            </p:pic>
            <p:sp>
              <p:nvSpPr>
                <p:cNvPr id="59" name="CasellaDiTesto 58">
                  <a:extLst>
                    <a:ext uri="{FF2B5EF4-FFF2-40B4-BE49-F238E27FC236}">
                      <a16:creationId xmlns:a16="http://schemas.microsoft.com/office/drawing/2014/main" id="{ACEE0D6B-B2EA-1360-5898-C1A013AF08AC}"/>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PROPOSTA</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52" name="Gruppo 51">
                <a:extLst>
                  <a:ext uri="{FF2B5EF4-FFF2-40B4-BE49-F238E27FC236}">
                    <a16:creationId xmlns:a16="http://schemas.microsoft.com/office/drawing/2014/main" id="{8FF6132A-FBD6-3159-786A-95892778B014}"/>
                  </a:ext>
                </a:extLst>
              </p:cNvPr>
              <p:cNvGrpSpPr/>
              <p:nvPr/>
            </p:nvGrpSpPr>
            <p:grpSpPr>
              <a:xfrm>
                <a:off x="8364924" y="623243"/>
                <a:ext cx="576000" cy="406706"/>
                <a:chOff x="8576444" y="623243"/>
                <a:chExt cx="576000" cy="406706"/>
              </a:xfrm>
            </p:grpSpPr>
            <p:pic>
              <p:nvPicPr>
                <p:cNvPr id="56" name="Elemento grafico 55">
                  <a:extLst>
                    <a:ext uri="{FF2B5EF4-FFF2-40B4-BE49-F238E27FC236}">
                      <a16:creationId xmlns:a16="http://schemas.microsoft.com/office/drawing/2014/main" id="{352F904A-862E-87BF-C776-71DCF8995E93}"/>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8750144" y="801349"/>
                  <a:ext cx="228600" cy="228600"/>
                </a:xfrm>
                <a:prstGeom prst="rect">
                  <a:avLst/>
                </a:prstGeom>
              </p:spPr>
            </p:pic>
            <p:sp>
              <p:nvSpPr>
                <p:cNvPr id="57" name="CasellaDiTesto 56">
                  <a:extLst>
                    <a:ext uri="{FF2B5EF4-FFF2-40B4-BE49-F238E27FC236}">
                      <a16:creationId xmlns:a16="http://schemas.microsoft.com/office/drawing/2014/main" id="{A01B5481-F426-2EF2-9B91-32C269190C8D}"/>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3" name="Gruppo 52">
                <a:extLst>
                  <a:ext uri="{FF2B5EF4-FFF2-40B4-BE49-F238E27FC236}">
                    <a16:creationId xmlns:a16="http://schemas.microsoft.com/office/drawing/2014/main" id="{BB5E7141-B43A-5805-BDC9-E69FC54FF22D}"/>
                  </a:ext>
                </a:extLst>
              </p:cNvPr>
              <p:cNvGrpSpPr/>
              <p:nvPr/>
            </p:nvGrpSpPr>
            <p:grpSpPr>
              <a:xfrm>
                <a:off x="8908432" y="623243"/>
                <a:ext cx="576000" cy="406706"/>
                <a:chOff x="9067561" y="623243"/>
                <a:chExt cx="576000" cy="406706"/>
              </a:xfrm>
            </p:grpSpPr>
            <p:pic>
              <p:nvPicPr>
                <p:cNvPr id="54" name="Elemento grafico 53">
                  <a:extLst>
                    <a:ext uri="{FF2B5EF4-FFF2-40B4-BE49-F238E27FC236}">
                      <a16:creationId xmlns:a16="http://schemas.microsoft.com/office/drawing/2014/main" id="{6CD980B4-5144-AA25-1CE0-9E4DF3B225EC}"/>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241261" y="801349"/>
                  <a:ext cx="228600" cy="228600"/>
                </a:xfrm>
                <a:prstGeom prst="rect">
                  <a:avLst/>
                </a:prstGeom>
              </p:spPr>
            </p:pic>
            <p:sp>
              <p:nvSpPr>
                <p:cNvPr id="55" name="CasellaDiTesto 54">
                  <a:extLst>
                    <a:ext uri="{FF2B5EF4-FFF2-40B4-BE49-F238E27FC236}">
                      <a16:creationId xmlns:a16="http://schemas.microsoft.com/office/drawing/2014/main" id="{6C5025B3-4C27-DE7C-8430-757CB9F23AF4}"/>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2825670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FAA5A-9956-6312-BA88-D700DA5132D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4885358-326C-B892-4730-1152F97C4866}"/>
              </a:ext>
            </a:extLst>
          </p:cNvPr>
          <p:cNvSpPr>
            <a:spLocks noGrp="1"/>
          </p:cNvSpPr>
          <p:nvPr>
            <p:ph type="title"/>
          </p:nvPr>
        </p:nvSpPr>
        <p:spPr/>
        <p:txBody>
          <a:bodyPr/>
          <a:lstStyle/>
          <a:p>
            <a:r>
              <a:rPr lang="it-IT" dirty="0"/>
              <a:t>Data pipeline | </a:t>
            </a:r>
            <a:r>
              <a:rPr lang="it-IT" dirty="0">
                <a:solidFill>
                  <a:schemeClr val="tx1"/>
                </a:solidFill>
                <a:ea typeface="+mn-ea"/>
                <a:cs typeface="+mn-cs"/>
              </a:rPr>
              <a:t>Roadmap di adozione</a:t>
            </a:r>
          </a:p>
        </p:txBody>
      </p:sp>
      <p:grpSp>
        <p:nvGrpSpPr>
          <p:cNvPr id="21" name="Gruppo 20">
            <a:extLst>
              <a:ext uri="{FF2B5EF4-FFF2-40B4-BE49-F238E27FC236}">
                <a16:creationId xmlns:a16="http://schemas.microsoft.com/office/drawing/2014/main" id="{830CB343-7706-3427-6F30-921540E3918C}"/>
              </a:ext>
            </a:extLst>
          </p:cNvPr>
          <p:cNvGrpSpPr/>
          <p:nvPr/>
        </p:nvGrpSpPr>
        <p:grpSpPr>
          <a:xfrm>
            <a:off x="102928" y="1274769"/>
            <a:ext cx="11844808" cy="4308462"/>
            <a:chOff x="102928" y="1274769"/>
            <a:chExt cx="11844808" cy="4308462"/>
          </a:xfrm>
        </p:grpSpPr>
        <p:sp>
          <p:nvSpPr>
            <p:cNvPr id="233" name="Freccia a destra 232">
              <a:extLst>
                <a:ext uri="{FF2B5EF4-FFF2-40B4-BE49-F238E27FC236}">
                  <a16:creationId xmlns:a16="http://schemas.microsoft.com/office/drawing/2014/main" id="{0D50C31C-20D4-3DC0-8397-4C7AC689CE53}"/>
                </a:ext>
              </a:extLst>
            </p:cNvPr>
            <p:cNvSpPr/>
            <p:nvPr/>
          </p:nvSpPr>
          <p:spPr>
            <a:xfrm>
              <a:off x="9505678" y="3459934"/>
              <a:ext cx="583660" cy="672830"/>
            </a:xfrm>
            <a:prstGeom prst="rightArrow">
              <a:avLst>
                <a:gd name="adj1" fmla="val 53855"/>
                <a:gd name="adj2" fmla="val 68087"/>
              </a:avLst>
            </a:prstGeom>
            <a:ln w="12700">
              <a:gradFill>
                <a:gsLst>
                  <a:gs pos="0">
                    <a:srgbClr val="56B093"/>
                  </a:gs>
                  <a:gs pos="100000">
                    <a:srgbClr val="307FE2"/>
                  </a:gs>
                </a:gsLst>
                <a:lin ang="5400000" scaled="1"/>
              </a:gradFill>
              <a:miter lim="400000"/>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455671"/>
              <a:endParaRPr lang="en-US" sz="797" kern="0">
                <a:solidFill>
                  <a:srgbClr val="FFFFFF"/>
                </a:solidFill>
                <a:latin typeface="Poppins"/>
              </a:endParaRPr>
            </a:p>
          </p:txBody>
        </p:sp>
        <p:grpSp>
          <p:nvGrpSpPr>
            <p:cNvPr id="209" name="Gruppo 208">
              <a:extLst>
                <a:ext uri="{FF2B5EF4-FFF2-40B4-BE49-F238E27FC236}">
                  <a16:creationId xmlns:a16="http://schemas.microsoft.com/office/drawing/2014/main" id="{2F71C8A9-0D48-3395-7F9E-9CBEF6A54C19}"/>
                </a:ext>
              </a:extLst>
            </p:cNvPr>
            <p:cNvGrpSpPr/>
            <p:nvPr/>
          </p:nvGrpSpPr>
          <p:grpSpPr>
            <a:xfrm>
              <a:off x="102928" y="2206286"/>
              <a:ext cx="1620000" cy="3126254"/>
              <a:chOff x="294735" y="1807906"/>
              <a:chExt cx="1620000" cy="3126254"/>
            </a:xfrm>
          </p:grpSpPr>
          <p:sp>
            <p:nvSpPr>
              <p:cNvPr id="2" name="CasellaDiTesto 1">
                <a:extLst>
                  <a:ext uri="{FF2B5EF4-FFF2-40B4-BE49-F238E27FC236}">
                    <a16:creationId xmlns:a16="http://schemas.microsoft.com/office/drawing/2014/main" id="{F9A73E38-D2B1-8556-D899-E828E07AEBF8}"/>
                  </a:ext>
                </a:extLst>
              </p:cNvPr>
              <p:cNvSpPr txBox="1"/>
              <p:nvPr/>
            </p:nvSpPr>
            <p:spPr>
              <a:xfrm>
                <a:off x="402077" y="1807906"/>
                <a:ext cx="460382"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FASE</a:t>
                </a:r>
                <a:endParaRPr lang="en-US" sz="800" b="1" dirty="0">
                  <a:latin typeface="Poppins SemiBold" panose="00000700000000000000" pitchFamily="2" charset="0"/>
                  <a:cs typeface="Poppins SemiBold" panose="00000700000000000000" pitchFamily="2" charset="0"/>
                </a:endParaRPr>
              </a:p>
            </p:txBody>
          </p:sp>
          <p:cxnSp>
            <p:nvCxnSpPr>
              <p:cNvPr id="9" name="Connettore diritto 8">
                <a:extLst>
                  <a:ext uri="{FF2B5EF4-FFF2-40B4-BE49-F238E27FC236}">
                    <a16:creationId xmlns:a16="http://schemas.microsoft.com/office/drawing/2014/main" id="{F6C82D39-07B1-33B1-4768-33FB400F351C}"/>
                  </a:ext>
                </a:extLst>
              </p:cNvPr>
              <p:cNvCxnSpPr>
                <a:cxnSpLocks/>
              </p:cNvCxnSpPr>
              <p:nvPr/>
            </p:nvCxnSpPr>
            <p:spPr>
              <a:xfrm>
                <a:off x="294735" y="2837842"/>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1" name="Connettore diritto 10">
                <a:extLst>
                  <a:ext uri="{FF2B5EF4-FFF2-40B4-BE49-F238E27FC236}">
                    <a16:creationId xmlns:a16="http://schemas.microsoft.com/office/drawing/2014/main" id="{76336CF6-DF06-FD39-B7E9-F06FA1C93133}"/>
                  </a:ext>
                </a:extLst>
              </p:cNvPr>
              <p:cNvCxnSpPr>
                <a:cxnSpLocks/>
              </p:cNvCxnSpPr>
              <p:nvPr/>
            </p:nvCxnSpPr>
            <p:spPr>
              <a:xfrm>
                <a:off x="294735" y="4445644"/>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sp>
            <p:nvSpPr>
              <p:cNvPr id="46" name="CasellaDiTesto 45">
                <a:extLst>
                  <a:ext uri="{FF2B5EF4-FFF2-40B4-BE49-F238E27FC236}">
                    <a16:creationId xmlns:a16="http://schemas.microsoft.com/office/drawing/2014/main" id="{8CB304FD-652F-E04E-6659-0624BC9BDA07}"/>
                  </a:ext>
                </a:extLst>
              </p:cNvPr>
              <p:cNvSpPr txBox="1"/>
              <p:nvPr/>
            </p:nvSpPr>
            <p:spPr>
              <a:xfrm>
                <a:off x="402077" y="2437260"/>
                <a:ext cx="575799"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FOCUS</a:t>
                </a:r>
                <a:endParaRPr lang="en-US" sz="800" b="1" dirty="0">
                  <a:latin typeface="Poppins SemiBold" panose="00000700000000000000" pitchFamily="2" charset="0"/>
                  <a:cs typeface="Poppins SemiBold" panose="00000700000000000000" pitchFamily="2" charset="0"/>
                </a:endParaRPr>
              </a:p>
            </p:txBody>
          </p:sp>
          <p:sp>
            <p:nvSpPr>
              <p:cNvPr id="47" name="CasellaDiTesto 46">
                <a:extLst>
                  <a:ext uri="{FF2B5EF4-FFF2-40B4-BE49-F238E27FC236}">
                    <a16:creationId xmlns:a16="http://schemas.microsoft.com/office/drawing/2014/main" id="{221823AA-7034-59F6-BF60-C156425CF1CE}"/>
                  </a:ext>
                </a:extLst>
              </p:cNvPr>
              <p:cNvSpPr txBox="1"/>
              <p:nvPr/>
            </p:nvSpPr>
            <p:spPr>
              <a:xfrm>
                <a:off x="389413" y="3526327"/>
                <a:ext cx="1176925"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COSA FACCIAMO</a:t>
                </a:r>
                <a:endParaRPr lang="en-US" sz="800" b="1" dirty="0">
                  <a:latin typeface="Poppins SemiBold" panose="00000700000000000000" pitchFamily="2" charset="0"/>
                  <a:cs typeface="Poppins SemiBold" panose="00000700000000000000" pitchFamily="2" charset="0"/>
                </a:endParaRPr>
              </a:p>
            </p:txBody>
          </p:sp>
          <p:sp>
            <p:nvSpPr>
              <p:cNvPr id="48" name="CasellaDiTesto 47">
                <a:extLst>
                  <a:ext uri="{FF2B5EF4-FFF2-40B4-BE49-F238E27FC236}">
                    <a16:creationId xmlns:a16="http://schemas.microsoft.com/office/drawing/2014/main" id="{42CEB515-702B-3C34-7BF2-A61B111E3597}"/>
                  </a:ext>
                </a:extLst>
              </p:cNvPr>
              <p:cNvSpPr txBox="1"/>
              <p:nvPr/>
            </p:nvSpPr>
            <p:spPr>
              <a:xfrm>
                <a:off x="402077" y="4703328"/>
                <a:ext cx="1271502"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RISULTATO ATTESO</a:t>
                </a:r>
                <a:endParaRPr lang="en-US" sz="800" b="1" dirty="0">
                  <a:latin typeface="Poppins SemiBold" panose="00000700000000000000" pitchFamily="2" charset="0"/>
                  <a:cs typeface="Poppins SemiBold" panose="00000700000000000000" pitchFamily="2" charset="0"/>
                </a:endParaRPr>
              </a:p>
            </p:txBody>
          </p:sp>
          <p:cxnSp>
            <p:nvCxnSpPr>
              <p:cNvPr id="160" name="Connettore diritto 159">
                <a:extLst>
                  <a:ext uri="{FF2B5EF4-FFF2-40B4-BE49-F238E27FC236}">
                    <a16:creationId xmlns:a16="http://schemas.microsoft.com/office/drawing/2014/main" id="{8BF38D38-229E-5803-E127-87E67195FE43}"/>
                  </a:ext>
                </a:extLst>
              </p:cNvPr>
              <p:cNvCxnSpPr>
                <a:cxnSpLocks/>
              </p:cNvCxnSpPr>
              <p:nvPr/>
            </p:nvCxnSpPr>
            <p:spPr>
              <a:xfrm>
                <a:off x="294735" y="2267510"/>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grpSp>
          <p:nvGrpSpPr>
            <p:cNvPr id="16" name="Gruppo 15">
              <a:extLst>
                <a:ext uri="{FF2B5EF4-FFF2-40B4-BE49-F238E27FC236}">
                  <a16:creationId xmlns:a16="http://schemas.microsoft.com/office/drawing/2014/main" id="{6314C35B-37F4-F6FC-2672-26404126D1FE}"/>
                </a:ext>
              </a:extLst>
            </p:cNvPr>
            <p:cNvGrpSpPr/>
            <p:nvPr/>
          </p:nvGrpSpPr>
          <p:grpSpPr>
            <a:xfrm>
              <a:off x="10135012" y="1977515"/>
              <a:ext cx="1812724" cy="3605716"/>
              <a:chOff x="10135012" y="1977515"/>
              <a:chExt cx="1812724" cy="3605716"/>
            </a:xfrm>
          </p:grpSpPr>
          <p:sp>
            <p:nvSpPr>
              <p:cNvPr id="164" name="Rettangolo con angoli arrotondati 163">
                <a:extLst>
                  <a:ext uri="{FF2B5EF4-FFF2-40B4-BE49-F238E27FC236}">
                    <a16:creationId xmlns:a16="http://schemas.microsoft.com/office/drawing/2014/main" id="{8B2EEE10-E4BE-8EC2-1DBA-99012C700F2B}"/>
                  </a:ext>
                </a:extLst>
              </p:cNvPr>
              <p:cNvSpPr/>
              <p:nvPr/>
            </p:nvSpPr>
            <p:spPr>
              <a:xfrm>
                <a:off x="10135012" y="1977515"/>
                <a:ext cx="1812724" cy="3605716"/>
              </a:xfrm>
              <a:prstGeom prst="roundRect">
                <a:avLst>
                  <a:gd name="adj" fmla="val 6445"/>
                </a:avLst>
              </a:prstGeom>
              <a:ln w="12700">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sp>
            <p:nvSpPr>
              <p:cNvPr id="166" name="CasellaDiTesto 165">
                <a:extLst>
                  <a:ext uri="{FF2B5EF4-FFF2-40B4-BE49-F238E27FC236}">
                    <a16:creationId xmlns:a16="http://schemas.microsoft.com/office/drawing/2014/main" id="{798541A0-F7A0-9AA1-4B5A-5C3EF0EA295D}"/>
                  </a:ext>
                </a:extLst>
              </p:cNvPr>
              <p:cNvSpPr txBox="1"/>
              <p:nvPr/>
            </p:nvSpPr>
            <p:spPr>
              <a:xfrm>
                <a:off x="10422047" y="2041442"/>
                <a:ext cx="1238655" cy="415498"/>
              </a:xfrm>
              <a:prstGeom prst="rect">
                <a:avLst/>
              </a:prstGeom>
              <a:noFill/>
            </p:spPr>
            <p:txBody>
              <a:bodyPr wrap="square" rtlCol="0">
                <a:spAutoFit/>
              </a:bodyPr>
              <a:lstStyle/>
              <a:p>
                <a:pPr algn="ctr"/>
                <a:r>
                  <a:rPr lang="it-IT" sz="1050" b="1" dirty="0">
                    <a:gradFill flip="none">
                      <a:gsLst>
                        <a:gs pos="0">
                          <a:srgbClr val="56B093"/>
                        </a:gs>
                        <a:gs pos="100000">
                          <a:srgbClr val="307FE2"/>
                        </a:gs>
                      </a:gsLst>
                      <a:path path="circle">
                        <a:fillToRect t="100000" r="100000"/>
                      </a:path>
                      <a:tileRect l="-100000" b="-100000"/>
                    </a:gradFill>
                  </a:rPr>
                  <a:t>BENEFICI ATTESI</a:t>
                </a:r>
                <a:endParaRPr lang="en-US" sz="1050" b="1" dirty="0">
                  <a:gradFill flip="none">
                    <a:gsLst>
                      <a:gs pos="0">
                        <a:srgbClr val="56B093"/>
                      </a:gs>
                      <a:gs pos="100000">
                        <a:srgbClr val="307FE2"/>
                      </a:gs>
                    </a:gsLst>
                    <a:path path="circle">
                      <a:fillToRect t="100000" r="100000"/>
                    </a:path>
                    <a:tileRect l="-100000" b="-100000"/>
                  </a:gradFill>
                </a:endParaRPr>
              </a:p>
            </p:txBody>
          </p:sp>
          <p:cxnSp>
            <p:nvCxnSpPr>
              <p:cNvPr id="182" name="Connettore diritto 181">
                <a:extLst>
                  <a:ext uri="{FF2B5EF4-FFF2-40B4-BE49-F238E27FC236}">
                    <a16:creationId xmlns:a16="http://schemas.microsoft.com/office/drawing/2014/main" id="{9AE0075D-C382-F546-7192-354B1DFA2B60}"/>
                  </a:ext>
                </a:extLst>
              </p:cNvPr>
              <p:cNvCxnSpPr>
                <a:cxnSpLocks/>
              </p:cNvCxnSpPr>
              <p:nvPr/>
            </p:nvCxnSpPr>
            <p:spPr>
              <a:xfrm>
                <a:off x="10231374" y="3026296"/>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3" name="Connettore diritto 182">
                <a:extLst>
                  <a:ext uri="{FF2B5EF4-FFF2-40B4-BE49-F238E27FC236}">
                    <a16:creationId xmlns:a16="http://schemas.microsoft.com/office/drawing/2014/main" id="{8F4D5ABF-7666-22B4-5D18-57C39FB170E1}"/>
                  </a:ext>
                </a:extLst>
              </p:cNvPr>
              <p:cNvCxnSpPr>
                <a:cxnSpLocks/>
              </p:cNvCxnSpPr>
              <p:nvPr/>
            </p:nvCxnSpPr>
            <p:spPr>
              <a:xfrm>
                <a:off x="10231374" y="3536134"/>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4" name="Connettore diritto 183">
                <a:extLst>
                  <a:ext uri="{FF2B5EF4-FFF2-40B4-BE49-F238E27FC236}">
                    <a16:creationId xmlns:a16="http://schemas.microsoft.com/office/drawing/2014/main" id="{F24540B8-86D9-3895-F0CE-FF472E6F9FCD}"/>
                  </a:ext>
                </a:extLst>
              </p:cNvPr>
              <p:cNvCxnSpPr>
                <a:cxnSpLocks/>
              </p:cNvCxnSpPr>
              <p:nvPr/>
            </p:nvCxnSpPr>
            <p:spPr>
              <a:xfrm>
                <a:off x="10231374" y="4058572"/>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5" name="Connettore diritto 184">
                <a:extLst>
                  <a:ext uri="{FF2B5EF4-FFF2-40B4-BE49-F238E27FC236}">
                    <a16:creationId xmlns:a16="http://schemas.microsoft.com/office/drawing/2014/main" id="{F280AAED-14F1-DB1B-F428-5C993EEC8C82}"/>
                  </a:ext>
                </a:extLst>
              </p:cNvPr>
              <p:cNvCxnSpPr>
                <a:cxnSpLocks/>
              </p:cNvCxnSpPr>
              <p:nvPr/>
            </p:nvCxnSpPr>
            <p:spPr>
              <a:xfrm>
                <a:off x="10231374" y="4568410"/>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6" name="Connettore diritto 185">
                <a:extLst>
                  <a:ext uri="{FF2B5EF4-FFF2-40B4-BE49-F238E27FC236}">
                    <a16:creationId xmlns:a16="http://schemas.microsoft.com/office/drawing/2014/main" id="{51E6F70D-2471-7210-5764-FB102D757145}"/>
                  </a:ext>
                </a:extLst>
              </p:cNvPr>
              <p:cNvCxnSpPr>
                <a:cxnSpLocks/>
              </p:cNvCxnSpPr>
              <p:nvPr/>
            </p:nvCxnSpPr>
            <p:spPr>
              <a:xfrm>
                <a:off x="10231374" y="5078248"/>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nvGrpSpPr>
              <p:cNvPr id="7" name="Gruppo 6">
                <a:extLst>
                  <a:ext uri="{FF2B5EF4-FFF2-40B4-BE49-F238E27FC236}">
                    <a16:creationId xmlns:a16="http://schemas.microsoft.com/office/drawing/2014/main" id="{5A0BDDEA-1E90-5057-0DDE-9B0F93F50A51}"/>
                  </a:ext>
                </a:extLst>
              </p:cNvPr>
              <p:cNvGrpSpPr/>
              <p:nvPr/>
            </p:nvGrpSpPr>
            <p:grpSpPr>
              <a:xfrm>
                <a:off x="10253072" y="4668329"/>
                <a:ext cx="1604642" cy="307777"/>
                <a:chOff x="10253072" y="4158492"/>
                <a:chExt cx="1604642" cy="307777"/>
              </a:xfrm>
            </p:grpSpPr>
            <p:pic>
              <p:nvPicPr>
                <p:cNvPr id="169" name="Elemento grafico 168">
                  <a:extLst>
                    <a:ext uri="{FF2B5EF4-FFF2-40B4-BE49-F238E27FC236}">
                      <a16:creationId xmlns:a16="http://schemas.microsoft.com/office/drawing/2014/main" id="{2E0980D9-4338-297F-5674-6E1143766A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53072" y="4204380"/>
                  <a:ext cx="216000" cy="216000"/>
                </a:xfrm>
                <a:prstGeom prst="rect">
                  <a:avLst/>
                </a:prstGeom>
              </p:spPr>
            </p:pic>
            <p:sp>
              <p:nvSpPr>
                <p:cNvPr id="189" name="CasellaDiTesto 188">
                  <a:extLst>
                    <a:ext uri="{FF2B5EF4-FFF2-40B4-BE49-F238E27FC236}">
                      <a16:creationId xmlns:a16="http://schemas.microsoft.com/office/drawing/2014/main" id="{E7AAC25B-3B60-FB2A-EE29-9C3BA04072FB}"/>
                    </a:ext>
                  </a:extLst>
                </p:cNvPr>
                <p:cNvSpPr txBox="1"/>
                <p:nvPr/>
              </p:nvSpPr>
              <p:spPr>
                <a:xfrm>
                  <a:off x="10561714" y="4158492"/>
                  <a:ext cx="1296000" cy="307777"/>
                </a:xfrm>
                <a:prstGeom prst="rect">
                  <a:avLst/>
                </a:prstGeom>
                <a:noFill/>
              </p:spPr>
              <p:txBody>
                <a:bodyPr wrap="square" lIns="0" rIns="36000" rtlCol="0" anchor="ctr" anchorCtr="0">
                  <a:spAutoFit/>
                </a:bodyPr>
                <a:lstStyle/>
                <a:p>
                  <a:r>
                    <a:rPr lang="it-IT" sz="700" noProof="0" dirty="0"/>
                    <a:t>Standardizzare qualità e controlli</a:t>
                  </a:r>
                </a:p>
              </p:txBody>
            </p:sp>
          </p:grpSp>
          <p:grpSp>
            <p:nvGrpSpPr>
              <p:cNvPr id="10" name="Gruppo 9">
                <a:extLst>
                  <a:ext uri="{FF2B5EF4-FFF2-40B4-BE49-F238E27FC236}">
                    <a16:creationId xmlns:a16="http://schemas.microsoft.com/office/drawing/2014/main" id="{EB4132FF-8F77-4C07-8023-3A0F2480D5BE}"/>
                  </a:ext>
                </a:extLst>
              </p:cNvPr>
              <p:cNvGrpSpPr/>
              <p:nvPr/>
            </p:nvGrpSpPr>
            <p:grpSpPr>
              <a:xfrm>
                <a:off x="10253072" y="3160615"/>
                <a:ext cx="1604642" cy="216000"/>
                <a:chOff x="10253072" y="5214767"/>
                <a:chExt cx="1604642" cy="216000"/>
              </a:xfrm>
            </p:grpSpPr>
            <p:pic>
              <p:nvPicPr>
                <p:cNvPr id="171" name="Elemento grafico 170">
                  <a:extLst>
                    <a:ext uri="{FF2B5EF4-FFF2-40B4-BE49-F238E27FC236}">
                      <a16:creationId xmlns:a16="http://schemas.microsoft.com/office/drawing/2014/main" id="{7B4305D8-804C-8327-B3BA-EB3BE5BBE06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253072" y="5214767"/>
                  <a:ext cx="216000" cy="216000"/>
                </a:xfrm>
                <a:prstGeom prst="rect">
                  <a:avLst/>
                </a:prstGeom>
              </p:spPr>
            </p:pic>
            <p:sp>
              <p:nvSpPr>
                <p:cNvPr id="190" name="CasellaDiTesto 189">
                  <a:extLst>
                    <a:ext uri="{FF2B5EF4-FFF2-40B4-BE49-F238E27FC236}">
                      <a16:creationId xmlns:a16="http://schemas.microsoft.com/office/drawing/2014/main" id="{3A2D58B1-07A0-96D2-F512-15903CF22550}"/>
                    </a:ext>
                  </a:extLst>
                </p:cNvPr>
                <p:cNvSpPr txBox="1"/>
                <p:nvPr/>
              </p:nvSpPr>
              <p:spPr>
                <a:xfrm>
                  <a:off x="10561714" y="5222740"/>
                  <a:ext cx="1296000" cy="200055"/>
                </a:xfrm>
                <a:prstGeom prst="rect">
                  <a:avLst/>
                </a:prstGeom>
                <a:noFill/>
              </p:spPr>
              <p:txBody>
                <a:bodyPr wrap="square" lIns="0" rIns="36000" rtlCol="0" anchor="ctr" anchorCtr="0">
                  <a:spAutoFit/>
                </a:bodyPr>
                <a:lstStyle/>
                <a:p>
                  <a:r>
                    <a:rPr lang="it-IT" sz="700" noProof="0" dirty="0"/>
                    <a:t>Ridurre costi operativi</a:t>
                  </a:r>
                </a:p>
              </p:txBody>
            </p:sp>
          </p:grpSp>
          <p:grpSp>
            <p:nvGrpSpPr>
              <p:cNvPr id="6" name="Gruppo 5">
                <a:extLst>
                  <a:ext uri="{FF2B5EF4-FFF2-40B4-BE49-F238E27FC236}">
                    <a16:creationId xmlns:a16="http://schemas.microsoft.com/office/drawing/2014/main" id="{60F510C8-D15A-0D85-4332-ABED1E00FED9}"/>
                  </a:ext>
                </a:extLst>
              </p:cNvPr>
              <p:cNvGrpSpPr/>
              <p:nvPr/>
            </p:nvGrpSpPr>
            <p:grpSpPr>
              <a:xfrm>
                <a:off x="10253072" y="4153676"/>
                <a:ext cx="1604642" cy="307777"/>
                <a:chOff x="10253072" y="3643465"/>
                <a:chExt cx="1604642" cy="307777"/>
              </a:xfrm>
            </p:grpSpPr>
            <p:pic>
              <p:nvPicPr>
                <p:cNvPr id="188" name="Elemento grafico 187">
                  <a:extLst>
                    <a:ext uri="{FF2B5EF4-FFF2-40B4-BE49-F238E27FC236}">
                      <a16:creationId xmlns:a16="http://schemas.microsoft.com/office/drawing/2014/main" id="{8BC34662-0DDC-5BBF-29D7-77E20540A04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253072" y="3683053"/>
                  <a:ext cx="228600" cy="228600"/>
                </a:xfrm>
                <a:prstGeom prst="rect">
                  <a:avLst/>
                </a:prstGeom>
              </p:spPr>
            </p:pic>
            <p:sp>
              <p:nvSpPr>
                <p:cNvPr id="191" name="CasellaDiTesto 190">
                  <a:extLst>
                    <a:ext uri="{FF2B5EF4-FFF2-40B4-BE49-F238E27FC236}">
                      <a16:creationId xmlns:a16="http://schemas.microsoft.com/office/drawing/2014/main" id="{DCDDD97B-5FED-CC7F-8E41-2C8B3F7BD070}"/>
                    </a:ext>
                  </a:extLst>
                </p:cNvPr>
                <p:cNvSpPr txBox="1"/>
                <p:nvPr/>
              </p:nvSpPr>
              <p:spPr>
                <a:xfrm>
                  <a:off x="10561714" y="3643465"/>
                  <a:ext cx="1296000" cy="307777"/>
                </a:xfrm>
                <a:prstGeom prst="rect">
                  <a:avLst/>
                </a:prstGeom>
                <a:noFill/>
              </p:spPr>
              <p:txBody>
                <a:bodyPr wrap="square" lIns="0" rIns="36000" rtlCol="0" anchor="ctr" anchorCtr="0">
                  <a:spAutoFit/>
                </a:bodyPr>
                <a:lstStyle/>
                <a:p>
                  <a:r>
                    <a:rPr lang="it-IT" sz="700" noProof="0" dirty="0"/>
                    <a:t>Riutilizzare competenze e soluzioni</a:t>
                  </a:r>
                </a:p>
              </p:txBody>
            </p:sp>
          </p:grpSp>
          <p:grpSp>
            <p:nvGrpSpPr>
              <p:cNvPr id="8" name="Gruppo 7">
                <a:extLst>
                  <a:ext uri="{FF2B5EF4-FFF2-40B4-BE49-F238E27FC236}">
                    <a16:creationId xmlns:a16="http://schemas.microsoft.com/office/drawing/2014/main" id="{8E7ACFC2-DC82-4F2E-1610-0B83E666281A}"/>
                  </a:ext>
                </a:extLst>
              </p:cNvPr>
              <p:cNvGrpSpPr/>
              <p:nvPr/>
            </p:nvGrpSpPr>
            <p:grpSpPr>
              <a:xfrm>
                <a:off x="10253072" y="5217124"/>
                <a:ext cx="1604642" cy="216000"/>
                <a:chOff x="10253072" y="4734717"/>
                <a:chExt cx="1604642" cy="216000"/>
              </a:xfrm>
            </p:grpSpPr>
            <p:pic>
              <p:nvPicPr>
                <p:cNvPr id="175" name="Elemento grafico 174">
                  <a:extLst>
                    <a:ext uri="{FF2B5EF4-FFF2-40B4-BE49-F238E27FC236}">
                      <a16:creationId xmlns:a16="http://schemas.microsoft.com/office/drawing/2014/main" id="{73872915-237F-F0AE-B4C1-FBBA39C0975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253072" y="4734717"/>
                  <a:ext cx="216000" cy="216000"/>
                </a:xfrm>
                <a:prstGeom prst="rect">
                  <a:avLst/>
                </a:prstGeom>
              </p:spPr>
            </p:pic>
            <p:sp>
              <p:nvSpPr>
                <p:cNvPr id="192" name="CasellaDiTesto 191">
                  <a:extLst>
                    <a:ext uri="{FF2B5EF4-FFF2-40B4-BE49-F238E27FC236}">
                      <a16:creationId xmlns:a16="http://schemas.microsoft.com/office/drawing/2014/main" id="{61489C54-B326-8ECE-ED1E-184497A6464B}"/>
                    </a:ext>
                  </a:extLst>
                </p:cNvPr>
                <p:cNvSpPr txBox="1"/>
                <p:nvPr/>
              </p:nvSpPr>
              <p:spPr>
                <a:xfrm>
                  <a:off x="10561714" y="4742690"/>
                  <a:ext cx="1296000" cy="200055"/>
                </a:xfrm>
                <a:prstGeom prst="rect">
                  <a:avLst/>
                </a:prstGeom>
                <a:noFill/>
              </p:spPr>
              <p:txBody>
                <a:bodyPr wrap="square" lIns="0" rIns="36000" rtlCol="0" anchor="ctr" anchorCtr="0">
                  <a:spAutoFit/>
                </a:bodyPr>
                <a:lstStyle/>
                <a:p>
                  <a:r>
                    <a:rPr lang="it-IT" sz="700" noProof="0" dirty="0"/>
                    <a:t>Decisioni più affidabili</a:t>
                  </a:r>
                </a:p>
              </p:txBody>
            </p:sp>
          </p:grpSp>
          <p:grpSp>
            <p:nvGrpSpPr>
              <p:cNvPr id="3" name="Gruppo 2">
                <a:extLst>
                  <a:ext uri="{FF2B5EF4-FFF2-40B4-BE49-F238E27FC236}">
                    <a16:creationId xmlns:a16="http://schemas.microsoft.com/office/drawing/2014/main" id="{4D848A65-BC83-D277-F954-666D4A7B893B}"/>
                  </a:ext>
                </a:extLst>
              </p:cNvPr>
              <p:cNvGrpSpPr/>
              <p:nvPr/>
            </p:nvGrpSpPr>
            <p:grpSpPr>
              <a:xfrm>
                <a:off x="10253072" y="2650778"/>
                <a:ext cx="1604642" cy="216000"/>
                <a:chOff x="10253072" y="2650778"/>
                <a:chExt cx="1604642" cy="216000"/>
              </a:xfrm>
            </p:grpSpPr>
            <p:pic>
              <p:nvPicPr>
                <p:cNvPr id="177" name="Elemento grafico 176">
                  <a:extLst>
                    <a:ext uri="{FF2B5EF4-FFF2-40B4-BE49-F238E27FC236}">
                      <a16:creationId xmlns:a16="http://schemas.microsoft.com/office/drawing/2014/main" id="{BF488AB2-0743-46B7-74A3-1B8F238CA43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253072" y="2650778"/>
                  <a:ext cx="216000" cy="216000"/>
                </a:xfrm>
                <a:prstGeom prst="rect">
                  <a:avLst/>
                </a:prstGeom>
              </p:spPr>
            </p:pic>
            <p:sp>
              <p:nvSpPr>
                <p:cNvPr id="193" name="CasellaDiTesto 192">
                  <a:extLst>
                    <a:ext uri="{FF2B5EF4-FFF2-40B4-BE49-F238E27FC236}">
                      <a16:creationId xmlns:a16="http://schemas.microsoft.com/office/drawing/2014/main" id="{48B767DD-8D14-F532-BD41-6CDEF9A39C63}"/>
                    </a:ext>
                  </a:extLst>
                </p:cNvPr>
                <p:cNvSpPr txBox="1"/>
                <p:nvPr/>
              </p:nvSpPr>
              <p:spPr>
                <a:xfrm>
                  <a:off x="10561714" y="2658751"/>
                  <a:ext cx="1296000" cy="200055"/>
                </a:xfrm>
                <a:prstGeom prst="rect">
                  <a:avLst/>
                </a:prstGeom>
                <a:noFill/>
              </p:spPr>
              <p:txBody>
                <a:bodyPr wrap="square" lIns="0" rIns="36000" rtlCol="0" anchor="ctr" anchorCtr="0">
                  <a:spAutoFit/>
                </a:bodyPr>
                <a:lstStyle/>
                <a:p>
                  <a:r>
                    <a:rPr lang="it-IT" sz="700" noProof="0" dirty="0"/>
                    <a:t>Ridurre tempi e rischi</a:t>
                  </a:r>
                </a:p>
              </p:txBody>
            </p:sp>
          </p:grpSp>
          <p:grpSp>
            <p:nvGrpSpPr>
              <p:cNvPr id="4" name="Gruppo 3">
                <a:extLst>
                  <a:ext uri="{FF2B5EF4-FFF2-40B4-BE49-F238E27FC236}">
                    <a16:creationId xmlns:a16="http://schemas.microsoft.com/office/drawing/2014/main" id="{50A4DC4B-41FF-9FF3-6519-8C625E8FF12E}"/>
                  </a:ext>
                </a:extLst>
              </p:cNvPr>
              <p:cNvGrpSpPr/>
              <p:nvPr/>
            </p:nvGrpSpPr>
            <p:grpSpPr>
              <a:xfrm>
                <a:off x="10253072" y="3675080"/>
                <a:ext cx="1604642" cy="216000"/>
                <a:chOff x="10253072" y="3158943"/>
                <a:chExt cx="1604642" cy="216000"/>
              </a:xfrm>
            </p:grpSpPr>
            <p:pic>
              <p:nvPicPr>
                <p:cNvPr id="179" name="Elemento grafico 178">
                  <a:extLst>
                    <a:ext uri="{FF2B5EF4-FFF2-40B4-BE49-F238E27FC236}">
                      <a16:creationId xmlns:a16="http://schemas.microsoft.com/office/drawing/2014/main" id="{942AC4FD-6F1F-0D57-4FAB-40F7E63AC92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253072" y="3158943"/>
                  <a:ext cx="216000" cy="216000"/>
                </a:xfrm>
                <a:prstGeom prst="rect">
                  <a:avLst/>
                </a:prstGeom>
              </p:spPr>
            </p:pic>
            <p:sp>
              <p:nvSpPr>
                <p:cNvPr id="194" name="CasellaDiTesto 193">
                  <a:extLst>
                    <a:ext uri="{FF2B5EF4-FFF2-40B4-BE49-F238E27FC236}">
                      <a16:creationId xmlns:a16="http://schemas.microsoft.com/office/drawing/2014/main" id="{7320D030-2D4C-E94B-80EF-5E59AB6DFC57}"/>
                    </a:ext>
                  </a:extLst>
                </p:cNvPr>
                <p:cNvSpPr txBox="1">
                  <a:spLocks/>
                </p:cNvSpPr>
                <p:nvPr/>
              </p:nvSpPr>
              <p:spPr>
                <a:xfrm>
                  <a:off x="10561714" y="3166916"/>
                  <a:ext cx="1296000" cy="200055"/>
                </a:xfrm>
                <a:prstGeom prst="rect">
                  <a:avLst/>
                </a:prstGeom>
                <a:noFill/>
              </p:spPr>
              <p:txBody>
                <a:bodyPr wrap="square" lIns="0" rIns="36000" rtlCol="0" anchor="ctr" anchorCtr="0">
                  <a:spAutoFit/>
                </a:bodyPr>
                <a:lstStyle/>
                <a:p>
                  <a:r>
                    <a:rPr lang="it-IT" sz="700" noProof="0" dirty="0"/>
                    <a:t>Accelerare i nuovi progetti</a:t>
                  </a:r>
                </a:p>
              </p:txBody>
            </p:sp>
          </p:grpSp>
        </p:grpSp>
        <p:grpSp>
          <p:nvGrpSpPr>
            <p:cNvPr id="259" name="Gruppo 258">
              <a:extLst>
                <a:ext uri="{FF2B5EF4-FFF2-40B4-BE49-F238E27FC236}">
                  <a16:creationId xmlns:a16="http://schemas.microsoft.com/office/drawing/2014/main" id="{4757F07D-5B47-A3A9-BD83-E40CA8A9E37E}"/>
                </a:ext>
              </a:extLst>
            </p:cNvPr>
            <p:cNvGrpSpPr/>
            <p:nvPr/>
          </p:nvGrpSpPr>
          <p:grpSpPr>
            <a:xfrm>
              <a:off x="3813412" y="1274769"/>
              <a:ext cx="1839686" cy="4308462"/>
              <a:chOff x="3813412" y="950964"/>
              <a:chExt cx="1839686" cy="4308462"/>
            </a:xfrm>
          </p:grpSpPr>
          <p:grpSp>
            <p:nvGrpSpPr>
              <p:cNvPr id="82" name="Gruppo 81">
                <a:extLst>
                  <a:ext uri="{FF2B5EF4-FFF2-40B4-BE49-F238E27FC236}">
                    <a16:creationId xmlns:a16="http://schemas.microsoft.com/office/drawing/2014/main" id="{3870D7A8-B879-207D-EEEB-FD9F16EE63D9}"/>
                  </a:ext>
                </a:extLst>
              </p:cNvPr>
              <p:cNvGrpSpPr/>
              <p:nvPr/>
            </p:nvGrpSpPr>
            <p:grpSpPr>
              <a:xfrm>
                <a:off x="3813412" y="1598576"/>
                <a:ext cx="1839686" cy="3660850"/>
                <a:chOff x="5981700" y="1524001"/>
                <a:chExt cx="1839686" cy="3660850"/>
              </a:xfrm>
            </p:grpSpPr>
            <p:sp>
              <p:nvSpPr>
                <p:cNvPr id="51" name="Rettangolo con angoli arrotondati 50">
                  <a:extLst>
                    <a:ext uri="{FF2B5EF4-FFF2-40B4-BE49-F238E27FC236}">
                      <a16:creationId xmlns:a16="http://schemas.microsoft.com/office/drawing/2014/main" id="{C2961F19-EAD4-208E-9989-DC9C300A6827}"/>
                    </a:ext>
                  </a:extLst>
                </p:cNvPr>
                <p:cNvSpPr/>
                <p:nvPr/>
              </p:nvSpPr>
              <p:spPr>
                <a:xfrm>
                  <a:off x="6006986" y="1579135"/>
                  <a:ext cx="1814400" cy="3440542"/>
                </a:xfrm>
                <a:prstGeom prst="roundRect">
                  <a:avLst>
                    <a:gd name="adj" fmla="val 4343"/>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ttangolo con angoli arrotondati 51">
                  <a:extLst>
                    <a:ext uri="{FF2B5EF4-FFF2-40B4-BE49-F238E27FC236}">
                      <a16:creationId xmlns:a16="http://schemas.microsoft.com/office/drawing/2014/main" id="{CEE5957E-4F0B-D7E5-9C93-A656D48FDF9B}"/>
                    </a:ext>
                  </a:extLst>
                </p:cNvPr>
                <p:cNvSpPr/>
                <p:nvPr/>
              </p:nvSpPr>
              <p:spPr>
                <a:xfrm>
                  <a:off x="6006986" y="1626142"/>
                  <a:ext cx="1812724" cy="3558709"/>
                </a:xfrm>
                <a:prstGeom prst="roundRect">
                  <a:avLst>
                    <a:gd name="adj" fmla="val 6445"/>
                  </a:avLst>
                </a:prstGeom>
                <a:solidFill>
                  <a:schemeClr val="bg1"/>
                </a:solidFill>
                <a:ln w="3175">
                  <a:solidFill>
                    <a:srgbClr val="198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e 52">
                  <a:extLst>
                    <a:ext uri="{FF2B5EF4-FFF2-40B4-BE49-F238E27FC236}">
                      <a16:creationId xmlns:a16="http://schemas.microsoft.com/office/drawing/2014/main" id="{6274F7BD-FE98-164B-4F86-5B6C24ED75B7}"/>
                    </a:ext>
                  </a:extLst>
                </p:cNvPr>
                <p:cNvSpPr/>
                <p:nvPr/>
              </p:nvSpPr>
              <p:spPr>
                <a:xfrm>
                  <a:off x="6794285" y="1524001"/>
                  <a:ext cx="238125" cy="238125"/>
                </a:xfrm>
                <a:prstGeom prst="ellipse">
                  <a:avLst/>
                </a:prstGeom>
                <a:solidFill>
                  <a:srgbClr val="198C95"/>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2</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54" name="CasellaDiTesto 53">
                  <a:extLst>
                    <a:ext uri="{FF2B5EF4-FFF2-40B4-BE49-F238E27FC236}">
                      <a16:creationId xmlns:a16="http://schemas.microsoft.com/office/drawing/2014/main" id="{F1D3997D-7A79-A03C-706F-87AFC5DA4B08}"/>
                    </a:ext>
                  </a:extLst>
                </p:cNvPr>
                <p:cNvSpPr txBox="1"/>
                <p:nvPr/>
              </p:nvSpPr>
              <p:spPr>
                <a:xfrm>
                  <a:off x="6473963" y="1814458"/>
                  <a:ext cx="878767"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Kiron CDG</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55" name="Rettangolo con angoli arrotondati 54">
                  <a:extLst>
                    <a:ext uri="{FF2B5EF4-FFF2-40B4-BE49-F238E27FC236}">
                      <a16:creationId xmlns:a16="http://schemas.microsoft.com/office/drawing/2014/main" id="{38A16377-C8A3-B1C2-47EB-E503094D5083}"/>
                    </a:ext>
                  </a:extLst>
                </p:cNvPr>
                <p:cNvSpPr/>
                <p:nvPr/>
              </p:nvSpPr>
              <p:spPr>
                <a:xfrm>
                  <a:off x="6289697" y="2032001"/>
                  <a:ext cx="1260000" cy="176176"/>
                </a:xfrm>
                <a:prstGeom prst="roundRect">
                  <a:avLst>
                    <a:gd name="adj" fmla="val 50000"/>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PRIORITÀ ALTA</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56" name="Elaborazione alternativa 55">
                  <a:extLst>
                    <a:ext uri="{FF2B5EF4-FFF2-40B4-BE49-F238E27FC236}">
                      <a16:creationId xmlns:a16="http://schemas.microsoft.com/office/drawing/2014/main" id="{78830433-F3FE-1599-123F-1523EC272B4C}"/>
                    </a:ext>
                  </a:extLst>
                </p:cNvPr>
                <p:cNvSpPr/>
                <p:nvPr/>
              </p:nvSpPr>
              <p:spPr>
                <a:xfrm>
                  <a:off x="6087846" y="2334173"/>
                  <a:ext cx="1651000" cy="371466"/>
                </a:xfrm>
                <a:prstGeom prst="flowChartAlternateProcess">
                  <a:avLst/>
                </a:prstGeom>
                <a:solidFill>
                  <a:srgbClr val="EC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198C95"/>
                      </a:solidFill>
                      <a:latin typeface="Poppins SemiBold" panose="00000700000000000000" pitchFamily="2" charset="0"/>
                      <a:cs typeface="Poppins SemiBold" panose="00000700000000000000" pitchFamily="2" charset="0"/>
                    </a:rPr>
                    <a:t>Consolidare il modello su un caso CDG-like documentato</a:t>
                  </a:r>
                  <a:endParaRPr lang="en-US" sz="650" dirty="0">
                    <a:solidFill>
                      <a:srgbClr val="198C95"/>
                    </a:solidFill>
                    <a:latin typeface="Poppins SemiBold" panose="00000700000000000000" pitchFamily="2" charset="0"/>
                    <a:cs typeface="Poppins SemiBold" panose="00000700000000000000" pitchFamily="2" charset="0"/>
                  </a:endParaRPr>
                </a:p>
              </p:txBody>
            </p:sp>
            <p:sp>
              <p:nvSpPr>
                <p:cNvPr id="61" name="CasellaDiTesto 60">
                  <a:extLst>
                    <a:ext uri="{FF2B5EF4-FFF2-40B4-BE49-F238E27FC236}">
                      <a16:creationId xmlns:a16="http://schemas.microsoft.com/office/drawing/2014/main" id="{BFD9AE16-413D-2807-8A2D-32CD776649C1}"/>
                    </a:ext>
                  </a:extLst>
                </p:cNvPr>
                <p:cNvSpPr txBox="1">
                  <a:spLocks/>
                </p:cNvSpPr>
                <p:nvPr/>
              </p:nvSpPr>
              <p:spPr>
                <a:xfrm>
                  <a:off x="6379934" y="2885244"/>
                  <a:ext cx="1296000" cy="257369"/>
                </a:xfrm>
                <a:prstGeom prst="rect">
                  <a:avLst/>
                </a:prstGeom>
                <a:noFill/>
              </p:spPr>
              <p:txBody>
                <a:bodyPr wrap="square" lIns="36000" tIns="36000" rIns="36000" bIns="36000" anchor="ctr" anchorCtr="0">
                  <a:spAutoFit/>
                </a:bodyPr>
                <a:lstStyle/>
                <a:p>
                  <a:r>
                    <a:rPr lang="it-IT" sz="600" noProof="0" dirty="0"/>
                    <a:t>Allineiamo logiche e regole di business</a:t>
                  </a:r>
                </a:p>
              </p:txBody>
            </p:sp>
            <p:sp>
              <p:nvSpPr>
                <p:cNvPr id="62" name="CasellaDiTesto 61">
                  <a:extLst>
                    <a:ext uri="{FF2B5EF4-FFF2-40B4-BE49-F238E27FC236}">
                      <a16:creationId xmlns:a16="http://schemas.microsoft.com/office/drawing/2014/main" id="{4A0D03F2-F1FB-CF48-E1EC-558CB7060EBC}"/>
                    </a:ext>
                  </a:extLst>
                </p:cNvPr>
                <p:cNvSpPr txBox="1">
                  <a:spLocks/>
                </p:cNvSpPr>
                <p:nvPr/>
              </p:nvSpPr>
              <p:spPr>
                <a:xfrm>
                  <a:off x="6379934" y="3276228"/>
                  <a:ext cx="1296000" cy="257369"/>
                </a:xfrm>
                <a:prstGeom prst="rect">
                  <a:avLst/>
                </a:prstGeom>
                <a:noFill/>
              </p:spPr>
              <p:txBody>
                <a:bodyPr wrap="square" lIns="36000" tIns="36000" rIns="36000" bIns="36000" anchor="ctr" anchorCtr="0">
                  <a:spAutoFit/>
                </a:bodyPr>
                <a:lstStyle/>
                <a:p>
                  <a:r>
                    <a:rPr lang="it-IT" sz="600" dirty="0"/>
                    <a:t>Standardizziamo pipeline, modelli e controlli</a:t>
                  </a:r>
                  <a:endParaRPr lang="it-IT" sz="600" noProof="0" dirty="0"/>
                </a:p>
              </p:txBody>
            </p:sp>
            <p:sp>
              <p:nvSpPr>
                <p:cNvPr id="63" name="CasellaDiTesto 62">
                  <a:extLst>
                    <a:ext uri="{FF2B5EF4-FFF2-40B4-BE49-F238E27FC236}">
                      <a16:creationId xmlns:a16="http://schemas.microsoft.com/office/drawing/2014/main" id="{C759B7CA-D8B4-96E6-022A-EE778B2086BC}"/>
                    </a:ext>
                  </a:extLst>
                </p:cNvPr>
                <p:cNvSpPr txBox="1">
                  <a:spLocks/>
                </p:cNvSpPr>
                <p:nvPr/>
              </p:nvSpPr>
              <p:spPr>
                <a:xfrm>
                  <a:off x="6379934" y="3637088"/>
                  <a:ext cx="1296000" cy="257369"/>
                </a:xfrm>
                <a:prstGeom prst="rect">
                  <a:avLst/>
                </a:prstGeom>
                <a:noFill/>
              </p:spPr>
              <p:txBody>
                <a:bodyPr wrap="square" lIns="36000" tIns="36000" rIns="36000" bIns="36000" anchor="ctr" anchorCtr="0">
                  <a:spAutoFit/>
                </a:bodyPr>
                <a:lstStyle/>
                <a:p>
                  <a:r>
                    <a:rPr lang="it-IT" sz="600" dirty="0"/>
                    <a:t>Creiamo componenti riusabili (librerie, template, test)</a:t>
                  </a:r>
                  <a:endParaRPr lang="it-IT" sz="600" noProof="0" dirty="0"/>
                </a:p>
              </p:txBody>
            </p:sp>
            <p:sp>
              <p:nvSpPr>
                <p:cNvPr id="64" name="CasellaDiTesto 63">
                  <a:extLst>
                    <a:ext uri="{FF2B5EF4-FFF2-40B4-BE49-F238E27FC236}">
                      <a16:creationId xmlns:a16="http://schemas.microsoft.com/office/drawing/2014/main" id="{F77689C0-7D9B-89C6-4F77-710A3037D8E4}"/>
                    </a:ext>
                  </a:extLst>
                </p:cNvPr>
                <p:cNvSpPr txBox="1">
                  <a:spLocks/>
                </p:cNvSpPr>
                <p:nvPr/>
              </p:nvSpPr>
              <p:spPr>
                <a:xfrm>
                  <a:off x="6379934" y="3997948"/>
                  <a:ext cx="1296000" cy="257369"/>
                </a:xfrm>
                <a:prstGeom prst="rect">
                  <a:avLst/>
                </a:prstGeom>
                <a:noFill/>
              </p:spPr>
              <p:txBody>
                <a:bodyPr wrap="square" lIns="36000" tIns="36000" rIns="36000" bIns="36000" anchor="ctr" anchorCtr="0">
                  <a:spAutoFit/>
                </a:bodyPr>
                <a:lstStyle/>
                <a:p>
                  <a:r>
                    <a:rPr lang="it-IT" sz="600" dirty="0"/>
                    <a:t>Documentiamo linee guida e convenzioni</a:t>
                  </a:r>
                  <a:endParaRPr lang="it-IT" sz="600" noProof="0" dirty="0"/>
                </a:p>
              </p:txBody>
            </p:sp>
            <p:grpSp>
              <p:nvGrpSpPr>
                <p:cNvPr id="65" name="Gruppo 64">
                  <a:extLst>
                    <a:ext uri="{FF2B5EF4-FFF2-40B4-BE49-F238E27FC236}">
                      <a16:creationId xmlns:a16="http://schemas.microsoft.com/office/drawing/2014/main" id="{8419D1A9-6D74-C09B-26FD-B930DCE2C61F}"/>
                    </a:ext>
                  </a:extLst>
                </p:cNvPr>
                <p:cNvGrpSpPr/>
                <p:nvPr/>
              </p:nvGrpSpPr>
              <p:grpSpPr>
                <a:xfrm>
                  <a:off x="6083860" y="4620165"/>
                  <a:ext cx="1658971" cy="484093"/>
                  <a:chOff x="1720592" y="4620164"/>
                  <a:chExt cx="1658971" cy="484093"/>
                </a:xfrm>
              </p:grpSpPr>
              <p:sp>
                <p:nvSpPr>
                  <p:cNvPr id="67" name="Rettangolo con angoli arrotondati 66">
                    <a:extLst>
                      <a:ext uri="{FF2B5EF4-FFF2-40B4-BE49-F238E27FC236}">
                        <a16:creationId xmlns:a16="http://schemas.microsoft.com/office/drawing/2014/main" id="{C7F975B5-2553-2305-B5B5-96FDE192004E}"/>
                      </a:ext>
                    </a:extLst>
                  </p:cNvPr>
                  <p:cNvSpPr/>
                  <p:nvPr/>
                </p:nvSpPr>
                <p:spPr>
                  <a:xfrm>
                    <a:off x="1720592" y="4620164"/>
                    <a:ext cx="1658971" cy="484093"/>
                  </a:xfrm>
                  <a:prstGeom prst="roundRect">
                    <a:avLst/>
                  </a:prstGeom>
                  <a:solidFill>
                    <a:srgbClr val="ECF6F6"/>
                  </a:solidFill>
                  <a:ln>
                    <a:solidFill>
                      <a:srgbClr val="EDF7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CasellaDiTesto 67">
                    <a:extLst>
                      <a:ext uri="{FF2B5EF4-FFF2-40B4-BE49-F238E27FC236}">
                        <a16:creationId xmlns:a16="http://schemas.microsoft.com/office/drawing/2014/main" id="{5C05CA92-6A0F-87AF-09F9-C59001990950}"/>
                      </a:ext>
                    </a:extLst>
                  </p:cNvPr>
                  <p:cNvSpPr txBox="1">
                    <a:spLocks/>
                  </p:cNvSpPr>
                  <p:nvPr/>
                </p:nvSpPr>
                <p:spPr>
                  <a:xfrm>
                    <a:off x="2202417" y="4655345"/>
                    <a:ext cx="1081327" cy="413732"/>
                  </a:xfrm>
                  <a:prstGeom prst="rect">
                    <a:avLst/>
                  </a:prstGeom>
                  <a:noFill/>
                </p:spPr>
                <p:txBody>
                  <a:bodyPr wrap="square" lIns="36000" tIns="36000" rIns="36000" bIns="36000" anchor="ctr" anchorCtr="0">
                    <a:noAutofit/>
                  </a:bodyPr>
                  <a:lstStyle/>
                  <a:p>
                    <a:r>
                      <a:rPr lang="it-IT" sz="600" dirty="0">
                        <a:solidFill>
                          <a:srgbClr val="198C95"/>
                        </a:solidFill>
                        <a:latin typeface="Poppins SemiBold" panose="00000700000000000000" pitchFamily="2" charset="0"/>
                        <a:cs typeface="Poppins SemiBold" panose="00000700000000000000" pitchFamily="2" charset="0"/>
                      </a:rPr>
                      <a:t>Componenti e standard riusabili e condivisi</a:t>
                    </a:r>
                    <a:endParaRPr lang="it-IT" sz="600" noProof="0" dirty="0">
                      <a:solidFill>
                        <a:srgbClr val="198C95"/>
                      </a:solidFill>
                      <a:latin typeface="Poppins SemiBold" panose="00000700000000000000" pitchFamily="2" charset="0"/>
                      <a:cs typeface="Poppins SemiBold" panose="00000700000000000000" pitchFamily="2" charset="0"/>
                    </a:endParaRPr>
                  </a:p>
                </p:txBody>
              </p:sp>
              <p:sp>
                <p:nvSpPr>
                  <p:cNvPr id="69" name="Ovale 68">
                    <a:extLst>
                      <a:ext uri="{FF2B5EF4-FFF2-40B4-BE49-F238E27FC236}">
                        <a16:creationId xmlns:a16="http://schemas.microsoft.com/office/drawing/2014/main" id="{5F2916FC-26AC-B946-D351-E4DC6264CFA6}"/>
                      </a:ext>
                    </a:extLst>
                  </p:cNvPr>
                  <p:cNvSpPr/>
                  <p:nvPr/>
                </p:nvSpPr>
                <p:spPr>
                  <a:xfrm>
                    <a:off x="1771136" y="4661807"/>
                    <a:ext cx="413731" cy="413731"/>
                  </a:xfrm>
                  <a:prstGeom prst="ellipse">
                    <a:avLst/>
                  </a:prstGeom>
                  <a:solidFill>
                    <a:srgbClr val="E0F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6" name="Connettore diritto 65">
                  <a:extLst>
                    <a:ext uri="{FF2B5EF4-FFF2-40B4-BE49-F238E27FC236}">
                      <a16:creationId xmlns:a16="http://schemas.microsoft.com/office/drawing/2014/main" id="{5E3CA15A-0E6F-8087-53A4-B75B123A981E}"/>
                    </a:ext>
                  </a:extLst>
                </p:cNvPr>
                <p:cNvCxnSpPr>
                  <a:cxnSpLocks/>
                </p:cNvCxnSpPr>
                <p:nvPr/>
              </p:nvCxnSpPr>
              <p:spPr>
                <a:xfrm>
                  <a:off x="6104299" y="4445436"/>
                  <a:ext cx="1634547" cy="0"/>
                </a:xfrm>
                <a:prstGeom prst="line">
                  <a:avLst/>
                </a:prstGeom>
                <a:ln>
                  <a:solidFill>
                    <a:srgbClr val="198C95"/>
                  </a:solidFill>
                  <a:prstDash val="dash"/>
                </a:ln>
              </p:spPr>
              <p:style>
                <a:lnRef idx="1">
                  <a:schemeClr val="accent1"/>
                </a:lnRef>
                <a:fillRef idx="0">
                  <a:schemeClr val="accent1"/>
                </a:fillRef>
                <a:effectRef idx="0">
                  <a:schemeClr val="accent1"/>
                </a:effectRef>
                <a:fontRef idx="minor">
                  <a:schemeClr val="tx1"/>
                </a:fontRef>
              </p:style>
            </p:cxnSp>
            <p:pic>
              <p:nvPicPr>
                <p:cNvPr id="72" name="Elemento grafico 71">
                  <a:extLst>
                    <a:ext uri="{FF2B5EF4-FFF2-40B4-BE49-F238E27FC236}">
                      <a16:creationId xmlns:a16="http://schemas.microsoft.com/office/drawing/2014/main" id="{8CC240C4-6627-2084-56CD-4FE7C2EA02B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104299" y="2903689"/>
                  <a:ext cx="228600" cy="228600"/>
                </a:xfrm>
                <a:prstGeom prst="rect">
                  <a:avLst/>
                </a:prstGeom>
              </p:spPr>
            </p:pic>
            <p:pic>
              <p:nvPicPr>
                <p:cNvPr id="74" name="Elemento grafico 73">
                  <a:extLst>
                    <a:ext uri="{FF2B5EF4-FFF2-40B4-BE49-F238E27FC236}">
                      <a16:creationId xmlns:a16="http://schemas.microsoft.com/office/drawing/2014/main" id="{98A6E739-D26D-24FF-543B-36B597E02E6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981700" y="3314700"/>
                  <a:ext cx="228600" cy="228600"/>
                </a:xfrm>
                <a:prstGeom prst="rect">
                  <a:avLst/>
                </a:prstGeom>
              </p:spPr>
            </p:pic>
            <p:pic>
              <p:nvPicPr>
                <p:cNvPr id="76" name="Elemento grafico 75">
                  <a:extLst>
                    <a:ext uri="{FF2B5EF4-FFF2-40B4-BE49-F238E27FC236}">
                      <a16:creationId xmlns:a16="http://schemas.microsoft.com/office/drawing/2014/main" id="{A3A5FE8B-623D-6CE7-B7C8-CA94F864CF1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119641" y="3265299"/>
                  <a:ext cx="228600" cy="228600"/>
                </a:xfrm>
                <a:prstGeom prst="rect">
                  <a:avLst/>
                </a:prstGeom>
              </p:spPr>
            </p:pic>
            <p:pic>
              <p:nvPicPr>
                <p:cNvPr id="77" name="Elemento grafico 76">
                  <a:extLst>
                    <a:ext uri="{FF2B5EF4-FFF2-40B4-BE49-F238E27FC236}">
                      <a16:creationId xmlns:a16="http://schemas.microsoft.com/office/drawing/2014/main" id="{6B7153D6-CBE3-F77C-3762-E00ED03DB3C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119641" y="4018590"/>
                  <a:ext cx="228600" cy="228600"/>
                </a:xfrm>
                <a:prstGeom prst="rect">
                  <a:avLst/>
                </a:prstGeom>
              </p:spPr>
            </p:pic>
            <p:pic>
              <p:nvPicPr>
                <p:cNvPr id="79" name="Elemento grafico 78">
                  <a:extLst>
                    <a:ext uri="{FF2B5EF4-FFF2-40B4-BE49-F238E27FC236}">
                      <a16:creationId xmlns:a16="http://schemas.microsoft.com/office/drawing/2014/main" id="{A7F42736-4418-B4FE-6336-DC2FBAA9E845}"/>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119641" y="3648270"/>
                  <a:ext cx="228600" cy="228600"/>
                </a:xfrm>
                <a:prstGeom prst="rect">
                  <a:avLst/>
                </a:prstGeom>
              </p:spPr>
            </p:pic>
            <p:pic>
              <p:nvPicPr>
                <p:cNvPr id="81" name="Elemento grafico 80">
                  <a:extLst>
                    <a:ext uri="{FF2B5EF4-FFF2-40B4-BE49-F238E27FC236}">
                      <a16:creationId xmlns:a16="http://schemas.microsoft.com/office/drawing/2014/main" id="{7B9C4298-5E93-8BFC-0853-64C234CA1BC0}"/>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223665" y="4757447"/>
                  <a:ext cx="228600" cy="228600"/>
                </a:xfrm>
                <a:prstGeom prst="rect">
                  <a:avLst/>
                </a:prstGeom>
              </p:spPr>
            </p:pic>
          </p:grpSp>
          <p:grpSp>
            <p:nvGrpSpPr>
              <p:cNvPr id="255" name="Gruppo 254">
                <a:extLst>
                  <a:ext uri="{FF2B5EF4-FFF2-40B4-BE49-F238E27FC236}">
                    <a16:creationId xmlns:a16="http://schemas.microsoft.com/office/drawing/2014/main" id="{3BBD19F8-7525-7000-7F8A-A3E57D64DEB9}"/>
                  </a:ext>
                </a:extLst>
              </p:cNvPr>
              <p:cNvGrpSpPr/>
              <p:nvPr/>
            </p:nvGrpSpPr>
            <p:grpSpPr>
              <a:xfrm>
                <a:off x="4463255" y="950964"/>
                <a:ext cx="540000" cy="540000"/>
                <a:chOff x="4463255" y="950964"/>
                <a:chExt cx="540000" cy="540000"/>
              </a:xfrm>
            </p:grpSpPr>
            <p:sp>
              <p:nvSpPr>
                <p:cNvPr id="237" name="Ovale 236">
                  <a:extLst>
                    <a:ext uri="{FF2B5EF4-FFF2-40B4-BE49-F238E27FC236}">
                      <a16:creationId xmlns:a16="http://schemas.microsoft.com/office/drawing/2014/main" id="{48607870-ECAD-8B31-7DAB-974B2F1ED090}"/>
                    </a:ext>
                  </a:extLst>
                </p:cNvPr>
                <p:cNvSpPr/>
                <p:nvPr/>
              </p:nvSpPr>
              <p:spPr>
                <a:xfrm>
                  <a:off x="4463255" y="950964"/>
                  <a:ext cx="540000" cy="540000"/>
                </a:xfrm>
                <a:prstGeom prst="ellipse">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7" name="Elemento grafico 246">
                  <a:extLst>
                    <a:ext uri="{FF2B5EF4-FFF2-40B4-BE49-F238E27FC236}">
                      <a16:creationId xmlns:a16="http://schemas.microsoft.com/office/drawing/2014/main" id="{87DDF6D8-DF25-C6CA-CF9A-2D0334D461E6}"/>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589255" y="1076964"/>
                  <a:ext cx="288000" cy="288000"/>
                </a:xfrm>
                <a:prstGeom prst="rect">
                  <a:avLst/>
                </a:prstGeom>
              </p:spPr>
            </p:pic>
          </p:grpSp>
        </p:grpSp>
        <p:grpSp>
          <p:nvGrpSpPr>
            <p:cNvPr id="258" name="Gruppo 257">
              <a:extLst>
                <a:ext uri="{FF2B5EF4-FFF2-40B4-BE49-F238E27FC236}">
                  <a16:creationId xmlns:a16="http://schemas.microsoft.com/office/drawing/2014/main" id="{E40433F9-9668-0896-B210-E36433F5D510}"/>
                </a:ext>
              </a:extLst>
            </p:cNvPr>
            <p:cNvGrpSpPr/>
            <p:nvPr/>
          </p:nvGrpSpPr>
          <p:grpSpPr>
            <a:xfrm>
              <a:off x="1909959" y="1274769"/>
              <a:ext cx="1812724" cy="4308461"/>
              <a:chOff x="1909959" y="950964"/>
              <a:chExt cx="1812724" cy="4308461"/>
            </a:xfrm>
          </p:grpSpPr>
          <p:grpSp>
            <p:nvGrpSpPr>
              <p:cNvPr id="45" name="Gruppo 44">
                <a:extLst>
                  <a:ext uri="{FF2B5EF4-FFF2-40B4-BE49-F238E27FC236}">
                    <a16:creationId xmlns:a16="http://schemas.microsoft.com/office/drawing/2014/main" id="{2A2FD3D2-8D3C-39FF-6B4B-21B0BAAC4EEF}"/>
                  </a:ext>
                </a:extLst>
              </p:cNvPr>
              <p:cNvGrpSpPr/>
              <p:nvPr/>
            </p:nvGrpSpPr>
            <p:grpSpPr>
              <a:xfrm>
                <a:off x="1909959" y="1598575"/>
                <a:ext cx="1812724" cy="3660850"/>
                <a:chOff x="1176993" y="1524000"/>
                <a:chExt cx="1812724" cy="3660850"/>
              </a:xfrm>
            </p:grpSpPr>
            <p:sp>
              <p:nvSpPr>
                <p:cNvPr id="14" name="Rettangolo con angoli arrotondati 13">
                  <a:extLst>
                    <a:ext uri="{FF2B5EF4-FFF2-40B4-BE49-F238E27FC236}">
                      <a16:creationId xmlns:a16="http://schemas.microsoft.com/office/drawing/2014/main" id="{13CE8BCA-DCB2-DD2D-B461-D0D4BEA24192}"/>
                    </a:ext>
                  </a:extLst>
                </p:cNvPr>
                <p:cNvSpPr/>
                <p:nvPr/>
              </p:nvSpPr>
              <p:spPr>
                <a:xfrm>
                  <a:off x="1176993" y="1579134"/>
                  <a:ext cx="1812724" cy="3440542"/>
                </a:xfrm>
                <a:prstGeom prst="roundRect">
                  <a:avLst>
                    <a:gd name="adj" fmla="val 4343"/>
                  </a:avLst>
                </a:prstGeom>
                <a:solidFill>
                  <a:srgbClr val="1A6E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ttangolo con angoli arrotondati 14">
                  <a:extLst>
                    <a:ext uri="{FF2B5EF4-FFF2-40B4-BE49-F238E27FC236}">
                      <a16:creationId xmlns:a16="http://schemas.microsoft.com/office/drawing/2014/main" id="{4EFC531A-733B-A831-B988-32A5F841DB3F}"/>
                    </a:ext>
                  </a:extLst>
                </p:cNvPr>
                <p:cNvSpPr/>
                <p:nvPr/>
              </p:nvSpPr>
              <p:spPr>
                <a:xfrm>
                  <a:off x="1176993" y="1626141"/>
                  <a:ext cx="1812724" cy="3558709"/>
                </a:xfrm>
                <a:prstGeom prst="roundRect">
                  <a:avLst>
                    <a:gd name="adj" fmla="val 6445"/>
                  </a:avLst>
                </a:prstGeom>
                <a:solidFill>
                  <a:schemeClr val="bg1"/>
                </a:solidFill>
                <a:ln w="3175">
                  <a:solidFill>
                    <a:srgbClr val="1A6A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e 16">
                  <a:extLst>
                    <a:ext uri="{FF2B5EF4-FFF2-40B4-BE49-F238E27FC236}">
                      <a16:creationId xmlns:a16="http://schemas.microsoft.com/office/drawing/2014/main" id="{C4A9E997-D61A-AA9B-9770-AC00C2EF2634}"/>
                    </a:ext>
                  </a:extLst>
                </p:cNvPr>
                <p:cNvSpPr/>
                <p:nvPr/>
              </p:nvSpPr>
              <p:spPr>
                <a:xfrm>
                  <a:off x="1964292" y="1524000"/>
                  <a:ext cx="238125" cy="238125"/>
                </a:xfrm>
                <a:prstGeom prst="ellipse">
                  <a:avLst/>
                </a:prstGeom>
                <a:solidFill>
                  <a:srgbClr val="1A6EBE"/>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1</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18" name="CasellaDiTesto 17">
                  <a:extLst>
                    <a:ext uri="{FF2B5EF4-FFF2-40B4-BE49-F238E27FC236}">
                      <a16:creationId xmlns:a16="http://schemas.microsoft.com/office/drawing/2014/main" id="{7A0821D5-8DC5-9AED-6A25-606E50F2E191}"/>
                    </a:ext>
                  </a:extLst>
                </p:cNvPr>
                <p:cNvSpPr txBox="1"/>
                <p:nvPr/>
              </p:nvSpPr>
              <p:spPr>
                <a:xfrm>
                  <a:off x="1502906" y="1814457"/>
                  <a:ext cx="1160895"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ING ProSIGNAL</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19" name="Rettangolo con angoli arrotondati 18">
                  <a:extLst>
                    <a:ext uri="{FF2B5EF4-FFF2-40B4-BE49-F238E27FC236}">
                      <a16:creationId xmlns:a16="http://schemas.microsoft.com/office/drawing/2014/main" id="{55E02BB3-F249-4483-A993-E84DE0347B79}"/>
                    </a:ext>
                  </a:extLst>
                </p:cNvPr>
                <p:cNvSpPr/>
                <p:nvPr/>
              </p:nvSpPr>
              <p:spPr>
                <a:xfrm>
                  <a:off x="1461579" y="2032000"/>
                  <a:ext cx="1260000" cy="176176"/>
                </a:xfrm>
                <a:prstGeom prst="roundRect">
                  <a:avLst>
                    <a:gd name="adj" fmla="val 50000"/>
                  </a:avLst>
                </a:prstGeom>
                <a:solidFill>
                  <a:srgbClr val="1A6A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PRIORITÀ ALTA</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20" name="Elaborazione alternativa 19">
                  <a:extLst>
                    <a:ext uri="{FF2B5EF4-FFF2-40B4-BE49-F238E27FC236}">
                      <a16:creationId xmlns:a16="http://schemas.microsoft.com/office/drawing/2014/main" id="{7AE9DC4F-2954-FDF2-AC8B-603BC41D4FDF}"/>
                    </a:ext>
                  </a:extLst>
                </p:cNvPr>
                <p:cNvSpPr/>
                <p:nvPr/>
              </p:nvSpPr>
              <p:spPr>
                <a:xfrm>
                  <a:off x="1257853" y="2334172"/>
                  <a:ext cx="1651000" cy="371466"/>
                </a:xfrm>
                <a:prstGeom prst="flowChartAlternateProcess">
                  <a:avLst/>
                </a:prstGeom>
                <a:solidFill>
                  <a:srgbClr val="E9EF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1A6EBE"/>
                      </a:solidFill>
                      <a:latin typeface="Poppins SemiBold" panose="00000700000000000000" pitchFamily="2" charset="0"/>
                      <a:cs typeface="Poppins SemiBold" panose="00000700000000000000" pitchFamily="2" charset="0"/>
                    </a:rPr>
                    <a:t>Validare il modello </a:t>
                  </a:r>
                  <a:br>
                    <a:rPr lang="it-IT" sz="650" dirty="0">
                      <a:solidFill>
                        <a:srgbClr val="1A6EBE"/>
                      </a:solidFill>
                      <a:latin typeface="Poppins SemiBold" panose="00000700000000000000" pitchFamily="2" charset="0"/>
                      <a:cs typeface="Poppins SemiBold" panose="00000700000000000000" pitchFamily="2" charset="0"/>
                    </a:rPr>
                  </a:br>
                  <a:r>
                    <a:rPr lang="it-IT" sz="650" dirty="0">
                      <a:solidFill>
                        <a:srgbClr val="1A6EBE"/>
                      </a:solidFill>
                      <a:latin typeface="Poppins SemiBold" panose="00000700000000000000" pitchFamily="2" charset="0"/>
                      <a:cs typeface="Poppins SemiBold" panose="00000700000000000000" pitchFamily="2" charset="0"/>
                    </a:rPr>
                    <a:t>con un caso ad alta complessità</a:t>
                  </a:r>
                  <a:endParaRPr lang="en-US" sz="650" dirty="0">
                    <a:solidFill>
                      <a:srgbClr val="1A6EBE"/>
                    </a:solidFill>
                    <a:latin typeface="Poppins SemiBold" panose="00000700000000000000" pitchFamily="2" charset="0"/>
                    <a:cs typeface="Poppins SemiBold" panose="00000700000000000000" pitchFamily="2" charset="0"/>
                  </a:endParaRPr>
                </a:p>
              </p:txBody>
            </p:sp>
            <p:pic>
              <p:nvPicPr>
                <p:cNvPr id="22" name="Elemento grafico 21">
                  <a:extLst>
                    <a:ext uri="{FF2B5EF4-FFF2-40B4-BE49-F238E27FC236}">
                      <a16:creationId xmlns:a16="http://schemas.microsoft.com/office/drawing/2014/main" id="{D4F75C39-E74E-4E23-B33C-EB68DE6286BD}"/>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274306" y="2903688"/>
                  <a:ext cx="228600" cy="228600"/>
                </a:xfrm>
                <a:prstGeom prst="rect">
                  <a:avLst/>
                </a:prstGeom>
              </p:spPr>
            </p:pic>
            <p:pic>
              <p:nvPicPr>
                <p:cNvPr id="24" name="Elemento grafico 23">
                  <a:extLst>
                    <a:ext uri="{FF2B5EF4-FFF2-40B4-BE49-F238E27FC236}">
                      <a16:creationId xmlns:a16="http://schemas.microsoft.com/office/drawing/2014/main" id="{2ECDDF14-A4BF-E370-01C9-B005B802333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274306" y="3275322"/>
                  <a:ext cx="228600" cy="228600"/>
                </a:xfrm>
                <a:prstGeom prst="rect">
                  <a:avLst/>
                </a:prstGeom>
              </p:spPr>
            </p:pic>
            <p:pic>
              <p:nvPicPr>
                <p:cNvPr id="27" name="Elemento grafico 26">
                  <a:extLst>
                    <a:ext uri="{FF2B5EF4-FFF2-40B4-BE49-F238E27FC236}">
                      <a16:creationId xmlns:a16="http://schemas.microsoft.com/office/drawing/2014/main" id="{6674F20B-90CC-5A0E-BD9C-3A9DAF6070AF}"/>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274306" y="3646956"/>
                  <a:ext cx="228600" cy="228600"/>
                </a:xfrm>
                <a:prstGeom prst="rect">
                  <a:avLst/>
                </a:prstGeom>
              </p:spPr>
            </p:pic>
            <p:pic>
              <p:nvPicPr>
                <p:cNvPr id="29" name="Elemento grafico 28">
                  <a:extLst>
                    <a:ext uri="{FF2B5EF4-FFF2-40B4-BE49-F238E27FC236}">
                      <a16:creationId xmlns:a16="http://schemas.microsoft.com/office/drawing/2014/main" id="{52D811BD-435D-37B1-3D4D-E57B015740F0}"/>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1274306" y="4018589"/>
                  <a:ext cx="228600" cy="228600"/>
                </a:xfrm>
                <a:prstGeom prst="rect">
                  <a:avLst/>
                </a:prstGeom>
              </p:spPr>
            </p:pic>
            <p:sp>
              <p:nvSpPr>
                <p:cNvPr id="31" name="CasellaDiTesto 30">
                  <a:extLst>
                    <a:ext uri="{FF2B5EF4-FFF2-40B4-BE49-F238E27FC236}">
                      <a16:creationId xmlns:a16="http://schemas.microsoft.com/office/drawing/2014/main" id="{5F6049FA-3071-6778-D956-ACAAACFCFDAF}"/>
                    </a:ext>
                  </a:extLst>
                </p:cNvPr>
                <p:cNvSpPr txBox="1">
                  <a:spLocks/>
                </p:cNvSpPr>
                <p:nvPr/>
              </p:nvSpPr>
              <p:spPr>
                <a:xfrm>
                  <a:off x="1549941" y="2885243"/>
                  <a:ext cx="1296000" cy="257369"/>
                </a:xfrm>
                <a:prstGeom prst="rect">
                  <a:avLst/>
                </a:prstGeom>
                <a:noFill/>
              </p:spPr>
              <p:txBody>
                <a:bodyPr wrap="square" lIns="36000" tIns="36000" rIns="36000" bIns="36000" anchor="ctr" anchorCtr="0">
                  <a:spAutoFit/>
                </a:bodyPr>
                <a:lstStyle/>
                <a:p>
                  <a:r>
                    <a:rPr lang="it-IT" sz="600" noProof="0" dirty="0"/>
                    <a:t>Implementiamo end-to-end il modello operativo</a:t>
                  </a:r>
                </a:p>
              </p:txBody>
            </p:sp>
            <p:sp>
              <p:nvSpPr>
                <p:cNvPr id="32" name="CasellaDiTesto 31">
                  <a:extLst>
                    <a:ext uri="{FF2B5EF4-FFF2-40B4-BE49-F238E27FC236}">
                      <a16:creationId xmlns:a16="http://schemas.microsoft.com/office/drawing/2014/main" id="{6888231E-3F97-F142-87B2-D8A2C6063394}"/>
                    </a:ext>
                  </a:extLst>
                </p:cNvPr>
                <p:cNvSpPr txBox="1">
                  <a:spLocks/>
                </p:cNvSpPr>
                <p:nvPr/>
              </p:nvSpPr>
              <p:spPr>
                <a:xfrm>
                  <a:off x="1549941" y="3276227"/>
                  <a:ext cx="1296000" cy="257369"/>
                </a:xfrm>
                <a:prstGeom prst="rect">
                  <a:avLst/>
                </a:prstGeom>
                <a:noFill/>
              </p:spPr>
              <p:txBody>
                <a:bodyPr wrap="square" lIns="36000" tIns="36000" rIns="36000" bIns="36000" anchor="ctr" anchorCtr="0">
                  <a:spAutoFit/>
                </a:bodyPr>
                <a:lstStyle/>
                <a:p>
                  <a:r>
                    <a:rPr lang="it-IT" sz="600" dirty="0"/>
                    <a:t>Applichiamo controlli, </a:t>
                  </a:r>
                  <a:r>
                    <a:rPr lang="en-US" sz="600" noProof="0" dirty="0"/>
                    <a:t>quality</a:t>
                  </a:r>
                  <a:r>
                    <a:rPr lang="it-IT" sz="600" dirty="0"/>
                    <a:t> gate e governance</a:t>
                  </a:r>
                  <a:endParaRPr lang="it-IT" sz="600" noProof="0" dirty="0"/>
                </a:p>
              </p:txBody>
            </p:sp>
            <p:sp>
              <p:nvSpPr>
                <p:cNvPr id="33" name="CasellaDiTesto 32">
                  <a:extLst>
                    <a:ext uri="{FF2B5EF4-FFF2-40B4-BE49-F238E27FC236}">
                      <a16:creationId xmlns:a16="http://schemas.microsoft.com/office/drawing/2014/main" id="{2B8F2AF2-8365-A2B2-7588-99D9D183F3D7}"/>
                    </a:ext>
                  </a:extLst>
                </p:cNvPr>
                <p:cNvSpPr txBox="1">
                  <a:spLocks/>
                </p:cNvSpPr>
                <p:nvPr/>
              </p:nvSpPr>
              <p:spPr>
                <a:xfrm>
                  <a:off x="1549941" y="3683253"/>
                  <a:ext cx="1296000" cy="165036"/>
                </a:xfrm>
                <a:prstGeom prst="rect">
                  <a:avLst/>
                </a:prstGeom>
                <a:noFill/>
              </p:spPr>
              <p:txBody>
                <a:bodyPr wrap="square" lIns="36000" tIns="36000" rIns="36000" bIns="36000" anchor="ctr" anchorCtr="0">
                  <a:spAutoFit/>
                </a:bodyPr>
                <a:lstStyle/>
                <a:p>
                  <a:r>
                    <a:rPr lang="it-IT" sz="600" dirty="0"/>
                    <a:t>Misuriamo tempi, costi e qualità</a:t>
                  </a:r>
                  <a:endParaRPr lang="it-IT" sz="600" noProof="0" dirty="0"/>
                </a:p>
              </p:txBody>
            </p:sp>
            <p:sp>
              <p:nvSpPr>
                <p:cNvPr id="34" name="CasellaDiTesto 33">
                  <a:extLst>
                    <a:ext uri="{FF2B5EF4-FFF2-40B4-BE49-F238E27FC236}">
                      <a16:creationId xmlns:a16="http://schemas.microsoft.com/office/drawing/2014/main" id="{88EF97DA-4E7A-0924-63C3-7C0E74EFECF4}"/>
                    </a:ext>
                  </a:extLst>
                </p:cNvPr>
                <p:cNvSpPr txBox="1">
                  <a:spLocks/>
                </p:cNvSpPr>
                <p:nvPr/>
              </p:nvSpPr>
              <p:spPr>
                <a:xfrm>
                  <a:off x="1549941" y="3997947"/>
                  <a:ext cx="1296000" cy="257369"/>
                </a:xfrm>
                <a:prstGeom prst="rect">
                  <a:avLst/>
                </a:prstGeom>
                <a:noFill/>
              </p:spPr>
              <p:txBody>
                <a:bodyPr wrap="square" lIns="36000" tIns="36000" rIns="36000" bIns="36000" anchor="ctr" anchorCtr="0">
                  <a:spAutoFit/>
                </a:bodyPr>
                <a:lstStyle/>
                <a:p>
                  <a:r>
                    <a:rPr lang="it-IT" sz="600" dirty="0"/>
                    <a:t>Confrontiamo entrambi gli scenari (AWS e Qlik)</a:t>
                  </a:r>
                  <a:endParaRPr lang="it-IT" sz="600" noProof="0" dirty="0"/>
                </a:p>
              </p:txBody>
            </p:sp>
            <p:grpSp>
              <p:nvGrpSpPr>
                <p:cNvPr id="40" name="Gruppo 39">
                  <a:extLst>
                    <a:ext uri="{FF2B5EF4-FFF2-40B4-BE49-F238E27FC236}">
                      <a16:creationId xmlns:a16="http://schemas.microsoft.com/office/drawing/2014/main" id="{5F8DE428-F0DE-33DB-ADCA-2E90E3C8C84A}"/>
                    </a:ext>
                  </a:extLst>
                </p:cNvPr>
                <p:cNvGrpSpPr/>
                <p:nvPr/>
              </p:nvGrpSpPr>
              <p:grpSpPr>
                <a:xfrm>
                  <a:off x="1253867" y="4620164"/>
                  <a:ext cx="1658971" cy="484093"/>
                  <a:chOff x="1720592" y="4620164"/>
                  <a:chExt cx="1658971" cy="484093"/>
                </a:xfrm>
              </p:grpSpPr>
              <p:sp>
                <p:nvSpPr>
                  <p:cNvPr id="35" name="Rettangolo con angoli arrotondati 34">
                    <a:extLst>
                      <a:ext uri="{FF2B5EF4-FFF2-40B4-BE49-F238E27FC236}">
                        <a16:creationId xmlns:a16="http://schemas.microsoft.com/office/drawing/2014/main" id="{092AA9D3-0341-132A-295C-100E53E1C45D}"/>
                      </a:ext>
                    </a:extLst>
                  </p:cNvPr>
                  <p:cNvSpPr/>
                  <p:nvPr/>
                </p:nvSpPr>
                <p:spPr>
                  <a:xfrm>
                    <a:off x="1720592" y="4620164"/>
                    <a:ext cx="1658971" cy="484093"/>
                  </a:xfrm>
                  <a:prstGeom prst="roundRect">
                    <a:avLst/>
                  </a:prstGeom>
                  <a:solidFill>
                    <a:srgbClr val="EEF3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CasellaDiTesto 35">
                    <a:extLst>
                      <a:ext uri="{FF2B5EF4-FFF2-40B4-BE49-F238E27FC236}">
                        <a16:creationId xmlns:a16="http://schemas.microsoft.com/office/drawing/2014/main" id="{ACBE3029-649F-0760-2FBC-4FE9F4EF2CE8}"/>
                      </a:ext>
                    </a:extLst>
                  </p:cNvPr>
                  <p:cNvSpPr txBox="1">
                    <a:spLocks/>
                  </p:cNvSpPr>
                  <p:nvPr/>
                </p:nvSpPr>
                <p:spPr>
                  <a:xfrm>
                    <a:off x="2202417" y="4655345"/>
                    <a:ext cx="1081327" cy="413732"/>
                  </a:xfrm>
                  <a:prstGeom prst="rect">
                    <a:avLst/>
                  </a:prstGeom>
                  <a:noFill/>
                </p:spPr>
                <p:txBody>
                  <a:bodyPr wrap="square" lIns="36000" tIns="36000" rIns="36000" bIns="36000" anchor="ctr" anchorCtr="0">
                    <a:noAutofit/>
                  </a:bodyPr>
                  <a:lstStyle/>
                  <a:p>
                    <a:r>
                      <a:rPr lang="it-IT" sz="600" dirty="0">
                        <a:solidFill>
                          <a:srgbClr val="1A6ABE"/>
                        </a:solidFill>
                        <a:latin typeface="Poppins SemiBold" panose="00000700000000000000" pitchFamily="2" charset="0"/>
                        <a:cs typeface="Poppins SemiBold" panose="00000700000000000000" pitchFamily="2" charset="0"/>
                      </a:rPr>
                      <a:t>Modello validato su un caso reale e complesso</a:t>
                    </a:r>
                    <a:endParaRPr lang="it-IT" sz="600" noProof="0" dirty="0">
                      <a:solidFill>
                        <a:srgbClr val="1A6ABE"/>
                      </a:solidFill>
                      <a:latin typeface="Poppins SemiBold" panose="00000700000000000000" pitchFamily="2" charset="0"/>
                      <a:cs typeface="Poppins SemiBold" panose="00000700000000000000" pitchFamily="2" charset="0"/>
                    </a:endParaRPr>
                  </a:p>
                </p:txBody>
              </p:sp>
              <p:sp>
                <p:nvSpPr>
                  <p:cNvPr id="37" name="Ovale 36">
                    <a:extLst>
                      <a:ext uri="{FF2B5EF4-FFF2-40B4-BE49-F238E27FC236}">
                        <a16:creationId xmlns:a16="http://schemas.microsoft.com/office/drawing/2014/main" id="{F9FEA405-42E8-3C17-7EB0-6CCA374938F9}"/>
                      </a:ext>
                    </a:extLst>
                  </p:cNvPr>
                  <p:cNvSpPr/>
                  <p:nvPr/>
                </p:nvSpPr>
                <p:spPr>
                  <a:xfrm>
                    <a:off x="1771136" y="4661807"/>
                    <a:ext cx="413731" cy="413731"/>
                  </a:xfrm>
                  <a:prstGeom prst="ellipse">
                    <a:avLst/>
                  </a:prstGeom>
                  <a:solidFill>
                    <a:srgbClr val="DFE9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Elemento grafico 38">
                    <a:extLst>
                      <a:ext uri="{FF2B5EF4-FFF2-40B4-BE49-F238E27FC236}">
                        <a16:creationId xmlns:a16="http://schemas.microsoft.com/office/drawing/2014/main" id="{442FA1EF-3D6E-ACFC-937E-5B7B139BEF2D}"/>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1862717" y="4763594"/>
                    <a:ext cx="228600" cy="228600"/>
                  </a:xfrm>
                  <a:prstGeom prst="rect">
                    <a:avLst/>
                  </a:prstGeom>
                </p:spPr>
              </p:pic>
            </p:grpSp>
            <p:cxnSp>
              <p:nvCxnSpPr>
                <p:cNvPr id="42" name="Connettore diritto 41">
                  <a:extLst>
                    <a:ext uri="{FF2B5EF4-FFF2-40B4-BE49-F238E27FC236}">
                      <a16:creationId xmlns:a16="http://schemas.microsoft.com/office/drawing/2014/main" id="{141484DF-3ABA-AFB2-930B-11A42273E431}"/>
                    </a:ext>
                  </a:extLst>
                </p:cNvPr>
                <p:cNvCxnSpPr>
                  <a:cxnSpLocks/>
                </p:cNvCxnSpPr>
                <p:nvPr/>
              </p:nvCxnSpPr>
              <p:spPr>
                <a:xfrm>
                  <a:off x="1274306" y="4445435"/>
                  <a:ext cx="1634547" cy="0"/>
                </a:xfrm>
                <a:prstGeom prst="line">
                  <a:avLst/>
                </a:prstGeom>
                <a:ln>
                  <a:solidFill>
                    <a:srgbClr val="1A6ABE"/>
                  </a:solidFill>
                  <a:prstDash val="dash"/>
                </a:ln>
              </p:spPr>
              <p:style>
                <a:lnRef idx="1">
                  <a:schemeClr val="accent1"/>
                </a:lnRef>
                <a:fillRef idx="0">
                  <a:schemeClr val="accent1"/>
                </a:fillRef>
                <a:effectRef idx="0">
                  <a:schemeClr val="accent1"/>
                </a:effectRef>
                <a:fontRef idx="minor">
                  <a:schemeClr val="tx1"/>
                </a:fontRef>
              </p:style>
            </p:cxnSp>
          </p:grpSp>
          <p:grpSp>
            <p:nvGrpSpPr>
              <p:cNvPr id="254" name="Gruppo 253">
                <a:extLst>
                  <a:ext uri="{FF2B5EF4-FFF2-40B4-BE49-F238E27FC236}">
                    <a16:creationId xmlns:a16="http://schemas.microsoft.com/office/drawing/2014/main" id="{24E4B248-F843-92D3-2FA8-AD9A9EB83D2C}"/>
                  </a:ext>
                </a:extLst>
              </p:cNvPr>
              <p:cNvGrpSpPr/>
              <p:nvPr/>
            </p:nvGrpSpPr>
            <p:grpSpPr>
              <a:xfrm>
                <a:off x="2546321" y="950964"/>
                <a:ext cx="540000" cy="540000"/>
                <a:chOff x="2546321" y="950964"/>
                <a:chExt cx="540000" cy="540000"/>
              </a:xfrm>
            </p:grpSpPr>
            <p:sp>
              <p:nvSpPr>
                <p:cNvPr id="236" name="Ovale 235">
                  <a:extLst>
                    <a:ext uri="{FF2B5EF4-FFF2-40B4-BE49-F238E27FC236}">
                      <a16:creationId xmlns:a16="http://schemas.microsoft.com/office/drawing/2014/main" id="{80657063-749C-08FD-B174-F19795CA8397}"/>
                    </a:ext>
                  </a:extLst>
                </p:cNvPr>
                <p:cNvSpPr/>
                <p:nvPr/>
              </p:nvSpPr>
              <p:spPr>
                <a:xfrm>
                  <a:off x="2546321" y="950964"/>
                  <a:ext cx="540000" cy="540000"/>
                </a:xfrm>
                <a:prstGeom prst="ellipse">
                  <a:avLst/>
                </a:prstGeom>
                <a:solidFill>
                  <a:srgbClr val="1A6A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9" name="Elemento grafico 248">
                  <a:extLst>
                    <a:ext uri="{FF2B5EF4-FFF2-40B4-BE49-F238E27FC236}">
                      <a16:creationId xmlns:a16="http://schemas.microsoft.com/office/drawing/2014/main" id="{24CFCC44-109A-5829-9A96-6BF7EC4CB521}"/>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2672321" y="1076964"/>
                  <a:ext cx="288000" cy="288000"/>
                </a:xfrm>
                <a:prstGeom prst="rect">
                  <a:avLst/>
                </a:prstGeom>
              </p:spPr>
            </p:pic>
          </p:grpSp>
        </p:grpSp>
        <p:grpSp>
          <p:nvGrpSpPr>
            <p:cNvPr id="260" name="Gruppo 259">
              <a:extLst>
                <a:ext uri="{FF2B5EF4-FFF2-40B4-BE49-F238E27FC236}">
                  <a16:creationId xmlns:a16="http://schemas.microsoft.com/office/drawing/2014/main" id="{AC9CF63F-F7E3-303A-0145-02A93C800A89}"/>
                </a:ext>
              </a:extLst>
            </p:cNvPr>
            <p:cNvGrpSpPr/>
            <p:nvPr/>
          </p:nvGrpSpPr>
          <p:grpSpPr>
            <a:xfrm>
              <a:off x="5743827" y="1274769"/>
              <a:ext cx="1812724" cy="4308461"/>
              <a:chOff x="5743827" y="950964"/>
              <a:chExt cx="1812724" cy="4308461"/>
            </a:xfrm>
          </p:grpSpPr>
          <p:grpSp>
            <p:nvGrpSpPr>
              <p:cNvPr id="124" name="Gruppo 123">
                <a:extLst>
                  <a:ext uri="{FF2B5EF4-FFF2-40B4-BE49-F238E27FC236}">
                    <a16:creationId xmlns:a16="http://schemas.microsoft.com/office/drawing/2014/main" id="{995C22F0-A4EF-9D0C-EDDD-A27451B95228}"/>
                  </a:ext>
                </a:extLst>
              </p:cNvPr>
              <p:cNvGrpSpPr/>
              <p:nvPr/>
            </p:nvGrpSpPr>
            <p:grpSpPr>
              <a:xfrm>
                <a:off x="5743827" y="1598575"/>
                <a:ext cx="1812724" cy="3660850"/>
                <a:chOff x="5982031" y="1524000"/>
                <a:chExt cx="1812724" cy="3660850"/>
              </a:xfrm>
            </p:grpSpPr>
            <p:sp>
              <p:nvSpPr>
                <p:cNvPr id="84" name="Rettangolo con angoli arrotondati 83">
                  <a:extLst>
                    <a:ext uri="{FF2B5EF4-FFF2-40B4-BE49-F238E27FC236}">
                      <a16:creationId xmlns:a16="http://schemas.microsoft.com/office/drawing/2014/main" id="{887B4F37-C78D-E54A-78FA-B597E5B9D3EB}"/>
                    </a:ext>
                  </a:extLst>
                </p:cNvPr>
                <p:cNvSpPr/>
                <p:nvPr/>
              </p:nvSpPr>
              <p:spPr>
                <a:xfrm>
                  <a:off x="5982031" y="1579134"/>
                  <a:ext cx="1812724" cy="3440542"/>
                </a:xfrm>
                <a:prstGeom prst="roundRect">
                  <a:avLst>
                    <a:gd name="adj" fmla="val 4343"/>
                  </a:avLst>
                </a:prstGeom>
                <a:solidFill>
                  <a:srgbClr val="0B9A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ttangolo con angoli arrotondati 84">
                  <a:extLst>
                    <a:ext uri="{FF2B5EF4-FFF2-40B4-BE49-F238E27FC236}">
                      <a16:creationId xmlns:a16="http://schemas.microsoft.com/office/drawing/2014/main" id="{857D2EE1-2DE5-13FA-F167-CD34526E3509}"/>
                    </a:ext>
                  </a:extLst>
                </p:cNvPr>
                <p:cNvSpPr/>
                <p:nvPr/>
              </p:nvSpPr>
              <p:spPr>
                <a:xfrm>
                  <a:off x="5982031" y="1626141"/>
                  <a:ext cx="1812724" cy="3558709"/>
                </a:xfrm>
                <a:prstGeom prst="roundRect">
                  <a:avLst>
                    <a:gd name="adj" fmla="val 6445"/>
                  </a:avLst>
                </a:prstGeom>
                <a:solidFill>
                  <a:schemeClr val="bg1"/>
                </a:solidFill>
                <a:ln w="3175">
                  <a:solidFill>
                    <a:srgbClr val="0B9A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e 85">
                  <a:extLst>
                    <a:ext uri="{FF2B5EF4-FFF2-40B4-BE49-F238E27FC236}">
                      <a16:creationId xmlns:a16="http://schemas.microsoft.com/office/drawing/2014/main" id="{F03EC1FD-062A-A55F-D094-73283E9AF8F2}"/>
                    </a:ext>
                  </a:extLst>
                </p:cNvPr>
                <p:cNvSpPr/>
                <p:nvPr/>
              </p:nvSpPr>
              <p:spPr>
                <a:xfrm>
                  <a:off x="6769330" y="1524000"/>
                  <a:ext cx="238125" cy="238125"/>
                </a:xfrm>
                <a:prstGeom prst="ellipse">
                  <a:avLst/>
                </a:prstGeom>
                <a:solidFill>
                  <a:srgbClr val="0B9A4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3</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87" name="CasellaDiTesto 86">
                  <a:extLst>
                    <a:ext uri="{FF2B5EF4-FFF2-40B4-BE49-F238E27FC236}">
                      <a16:creationId xmlns:a16="http://schemas.microsoft.com/office/drawing/2014/main" id="{14A56835-3A47-F697-3BCE-CDD187E353CD}"/>
                    </a:ext>
                  </a:extLst>
                </p:cNvPr>
                <p:cNvSpPr txBox="1"/>
                <p:nvPr/>
              </p:nvSpPr>
              <p:spPr>
                <a:xfrm>
                  <a:off x="6380882" y="1814457"/>
                  <a:ext cx="1015021"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CDG interno</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88" name="Rettangolo con angoli arrotondati 87">
                  <a:extLst>
                    <a:ext uri="{FF2B5EF4-FFF2-40B4-BE49-F238E27FC236}">
                      <a16:creationId xmlns:a16="http://schemas.microsoft.com/office/drawing/2014/main" id="{D2F09946-A84C-273F-A489-EE8E7D525580}"/>
                    </a:ext>
                  </a:extLst>
                </p:cNvPr>
                <p:cNvSpPr/>
                <p:nvPr/>
              </p:nvSpPr>
              <p:spPr>
                <a:xfrm>
                  <a:off x="6266617" y="2032000"/>
                  <a:ext cx="1260000" cy="176176"/>
                </a:xfrm>
                <a:prstGeom prst="roundRect">
                  <a:avLst>
                    <a:gd name="adj" fmla="val 50000"/>
                  </a:avLst>
                </a:prstGeom>
                <a:solidFill>
                  <a:srgbClr val="0B9A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REFERENCE</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89" name="Elaborazione alternativa 88">
                  <a:extLst>
                    <a:ext uri="{FF2B5EF4-FFF2-40B4-BE49-F238E27FC236}">
                      <a16:creationId xmlns:a16="http://schemas.microsoft.com/office/drawing/2014/main" id="{B2151B67-2546-2C57-D511-B1220543BCCA}"/>
                    </a:ext>
                  </a:extLst>
                </p:cNvPr>
                <p:cNvSpPr/>
                <p:nvPr/>
              </p:nvSpPr>
              <p:spPr>
                <a:xfrm>
                  <a:off x="6062891" y="2334172"/>
                  <a:ext cx="1651000" cy="371466"/>
                </a:xfrm>
                <a:prstGeom prst="flowChartAlternateProcess">
                  <a:avLst/>
                </a:prstGeom>
                <a:solidFill>
                  <a:srgbClr val="EEF8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098343"/>
                      </a:solidFill>
                      <a:latin typeface="Poppins SemiBold" panose="00000700000000000000" pitchFamily="2" charset="0"/>
                      <a:cs typeface="Poppins SemiBold" panose="00000700000000000000" pitchFamily="2" charset="0"/>
                    </a:rPr>
                    <a:t>Usare e allineare la </a:t>
                  </a:r>
                  <a:r>
                    <a:rPr lang="en-US" sz="650" noProof="0" dirty="0">
                      <a:solidFill>
                        <a:srgbClr val="098343"/>
                      </a:solidFill>
                      <a:latin typeface="Poppins SemiBold" panose="00000700000000000000" pitchFamily="2" charset="0"/>
                      <a:cs typeface="Poppins SemiBold" panose="00000700000000000000" pitchFamily="2" charset="0"/>
                    </a:rPr>
                    <a:t>reference</a:t>
                  </a:r>
                  <a:r>
                    <a:rPr lang="it-IT" sz="650" dirty="0">
                      <a:solidFill>
                        <a:srgbClr val="098343"/>
                      </a:solidFill>
                      <a:latin typeface="Poppins SemiBold" panose="00000700000000000000" pitchFamily="2" charset="0"/>
                      <a:cs typeface="Poppins SemiBold" panose="00000700000000000000" pitchFamily="2" charset="0"/>
                    </a:rPr>
                    <a:t> esistente come base comune</a:t>
                  </a:r>
                  <a:endParaRPr lang="en-US" sz="650" dirty="0">
                    <a:solidFill>
                      <a:srgbClr val="098343"/>
                    </a:solidFill>
                    <a:latin typeface="Poppins SemiBold" panose="00000700000000000000" pitchFamily="2" charset="0"/>
                    <a:cs typeface="Poppins SemiBold" panose="00000700000000000000" pitchFamily="2" charset="0"/>
                  </a:endParaRPr>
                </a:p>
              </p:txBody>
            </p:sp>
            <p:sp>
              <p:nvSpPr>
                <p:cNvPr id="90" name="CasellaDiTesto 89">
                  <a:extLst>
                    <a:ext uri="{FF2B5EF4-FFF2-40B4-BE49-F238E27FC236}">
                      <a16:creationId xmlns:a16="http://schemas.microsoft.com/office/drawing/2014/main" id="{4CF2ECDE-8C0D-1F26-2016-2D6B6D18965D}"/>
                    </a:ext>
                  </a:extLst>
                </p:cNvPr>
                <p:cNvSpPr txBox="1">
                  <a:spLocks/>
                </p:cNvSpPr>
                <p:nvPr/>
              </p:nvSpPr>
              <p:spPr>
                <a:xfrm>
                  <a:off x="6354979" y="2885243"/>
                  <a:ext cx="1332000" cy="257369"/>
                </a:xfrm>
                <a:prstGeom prst="rect">
                  <a:avLst/>
                </a:prstGeom>
                <a:noFill/>
              </p:spPr>
              <p:txBody>
                <a:bodyPr wrap="square" lIns="36000" tIns="36000" rIns="36000" bIns="36000" anchor="ctr" anchorCtr="0">
                  <a:spAutoFit/>
                </a:bodyPr>
                <a:lstStyle/>
                <a:p>
                  <a:r>
                    <a:rPr lang="it-IT" sz="600" noProof="0" dirty="0"/>
                    <a:t>Mappiamo la </a:t>
                  </a:r>
                  <a:r>
                    <a:rPr lang="en-US" sz="600" noProof="0" dirty="0"/>
                    <a:t>reference</a:t>
                  </a:r>
                  <a:r>
                    <a:rPr lang="it-IT" sz="600" noProof="0" dirty="0"/>
                    <a:t> sul modello operativo</a:t>
                  </a:r>
                </a:p>
              </p:txBody>
            </p:sp>
            <p:sp>
              <p:nvSpPr>
                <p:cNvPr id="91" name="CasellaDiTesto 90">
                  <a:extLst>
                    <a:ext uri="{FF2B5EF4-FFF2-40B4-BE49-F238E27FC236}">
                      <a16:creationId xmlns:a16="http://schemas.microsoft.com/office/drawing/2014/main" id="{AD8CCA6A-8141-3823-05D8-931AAB0CF7BA}"/>
                    </a:ext>
                  </a:extLst>
                </p:cNvPr>
                <p:cNvSpPr txBox="1">
                  <a:spLocks/>
                </p:cNvSpPr>
                <p:nvPr/>
              </p:nvSpPr>
              <p:spPr>
                <a:xfrm>
                  <a:off x="6354979" y="3276227"/>
                  <a:ext cx="1332000" cy="257369"/>
                </a:xfrm>
                <a:prstGeom prst="rect">
                  <a:avLst/>
                </a:prstGeom>
                <a:noFill/>
              </p:spPr>
              <p:txBody>
                <a:bodyPr wrap="square" lIns="36000" tIns="36000" rIns="36000" bIns="36000" anchor="ctr" anchorCtr="0">
                  <a:spAutoFit/>
                </a:bodyPr>
                <a:lstStyle/>
                <a:p>
                  <a:r>
                    <a:rPr lang="it-IT" sz="600" dirty="0"/>
                    <a:t>Adattiamo dove necessario e colmiamo i gap</a:t>
                  </a:r>
                  <a:endParaRPr lang="it-IT" sz="600" noProof="0" dirty="0"/>
                </a:p>
              </p:txBody>
            </p:sp>
            <p:sp>
              <p:nvSpPr>
                <p:cNvPr id="92" name="CasellaDiTesto 91">
                  <a:extLst>
                    <a:ext uri="{FF2B5EF4-FFF2-40B4-BE49-F238E27FC236}">
                      <a16:creationId xmlns:a16="http://schemas.microsoft.com/office/drawing/2014/main" id="{C3CAE8EE-665C-15B7-DA95-CD05EE3BE23A}"/>
                    </a:ext>
                  </a:extLst>
                </p:cNvPr>
                <p:cNvSpPr txBox="1">
                  <a:spLocks/>
                </p:cNvSpPr>
                <p:nvPr/>
              </p:nvSpPr>
              <p:spPr>
                <a:xfrm>
                  <a:off x="6354979" y="3637087"/>
                  <a:ext cx="1332000" cy="257369"/>
                </a:xfrm>
                <a:prstGeom prst="rect">
                  <a:avLst/>
                </a:prstGeom>
                <a:noFill/>
              </p:spPr>
              <p:txBody>
                <a:bodyPr wrap="square" lIns="36000" tIns="36000" rIns="36000" bIns="36000" anchor="ctr" anchorCtr="0">
                  <a:spAutoFit/>
                </a:bodyPr>
                <a:lstStyle/>
                <a:p>
                  <a:r>
                    <a:rPr lang="it-IT" sz="600" dirty="0"/>
                    <a:t>Validiamo coerenza, qualità e copertura</a:t>
                  </a:r>
                  <a:endParaRPr lang="it-IT" sz="600" noProof="0" dirty="0"/>
                </a:p>
              </p:txBody>
            </p:sp>
            <p:sp>
              <p:nvSpPr>
                <p:cNvPr id="93" name="CasellaDiTesto 92">
                  <a:extLst>
                    <a:ext uri="{FF2B5EF4-FFF2-40B4-BE49-F238E27FC236}">
                      <a16:creationId xmlns:a16="http://schemas.microsoft.com/office/drawing/2014/main" id="{D870C8CC-3DCE-78D7-A5FD-C986BFE768A3}"/>
                    </a:ext>
                  </a:extLst>
                </p:cNvPr>
                <p:cNvSpPr txBox="1">
                  <a:spLocks/>
                </p:cNvSpPr>
                <p:nvPr/>
              </p:nvSpPr>
              <p:spPr>
                <a:xfrm>
                  <a:off x="6354979" y="3997947"/>
                  <a:ext cx="1332000" cy="257369"/>
                </a:xfrm>
                <a:prstGeom prst="rect">
                  <a:avLst/>
                </a:prstGeom>
                <a:noFill/>
              </p:spPr>
              <p:txBody>
                <a:bodyPr wrap="square" lIns="36000" tIns="36000" rIns="36000" bIns="36000" anchor="ctr" anchorCtr="0">
                  <a:spAutoFit/>
                </a:bodyPr>
                <a:lstStyle/>
                <a:p>
                  <a:r>
                    <a:rPr lang="it-IT" sz="600" dirty="0"/>
                    <a:t>Coinvolgiamo i team e raccogliamo feedback</a:t>
                  </a:r>
                  <a:endParaRPr lang="it-IT" sz="600" noProof="0" dirty="0"/>
                </a:p>
              </p:txBody>
            </p:sp>
            <p:cxnSp>
              <p:nvCxnSpPr>
                <p:cNvPr id="95" name="Connettore diritto 94">
                  <a:extLst>
                    <a:ext uri="{FF2B5EF4-FFF2-40B4-BE49-F238E27FC236}">
                      <a16:creationId xmlns:a16="http://schemas.microsoft.com/office/drawing/2014/main" id="{41B63BAE-EA05-23A5-73C4-D6FF8D091C38}"/>
                    </a:ext>
                  </a:extLst>
                </p:cNvPr>
                <p:cNvCxnSpPr>
                  <a:cxnSpLocks/>
                </p:cNvCxnSpPr>
                <p:nvPr/>
              </p:nvCxnSpPr>
              <p:spPr>
                <a:xfrm>
                  <a:off x="6079344" y="4445435"/>
                  <a:ext cx="1634547" cy="0"/>
                </a:xfrm>
                <a:prstGeom prst="line">
                  <a:avLst/>
                </a:prstGeom>
                <a:ln>
                  <a:solidFill>
                    <a:srgbClr val="0B9A4F"/>
                  </a:solidFill>
                  <a:prstDash val="dash"/>
                </a:ln>
              </p:spPr>
              <p:style>
                <a:lnRef idx="1">
                  <a:schemeClr val="accent1"/>
                </a:lnRef>
                <a:fillRef idx="0">
                  <a:schemeClr val="accent1"/>
                </a:fillRef>
                <a:effectRef idx="0">
                  <a:schemeClr val="accent1"/>
                </a:effectRef>
                <a:fontRef idx="minor">
                  <a:schemeClr val="tx1"/>
                </a:fontRef>
              </p:style>
            </p:cxnSp>
            <p:pic>
              <p:nvPicPr>
                <p:cNvPr id="106" name="Elemento grafico 105">
                  <a:extLst>
                    <a:ext uri="{FF2B5EF4-FFF2-40B4-BE49-F238E27FC236}">
                      <a16:creationId xmlns:a16="http://schemas.microsoft.com/office/drawing/2014/main" id="{3119CE83-B01F-4C28-45AD-B4C541C69E25}"/>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6079344" y="3263522"/>
                  <a:ext cx="228600" cy="228600"/>
                </a:xfrm>
                <a:prstGeom prst="rect">
                  <a:avLst/>
                </a:prstGeom>
              </p:spPr>
            </p:pic>
            <p:pic>
              <p:nvPicPr>
                <p:cNvPr id="114" name="Elemento grafico 113">
                  <a:extLst>
                    <a:ext uri="{FF2B5EF4-FFF2-40B4-BE49-F238E27FC236}">
                      <a16:creationId xmlns:a16="http://schemas.microsoft.com/office/drawing/2014/main" id="{2805E0C8-8D70-9E9D-16F1-9C8E66781B91}"/>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6079344" y="3648269"/>
                  <a:ext cx="228600" cy="228600"/>
                </a:xfrm>
                <a:prstGeom prst="rect">
                  <a:avLst/>
                </a:prstGeom>
              </p:spPr>
            </p:pic>
            <p:pic>
              <p:nvPicPr>
                <p:cNvPr id="116" name="Elemento grafico 115">
                  <a:extLst>
                    <a:ext uri="{FF2B5EF4-FFF2-40B4-BE49-F238E27FC236}">
                      <a16:creationId xmlns:a16="http://schemas.microsoft.com/office/drawing/2014/main" id="{BE74D9F4-05DE-812B-DB94-1910CAFDBBDD}"/>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6079344" y="4014627"/>
                  <a:ext cx="228600" cy="228600"/>
                </a:xfrm>
                <a:prstGeom prst="rect">
                  <a:avLst/>
                </a:prstGeom>
              </p:spPr>
            </p:pic>
            <p:grpSp>
              <p:nvGrpSpPr>
                <p:cNvPr id="121" name="Gruppo 120">
                  <a:extLst>
                    <a:ext uri="{FF2B5EF4-FFF2-40B4-BE49-F238E27FC236}">
                      <a16:creationId xmlns:a16="http://schemas.microsoft.com/office/drawing/2014/main" id="{84C1EA1D-405E-2ECB-EF44-24465730CCEC}"/>
                    </a:ext>
                  </a:extLst>
                </p:cNvPr>
                <p:cNvGrpSpPr/>
                <p:nvPr/>
              </p:nvGrpSpPr>
              <p:grpSpPr>
                <a:xfrm>
                  <a:off x="6058905" y="4620164"/>
                  <a:ext cx="1658971" cy="484093"/>
                  <a:chOff x="6058905" y="4620164"/>
                  <a:chExt cx="1658971" cy="484093"/>
                </a:xfrm>
              </p:grpSpPr>
              <p:grpSp>
                <p:nvGrpSpPr>
                  <p:cNvPr id="94" name="Gruppo 93">
                    <a:extLst>
                      <a:ext uri="{FF2B5EF4-FFF2-40B4-BE49-F238E27FC236}">
                        <a16:creationId xmlns:a16="http://schemas.microsoft.com/office/drawing/2014/main" id="{CF5AC16F-6D21-B867-5A02-15C9768C1487}"/>
                      </a:ext>
                    </a:extLst>
                  </p:cNvPr>
                  <p:cNvGrpSpPr/>
                  <p:nvPr/>
                </p:nvGrpSpPr>
                <p:grpSpPr>
                  <a:xfrm>
                    <a:off x="6058905" y="4620164"/>
                    <a:ext cx="1658971" cy="484093"/>
                    <a:chOff x="1720592" y="4620164"/>
                    <a:chExt cx="1658971" cy="484093"/>
                  </a:xfrm>
                </p:grpSpPr>
                <p:sp>
                  <p:nvSpPr>
                    <p:cNvPr id="102" name="Rettangolo con angoli arrotondati 101">
                      <a:extLst>
                        <a:ext uri="{FF2B5EF4-FFF2-40B4-BE49-F238E27FC236}">
                          <a16:creationId xmlns:a16="http://schemas.microsoft.com/office/drawing/2014/main" id="{584F52EC-01F3-3220-0FE7-323F3BD2BDD0}"/>
                        </a:ext>
                      </a:extLst>
                    </p:cNvPr>
                    <p:cNvSpPr/>
                    <p:nvPr/>
                  </p:nvSpPr>
                  <p:spPr>
                    <a:xfrm>
                      <a:off x="1720592" y="4620164"/>
                      <a:ext cx="1658971" cy="484093"/>
                    </a:xfrm>
                    <a:prstGeom prst="roundRect">
                      <a:avLst/>
                    </a:prstGeom>
                    <a:solidFill>
                      <a:srgbClr val="EDF8EC"/>
                    </a:solidFill>
                    <a:ln>
                      <a:solidFill>
                        <a:srgbClr val="EFF8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CasellaDiTesto 102">
                      <a:extLst>
                        <a:ext uri="{FF2B5EF4-FFF2-40B4-BE49-F238E27FC236}">
                          <a16:creationId xmlns:a16="http://schemas.microsoft.com/office/drawing/2014/main" id="{5E31E30F-C20B-6059-D33C-6F19FAD14D2F}"/>
                        </a:ext>
                      </a:extLst>
                    </p:cNvPr>
                    <p:cNvSpPr txBox="1">
                      <a:spLocks/>
                    </p:cNvSpPr>
                    <p:nvPr/>
                  </p:nvSpPr>
                  <p:spPr>
                    <a:xfrm>
                      <a:off x="2202417" y="4655345"/>
                      <a:ext cx="1081327" cy="413732"/>
                    </a:xfrm>
                    <a:prstGeom prst="rect">
                      <a:avLst/>
                    </a:prstGeom>
                    <a:noFill/>
                  </p:spPr>
                  <p:txBody>
                    <a:bodyPr wrap="square" lIns="36000" tIns="36000" rIns="36000" bIns="36000" anchor="ctr" anchorCtr="0">
                      <a:noAutofit/>
                    </a:bodyPr>
                    <a:lstStyle/>
                    <a:p>
                      <a:r>
                        <a:rPr lang="it-IT" sz="600" dirty="0">
                          <a:solidFill>
                            <a:srgbClr val="098343"/>
                          </a:solidFill>
                          <a:latin typeface="Poppins SemiBold" panose="00000700000000000000" pitchFamily="2" charset="0"/>
                          <a:cs typeface="Poppins SemiBold" panose="00000700000000000000" pitchFamily="2" charset="0"/>
                        </a:rPr>
                        <a:t>Reference allineata e riconosciuta come base del modello</a:t>
                      </a:r>
                      <a:endParaRPr lang="it-IT" sz="600" noProof="0" dirty="0">
                        <a:solidFill>
                          <a:srgbClr val="098343"/>
                        </a:solidFill>
                        <a:latin typeface="Poppins SemiBold" panose="00000700000000000000" pitchFamily="2" charset="0"/>
                        <a:cs typeface="Poppins SemiBold" panose="00000700000000000000" pitchFamily="2" charset="0"/>
                      </a:endParaRPr>
                    </a:p>
                  </p:txBody>
                </p:sp>
                <p:sp>
                  <p:nvSpPr>
                    <p:cNvPr id="104" name="Ovale 103">
                      <a:extLst>
                        <a:ext uri="{FF2B5EF4-FFF2-40B4-BE49-F238E27FC236}">
                          <a16:creationId xmlns:a16="http://schemas.microsoft.com/office/drawing/2014/main" id="{FB01FBA4-AE8B-1265-A386-4BEF536D19E5}"/>
                        </a:ext>
                      </a:extLst>
                    </p:cNvPr>
                    <p:cNvSpPr/>
                    <p:nvPr/>
                  </p:nvSpPr>
                  <p:spPr>
                    <a:xfrm>
                      <a:off x="1771136" y="4661807"/>
                      <a:ext cx="413731" cy="413731"/>
                    </a:xfrm>
                    <a:prstGeom prst="ellipse">
                      <a:avLst/>
                    </a:prstGeom>
                    <a:solidFill>
                      <a:srgbClr val="D5EED4">
                        <a:alpha val="4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0" name="Elemento grafico 119">
                    <a:extLst>
                      <a:ext uri="{FF2B5EF4-FFF2-40B4-BE49-F238E27FC236}">
                        <a16:creationId xmlns:a16="http://schemas.microsoft.com/office/drawing/2014/main" id="{3E382159-56FC-F672-F758-9AF2BADCC870}"/>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6204639" y="4761358"/>
                    <a:ext cx="228600" cy="228600"/>
                  </a:xfrm>
                  <a:prstGeom prst="rect">
                    <a:avLst/>
                  </a:prstGeom>
                </p:spPr>
              </p:pic>
            </p:grpSp>
            <p:pic>
              <p:nvPicPr>
                <p:cNvPr id="123" name="Elemento grafico 122">
                  <a:extLst>
                    <a:ext uri="{FF2B5EF4-FFF2-40B4-BE49-F238E27FC236}">
                      <a16:creationId xmlns:a16="http://schemas.microsoft.com/office/drawing/2014/main" id="{B17D67C2-4662-5328-4D45-A9ECF904CBE3}"/>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6097005" y="2900086"/>
                  <a:ext cx="228600" cy="228600"/>
                </a:xfrm>
                <a:prstGeom prst="rect">
                  <a:avLst/>
                </a:prstGeom>
              </p:spPr>
            </p:pic>
          </p:grpSp>
          <p:grpSp>
            <p:nvGrpSpPr>
              <p:cNvPr id="256" name="Gruppo 255">
                <a:extLst>
                  <a:ext uri="{FF2B5EF4-FFF2-40B4-BE49-F238E27FC236}">
                    <a16:creationId xmlns:a16="http://schemas.microsoft.com/office/drawing/2014/main" id="{9CED965D-ECC7-D42D-3C68-F97E3615E6D4}"/>
                  </a:ext>
                </a:extLst>
              </p:cNvPr>
              <p:cNvGrpSpPr/>
              <p:nvPr/>
            </p:nvGrpSpPr>
            <p:grpSpPr>
              <a:xfrm>
                <a:off x="6380189" y="950964"/>
                <a:ext cx="540000" cy="540000"/>
                <a:chOff x="6380189" y="950964"/>
                <a:chExt cx="540000" cy="540000"/>
              </a:xfrm>
            </p:grpSpPr>
            <p:sp>
              <p:nvSpPr>
                <p:cNvPr id="238" name="Ovale 237">
                  <a:extLst>
                    <a:ext uri="{FF2B5EF4-FFF2-40B4-BE49-F238E27FC236}">
                      <a16:creationId xmlns:a16="http://schemas.microsoft.com/office/drawing/2014/main" id="{D9E5B2E5-B868-16DE-13D0-A8AC81F88A87}"/>
                    </a:ext>
                  </a:extLst>
                </p:cNvPr>
                <p:cNvSpPr/>
                <p:nvPr/>
              </p:nvSpPr>
              <p:spPr>
                <a:xfrm>
                  <a:off x="6380189" y="950964"/>
                  <a:ext cx="540000" cy="540000"/>
                </a:xfrm>
                <a:prstGeom prst="ellipse">
                  <a:avLst/>
                </a:prstGeom>
                <a:solidFill>
                  <a:srgbClr val="129D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129D54"/>
                    </a:solidFill>
                  </a:endParaRPr>
                </a:p>
              </p:txBody>
            </p:sp>
            <p:pic>
              <p:nvPicPr>
                <p:cNvPr id="251" name="Elemento grafico 250">
                  <a:extLst>
                    <a:ext uri="{FF2B5EF4-FFF2-40B4-BE49-F238E27FC236}">
                      <a16:creationId xmlns:a16="http://schemas.microsoft.com/office/drawing/2014/main" id="{D06306D4-3F33-5D45-4AE9-200999F8FA73}"/>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6506189" y="1076964"/>
                  <a:ext cx="288000" cy="288000"/>
                </a:xfrm>
                <a:prstGeom prst="rect">
                  <a:avLst/>
                </a:prstGeom>
              </p:spPr>
            </p:pic>
          </p:grpSp>
        </p:grpSp>
        <p:grpSp>
          <p:nvGrpSpPr>
            <p:cNvPr id="261" name="Gruppo 260">
              <a:extLst>
                <a:ext uri="{FF2B5EF4-FFF2-40B4-BE49-F238E27FC236}">
                  <a16:creationId xmlns:a16="http://schemas.microsoft.com/office/drawing/2014/main" id="{087665E9-1B34-695C-88C6-A9A7BEA04C8B}"/>
                </a:ext>
              </a:extLst>
            </p:cNvPr>
            <p:cNvGrpSpPr/>
            <p:nvPr/>
          </p:nvGrpSpPr>
          <p:grpSpPr>
            <a:xfrm>
              <a:off x="7647279" y="1274769"/>
              <a:ext cx="1812724" cy="4308462"/>
              <a:chOff x="7647279" y="950964"/>
              <a:chExt cx="1812724" cy="4308462"/>
            </a:xfrm>
          </p:grpSpPr>
          <p:grpSp>
            <p:nvGrpSpPr>
              <p:cNvPr id="159" name="Gruppo 158">
                <a:extLst>
                  <a:ext uri="{FF2B5EF4-FFF2-40B4-BE49-F238E27FC236}">
                    <a16:creationId xmlns:a16="http://schemas.microsoft.com/office/drawing/2014/main" id="{042102A2-9D19-5722-CD0A-79CBE7C36190}"/>
                  </a:ext>
                </a:extLst>
              </p:cNvPr>
              <p:cNvGrpSpPr/>
              <p:nvPr/>
            </p:nvGrpSpPr>
            <p:grpSpPr>
              <a:xfrm>
                <a:off x="7647279" y="1598576"/>
                <a:ext cx="1812724" cy="3660850"/>
                <a:chOff x="7907409" y="1524001"/>
                <a:chExt cx="1812724" cy="3660850"/>
              </a:xfrm>
            </p:grpSpPr>
            <p:sp>
              <p:nvSpPr>
                <p:cNvPr id="126" name="Rettangolo con angoli arrotondati 125">
                  <a:extLst>
                    <a:ext uri="{FF2B5EF4-FFF2-40B4-BE49-F238E27FC236}">
                      <a16:creationId xmlns:a16="http://schemas.microsoft.com/office/drawing/2014/main" id="{1ABF9E4D-72F7-36EF-3323-98A7482D4E97}"/>
                    </a:ext>
                  </a:extLst>
                </p:cNvPr>
                <p:cNvSpPr/>
                <p:nvPr/>
              </p:nvSpPr>
              <p:spPr>
                <a:xfrm>
                  <a:off x="7907409" y="1579135"/>
                  <a:ext cx="1812724" cy="3440542"/>
                </a:xfrm>
                <a:prstGeom prst="roundRect">
                  <a:avLst>
                    <a:gd name="adj" fmla="val 4343"/>
                  </a:avLst>
                </a:prstGeom>
                <a:solidFill>
                  <a:srgbClr val="8DC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Rettangolo con angoli arrotondati 126">
                  <a:extLst>
                    <a:ext uri="{FF2B5EF4-FFF2-40B4-BE49-F238E27FC236}">
                      <a16:creationId xmlns:a16="http://schemas.microsoft.com/office/drawing/2014/main" id="{1559921C-8CC3-BD9F-9BD9-3B54DE010EA7}"/>
                    </a:ext>
                  </a:extLst>
                </p:cNvPr>
                <p:cNvSpPr/>
                <p:nvPr/>
              </p:nvSpPr>
              <p:spPr>
                <a:xfrm>
                  <a:off x="7907409" y="1626142"/>
                  <a:ext cx="1812724" cy="3558709"/>
                </a:xfrm>
                <a:prstGeom prst="roundRect">
                  <a:avLst>
                    <a:gd name="adj" fmla="val 6445"/>
                  </a:avLst>
                </a:prstGeom>
                <a:solidFill>
                  <a:schemeClr val="bg1"/>
                </a:solidFill>
                <a:ln w="3175">
                  <a:solidFill>
                    <a:srgbClr val="8DC2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e 127">
                  <a:extLst>
                    <a:ext uri="{FF2B5EF4-FFF2-40B4-BE49-F238E27FC236}">
                      <a16:creationId xmlns:a16="http://schemas.microsoft.com/office/drawing/2014/main" id="{1BADBB57-4761-4164-284A-9510AC113351}"/>
                    </a:ext>
                  </a:extLst>
                </p:cNvPr>
                <p:cNvSpPr/>
                <p:nvPr/>
              </p:nvSpPr>
              <p:spPr>
                <a:xfrm>
                  <a:off x="8694708" y="1524001"/>
                  <a:ext cx="238125" cy="238125"/>
                </a:xfrm>
                <a:prstGeom prst="ellipse">
                  <a:avLst/>
                </a:prstGeom>
                <a:solidFill>
                  <a:srgbClr val="8DC249"/>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4</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129" name="CasellaDiTesto 128">
                  <a:extLst>
                    <a:ext uri="{FF2B5EF4-FFF2-40B4-BE49-F238E27FC236}">
                      <a16:creationId xmlns:a16="http://schemas.microsoft.com/office/drawing/2014/main" id="{A61CDA0A-4586-1E31-F3E3-943CF6D1145F}"/>
                    </a:ext>
                  </a:extLst>
                </p:cNvPr>
                <p:cNvSpPr txBox="1"/>
                <p:nvPr/>
              </p:nvSpPr>
              <p:spPr>
                <a:xfrm>
                  <a:off x="8234127" y="1814458"/>
                  <a:ext cx="1159292"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Nuovi progetti</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130" name="Rettangolo con angoli arrotondati 129">
                  <a:extLst>
                    <a:ext uri="{FF2B5EF4-FFF2-40B4-BE49-F238E27FC236}">
                      <a16:creationId xmlns:a16="http://schemas.microsoft.com/office/drawing/2014/main" id="{C9C1703F-28ED-9DAF-6C8F-2C104270E3EF}"/>
                    </a:ext>
                  </a:extLst>
                </p:cNvPr>
                <p:cNvSpPr/>
                <p:nvPr/>
              </p:nvSpPr>
              <p:spPr>
                <a:xfrm>
                  <a:off x="8188263" y="2029423"/>
                  <a:ext cx="1260000" cy="176176"/>
                </a:xfrm>
                <a:prstGeom prst="roundRect">
                  <a:avLst>
                    <a:gd name="adj" fmla="val 50000"/>
                  </a:avLst>
                </a:prstGeom>
                <a:solidFill>
                  <a:srgbClr val="8DC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RIUSO E SCALABILITÀ</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131" name="Elaborazione alternativa 130">
                  <a:extLst>
                    <a:ext uri="{FF2B5EF4-FFF2-40B4-BE49-F238E27FC236}">
                      <a16:creationId xmlns:a16="http://schemas.microsoft.com/office/drawing/2014/main" id="{97A95566-5015-E807-E2CF-8230ED885E2E}"/>
                    </a:ext>
                  </a:extLst>
                </p:cNvPr>
                <p:cNvSpPr/>
                <p:nvPr/>
              </p:nvSpPr>
              <p:spPr>
                <a:xfrm>
                  <a:off x="7988269" y="2334173"/>
                  <a:ext cx="1651000" cy="371466"/>
                </a:xfrm>
                <a:prstGeom prst="flowChartAlternateProcess">
                  <a:avLst/>
                </a:prstGeom>
                <a:solidFill>
                  <a:srgbClr val="F3F9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80B33D"/>
                      </a:solidFill>
                      <a:latin typeface="Poppins SemiBold" panose="00000700000000000000" pitchFamily="2" charset="0"/>
                      <a:cs typeface="Poppins SemiBold" panose="00000700000000000000" pitchFamily="2" charset="0"/>
                    </a:rPr>
                    <a:t>Accelerare i prossimi progetti </a:t>
                  </a:r>
                  <a:br>
                    <a:rPr lang="it-IT" sz="650" dirty="0">
                      <a:solidFill>
                        <a:srgbClr val="80B33D"/>
                      </a:solidFill>
                      <a:latin typeface="Poppins SemiBold" panose="00000700000000000000" pitchFamily="2" charset="0"/>
                      <a:cs typeface="Poppins SemiBold" panose="00000700000000000000" pitchFamily="2" charset="0"/>
                    </a:rPr>
                  </a:br>
                  <a:r>
                    <a:rPr lang="it-IT" sz="650" dirty="0">
                      <a:solidFill>
                        <a:srgbClr val="80B33D"/>
                      </a:solidFill>
                      <a:latin typeface="Poppins SemiBold" panose="00000700000000000000" pitchFamily="2" charset="0"/>
                      <a:cs typeface="Poppins SemiBold" panose="00000700000000000000" pitchFamily="2" charset="0"/>
                    </a:rPr>
                    <a:t>riutilizzando il modello</a:t>
                  </a:r>
                  <a:endParaRPr lang="en-US" sz="650" dirty="0">
                    <a:solidFill>
                      <a:srgbClr val="80B33D"/>
                    </a:solidFill>
                    <a:latin typeface="Poppins SemiBold" panose="00000700000000000000" pitchFamily="2" charset="0"/>
                    <a:cs typeface="Poppins SemiBold" panose="00000700000000000000" pitchFamily="2" charset="0"/>
                  </a:endParaRPr>
                </a:p>
              </p:txBody>
            </p:sp>
            <p:cxnSp>
              <p:nvCxnSpPr>
                <p:cNvPr id="136" name="Connettore diritto 135">
                  <a:extLst>
                    <a:ext uri="{FF2B5EF4-FFF2-40B4-BE49-F238E27FC236}">
                      <a16:creationId xmlns:a16="http://schemas.microsoft.com/office/drawing/2014/main" id="{ABC4F6E3-6E90-EC16-4F21-09FCCA7D9A65}"/>
                    </a:ext>
                  </a:extLst>
                </p:cNvPr>
                <p:cNvCxnSpPr>
                  <a:cxnSpLocks/>
                </p:cNvCxnSpPr>
                <p:nvPr/>
              </p:nvCxnSpPr>
              <p:spPr>
                <a:xfrm>
                  <a:off x="8004722" y="4445436"/>
                  <a:ext cx="1634547" cy="0"/>
                </a:xfrm>
                <a:prstGeom prst="line">
                  <a:avLst/>
                </a:prstGeom>
                <a:ln>
                  <a:solidFill>
                    <a:srgbClr val="0B9A4F"/>
                  </a:solidFill>
                  <a:prstDash val="dash"/>
                </a:ln>
              </p:spPr>
              <p:style>
                <a:lnRef idx="1">
                  <a:schemeClr val="accent1"/>
                </a:lnRef>
                <a:fillRef idx="0">
                  <a:schemeClr val="accent1"/>
                </a:fillRef>
                <a:effectRef idx="0">
                  <a:schemeClr val="accent1"/>
                </a:effectRef>
                <a:fontRef idx="minor">
                  <a:schemeClr val="tx1"/>
                </a:fontRef>
              </p:style>
            </p:cxnSp>
            <p:grpSp>
              <p:nvGrpSpPr>
                <p:cNvPr id="149" name="Gruppo 148">
                  <a:extLst>
                    <a:ext uri="{FF2B5EF4-FFF2-40B4-BE49-F238E27FC236}">
                      <a16:creationId xmlns:a16="http://schemas.microsoft.com/office/drawing/2014/main" id="{E6D2BABA-593F-752B-87F4-3637906D8D06}"/>
                    </a:ext>
                  </a:extLst>
                </p:cNvPr>
                <p:cNvGrpSpPr/>
                <p:nvPr/>
              </p:nvGrpSpPr>
              <p:grpSpPr>
                <a:xfrm>
                  <a:off x="7984283" y="4620165"/>
                  <a:ext cx="1658971" cy="484093"/>
                  <a:chOff x="7984283" y="4620165"/>
                  <a:chExt cx="1658971" cy="484093"/>
                </a:xfrm>
              </p:grpSpPr>
              <p:sp>
                <p:nvSpPr>
                  <p:cNvPr id="144" name="Rettangolo con angoli arrotondati 143">
                    <a:extLst>
                      <a:ext uri="{FF2B5EF4-FFF2-40B4-BE49-F238E27FC236}">
                        <a16:creationId xmlns:a16="http://schemas.microsoft.com/office/drawing/2014/main" id="{29290A7A-FFFD-03FE-A22E-B196965B44D1}"/>
                      </a:ext>
                    </a:extLst>
                  </p:cNvPr>
                  <p:cNvSpPr/>
                  <p:nvPr/>
                </p:nvSpPr>
                <p:spPr>
                  <a:xfrm>
                    <a:off x="7984283" y="4620165"/>
                    <a:ext cx="1658971" cy="484093"/>
                  </a:xfrm>
                  <a:prstGeom prst="roundRect">
                    <a:avLst/>
                  </a:prstGeom>
                  <a:solidFill>
                    <a:srgbClr val="F3F9EE"/>
                  </a:solidFill>
                  <a:ln>
                    <a:solidFill>
                      <a:srgbClr val="EFF8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CasellaDiTesto 144">
                    <a:extLst>
                      <a:ext uri="{FF2B5EF4-FFF2-40B4-BE49-F238E27FC236}">
                        <a16:creationId xmlns:a16="http://schemas.microsoft.com/office/drawing/2014/main" id="{838A23BA-734E-566E-9753-EEF96D1D7EFF}"/>
                      </a:ext>
                    </a:extLst>
                  </p:cNvPr>
                  <p:cNvSpPr txBox="1">
                    <a:spLocks/>
                  </p:cNvSpPr>
                  <p:nvPr/>
                </p:nvSpPr>
                <p:spPr>
                  <a:xfrm>
                    <a:off x="8466108" y="4655346"/>
                    <a:ext cx="1081327" cy="413732"/>
                  </a:xfrm>
                  <a:prstGeom prst="rect">
                    <a:avLst/>
                  </a:prstGeom>
                  <a:noFill/>
                </p:spPr>
                <p:txBody>
                  <a:bodyPr wrap="square" lIns="36000" tIns="36000" rIns="36000" bIns="36000" anchor="ctr" anchorCtr="0">
                    <a:noAutofit/>
                  </a:bodyPr>
                  <a:lstStyle/>
                  <a:p>
                    <a:r>
                      <a:rPr lang="it-IT" sz="600" dirty="0">
                        <a:solidFill>
                          <a:srgbClr val="8DC249"/>
                        </a:solidFill>
                        <a:latin typeface="Poppins SemiBold" panose="00000700000000000000" pitchFamily="2" charset="0"/>
                        <a:cs typeface="Poppins SemiBold" panose="00000700000000000000" pitchFamily="2" charset="0"/>
                      </a:rPr>
                      <a:t>Maggiore velocità qualità e valore nel tempo</a:t>
                    </a:r>
                    <a:endParaRPr lang="it-IT" sz="600" noProof="0" dirty="0">
                      <a:solidFill>
                        <a:srgbClr val="8DC249"/>
                      </a:solidFill>
                      <a:latin typeface="Poppins SemiBold" panose="00000700000000000000" pitchFamily="2" charset="0"/>
                      <a:cs typeface="Poppins SemiBold" panose="00000700000000000000" pitchFamily="2" charset="0"/>
                    </a:endParaRPr>
                  </a:p>
                </p:txBody>
              </p:sp>
              <p:sp>
                <p:nvSpPr>
                  <p:cNvPr id="146" name="Ovale 145">
                    <a:extLst>
                      <a:ext uri="{FF2B5EF4-FFF2-40B4-BE49-F238E27FC236}">
                        <a16:creationId xmlns:a16="http://schemas.microsoft.com/office/drawing/2014/main" id="{B52098FA-8509-6431-23A2-4999C8030AE0}"/>
                      </a:ext>
                    </a:extLst>
                  </p:cNvPr>
                  <p:cNvSpPr/>
                  <p:nvPr/>
                </p:nvSpPr>
                <p:spPr>
                  <a:xfrm>
                    <a:off x="8034827" y="4661808"/>
                    <a:ext cx="413731" cy="413731"/>
                  </a:xfrm>
                  <a:prstGeom prst="ellipse">
                    <a:avLst/>
                  </a:prstGeom>
                  <a:solidFill>
                    <a:srgbClr val="EAF5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8" name="Elemento grafico 147">
                    <a:extLst>
                      <a:ext uri="{FF2B5EF4-FFF2-40B4-BE49-F238E27FC236}">
                        <a16:creationId xmlns:a16="http://schemas.microsoft.com/office/drawing/2014/main" id="{90C1AE87-0578-F376-06DE-3444EA906FAC}"/>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8127392" y="4754373"/>
                    <a:ext cx="228600" cy="228600"/>
                  </a:xfrm>
                  <a:prstGeom prst="rect">
                    <a:avLst/>
                  </a:prstGeom>
                </p:spPr>
              </p:pic>
            </p:grpSp>
            <p:grpSp>
              <p:nvGrpSpPr>
                <p:cNvPr id="155" name="Gruppo 154">
                  <a:extLst>
                    <a:ext uri="{FF2B5EF4-FFF2-40B4-BE49-F238E27FC236}">
                      <a16:creationId xmlns:a16="http://schemas.microsoft.com/office/drawing/2014/main" id="{47E4C11E-528D-3A9A-3A84-B440E86099D5}"/>
                    </a:ext>
                  </a:extLst>
                </p:cNvPr>
                <p:cNvGrpSpPr/>
                <p:nvPr/>
              </p:nvGrpSpPr>
              <p:grpSpPr>
                <a:xfrm>
                  <a:off x="8007207" y="2885244"/>
                  <a:ext cx="1605150" cy="257369"/>
                  <a:chOff x="8007207" y="2885244"/>
                  <a:chExt cx="1605150" cy="257369"/>
                </a:xfrm>
              </p:grpSpPr>
              <p:sp>
                <p:nvSpPr>
                  <p:cNvPr id="132" name="CasellaDiTesto 131">
                    <a:extLst>
                      <a:ext uri="{FF2B5EF4-FFF2-40B4-BE49-F238E27FC236}">
                        <a16:creationId xmlns:a16="http://schemas.microsoft.com/office/drawing/2014/main" id="{F5E9FF27-84BB-1809-6CAC-70DE73BDE54A}"/>
                      </a:ext>
                    </a:extLst>
                  </p:cNvPr>
                  <p:cNvSpPr txBox="1">
                    <a:spLocks/>
                  </p:cNvSpPr>
                  <p:nvPr/>
                </p:nvSpPr>
                <p:spPr>
                  <a:xfrm>
                    <a:off x="8280357" y="2885244"/>
                    <a:ext cx="1332000" cy="257369"/>
                  </a:xfrm>
                  <a:prstGeom prst="rect">
                    <a:avLst/>
                  </a:prstGeom>
                  <a:noFill/>
                </p:spPr>
                <p:txBody>
                  <a:bodyPr wrap="square" lIns="36000" tIns="36000" rIns="36000" bIns="36000" anchor="ctr" anchorCtr="0">
                    <a:spAutoFit/>
                  </a:bodyPr>
                  <a:lstStyle/>
                  <a:p>
                    <a:r>
                      <a:rPr lang="it-IT" sz="600" noProof="0" dirty="0"/>
                      <a:t>On </a:t>
                    </a:r>
                    <a:r>
                      <a:rPr lang="en-US" sz="600" noProof="0" dirty="0"/>
                      <a:t>boarding</a:t>
                    </a:r>
                    <a:r>
                      <a:rPr lang="it-IT" sz="600" noProof="0" dirty="0"/>
                      <a:t> rapido di nuovi progetti</a:t>
                    </a:r>
                  </a:p>
                </p:txBody>
              </p:sp>
              <p:pic>
                <p:nvPicPr>
                  <p:cNvPr id="151" name="Elemento grafico 150">
                    <a:extLst>
                      <a:ext uri="{FF2B5EF4-FFF2-40B4-BE49-F238E27FC236}">
                        <a16:creationId xmlns:a16="http://schemas.microsoft.com/office/drawing/2014/main" id="{1BA491C5-F060-42DC-20B6-CBB06C2FA2F0}"/>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8007207" y="2899628"/>
                    <a:ext cx="228600" cy="228600"/>
                  </a:xfrm>
                  <a:prstGeom prst="rect">
                    <a:avLst/>
                  </a:prstGeom>
                </p:spPr>
              </p:pic>
            </p:grpSp>
            <p:grpSp>
              <p:nvGrpSpPr>
                <p:cNvPr id="156" name="Gruppo 155">
                  <a:extLst>
                    <a:ext uri="{FF2B5EF4-FFF2-40B4-BE49-F238E27FC236}">
                      <a16:creationId xmlns:a16="http://schemas.microsoft.com/office/drawing/2014/main" id="{A8D80160-9C5C-C714-E29A-FC994D07642A}"/>
                    </a:ext>
                  </a:extLst>
                </p:cNvPr>
                <p:cNvGrpSpPr/>
                <p:nvPr/>
              </p:nvGrpSpPr>
              <p:grpSpPr>
                <a:xfrm>
                  <a:off x="8007207" y="3265735"/>
                  <a:ext cx="1569150" cy="257369"/>
                  <a:chOff x="8007207" y="3276228"/>
                  <a:chExt cx="1569150" cy="257369"/>
                </a:xfrm>
              </p:grpSpPr>
              <p:sp>
                <p:nvSpPr>
                  <p:cNvPr id="133" name="CasellaDiTesto 132">
                    <a:extLst>
                      <a:ext uri="{FF2B5EF4-FFF2-40B4-BE49-F238E27FC236}">
                        <a16:creationId xmlns:a16="http://schemas.microsoft.com/office/drawing/2014/main" id="{57C568E6-DA78-C7EF-3CF4-9BA8DC66992C}"/>
                      </a:ext>
                    </a:extLst>
                  </p:cNvPr>
                  <p:cNvSpPr txBox="1">
                    <a:spLocks/>
                  </p:cNvSpPr>
                  <p:nvPr/>
                </p:nvSpPr>
                <p:spPr>
                  <a:xfrm>
                    <a:off x="8280357" y="3276228"/>
                    <a:ext cx="1296000" cy="257369"/>
                  </a:xfrm>
                  <a:prstGeom prst="rect">
                    <a:avLst/>
                  </a:prstGeom>
                  <a:noFill/>
                </p:spPr>
                <p:txBody>
                  <a:bodyPr wrap="square" lIns="36000" tIns="36000" rIns="36000" bIns="36000" anchor="ctr" anchorCtr="0">
                    <a:spAutoFit/>
                  </a:bodyPr>
                  <a:lstStyle/>
                  <a:p>
                    <a:r>
                      <a:rPr lang="it-IT" sz="600" dirty="0"/>
                      <a:t>Riuso di pipeline, modelli, controlli e dashboard</a:t>
                    </a:r>
                    <a:endParaRPr lang="it-IT" sz="600" noProof="0" dirty="0"/>
                  </a:p>
                </p:txBody>
              </p:sp>
              <p:pic>
                <p:nvPicPr>
                  <p:cNvPr id="153" name="Elemento grafico 152">
                    <a:extLst>
                      <a:ext uri="{FF2B5EF4-FFF2-40B4-BE49-F238E27FC236}">
                        <a16:creationId xmlns:a16="http://schemas.microsoft.com/office/drawing/2014/main" id="{A9FA5CEF-47C2-88D4-9AC4-9968D98E6A8D}"/>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8007207" y="3290612"/>
                    <a:ext cx="228600" cy="228600"/>
                  </a:xfrm>
                  <a:prstGeom prst="rect">
                    <a:avLst/>
                  </a:prstGeom>
                </p:spPr>
              </p:pic>
            </p:grpSp>
            <p:grpSp>
              <p:nvGrpSpPr>
                <p:cNvPr id="157" name="Gruppo 156">
                  <a:extLst>
                    <a:ext uri="{FF2B5EF4-FFF2-40B4-BE49-F238E27FC236}">
                      <a16:creationId xmlns:a16="http://schemas.microsoft.com/office/drawing/2014/main" id="{235F0F8D-18F0-847E-F594-B64D20A215AD}"/>
                    </a:ext>
                  </a:extLst>
                </p:cNvPr>
                <p:cNvGrpSpPr/>
                <p:nvPr/>
              </p:nvGrpSpPr>
              <p:grpSpPr>
                <a:xfrm>
                  <a:off x="8007207" y="3646226"/>
                  <a:ext cx="1569150" cy="228600"/>
                  <a:chOff x="8007207" y="3656114"/>
                  <a:chExt cx="1569150" cy="228600"/>
                </a:xfrm>
              </p:grpSpPr>
              <p:sp>
                <p:nvSpPr>
                  <p:cNvPr id="134" name="CasellaDiTesto 133">
                    <a:extLst>
                      <a:ext uri="{FF2B5EF4-FFF2-40B4-BE49-F238E27FC236}">
                        <a16:creationId xmlns:a16="http://schemas.microsoft.com/office/drawing/2014/main" id="{75AFD3CB-64F7-1071-D378-5663E741B676}"/>
                      </a:ext>
                    </a:extLst>
                  </p:cNvPr>
                  <p:cNvSpPr txBox="1">
                    <a:spLocks/>
                  </p:cNvSpPr>
                  <p:nvPr/>
                </p:nvSpPr>
                <p:spPr>
                  <a:xfrm>
                    <a:off x="8280357" y="3687896"/>
                    <a:ext cx="1296000" cy="165036"/>
                  </a:xfrm>
                  <a:prstGeom prst="rect">
                    <a:avLst/>
                  </a:prstGeom>
                  <a:noFill/>
                </p:spPr>
                <p:txBody>
                  <a:bodyPr wrap="square" lIns="36000" tIns="36000" rIns="36000" bIns="36000" anchor="ctr" anchorCtr="0">
                    <a:spAutoFit/>
                  </a:bodyPr>
                  <a:lstStyle/>
                  <a:p>
                    <a:r>
                      <a:rPr lang="it-IT" sz="600" dirty="0"/>
                      <a:t>Riduzione dei tempie dei costi</a:t>
                    </a:r>
                    <a:endParaRPr lang="it-IT" sz="600" noProof="0" dirty="0"/>
                  </a:p>
                </p:txBody>
              </p:sp>
              <p:pic>
                <p:nvPicPr>
                  <p:cNvPr id="59" name="Elemento grafico 58">
                    <a:extLst>
                      <a:ext uri="{FF2B5EF4-FFF2-40B4-BE49-F238E27FC236}">
                        <a16:creationId xmlns:a16="http://schemas.microsoft.com/office/drawing/2014/main" id="{56AE1EC9-ECC1-154C-0AA3-0E15C99E2D67}"/>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8007207" y="3656114"/>
                    <a:ext cx="228600" cy="228600"/>
                  </a:xfrm>
                  <a:prstGeom prst="rect">
                    <a:avLst/>
                  </a:prstGeom>
                </p:spPr>
              </p:pic>
            </p:grpSp>
            <p:grpSp>
              <p:nvGrpSpPr>
                <p:cNvPr id="158" name="Gruppo 157">
                  <a:extLst>
                    <a:ext uri="{FF2B5EF4-FFF2-40B4-BE49-F238E27FC236}">
                      <a16:creationId xmlns:a16="http://schemas.microsoft.com/office/drawing/2014/main" id="{E0BE5F38-42A7-A489-EEAE-F49D936447BE}"/>
                    </a:ext>
                  </a:extLst>
                </p:cNvPr>
                <p:cNvGrpSpPr/>
                <p:nvPr/>
              </p:nvGrpSpPr>
              <p:grpSpPr>
                <a:xfrm>
                  <a:off x="8007207" y="3997948"/>
                  <a:ext cx="1569150" cy="257369"/>
                  <a:chOff x="8007207" y="3997948"/>
                  <a:chExt cx="1569150" cy="257369"/>
                </a:xfrm>
              </p:grpSpPr>
              <p:sp>
                <p:nvSpPr>
                  <p:cNvPr id="135" name="CasellaDiTesto 134">
                    <a:extLst>
                      <a:ext uri="{FF2B5EF4-FFF2-40B4-BE49-F238E27FC236}">
                        <a16:creationId xmlns:a16="http://schemas.microsoft.com/office/drawing/2014/main" id="{40DFAAD1-7EDE-6328-C8D4-C4813EE57F63}"/>
                      </a:ext>
                    </a:extLst>
                  </p:cNvPr>
                  <p:cNvSpPr txBox="1">
                    <a:spLocks/>
                  </p:cNvSpPr>
                  <p:nvPr/>
                </p:nvSpPr>
                <p:spPr>
                  <a:xfrm>
                    <a:off x="8280357" y="3997948"/>
                    <a:ext cx="1296000" cy="257369"/>
                  </a:xfrm>
                  <a:prstGeom prst="rect">
                    <a:avLst/>
                  </a:prstGeom>
                  <a:noFill/>
                </p:spPr>
                <p:txBody>
                  <a:bodyPr wrap="square" lIns="36000" tIns="36000" rIns="36000" bIns="36000" anchor="ctr" anchorCtr="0">
                    <a:spAutoFit/>
                  </a:bodyPr>
                  <a:lstStyle/>
                  <a:p>
                    <a:r>
                      <a:rPr lang="it-IT" sz="600" dirty="0"/>
                      <a:t>Qualità e governance coerenti e continue</a:t>
                    </a:r>
                    <a:endParaRPr lang="it-IT" sz="600" noProof="0" dirty="0"/>
                  </a:p>
                </p:txBody>
              </p:sp>
              <p:pic>
                <p:nvPicPr>
                  <p:cNvPr id="154" name="Elemento grafico 153">
                    <a:extLst>
                      <a:ext uri="{FF2B5EF4-FFF2-40B4-BE49-F238E27FC236}">
                        <a16:creationId xmlns:a16="http://schemas.microsoft.com/office/drawing/2014/main" id="{694C58B7-16F7-2C12-D6C5-D768A71CBB46}"/>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8007207" y="4012332"/>
                    <a:ext cx="228600" cy="228600"/>
                  </a:xfrm>
                  <a:prstGeom prst="rect">
                    <a:avLst/>
                  </a:prstGeom>
                </p:spPr>
              </p:pic>
            </p:grpSp>
          </p:grpSp>
          <p:grpSp>
            <p:nvGrpSpPr>
              <p:cNvPr id="257" name="Gruppo 256">
                <a:extLst>
                  <a:ext uri="{FF2B5EF4-FFF2-40B4-BE49-F238E27FC236}">
                    <a16:creationId xmlns:a16="http://schemas.microsoft.com/office/drawing/2014/main" id="{653B5C48-34C3-DED5-CB1F-B94CF23ED44A}"/>
                  </a:ext>
                </a:extLst>
              </p:cNvPr>
              <p:cNvGrpSpPr/>
              <p:nvPr/>
            </p:nvGrpSpPr>
            <p:grpSpPr>
              <a:xfrm>
                <a:off x="8283641" y="950964"/>
                <a:ext cx="540000" cy="540000"/>
                <a:chOff x="8283641" y="950964"/>
                <a:chExt cx="540000" cy="540000"/>
              </a:xfrm>
            </p:grpSpPr>
            <p:sp>
              <p:nvSpPr>
                <p:cNvPr id="239" name="Ovale 238">
                  <a:extLst>
                    <a:ext uri="{FF2B5EF4-FFF2-40B4-BE49-F238E27FC236}">
                      <a16:creationId xmlns:a16="http://schemas.microsoft.com/office/drawing/2014/main" id="{A17583E0-EB64-AEFA-20B4-6A66C8928982}"/>
                    </a:ext>
                  </a:extLst>
                </p:cNvPr>
                <p:cNvSpPr/>
                <p:nvPr/>
              </p:nvSpPr>
              <p:spPr>
                <a:xfrm>
                  <a:off x="8283641" y="950964"/>
                  <a:ext cx="540000" cy="540000"/>
                </a:xfrm>
                <a:prstGeom prst="ellipse">
                  <a:avLst/>
                </a:prstGeom>
                <a:solidFill>
                  <a:srgbClr val="8DC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3" name="Elemento grafico 252">
                  <a:extLst>
                    <a:ext uri="{FF2B5EF4-FFF2-40B4-BE49-F238E27FC236}">
                      <a16:creationId xmlns:a16="http://schemas.microsoft.com/office/drawing/2014/main" id="{727D381E-E3DD-D76C-8AED-F38B46D7F4C1}"/>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8409641" y="1076964"/>
                  <a:ext cx="288000" cy="288000"/>
                </a:xfrm>
                <a:prstGeom prst="rect">
                  <a:avLst/>
                </a:prstGeom>
              </p:spPr>
            </p:pic>
          </p:grpSp>
        </p:grpSp>
      </p:grpSp>
      <p:grpSp>
        <p:nvGrpSpPr>
          <p:cNvPr id="98" name="Gruppo 97">
            <a:extLst>
              <a:ext uri="{FF2B5EF4-FFF2-40B4-BE49-F238E27FC236}">
                <a16:creationId xmlns:a16="http://schemas.microsoft.com/office/drawing/2014/main" id="{0CD39777-8F6B-F1C5-AAC3-76D16430383B}"/>
              </a:ext>
            </a:extLst>
          </p:cNvPr>
          <p:cNvGrpSpPr/>
          <p:nvPr/>
        </p:nvGrpSpPr>
        <p:grpSpPr>
          <a:xfrm>
            <a:off x="8967395" y="370238"/>
            <a:ext cx="2750029" cy="406706"/>
            <a:chOff x="6734403" y="623243"/>
            <a:chExt cx="2750029" cy="406706"/>
          </a:xfrm>
        </p:grpSpPr>
        <p:sp>
          <p:nvSpPr>
            <p:cNvPr id="99" name="Line">
              <a:extLst>
                <a:ext uri="{FF2B5EF4-FFF2-40B4-BE49-F238E27FC236}">
                  <a16:creationId xmlns:a16="http://schemas.microsoft.com/office/drawing/2014/main" id="{97EE2A74-634C-0A92-9EF3-6C24AE6B3EE6}"/>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100" name="Gruppo 99">
              <a:extLst>
                <a:ext uri="{FF2B5EF4-FFF2-40B4-BE49-F238E27FC236}">
                  <a16:creationId xmlns:a16="http://schemas.microsoft.com/office/drawing/2014/main" id="{03BD9227-5C1C-CD1F-D978-FC5A107F0E0B}"/>
                </a:ext>
              </a:extLst>
            </p:cNvPr>
            <p:cNvGrpSpPr/>
            <p:nvPr/>
          </p:nvGrpSpPr>
          <p:grpSpPr>
            <a:xfrm>
              <a:off x="6734403" y="623243"/>
              <a:ext cx="2750029" cy="406706"/>
              <a:chOff x="6734403" y="623243"/>
              <a:chExt cx="2750029" cy="406706"/>
            </a:xfrm>
          </p:grpSpPr>
          <p:grpSp>
            <p:nvGrpSpPr>
              <p:cNvPr id="101" name="Gruppo 100">
                <a:extLst>
                  <a:ext uri="{FF2B5EF4-FFF2-40B4-BE49-F238E27FC236}">
                    <a16:creationId xmlns:a16="http://schemas.microsoft.com/office/drawing/2014/main" id="{2C130713-FCE0-255A-B5E0-6848804F2E22}"/>
                  </a:ext>
                </a:extLst>
              </p:cNvPr>
              <p:cNvGrpSpPr/>
              <p:nvPr/>
            </p:nvGrpSpPr>
            <p:grpSpPr>
              <a:xfrm>
                <a:off x="6734403" y="623243"/>
                <a:ext cx="576000" cy="406706"/>
                <a:chOff x="6734403" y="623243"/>
                <a:chExt cx="576000" cy="406706"/>
              </a:xfrm>
            </p:grpSpPr>
            <p:pic>
              <p:nvPicPr>
                <p:cNvPr id="122" name="Elemento grafico 121">
                  <a:extLst>
                    <a:ext uri="{FF2B5EF4-FFF2-40B4-BE49-F238E27FC236}">
                      <a16:creationId xmlns:a16="http://schemas.microsoft.com/office/drawing/2014/main" id="{15E8FB84-48DC-41B6-C18F-9C111AE889A0}"/>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6908103" y="801349"/>
                  <a:ext cx="228600" cy="228600"/>
                </a:xfrm>
                <a:prstGeom prst="rect">
                  <a:avLst/>
                </a:prstGeom>
              </p:spPr>
            </p:pic>
            <p:sp>
              <p:nvSpPr>
                <p:cNvPr id="125" name="CasellaDiTesto 124">
                  <a:extLst>
                    <a:ext uri="{FF2B5EF4-FFF2-40B4-BE49-F238E27FC236}">
                      <a16:creationId xmlns:a16="http://schemas.microsoft.com/office/drawing/2014/main" id="{629E4536-2A7D-0E84-5D33-5F351AD36459}"/>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5" name="Gruppo 104">
                <a:extLst>
                  <a:ext uri="{FF2B5EF4-FFF2-40B4-BE49-F238E27FC236}">
                    <a16:creationId xmlns:a16="http://schemas.microsoft.com/office/drawing/2014/main" id="{1C02A534-5B9E-8308-FCC4-A8E9FBFC69C1}"/>
                  </a:ext>
                </a:extLst>
              </p:cNvPr>
              <p:cNvGrpSpPr/>
              <p:nvPr/>
            </p:nvGrpSpPr>
            <p:grpSpPr>
              <a:xfrm>
                <a:off x="7277910" y="623243"/>
                <a:ext cx="576000" cy="406706"/>
                <a:chOff x="7291884" y="623243"/>
                <a:chExt cx="576000" cy="406706"/>
              </a:xfrm>
            </p:grpSpPr>
            <p:pic>
              <p:nvPicPr>
                <p:cNvPr id="118" name="Elemento grafico 117">
                  <a:extLst>
                    <a:ext uri="{FF2B5EF4-FFF2-40B4-BE49-F238E27FC236}">
                      <a16:creationId xmlns:a16="http://schemas.microsoft.com/office/drawing/2014/main" id="{9497A7D3-9820-388F-331C-F9C8C64B7DF1}"/>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7465584" y="801349"/>
                  <a:ext cx="228600" cy="228600"/>
                </a:xfrm>
                <a:prstGeom prst="rect">
                  <a:avLst/>
                </a:prstGeom>
              </p:spPr>
            </p:pic>
            <p:sp>
              <p:nvSpPr>
                <p:cNvPr id="119" name="CasellaDiTesto 118">
                  <a:extLst>
                    <a:ext uri="{FF2B5EF4-FFF2-40B4-BE49-F238E27FC236}">
                      <a16:creationId xmlns:a16="http://schemas.microsoft.com/office/drawing/2014/main" id="{E1B5936E-C7EA-5C9A-82B0-CDB49D05A7F0}"/>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7" name="Gruppo 106">
                <a:extLst>
                  <a:ext uri="{FF2B5EF4-FFF2-40B4-BE49-F238E27FC236}">
                    <a16:creationId xmlns:a16="http://schemas.microsoft.com/office/drawing/2014/main" id="{6EDCBD12-2EFD-1205-8049-5B1CC21DFE0F}"/>
                  </a:ext>
                </a:extLst>
              </p:cNvPr>
              <p:cNvGrpSpPr/>
              <p:nvPr/>
            </p:nvGrpSpPr>
            <p:grpSpPr>
              <a:xfrm>
                <a:off x="7743611" y="623243"/>
                <a:ext cx="731612" cy="406706"/>
                <a:chOff x="7777971" y="623243"/>
                <a:chExt cx="731612" cy="406706"/>
              </a:xfrm>
            </p:grpSpPr>
            <p:pic>
              <p:nvPicPr>
                <p:cNvPr id="115" name="Elemento grafico 114">
                  <a:extLst>
                    <a:ext uri="{FF2B5EF4-FFF2-40B4-BE49-F238E27FC236}">
                      <a16:creationId xmlns:a16="http://schemas.microsoft.com/office/drawing/2014/main" id="{407A41E2-1F41-C57A-37CD-2336D2D8F2EF}"/>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8029477" y="801349"/>
                  <a:ext cx="228600" cy="228600"/>
                </a:xfrm>
                <a:prstGeom prst="rect">
                  <a:avLst/>
                </a:prstGeom>
              </p:spPr>
            </p:pic>
            <p:sp>
              <p:nvSpPr>
                <p:cNvPr id="117" name="CasellaDiTesto 116">
                  <a:extLst>
                    <a:ext uri="{FF2B5EF4-FFF2-40B4-BE49-F238E27FC236}">
                      <a16:creationId xmlns:a16="http://schemas.microsoft.com/office/drawing/2014/main" id="{CB766364-7A51-9976-E312-E4B2D46658E3}"/>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8" name="Gruppo 107">
                <a:extLst>
                  <a:ext uri="{FF2B5EF4-FFF2-40B4-BE49-F238E27FC236}">
                    <a16:creationId xmlns:a16="http://schemas.microsoft.com/office/drawing/2014/main" id="{CC14E28A-AC1A-6640-5DDA-C9F264126CB2}"/>
                  </a:ext>
                </a:extLst>
              </p:cNvPr>
              <p:cNvGrpSpPr/>
              <p:nvPr/>
            </p:nvGrpSpPr>
            <p:grpSpPr>
              <a:xfrm>
                <a:off x="8401893" y="623243"/>
                <a:ext cx="502061" cy="406706"/>
                <a:chOff x="8613413" y="623243"/>
                <a:chExt cx="502061" cy="406706"/>
              </a:xfrm>
            </p:grpSpPr>
            <p:pic>
              <p:nvPicPr>
                <p:cNvPr id="112" name="Elemento grafico 111">
                  <a:extLst>
                    <a:ext uri="{FF2B5EF4-FFF2-40B4-BE49-F238E27FC236}">
                      <a16:creationId xmlns:a16="http://schemas.microsoft.com/office/drawing/2014/main" id="{ADA77E57-5EC6-1536-0C1C-B68BDCCB75EF}"/>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8750144" y="801349"/>
                  <a:ext cx="228600" cy="228600"/>
                </a:xfrm>
                <a:prstGeom prst="rect">
                  <a:avLst/>
                </a:prstGeom>
              </p:spPr>
            </p:pic>
            <p:sp>
              <p:nvSpPr>
                <p:cNvPr id="113" name="CasellaDiTesto 112">
                  <a:extLst>
                    <a:ext uri="{FF2B5EF4-FFF2-40B4-BE49-F238E27FC236}">
                      <a16:creationId xmlns:a16="http://schemas.microsoft.com/office/drawing/2014/main" id="{A7D51FA3-FFA7-68D5-ABC4-ACDDA1E6F8A5}"/>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PIANO</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09" name="Gruppo 108">
                <a:extLst>
                  <a:ext uri="{FF2B5EF4-FFF2-40B4-BE49-F238E27FC236}">
                    <a16:creationId xmlns:a16="http://schemas.microsoft.com/office/drawing/2014/main" id="{33EE0796-6F29-A390-900B-7BB48C45851C}"/>
                  </a:ext>
                </a:extLst>
              </p:cNvPr>
              <p:cNvGrpSpPr/>
              <p:nvPr/>
            </p:nvGrpSpPr>
            <p:grpSpPr>
              <a:xfrm>
                <a:off x="8908432" y="623243"/>
                <a:ext cx="576000" cy="406706"/>
                <a:chOff x="9067561" y="623243"/>
                <a:chExt cx="576000" cy="406706"/>
              </a:xfrm>
            </p:grpSpPr>
            <p:pic>
              <p:nvPicPr>
                <p:cNvPr id="110" name="Elemento grafico 109">
                  <a:extLst>
                    <a:ext uri="{FF2B5EF4-FFF2-40B4-BE49-F238E27FC236}">
                      <a16:creationId xmlns:a16="http://schemas.microsoft.com/office/drawing/2014/main" id="{62C82CBC-0EEA-74AC-E8FC-C7391BA6F64D}"/>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9241261" y="801349"/>
                  <a:ext cx="228600" cy="228600"/>
                </a:xfrm>
                <a:prstGeom prst="rect">
                  <a:avLst/>
                </a:prstGeom>
              </p:spPr>
            </p:pic>
            <p:sp>
              <p:nvSpPr>
                <p:cNvPr id="111" name="CasellaDiTesto 110">
                  <a:extLst>
                    <a:ext uri="{FF2B5EF4-FFF2-40B4-BE49-F238E27FC236}">
                      <a16:creationId xmlns:a16="http://schemas.microsoft.com/office/drawing/2014/main" id="{48AD8388-9F4B-4BA2-1C46-9DC9649B187C}"/>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4062494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2B98B-C6AE-1E67-4034-ED21F7A81A8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6D6DD1A-882C-B187-C526-280FFB91F63D}"/>
              </a:ext>
            </a:extLst>
          </p:cNvPr>
          <p:cNvSpPr>
            <a:spLocks noGrp="1"/>
          </p:cNvSpPr>
          <p:nvPr>
            <p:ph type="title"/>
          </p:nvPr>
        </p:nvSpPr>
        <p:spPr/>
        <p:txBody>
          <a:bodyPr/>
          <a:lstStyle/>
          <a:p>
            <a:r>
              <a:rPr lang="it-IT" dirty="0"/>
              <a:t>Data pipeline | </a:t>
            </a:r>
            <a:r>
              <a:rPr lang="it-IT" dirty="0">
                <a:solidFill>
                  <a:schemeClr val="tx1"/>
                </a:solidFill>
                <a:ea typeface="+mn-ea"/>
                <a:cs typeface="+mn-cs"/>
              </a:rPr>
              <a:t>Prossimi passi e decisione richiesta</a:t>
            </a:r>
          </a:p>
        </p:txBody>
      </p:sp>
      <p:sp>
        <p:nvSpPr>
          <p:cNvPr id="233" name="Freccia a destra 232">
            <a:extLst>
              <a:ext uri="{FF2B5EF4-FFF2-40B4-BE49-F238E27FC236}">
                <a16:creationId xmlns:a16="http://schemas.microsoft.com/office/drawing/2014/main" id="{DC794E01-08D3-D28D-F9D4-A8038CC9DCB9}"/>
              </a:ext>
            </a:extLst>
          </p:cNvPr>
          <p:cNvSpPr/>
          <p:nvPr/>
        </p:nvSpPr>
        <p:spPr>
          <a:xfrm>
            <a:off x="8752710" y="3459934"/>
            <a:ext cx="583660" cy="672830"/>
          </a:xfrm>
          <a:prstGeom prst="rightArrow">
            <a:avLst>
              <a:gd name="adj1" fmla="val 53855"/>
              <a:gd name="adj2" fmla="val 68087"/>
            </a:avLst>
          </a:prstGeom>
          <a:ln w="28575">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grpSp>
        <p:nvGrpSpPr>
          <p:cNvPr id="98" name="Gruppo 97">
            <a:extLst>
              <a:ext uri="{FF2B5EF4-FFF2-40B4-BE49-F238E27FC236}">
                <a16:creationId xmlns:a16="http://schemas.microsoft.com/office/drawing/2014/main" id="{10852EF2-701B-BB37-3C55-846F06FEAD19}"/>
              </a:ext>
            </a:extLst>
          </p:cNvPr>
          <p:cNvGrpSpPr/>
          <p:nvPr/>
        </p:nvGrpSpPr>
        <p:grpSpPr>
          <a:xfrm>
            <a:off x="8967395" y="370238"/>
            <a:ext cx="2750029" cy="406706"/>
            <a:chOff x="6734403" y="623243"/>
            <a:chExt cx="2750029" cy="406706"/>
          </a:xfrm>
        </p:grpSpPr>
        <p:sp>
          <p:nvSpPr>
            <p:cNvPr id="99" name="Line">
              <a:extLst>
                <a:ext uri="{FF2B5EF4-FFF2-40B4-BE49-F238E27FC236}">
                  <a16:creationId xmlns:a16="http://schemas.microsoft.com/office/drawing/2014/main" id="{5A9D14B3-D573-73CB-37ED-7DC1A3C73792}"/>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100" name="Gruppo 99">
              <a:extLst>
                <a:ext uri="{FF2B5EF4-FFF2-40B4-BE49-F238E27FC236}">
                  <a16:creationId xmlns:a16="http://schemas.microsoft.com/office/drawing/2014/main" id="{C82B74CF-A76B-8095-838A-66BA32C70312}"/>
                </a:ext>
              </a:extLst>
            </p:cNvPr>
            <p:cNvGrpSpPr/>
            <p:nvPr/>
          </p:nvGrpSpPr>
          <p:grpSpPr>
            <a:xfrm>
              <a:off x="6734403" y="623243"/>
              <a:ext cx="2750029" cy="406706"/>
              <a:chOff x="6734403" y="623243"/>
              <a:chExt cx="2750029" cy="406706"/>
            </a:xfrm>
          </p:grpSpPr>
          <p:grpSp>
            <p:nvGrpSpPr>
              <p:cNvPr id="101" name="Gruppo 100">
                <a:extLst>
                  <a:ext uri="{FF2B5EF4-FFF2-40B4-BE49-F238E27FC236}">
                    <a16:creationId xmlns:a16="http://schemas.microsoft.com/office/drawing/2014/main" id="{EB496FDF-D34D-7BBD-D311-8780118DFB9B}"/>
                  </a:ext>
                </a:extLst>
              </p:cNvPr>
              <p:cNvGrpSpPr/>
              <p:nvPr/>
            </p:nvGrpSpPr>
            <p:grpSpPr>
              <a:xfrm>
                <a:off x="6734403" y="623243"/>
                <a:ext cx="576000" cy="406706"/>
                <a:chOff x="6734403" y="623243"/>
                <a:chExt cx="576000" cy="406706"/>
              </a:xfrm>
            </p:grpSpPr>
            <p:pic>
              <p:nvPicPr>
                <p:cNvPr id="122" name="Elemento grafico 121">
                  <a:extLst>
                    <a:ext uri="{FF2B5EF4-FFF2-40B4-BE49-F238E27FC236}">
                      <a16:creationId xmlns:a16="http://schemas.microsoft.com/office/drawing/2014/main" id="{818F0983-F5F5-DC12-9684-2C7D82B5B1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08103" y="801349"/>
                  <a:ext cx="228600" cy="228600"/>
                </a:xfrm>
                <a:prstGeom prst="rect">
                  <a:avLst/>
                </a:prstGeom>
              </p:spPr>
            </p:pic>
            <p:sp>
              <p:nvSpPr>
                <p:cNvPr id="125" name="CasellaDiTesto 124">
                  <a:extLst>
                    <a:ext uri="{FF2B5EF4-FFF2-40B4-BE49-F238E27FC236}">
                      <a16:creationId xmlns:a16="http://schemas.microsoft.com/office/drawing/2014/main" id="{4907196E-10CB-CA96-860A-5B8B7516F99B}"/>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5" name="Gruppo 104">
                <a:extLst>
                  <a:ext uri="{FF2B5EF4-FFF2-40B4-BE49-F238E27FC236}">
                    <a16:creationId xmlns:a16="http://schemas.microsoft.com/office/drawing/2014/main" id="{1635823E-637E-E7E8-03EF-EE90F55F8BE6}"/>
                  </a:ext>
                </a:extLst>
              </p:cNvPr>
              <p:cNvGrpSpPr/>
              <p:nvPr/>
            </p:nvGrpSpPr>
            <p:grpSpPr>
              <a:xfrm>
                <a:off x="7277910" y="623243"/>
                <a:ext cx="576000" cy="406706"/>
                <a:chOff x="7291884" y="623243"/>
                <a:chExt cx="576000" cy="406706"/>
              </a:xfrm>
            </p:grpSpPr>
            <p:pic>
              <p:nvPicPr>
                <p:cNvPr id="118" name="Elemento grafico 117">
                  <a:extLst>
                    <a:ext uri="{FF2B5EF4-FFF2-40B4-BE49-F238E27FC236}">
                      <a16:creationId xmlns:a16="http://schemas.microsoft.com/office/drawing/2014/main" id="{8F1DC91D-D4B6-7BDE-6B72-7D6929FCB1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65584" y="801349"/>
                  <a:ext cx="228600" cy="228600"/>
                </a:xfrm>
                <a:prstGeom prst="rect">
                  <a:avLst/>
                </a:prstGeom>
              </p:spPr>
            </p:pic>
            <p:sp>
              <p:nvSpPr>
                <p:cNvPr id="119" name="CasellaDiTesto 118">
                  <a:extLst>
                    <a:ext uri="{FF2B5EF4-FFF2-40B4-BE49-F238E27FC236}">
                      <a16:creationId xmlns:a16="http://schemas.microsoft.com/office/drawing/2014/main" id="{9FE59746-9EE9-E9F8-27D1-AD5E7BFEBD1B}"/>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7" name="Gruppo 106">
                <a:extLst>
                  <a:ext uri="{FF2B5EF4-FFF2-40B4-BE49-F238E27FC236}">
                    <a16:creationId xmlns:a16="http://schemas.microsoft.com/office/drawing/2014/main" id="{7A4B7BF8-C371-08B4-455D-293A112B1587}"/>
                  </a:ext>
                </a:extLst>
              </p:cNvPr>
              <p:cNvGrpSpPr/>
              <p:nvPr/>
            </p:nvGrpSpPr>
            <p:grpSpPr>
              <a:xfrm>
                <a:off x="7743611" y="623243"/>
                <a:ext cx="731612" cy="406706"/>
                <a:chOff x="7777971" y="623243"/>
                <a:chExt cx="731612" cy="406706"/>
              </a:xfrm>
            </p:grpSpPr>
            <p:pic>
              <p:nvPicPr>
                <p:cNvPr id="115" name="Elemento grafico 114">
                  <a:extLst>
                    <a:ext uri="{FF2B5EF4-FFF2-40B4-BE49-F238E27FC236}">
                      <a16:creationId xmlns:a16="http://schemas.microsoft.com/office/drawing/2014/main" id="{66DA205F-8F7F-3A1A-982B-1380B431916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29477" y="801349"/>
                  <a:ext cx="228600" cy="228600"/>
                </a:xfrm>
                <a:prstGeom prst="rect">
                  <a:avLst/>
                </a:prstGeom>
              </p:spPr>
            </p:pic>
            <p:sp>
              <p:nvSpPr>
                <p:cNvPr id="117" name="CasellaDiTesto 116">
                  <a:extLst>
                    <a:ext uri="{FF2B5EF4-FFF2-40B4-BE49-F238E27FC236}">
                      <a16:creationId xmlns:a16="http://schemas.microsoft.com/office/drawing/2014/main" id="{D293776D-8CBA-25F0-DB0D-B124AA118158}"/>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8" name="Gruppo 107">
                <a:extLst>
                  <a:ext uri="{FF2B5EF4-FFF2-40B4-BE49-F238E27FC236}">
                    <a16:creationId xmlns:a16="http://schemas.microsoft.com/office/drawing/2014/main" id="{B1B5C75C-E098-686E-5A74-9D18CC7EE174}"/>
                  </a:ext>
                </a:extLst>
              </p:cNvPr>
              <p:cNvGrpSpPr/>
              <p:nvPr/>
            </p:nvGrpSpPr>
            <p:grpSpPr>
              <a:xfrm>
                <a:off x="8401893" y="623243"/>
                <a:ext cx="502061" cy="406706"/>
                <a:chOff x="8613413" y="623243"/>
                <a:chExt cx="502061" cy="406706"/>
              </a:xfrm>
            </p:grpSpPr>
            <p:pic>
              <p:nvPicPr>
                <p:cNvPr id="112" name="Elemento grafico 111">
                  <a:extLst>
                    <a:ext uri="{FF2B5EF4-FFF2-40B4-BE49-F238E27FC236}">
                      <a16:creationId xmlns:a16="http://schemas.microsoft.com/office/drawing/2014/main" id="{0B3766F9-3BFE-D6AC-1364-A915EB7D016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50144" y="801349"/>
                  <a:ext cx="228600" cy="228600"/>
                </a:xfrm>
                <a:prstGeom prst="rect">
                  <a:avLst/>
                </a:prstGeom>
              </p:spPr>
            </p:pic>
            <p:sp>
              <p:nvSpPr>
                <p:cNvPr id="113" name="CasellaDiTesto 112">
                  <a:extLst>
                    <a:ext uri="{FF2B5EF4-FFF2-40B4-BE49-F238E27FC236}">
                      <a16:creationId xmlns:a16="http://schemas.microsoft.com/office/drawing/2014/main" id="{8A49F2FE-4259-5C8B-D7C2-5F898BCDE609}"/>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PIANO</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09" name="Gruppo 108">
                <a:extLst>
                  <a:ext uri="{FF2B5EF4-FFF2-40B4-BE49-F238E27FC236}">
                    <a16:creationId xmlns:a16="http://schemas.microsoft.com/office/drawing/2014/main" id="{4489D678-9312-49DC-9B00-B22BF4A00880}"/>
                  </a:ext>
                </a:extLst>
              </p:cNvPr>
              <p:cNvGrpSpPr/>
              <p:nvPr/>
            </p:nvGrpSpPr>
            <p:grpSpPr>
              <a:xfrm>
                <a:off x="8908432" y="623243"/>
                <a:ext cx="576000" cy="406706"/>
                <a:chOff x="9067561" y="623243"/>
                <a:chExt cx="576000" cy="406706"/>
              </a:xfrm>
            </p:grpSpPr>
            <p:pic>
              <p:nvPicPr>
                <p:cNvPr id="110" name="Elemento grafico 109">
                  <a:extLst>
                    <a:ext uri="{FF2B5EF4-FFF2-40B4-BE49-F238E27FC236}">
                      <a16:creationId xmlns:a16="http://schemas.microsoft.com/office/drawing/2014/main" id="{145F9C27-8431-0AB6-FE78-447C90DEF2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41261" y="801349"/>
                  <a:ext cx="228600" cy="228600"/>
                </a:xfrm>
                <a:prstGeom prst="rect">
                  <a:avLst/>
                </a:prstGeom>
              </p:spPr>
            </p:pic>
            <p:sp>
              <p:nvSpPr>
                <p:cNvPr id="111" name="CasellaDiTesto 110">
                  <a:extLst>
                    <a:ext uri="{FF2B5EF4-FFF2-40B4-BE49-F238E27FC236}">
                      <a16:creationId xmlns:a16="http://schemas.microsoft.com/office/drawing/2014/main" id="{B05BE371-50E0-6901-38E0-882156793F04}"/>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grpSp>
        <p:nvGrpSpPr>
          <p:cNvPr id="200" name="Gruppo 199">
            <a:extLst>
              <a:ext uri="{FF2B5EF4-FFF2-40B4-BE49-F238E27FC236}">
                <a16:creationId xmlns:a16="http://schemas.microsoft.com/office/drawing/2014/main" id="{91C4B13C-8FF2-934C-1EAC-3F48A8CE458B}"/>
              </a:ext>
            </a:extLst>
          </p:cNvPr>
          <p:cNvGrpSpPr/>
          <p:nvPr/>
        </p:nvGrpSpPr>
        <p:grpSpPr>
          <a:xfrm>
            <a:off x="1909959" y="1797514"/>
            <a:ext cx="1980000" cy="3785716"/>
            <a:chOff x="1909959" y="1797514"/>
            <a:chExt cx="1980000" cy="3785716"/>
          </a:xfrm>
        </p:grpSpPr>
        <p:sp>
          <p:nvSpPr>
            <p:cNvPr id="14" name="Rettangolo con angoli arrotondati 13">
              <a:extLst>
                <a:ext uri="{FF2B5EF4-FFF2-40B4-BE49-F238E27FC236}">
                  <a16:creationId xmlns:a16="http://schemas.microsoft.com/office/drawing/2014/main" id="{9E60B106-5DA9-1E11-558B-34EB6041840F}"/>
                </a:ext>
              </a:extLst>
            </p:cNvPr>
            <p:cNvSpPr/>
            <p:nvPr/>
          </p:nvSpPr>
          <p:spPr>
            <a:xfrm>
              <a:off x="1909959" y="1977514"/>
              <a:ext cx="1980000" cy="3440542"/>
            </a:xfrm>
            <a:prstGeom prst="roundRect">
              <a:avLst>
                <a:gd name="adj" fmla="val 4343"/>
              </a:avLst>
            </a:prstGeom>
            <a:solidFill>
              <a:srgbClr val="1A6E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ttangolo con angoli arrotondati 14">
              <a:extLst>
                <a:ext uri="{FF2B5EF4-FFF2-40B4-BE49-F238E27FC236}">
                  <a16:creationId xmlns:a16="http://schemas.microsoft.com/office/drawing/2014/main" id="{DA708BE3-0669-83E7-4039-8ED21C418E96}"/>
                </a:ext>
              </a:extLst>
            </p:cNvPr>
            <p:cNvSpPr/>
            <p:nvPr/>
          </p:nvSpPr>
          <p:spPr>
            <a:xfrm>
              <a:off x="1909959" y="2024521"/>
              <a:ext cx="1980000" cy="3558709"/>
            </a:xfrm>
            <a:prstGeom prst="roundRect">
              <a:avLst>
                <a:gd name="adj" fmla="val 6445"/>
              </a:avLst>
            </a:prstGeom>
            <a:solidFill>
              <a:schemeClr val="bg1"/>
            </a:solidFill>
            <a:ln w="3175">
              <a:solidFill>
                <a:srgbClr val="1A6A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9" name="Gruppo 198">
              <a:extLst>
                <a:ext uri="{FF2B5EF4-FFF2-40B4-BE49-F238E27FC236}">
                  <a16:creationId xmlns:a16="http://schemas.microsoft.com/office/drawing/2014/main" id="{35EA89D0-92B5-A4BA-65EC-CD328A66802C}"/>
                </a:ext>
              </a:extLst>
            </p:cNvPr>
            <p:cNvGrpSpPr/>
            <p:nvPr/>
          </p:nvGrpSpPr>
          <p:grpSpPr>
            <a:xfrm>
              <a:off x="2074459" y="1797514"/>
              <a:ext cx="1651000" cy="3618720"/>
              <a:chOff x="2036066" y="1797514"/>
              <a:chExt cx="1651000" cy="3618720"/>
            </a:xfrm>
          </p:grpSpPr>
          <p:sp>
            <p:nvSpPr>
              <p:cNvPr id="17" name="Ovale 16">
                <a:extLst>
                  <a:ext uri="{FF2B5EF4-FFF2-40B4-BE49-F238E27FC236}">
                    <a16:creationId xmlns:a16="http://schemas.microsoft.com/office/drawing/2014/main" id="{0C4B4B43-A797-94F4-DDD2-DC0D67CC50D7}"/>
                  </a:ext>
                </a:extLst>
              </p:cNvPr>
              <p:cNvSpPr/>
              <p:nvPr/>
            </p:nvSpPr>
            <p:spPr>
              <a:xfrm>
                <a:off x="2681566" y="1797514"/>
                <a:ext cx="360000" cy="360000"/>
              </a:xfrm>
              <a:prstGeom prst="ellipse">
                <a:avLst/>
              </a:prstGeom>
              <a:solidFill>
                <a:srgbClr val="1A6EBE"/>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1</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20" name="Elaborazione alternativa 19">
                <a:extLst>
                  <a:ext uri="{FF2B5EF4-FFF2-40B4-BE49-F238E27FC236}">
                    <a16:creationId xmlns:a16="http://schemas.microsoft.com/office/drawing/2014/main" id="{B4F1E64C-5E5C-1C61-787A-A3EF438314E7}"/>
                  </a:ext>
                </a:extLst>
              </p:cNvPr>
              <p:cNvSpPr/>
              <p:nvPr/>
            </p:nvSpPr>
            <p:spPr>
              <a:xfrm>
                <a:off x="2036066" y="2913082"/>
                <a:ext cx="1651000" cy="515109"/>
              </a:xfrm>
              <a:prstGeom prst="flowChartAlternateProcess">
                <a:avLst/>
              </a:prstGeom>
              <a:solidFill>
                <a:srgbClr val="E9EF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rgbClr val="1A6EBE"/>
                    </a:solidFill>
                    <a:latin typeface="Poppins SemiBold" panose="00000700000000000000" pitchFamily="2" charset="0"/>
                    <a:cs typeface="Poppins SemiBold" panose="00000700000000000000" pitchFamily="2" charset="0"/>
                  </a:rPr>
                  <a:t>CONFERMARE </a:t>
                </a:r>
              </a:p>
              <a:p>
                <a:pPr algn="ctr"/>
                <a:r>
                  <a:rPr lang="it-IT" sz="1050" dirty="0">
                    <a:solidFill>
                      <a:srgbClr val="1A6EBE"/>
                    </a:solidFill>
                    <a:latin typeface="Poppins SemiBold" panose="00000700000000000000" pitchFamily="2" charset="0"/>
                    <a:cs typeface="Poppins SemiBold" panose="00000700000000000000" pitchFamily="2" charset="0"/>
                  </a:rPr>
                  <a:t>IL MODELLO</a:t>
                </a:r>
                <a:endParaRPr lang="en-US" sz="1050" dirty="0">
                  <a:solidFill>
                    <a:srgbClr val="1A6EBE"/>
                  </a:solidFill>
                  <a:latin typeface="Poppins SemiBold" panose="00000700000000000000" pitchFamily="2" charset="0"/>
                  <a:cs typeface="Poppins SemiBold" panose="00000700000000000000" pitchFamily="2" charset="0"/>
                </a:endParaRPr>
              </a:p>
            </p:txBody>
          </p:sp>
          <p:sp>
            <p:nvSpPr>
              <p:cNvPr id="31" name="CasellaDiTesto 30">
                <a:extLst>
                  <a:ext uri="{FF2B5EF4-FFF2-40B4-BE49-F238E27FC236}">
                    <a16:creationId xmlns:a16="http://schemas.microsoft.com/office/drawing/2014/main" id="{C33AE56B-B667-3031-91D4-159712E646F1}"/>
                  </a:ext>
                </a:extLst>
              </p:cNvPr>
              <p:cNvSpPr txBox="1">
                <a:spLocks/>
              </p:cNvSpPr>
              <p:nvPr/>
            </p:nvSpPr>
            <p:spPr>
              <a:xfrm>
                <a:off x="2036066" y="3558991"/>
                <a:ext cx="1651000" cy="688256"/>
              </a:xfrm>
              <a:prstGeom prst="rect">
                <a:avLst/>
              </a:prstGeom>
              <a:noFill/>
            </p:spPr>
            <p:txBody>
              <a:bodyPr wrap="square" lIns="36000" tIns="36000" rIns="36000" bIns="36000" anchor="ctr" anchorCtr="0">
                <a:spAutoFit/>
              </a:bodyPr>
              <a:lstStyle/>
              <a:p>
                <a:pPr algn="ctr"/>
                <a:r>
                  <a:rPr lang="it-IT" sz="1000" dirty="0"/>
                  <a:t>Validare e approvare la </a:t>
                </a:r>
                <a:r>
                  <a:rPr lang="en-US" sz="1000" noProof="0" dirty="0"/>
                  <a:t>Blueprint</a:t>
                </a:r>
                <a:r>
                  <a:rPr lang="it-IT" sz="1000" dirty="0"/>
                  <a:t> come modello aziendale di riferimento per tutti i progetti dati.</a:t>
                </a:r>
                <a:endParaRPr lang="it-IT" sz="1000" noProof="0" dirty="0"/>
              </a:p>
            </p:txBody>
          </p:sp>
          <p:grpSp>
            <p:nvGrpSpPr>
              <p:cNvPr id="49" name="Gruppo 48">
                <a:extLst>
                  <a:ext uri="{FF2B5EF4-FFF2-40B4-BE49-F238E27FC236}">
                    <a16:creationId xmlns:a16="http://schemas.microsoft.com/office/drawing/2014/main" id="{6CFE0D8F-3D4A-FE05-FFE0-702D03DC88EC}"/>
                  </a:ext>
                </a:extLst>
              </p:cNvPr>
              <p:cNvGrpSpPr/>
              <p:nvPr/>
            </p:nvGrpSpPr>
            <p:grpSpPr>
              <a:xfrm>
                <a:off x="2042918" y="4491957"/>
                <a:ext cx="1637296" cy="924277"/>
                <a:chOff x="2046386" y="4508847"/>
                <a:chExt cx="1637296" cy="924277"/>
              </a:xfrm>
            </p:grpSpPr>
            <p:grpSp>
              <p:nvGrpSpPr>
                <p:cNvPr id="38" name="Gruppo 37">
                  <a:extLst>
                    <a:ext uri="{FF2B5EF4-FFF2-40B4-BE49-F238E27FC236}">
                      <a16:creationId xmlns:a16="http://schemas.microsoft.com/office/drawing/2014/main" id="{2BAEACB6-119F-ED46-35EC-3B458D21247B}"/>
                    </a:ext>
                  </a:extLst>
                </p:cNvPr>
                <p:cNvGrpSpPr/>
                <p:nvPr/>
              </p:nvGrpSpPr>
              <p:grpSpPr>
                <a:xfrm>
                  <a:off x="2046386" y="4508847"/>
                  <a:ext cx="1637296" cy="195814"/>
                  <a:chOff x="2046386" y="4508847"/>
                  <a:chExt cx="1637296" cy="195814"/>
                </a:xfrm>
              </p:grpSpPr>
              <p:sp>
                <p:nvSpPr>
                  <p:cNvPr id="32" name="CasellaDiTesto 31">
                    <a:extLst>
                      <a:ext uri="{FF2B5EF4-FFF2-40B4-BE49-F238E27FC236}">
                        <a16:creationId xmlns:a16="http://schemas.microsoft.com/office/drawing/2014/main" id="{CF11CFCB-8F31-FAB6-A606-7FBF39BC015E}"/>
                      </a:ext>
                    </a:extLst>
                  </p:cNvPr>
                  <p:cNvSpPr txBox="1">
                    <a:spLocks/>
                  </p:cNvSpPr>
                  <p:nvPr/>
                </p:nvSpPr>
                <p:spPr>
                  <a:xfrm>
                    <a:off x="2258356" y="4508847"/>
                    <a:ext cx="1425326" cy="195814"/>
                  </a:xfrm>
                  <a:prstGeom prst="rect">
                    <a:avLst/>
                  </a:prstGeom>
                  <a:noFill/>
                </p:spPr>
                <p:txBody>
                  <a:bodyPr wrap="square" lIns="36000" tIns="36000" rIns="36000" bIns="36000" anchor="ctr" anchorCtr="0">
                    <a:spAutoFit/>
                  </a:bodyPr>
                  <a:lstStyle/>
                  <a:p>
                    <a:r>
                      <a:rPr lang="it-IT" sz="800" spc="-50" dirty="0"/>
                      <a:t>Principi e standard condivisi</a:t>
                    </a:r>
                    <a:endParaRPr lang="it-IT" sz="800" spc="-50" noProof="0" dirty="0"/>
                  </a:p>
                </p:txBody>
              </p:sp>
              <p:pic>
                <p:nvPicPr>
                  <p:cNvPr id="12" name="Elemento grafico 11">
                    <a:extLst>
                      <a:ext uri="{FF2B5EF4-FFF2-40B4-BE49-F238E27FC236}">
                        <a16:creationId xmlns:a16="http://schemas.microsoft.com/office/drawing/2014/main" id="{578125D8-4863-1D6F-44FB-4E6223C98E1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4516754"/>
                    <a:ext cx="180000" cy="180000"/>
                  </a:xfrm>
                  <a:prstGeom prst="rect">
                    <a:avLst/>
                  </a:prstGeom>
                </p:spPr>
              </p:pic>
            </p:grpSp>
            <p:grpSp>
              <p:nvGrpSpPr>
                <p:cNvPr id="41" name="Gruppo 40">
                  <a:extLst>
                    <a:ext uri="{FF2B5EF4-FFF2-40B4-BE49-F238E27FC236}">
                      <a16:creationId xmlns:a16="http://schemas.microsoft.com/office/drawing/2014/main" id="{3E9C7066-A283-19E4-13BE-362F51E9193F}"/>
                    </a:ext>
                  </a:extLst>
                </p:cNvPr>
                <p:cNvGrpSpPr/>
                <p:nvPr/>
              </p:nvGrpSpPr>
              <p:grpSpPr>
                <a:xfrm>
                  <a:off x="2046386" y="4751668"/>
                  <a:ext cx="1637296" cy="195814"/>
                  <a:chOff x="2046386" y="4751668"/>
                  <a:chExt cx="1637296" cy="195814"/>
                </a:xfrm>
              </p:grpSpPr>
              <p:sp>
                <p:nvSpPr>
                  <p:cNvPr id="13" name="CasellaDiTesto 12">
                    <a:extLst>
                      <a:ext uri="{FF2B5EF4-FFF2-40B4-BE49-F238E27FC236}">
                        <a16:creationId xmlns:a16="http://schemas.microsoft.com/office/drawing/2014/main" id="{DD15ECDB-3BEF-6626-54F9-689BCD3A1B8A}"/>
                      </a:ext>
                    </a:extLst>
                  </p:cNvPr>
                  <p:cNvSpPr txBox="1">
                    <a:spLocks/>
                  </p:cNvSpPr>
                  <p:nvPr/>
                </p:nvSpPr>
                <p:spPr>
                  <a:xfrm>
                    <a:off x="2258356" y="4751668"/>
                    <a:ext cx="1425326" cy="195814"/>
                  </a:xfrm>
                  <a:prstGeom prst="rect">
                    <a:avLst/>
                  </a:prstGeom>
                  <a:noFill/>
                </p:spPr>
                <p:txBody>
                  <a:bodyPr wrap="square" lIns="36000" tIns="36000" rIns="36000" bIns="36000" anchor="ctr" anchorCtr="0">
                    <a:spAutoFit/>
                  </a:bodyPr>
                  <a:lstStyle/>
                  <a:p>
                    <a:r>
                      <a:rPr lang="it-IT" sz="800" spc="-50" dirty="0"/>
                      <a:t>Governance e controlli</a:t>
                    </a:r>
                    <a:endParaRPr lang="it-IT" sz="800" spc="-50" noProof="0" dirty="0"/>
                  </a:p>
                </p:txBody>
              </p:sp>
              <p:pic>
                <p:nvPicPr>
                  <p:cNvPr id="23" name="Elemento grafico 22">
                    <a:extLst>
                      <a:ext uri="{FF2B5EF4-FFF2-40B4-BE49-F238E27FC236}">
                        <a16:creationId xmlns:a16="http://schemas.microsoft.com/office/drawing/2014/main" id="{6F258BB7-4986-4BCE-65AD-FDD5C95C3C1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4759575"/>
                    <a:ext cx="180000" cy="180000"/>
                  </a:xfrm>
                  <a:prstGeom prst="rect">
                    <a:avLst/>
                  </a:prstGeom>
                </p:spPr>
              </p:pic>
            </p:grpSp>
            <p:grpSp>
              <p:nvGrpSpPr>
                <p:cNvPr id="43" name="Gruppo 42">
                  <a:extLst>
                    <a:ext uri="{FF2B5EF4-FFF2-40B4-BE49-F238E27FC236}">
                      <a16:creationId xmlns:a16="http://schemas.microsoft.com/office/drawing/2014/main" id="{3E4F3706-3FA6-C451-CD8D-5E5D9B4634D1}"/>
                    </a:ext>
                  </a:extLst>
                </p:cNvPr>
                <p:cNvGrpSpPr/>
                <p:nvPr/>
              </p:nvGrpSpPr>
              <p:grpSpPr>
                <a:xfrm>
                  <a:off x="2046386" y="4994489"/>
                  <a:ext cx="1637296" cy="195814"/>
                  <a:chOff x="2046386" y="4994489"/>
                  <a:chExt cx="1637296" cy="195814"/>
                </a:xfrm>
              </p:grpSpPr>
              <p:sp>
                <p:nvSpPr>
                  <p:cNvPr id="25" name="CasellaDiTesto 24">
                    <a:extLst>
                      <a:ext uri="{FF2B5EF4-FFF2-40B4-BE49-F238E27FC236}">
                        <a16:creationId xmlns:a16="http://schemas.microsoft.com/office/drawing/2014/main" id="{B50047D1-BCD1-25A5-F736-84B59EC1485A}"/>
                      </a:ext>
                    </a:extLst>
                  </p:cNvPr>
                  <p:cNvSpPr txBox="1">
                    <a:spLocks/>
                  </p:cNvSpPr>
                  <p:nvPr/>
                </p:nvSpPr>
                <p:spPr>
                  <a:xfrm>
                    <a:off x="2258356" y="4994489"/>
                    <a:ext cx="1425326" cy="195814"/>
                  </a:xfrm>
                  <a:prstGeom prst="rect">
                    <a:avLst/>
                  </a:prstGeom>
                  <a:noFill/>
                </p:spPr>
                <p:txBody>
                  <a:bodyPr wrap="square" lIns="36000" tIns="36000" rIns="36000" bIns="36000" anchor="ctr" anchorCtr="0">
                    <a:spAutoFit/>
                  </a:bodyPr>
                  <a:lstStyle/>
                  <a:p>
                    <a:r>
                      <a:rPr lang="it-IT" sz="800" spc="-50" dirty="0"/>
                      <a:t>Pattern riutilizzabili</a:t>
                    </a:r>
                    <a:endParaRPr lang="it-IT" sz="800" spc="-50" noProof="0" dirty="0"/>
                  </a:p>
                </p:txBody>
              </p:sp>
              <p:pic>
                <p:nvPicPr>
                  <p:cNvPr id="26" name="Elemento grafico 25">
                    <a:extLst>
                      <a:ext uri="{FF2B5EF4-FFF2-40B4-BE49-F238E27FC236}">
                        <a16:creationId xmlns:a16="http://schemas.microsoft.com/office/drawing/2014/main" id="{FCA1F564-3BCB-FE51-C7F4-EFA492E2F97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5002396"/>
                    <a:ext cx="180000" cy="180000"/>
                  </a:xfrm>
                  <a:prstGeom prst="rect">
                    <a:avLst/>
                  </a:prstGeom>
                </p:spPr>
              </p:pic>
            </p:grpSp>
            <p:grpSp>
              <p:nvGrpSpPr>
                <p:cNvPr id="44" name="Gruppo 43">
                  <a:extLst>
                    <a:ext uri="{FF2B5EF4-FFF2-40B4-BE49-F238E27FC236}">
                      <a16:creationId xmlns:a16="http://schemas.microsoft.com/office/drawing/2014/main" id="{83E4B1F9-9D11-E335-588C-1FA3007D70B3}"/>
                    </a:ext>
                  </a:extLst>
                </p:cNvPr>
                <p:cNvGrpSpPr/>
                <p:nvPr/>
              </p:nvGrpSpPr>
              <p:grpSpPr>
                <a:xfrm>
                  <a:off x="2046386" y="5237310"/>
                  <a:ext cx="1637296" cy="195814"/>
                  <a:chOff x="2046386" y="5237310"/>
                  <a:chExt cx="1637296" cy="195814"/>
                </a:xfrm>
              </p:grpSpPr>
              <p:sp>
                <p:nvSpPr>
                  <p:cNvPr id="28" name="CasellaDiTesto 27">
                    <a:extLst>
                      <a:ext uri="{FF2B5EF4-FFF2-40B4-BE49-F238E27FC236}">
                        <a16:creationId xmlns:a16="http://schemas.microsoft.com/office/drawing/2014/main" id="{1BE302EA-AFC7-1A5C-C385-AFAFA10DBC4F}"/>
                      </a:ext>
                    </a:extLst>
                  </p:cNvPr>
                  <p:cNvSpPr txBox="1">
                    <a:spLocks/>
                  </p:cNvSpPr>
                  <p:nvPr/>
                </p:nvSpPr>
                <p:spPr>
                  <a:xfrm>
                    <a:off x="2258356" y="5237310"/>
                    <a:ext cx="1425326" cy="195814"/>
                  </a:xfrm>
                  <a:prstGeom prst="rect">
                    <a:avLst/>
                  </a:prstGeom>
                  <a:noFill/>
                </p:spPr>
                <p:txBody>
                  <a:bodyPr wrap="square" lIns="36000" tIns="36000" rIns="36000" bIns="36000" anchor="ctr" anchorCtr="0">
                    <a:spAutoFit/>
                  </a:bodyPr>
                  <a:lstStyle/>
                  <a:p>
                    <a:r>
                      <a:rPr lang="it-IT" sz="800" spc="-50" dirty="0"/>
                      <a:t>Architettura di riferimento</a:t>
                    </a:r>
                    <a:endParaRPr lang="it-IT" sz="800" spc="-50" noProof="0" dirty="0"/>
                  </a:p>
                </p:txBody>
              </p:sp>
              <p:pic>
                <p:nvPicPr>
                  <p:cNvPr id="30" name="Elemento grafico 29">
                    <a:extLst>
                      <a:ext uri="{FF2B5EF4-FFF2-40B4-BE49-F238E27FC236}">
                        <a16:creationId xmlns:a16="http://schemas.microsoft.com/office/drawing/2014/main" id="{97545507-27FE-2982-D4B3-F9C0D779121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5245217"/>
                    <a:ext cx="180000" cy="180000"/>
                  </a:xfrm>
                  <a:prstGeom prst="rect">
                    <a:avLst/>
                  </a:prstGeom>
                </p:spPr>
              </p:pic>
            </p:grpSp>
          </p:grpSp>
          <p:cxnSp>
            <p:nvCxnSpPr>
              <p:cNvPr id="9" name="Connettore diritto 8">
                <a:extLst>
                  <a:ext uri="{FF2B5EF4-FFF2-40B4-BE49-F238E27FC236}">
                    <a16:creationId xmlns:a16="http://schemas.microsoft.com/office/drawing/2014/main" id="{C137B2A6-52A8-866A-4A10-34B1C313F470}"/>
                  </a:ext>
                </a:extLst>
              </p:cNvPr>
              <p:cNvCxnSpPr>
                <a:cxnSpLocks/>
              </p:cNvCxnSpPr>
              <p:nvPr/>
            </p:nvCxnSpPr>
            <p:spPr>
              <a:xfrm>
                <a:off x="2051566" y="4378047"/>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pic>
            <p:nvPicPr>
              <p:cNvPr id="50" name="Elemento grafico 49">
                <a:extLst>
                  <a:ext uri="{FF2B5EF4-FFF2-40B4-BE49-F238E27FC236}">
                    <a16:creationId xmlns:a16="http://schemas.microsoft.com/office/drawing/2014/main" id="{D469120D-0D04-74DA-CC09-EE3364AE85D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645566" y="2350282"/>
                <a:ext cx="432000" cy="432000"/>
              </a:xfrm>
              <a:prstGeom prst="rect">
                <a:avLst/>
              </a:prstGeom>
            </p:spPr>
          </p:pic>
        </p:grpSp>
      </p:grpSp>
      <p:grpSp>
        <p:nvGrpSpPr>
          <p:cNvPr id="203" name="Gruppo 202">
            <a:extLst>
              <a:ext uri="{FF2B5EF4-FFF2-40B4-BE49-F238E27FC236}">
                <a16:creationId xmlns:a16="http://schemas.microsoft.com/office/drawing/2014/main" id="{D3755166-49B5-9BF9-C18B-11ADCA6F14D0}"/>
              </a:ext>
            </a:extLst>
          </p:cNvPr>
          <p:cNvGrpSpPr/>
          <p:nvPr/>
        </p:nvGrpSpPr>
        <p:grpSpPr>
          <a:xfrm>
            <a:off x="4243898" y="1797514"/>
            <a:ext cx="1980000" cy="3785717"/>
            <a:chOff x="4243898" y="1797514"/>
            <a:chExt cx="1980000" cy="3785717"/>
          </a:xfrm>
        </p:grpSpPr>
        <p:sp>
          <p:nvSpPr>
            <p:cNvPr id="51" name="Rettangolo con angoli arrotondati 50">
              <a:extLst>
                <a:ext uri="{FF2B5EF4-FFF2-40B4-BE49-F238E27FC236}">
                  <a16:creationId xmlns:a16="http://schemas.microsoft.com/office/drawing/2014/main" id="{73A85440-5140-2A21-CAFA-AE855A73492D}"/>
                </a:ext>
              </a:extLst>
            </p:cNvPr>
            <p:cNvSpPr/>
            <p:nvPr/>
          </p:nvSpPr>
          <p:spPr>
            <a:xfrm>
              <a:off x="4243898" y="1977515"/>
              <a:ext cx="1980000" cy="3440542"/>
            </a:xfrm>
            <a:prstGeom prst="roundRect">
              <a:avLst>
                <a:gd name="adj" fmla="val 4343"/>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ttangolo con angoli arrotondati 51">
              <a:extLst>
                <a:ext uri="{FF2B5EF4-FFF2-40B4-BE49-F238E27FC236}">
                  <a16:creationId xmlns:a16="http://schemas.microsoft.com/office/drawing/2014/main" id="{8407A5C0-2C0C-B33E-AE7C-1A85C39BEC5D}"/>
                </a:ext>
              </a:extLst>
            </p:cNvPr>
            <p:cNvSpPr/>
            <p:nvPr/>
          </p:nvSpPr>
          <p:spPr>
            <a:xfrm>
              <a:off x="4243898" y="2024522"/>
              <a:ext cx="1980000" cy="3558709"/>
            </a:xfrm>
            <a:prstGeom prst="roundRect">
              <a:avLst>
                <a:gd name="adj" fmla="val 6445"/>
              </a:avLst>
            </a:prstGeom>
            <a:solidFill>
              <a:schemeClr val="bg1"/>
            </a:solidFill>
            <a:ln w="3175">
              <a:solidFill>
                <a:srgbClr val="198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e 52">
              <a:extLst>
                <a:ext uri="{FF2B5EF4-FFF2-40B4-BE49-F238E27FC236}">
                  <a16:creationId xmlns:a16="http://schemas.microsoft.com/office/drawing/2014/main" id="{228C3BBC-D9F4-230E-8350-B9B39506EFD1}"/>
                </a:ext>
              </a:extLst>
            </p:cNvPr>
            <p:cNvSpPr/>
            <p:nvPr/>
          </p:nvSpPr>
          <p:spPr>
            <a:xfrm>
              <a:off x="5053898" y="1797514"/>
              <a:ext cx="360000" cy="360000"/>
            </a:xfrm>
            <a:prstGeom prst="ellipse">
              <a:avLst/>
            </a:prstGeom>
            <a:solidFill>
              <a:srgbClr val="198C95"/>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2</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grpSp>
          <p:nvGrpSpPr>
            <p:cNvPr id="202" name="Gruppo 201">
              <a:extLst>
                <a:ext uri="{FF2B5EF4-FFF2-40B4-BE49-F238E27FC236}">
                  <a16:creationId xmlns:a16="http://schemas.microsoft.com/office/drawing/2014/main" id="{4D36224E-24B0-4A3C-9DD5-476517A24B20}"/>
                </a:ext>
              </a:extLst>
            </p:cNvPr>
            <p:cNvGrpSpPr/>
            <p:nvPr/>
          </p:nvGrpSpPr>
          <p:grpSpPr>
            <a:xfrm>
              <a:off x="4325862" y="2350282"/>
              <a:ext cx="1816072" cy="3144397"/>
              <a:chOff x="4243060" y="2350282"/>
              <a:chExt cx="1816072" cy="3144397"/>
            </a:xfrm>
          </p:grpSpPr>
          <p:sp>
            <p:nvSpPr>
              <p:cNvPr id="56" name="Elaborazione alternativa 55">
                <a:extLst>
                  <a:ext uri="{FF2B5EF4-FFF2-40B4-BE49-F238E27FC236}">
                    <a16:creationId xmlns:a16="http://schemas.microsoft.com/office/drawing/2014/main" id="{2ED9DB88-A248-EA74-2CB9-8BEC4A6CF948}"/>
                  </a:ext>
                </a:extLst>
              </p:cNvPr>
              <p:cNvSpPr/>
              <p:nvPr/>
            </p:nvSpPr>
            <p:spPr>
              <a:xfrm>
                <a:off x="4325596" y="2913082"/>
                <a:ext cx="1651000" cy="515109"/>
              </a:xfrm>
              <a:prstGeom prst="flowChartAlternateProcess">
                <a:avLst/>
              </a:prstGeom>
              <a:solidFill>
                <a:srgbClr val="EC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rgbClr val="198C95"/>
                    </a:solidFill>
                    <a:latin typeface="Poppins SemiBold" panose="00000700000000000000" pitchFamily="2" charset="0"/>
                    <a:cs typeface="Poppins SemiBold" panose="00000700000000000000" pitchFamily="2" charset="0"/>
                  </a:rPr>
                  <a:t>SEGLIERE LA TECNOLOGIA</a:t>
                </a:r>
                <a:endParaRPr lang="en-US" sz="1050" dirty="0">
                  <a:solidFill>
                    <a:srgbClr val="198C95"/>
                  </a:solidFill>
                  <a:latin typeface="Poppins SemiBold" panose="00000700000000000000" pitchFamily="2" charset="0"/>
                  <a:cs typeface="Poppins SemiBold" panose="00000700000000000000" pitchFamily="2" charset="0"/>
                </a:endParaRPr>
              </a:p>
            </p:txBody>
          </p:sp>
          <p:sp>
            <p:nvSpPr>
              <p:cNvPr id="57" name="CasellaDiTesto 56">
                <a:extLst>
                  <a:ext uri="{FF2B5EF4-FFF2-40B4-BE49-F238E27FC236}">
                    <a16:creationId xmlns:a16="http://schemas.microsoft.com/office/drawing/2014/main" id="{1277B446-66BB-6A82-0944-2A83CF4F5651}"/>
                  </a:ext>
                </a:extLst>
              </p:cNvPr>
              <p:cNvSpPr txBox="1">
                <a:spLocks/>
              </p:cNvSpPr>
              <p:nvPr/>
            </p:nvSpPr>
            <p:spPr>
              <a:xfrm>
                <a:off x="4243060" y="3580579"/>
                <a:ext cx="1816072" cy="688256"/>
              </a:xfrm>
              <a:prstGeom prst="rect">
                <a:avLst/>
              </a:prstGeom>
              <a:noFill/>
            </p:spPr>
            <p:txBody>
              <a:bodyPr wrap="square" lIns="36000" tIns="36000" rIns="36000" bIns="36000" anchor="ctr" anchorCtr="0">
                <a:spAutoFit/>
              </a:bodyPr>
              <a:lstStyle/>
              <a:p>
                <a:pPr algn="ctr"/>
                <a:r>
                  <a:rPr lang="it-IT" sz="1000" dirty="0"/>
                  <a:t>Definire la piattaforma da adottare tra le due opzioni valutate, garantendo sostenibilità e coerenza.</a:t>
                </a:r>
                <a:endParaRPr lang="it-IT" sz="1000" noProof="0" dirty="0"/>
              </a:p>
            </p:txBody>
          </p:sp>
          <p:cxnSp>
            <p:nvCxnSpPr>
              <p:cNvPr id="58" name="Connettore diritto 57">
                <a:extLst>
                  <a:ext uri="{FF2B5EF4-FFF2-40B4-BE49-F238E27FC236}">
                    <a16:creationId xmlns:a16="http://schemas.microsoft.com/office/drawing/2014/main" id="{CED37C24-FDFF-335F-FBBA-DD7B07E2D2BB}"/>
                  </a:ext>
                </a:extLst>
              </p:cNvPr>
              <p:cNvCxnSpPr>
                <a:cxnSpLocks/>
              </p:cNvCxnSpPr>
              <p:nvPr/>
            </p:nvCxnSpPr>
            <p:spPr>
              <a:xfrm>
                <a:off x="4341096" y="4378047"/>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nvGrpSpPr>
              <p:cNvPr id="147" name="Gruppo 146">
                <a:extLst>
                  <a:ext uri="{FF2B5EF4-FFF2-40B4-BE49-F238E27FC236}">
                    <a16:creationId xmlns:a16="http://schemas.microsoft.com/office/drawing/2014/main" id="{A927A72B-38E0-1BF8-B605-3724BAE4A74F}"/>
                  </a:ext>
                </a:extLst>
              </p:cNvPr>
              <p:cNvGrpSpPr/>
              <p:nvPr/>
            </p:nvGrpSpPr>
            <p:grpSpPr>
              <a:xfrm>
                <a:off x="4332448" y="4447292"/>
                <a:ext cx="1637296" cy="1047387"/>
                <a:chOff x="3937486" y="4447292"/>
                <a:chExt cx="1637296" cy="1047387"/>
              </a:xfrm>
            </p:grpSpPr>
            <p:grpSp>
              <p:nvGrpSpPr>
                <p:cNvPr id="70" name="Gruppo 69">
                  <a:extLst>
                    <a:ext uri="{FF2B5EF4-FFF2-40B4-BE49-F238E27FC236}">
                      <a16:creationId xmlns:a16="http://schemas.microsoft.com/office/drawing/2014/main" id="{401051B3-0458-F2D2-32FD-0E795CFAAECC}"/>
                    </a:ext>
                  </a:extLst>
                </p:cNvPr>
                <p:cNvGrpSpPr/>
                <p:nvPr/>
              </p:nvGrpSpPr>
              <p:grpSpPr>
                <a:xfrm>
                  <a:off x="3937486" y="4447292"/>
                  <a:ext cx="1637296" cy="318924"/>
                  <a:chOff x="2046386" y="4447292"/>
                  <a:chExt cx="1637296" cy="318924"/>
                </a:xfrm>
              </p:grpSpPr>
              <p:sp>
                <p:nvSpPr>
                  <p:cNvPr id="138" name="CasellaDiTesto 137">
                    <a:extLst>
                      <a:ext uri="{FF2B5EF4-FFF2-40B4-BE49-F238E27FC236}">
                        <a16:creationId xmlns:a16="http://schemas.microsoft.com/office/drawing/2014/main" id="{1BCB25F6-8327-90F2-42CB-C38F06C44109}"/>
                      </a:ext>
                    </a:extLst>
                  </p:cNvPr>
                  <p:cNvSpPr txBox="1">
                    <a:spLocks/>
                  </p:cNvSpPr>
                  <p:nvPr/>
                </p:nvSpPr>
                <p:spPr>
                  <a:xfrm>
                    <a:off x="2258356" y="4447292"/>
                    <a:ext cx="1425326" cy="318924"/>
                  </a:xfrm>
                  <a:prstGeom prst="rect">
                    <a:avLst/>
                  </a:prstGeom>
                  <a:noFill/>
                </p:spPr>
                <p:txBody>
                  <a:bodyPr wrap="square" lIns="36000" tIns="36000" rIns="36000" bIns="36000" anchor="ctr" anchorCtr="0">
                    <a:spAutoFit/>
                  </a:bodyPr>
                  <a:lstStyle/>
                  <a:p>
                    <a:r>
                      <a:rPr lang="it-IT" sz="800" spc="-50" dirty="0"/>
                      <a:t>Valutazione completa AWS/Qlik</a:t>
                    </a:r>
                    <a:endParaRPr lang="it-IT" sz="800" spc="-50" noProof="0" dirty="0"/>
                  </a:p>
                </p:txBody>
              </p:sp>
              <p:pic>
                <p:nvPicPr>
                  <p:cNvPr id="139" name="Elemento grafico 138">
                    <a:extLst>
                      <a:ext uri="{FF2B5EF4-FFF2-40B4-BE49-F238E27FC236}">
                        <a16:creationId xmlns:a16="http://schemas.microsoft.com/office/drawing/2014/main" id="{726B5C84-2B01-B8A2-F640-3F527CA2EB8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046386" y="4516754"/>
                    <a:ext cx="180000" cy="180000"/>
                  </a:xfrm>
                  <a:prstGeom prst="rect">
                    <a:avLst/>
                  </a:prstGeom>
                </p:spPr>
              </p:pic>
            </p:grpSp>
            <p:grpSp>
              <p:nvGrpSpPr>
                <p:cNvPr id="71" name="Gruppo 70">
                  <a:extLst>
                    <a:ext uri="{FF2B5EF4-FFF2-40B4-BE49-F238E27FC236}">
                      <a16:creationId xmlns:a16="http://schemas.microsoft.com/office/drawing/2014/main" id="{EF49986B-B422-EC07-29F9-05B3301364DD}"/>
                    </a:ext>
                  </a:extLst>
                </p:cNvPr>
                <p:cNvGrpSpPr/>
                <p:nvPr/>
              </p:nvGrpSpPr>
              <p:grpSpPr>
                <a:xfrm>
                  <a:off x="3937486" y="4811524"/>
                  <a:ext cx="1637296" cy="318924"/>
                  <a:chOff x="2046386" y="4690113"/>
                  <a:chExt cx="1637296" cy="318924"/>
                </a:xfrm>
              </p:grpSpPr>
              <p:sp>
                <p:nvSpPr>
                  <p:cNvPr id="97" name="CasellaDiTesto 96">
                    <a:extLst>
                      <a:ext uri="{FF2B5EF4-FFF2-40B4-BE49-F238E27FC236}">
                        <a16:creationId xmlns:a16="http://schemas.microsoft.com/office/drawing/2014/main" id="{A2FADE0B-02C6-1996-E8C4-6E488DA30B52}"/>
                      </a:ext>
                    </a:extLst>
                  </p:cNvPr>
                  <p:cNvSpPr txBox="1">
                    <a:spLocks/>
                  </p:cNvSpPr>
                  <p:nvPr/>
                </p:nvSpPr>
                <p:spPr>
                  <a:xfrm>
                    <a:off x="2258356" y="4690113"/>
                    <a:ext cx="1425326" cy="318924"/>
                  </a:xfrm>
                  <a:prstGeom prst="rect">
                    <a:avLst/>
                  </a:prstGeom>
                  <a:noFill/>
                </p:spPr>
                <p:txBody>
                  <a:bodyPr wrap="square" lIns="36000" tIns="36000" rIns="36000" bIns="36000" anchor="ctr" anchorCtr="0">
                    <a:spAutoFit/>
                  </a:bodyPr>
                  <a:lstStyle/>
                  <a:p>
                    <a:r>
                      <a:rPr lang="it-IT" sz="800" spc="-50" dirty="0"/>
                      <a:t>Criteri: costi, </a:t>
                    </a:r>
                    <a:r>
                      <a:rPr lang="en-US" sz="800" spc="-50" noProof="0" dirty="0"/>
                      <a:t>time-to-value</a:t>
                    </a:r>
                    <a:r>
                      <a:rPr lang="it-IT" sz="800" spc="-50" dirty="0"/>
                      <a:t>, competenze, scalabilità</a:t>
                    </a:r>
                    <a:endParaRPr lang="it-IT" sz="800" spc="-50" noProof="0" dirty="0"/>
                  </a:p>
                </p:txBody>
              </p:sp>
              <p:pic>
                <p:nvPicPr>
                  <p:cNvPr id="137" name="Elemento grafico 136">
                    <a:extLst>
                      <a:ext uri="{FF2B5EF4-FFF2-40B4-BE49-F238E27FC236}">
                        <a16:creationId xmlns:a16="http://schemas.microsoft.com/office/drawing/2014/main" id="{E6055AC1-FEAA-A479-1010-1BA4CF4882A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046386" y="4759575"/>
                    <a:ext cx="180000" cy="180000"/>
                  </a:xfrm>
                  <a:prstGeom prst="rect">
                    <a:avLst/>
                  </a:prstGeom>
                </p:spPr>
              </p:pic>
            </p:grpSp>
            <p:grpSp>
              <p:nvGrpSpPr>
                <p:cNvPr id="75" name="Gruppo 74">
                  <a:extLst>
                    <a:ext uri="{FF2B5EF4-FFF2-40B4-BE49-F238E27FC236}">
                      <a16:creationId xmlns:a16="http://schemas.microsoft.com/office/drawing/2014/main" id="{B86E9635-923E-15DB-65F6-1EAC1A73FA96}"/>
                    </a:ext>
                  </a:extLst>
                </p:cNvPr>
                <p:cNvGrpSpPr/>
                <p:nvPr/>
              </p:nvGrpSpPr>
              <p:grpSpPr>
                <a:xfrm>
                  <a:off x="3937486" y="5175755"/>
                  <a:ext cx="1637296" cy="318924"/>
                  <a:chOff x="2046386" y="5175755"/>
                  <a:chExt cx="1637296" cy="318924"/>
                </a:xfrm>
              </p:grpSpPr>
              <p:sp>
                <p:nvSpPr>
                  <p:cNvPr id="78" name="CasellaDiTesto 77">
                    <a:extLst>
                      <a:ext uri="{FF2B5EF4-FFF2-40B4-BE49-F238E27FC236}">
                        <a16:creationId xmlns:a16="http://schemas.microsoft.com/office/drawing/2014/main" id="{4CDA10A3-7DF6-1132-62A5-001EE81BD9EF}"/>
                      </a:ext>
                    </a:extLst>
                  </p:cNvPr>
                  <p:cNvSpPr txBox="1">
                    <a:spLocks/>
                  </p:cNvSpPr>
                  <p:nvPr/>
                </p:nvSpPr>
                <p:spPr>
                  <a:xfrm>
                    <a:off x="2258356" y="5175755"/>
                    <a:ext cx="1425326" cy="318924"/>
                  </a:xfrm>
                  <a:prstGeom prst="rect">
                    <a:avLst/>
                  </a:prstGeom>
                  <a:noFill/>
                </p:spPr>
                <p:txBody>
                  <a:bodyPr wrap="square" lIns="36000" tIns="36000" rIns="36000" bIns="36000" anchor="ctr" anchorCtr="0">
                    <a:spAutoFit/>
                  </a:bodyPr>
                  <a:lstStyle/>
                  <a:p>
                    <a:r>
                      <a:rPr lang="it-IT" sz="800" spc="-50" dirty="0"/>
                      <a:t>Decisione e pianificazione operativa</a:t>
                    </a:r>
                    <a:endParaRPr lang="it-IT" sz="800" spc="-50" noProof="0" dirty="0"/>
                  </a:p>
                </p:txBody>
              </p:sp>
              <p:pic>
                <p:nvPicPr>
                  <p:cNvPr id="80" name="Elemento grafico 79">
                    <a:extLst>
                      <a:ext uri="{FF2B5EF4-FFF2-40B4-BE49-F238E27FC236}">
                        <a16:creationId xmlns:a16="http://schemas.microsoft.com/office/drawing/2014/main" id="{875D16AB-981D-16BD-87DC-DBA6F87C01E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046386" y="5245217"/>
                    <a:ext cx="180000" cy="180000"/>
                  </a:xfrm>
                  <a:prstGeom prst="rect">
                    <a:avLst/>
                  </a:prstGeom>
                </p:spPr>
              </p:pic>
            </p:grpSp>
          </p:grpSp>
          <p:grpSp>
            <p:nvGrpSpPr>
              <p:cNvPr id="201" name="Gruppo 200">
                <a:extLst>
                  <a:ext uri="{FF2B5EF4-FFF2-40B4-BE49-F238E27FC236}">
                    <a16:creationId xmlns:a16="http://schemas.microsoft.com/office/drawing/2014/main" id="{A19AA949-E080-84B4-359D-FE55BF505B16}"/>
                  </a:ext>
                </a:extLst>
              </p:cNvPr>
              <p:cNvGrpSpPr/>
              <p:nvPr/>
            </p:nvGrpSpPr>
            <p:grpSpPr>
              <a:xfrm>
                <a:off x="4335478" y="2350282"/>
                <a:ext cx="1631237" cy="367170"/>
                <a:chOff x="4345359" y="2350282"/>
                <a:chExt cx="1631237" cy="367170"/>
              </a:xfrm>
            </p:grpSpPr>
            <p:pic>
              <p:nvPicPr>
                <p:cNvPr id="140" name="Immagine 139">
                  <a:extLst>
                    <a:ext uri="{FF2B5EF4-FFF2-40B4-BE49-F238E27FC236}">
                      <a16:creationId xmlns:a16="http://schemas.microsoft.com/office/drawing/2014/main" id="{6B7C6DFB-D29D-089C-A7E4-CE86FE13A3C6}"/>
                    </a:ext>
                  </a:extLst>
                </p:cNvPr>
                <p:cNvPicPr>
                  <a:picLocks noChangeAspect="1"/>
                </p:cNvPicPr>
                <p:nvPr/>
              </p:nvPicPr>
              <p:blipFill>
                <a:blip r:embed="rId11"/>
                <a:srcRect t="22519" b="16473"/>
                <a:stretch>
                  <a:fillRect/>
                </a:stretch>
              </p:blipFill>
              <p:spPr>
                <a:xfrm>
                  <a:off x="4345359" y="2398569"/>
                  <a:ext cx="522693" cy="318883"/>
                </a:xfrm>
                <a:prstGeom prst="rect">
                  <a:avLst/>
                </a:prstGeom>
              </p:spPr>
            </p:pic>
            <p:pic>
              <p:nvPicPr>
                <p:cNvPr id="141" name="Immagine 140">
                  <a:extLst>
                    <a:ext uri="{FF2B5EF4-FFF2-40B4-BE49-F238E27FC236}">
                      <a16:creationId xmlns:a16="http://schemas.microsoft.com/office/drawing/2014/main" id="{7E835DAB-3156-28A8-1F17-C7B7B667AD95}"/>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5359174" y="2398569"/>
                  <a:ext cx="617422" cy="252388"/>
                </a:xfrm>
                <a:prstGeom prst="rect">
                  <a:avLst/>
                </a:prstGeom>
              </p:spPr>
            </p:pic>
            <p:cxnSp>
              <p:nvCxnSpPr>
                <p:cNvPr id="143" name="Connettore diritto 142">
                  <a:extLst>
                    <a:ext uri="{FF2B5EF4-FFF2-40B4-BE49-F238E27FC236}">
                      <a16:creationId xmlns:a16="http://schemas.microsoft.com/office/drawing/2014/main" id="{8DAB9B01-AC03-F179-6BF9-4CE4C17C864E}"/>
                    </a:ext>
                  </a:extLst>
                </p:cNvPr>
                <p:cNvCxnSpPr>
                  <a:cxnSpLocks/>
                </p:cNvCxnSpPr>
                <p:nvPr/>
              </p:nvCxnSpPr>
              <p:spPr>
                <a:xfrm>
                  <a:off x="5151096" y="2350282"/>
                  <a:ext cx="0" cy="367170"/>
                </a:xfrm>
                <a:prstGeom prst="line">
                  <a:avLst/>
                </a:prstGeom>
                <a:ln>
                  <a:solidFill>
                    <a:srgbClr val="198C95"/>
                  </a:solidFill>
                </a:ln>
              </p:spPr>
              <p:style>
                <a:lnRef idx="1">
                  <a:schemeClr val="accent1"/>
                </a:lnRef>
                <a:fillRef idx="0">
                  <a:schemeClr val="accent1"/>
                </a:fillRef>
                <a:effectRef idx="0">
                  <a:schemeClr val="accent1"/>
                </a:effectRef>
                <a:fontRef idx="minor">
                  <a:schemeClr val="tx1"/>
                </a:fontRef>
              </p:style>
            </p:cxnSp>
          </p:grpSp>
        </p:grpSp>
      </p:grpSp>
      <p:grpSp>
        <p:nvGrpSpPr>
          <p:cNvPr id="213" name="Gruppo 212">
            <a:extLst>
              <a:ext uri="{FF2B5EF4-FFF2-40B4-BE49-F238E27FC236}">
                <a16:creationId xmlns:a16="http://schemas.microsoft.com/office/drawing/2014/main" id="{A8126010-6C4C-1AC6-2A37-FB64C746D047}"/>
              </a:ext>
            </a:extLst>
          </p:cNvPr>
          <p:cNvGrpSpPr/>
          <p:nvPr/>
        </p:nvGrpSpPr>
        <p:grpSpPr>
          <a:xfrm>
            <a:off x="6580350" y="1797514"/>
            <a:ext cx="1980000" cy="3785716"/>
            <a:chOff x="6580350" y="1797514"/>
            <a:chExt cx="1980000" cy="3785716"/>
          </a:xfrm>
        </p:grpSpPr>
        <p:sp>
          <p:nvSpPr>
            <p:cNvPr id="84" name="Rettangolo con angoli arrotondati 83">
              <a:extLst>
                <a:ext uri="{FF2B5EF4-FFF2-40B4-BE49-F238E27FC236}">
                  <a16:creationId xmlns:a16="http://schemas.microsoft.com/office/drawing/2014/main" id="{0D4E1CE5-E12F-037E-53BB-E7796C7BABDB}"/>
                </a:ext>
              </a:extLst>
            </p:cNvPr>
            <p:cNvSpPr/>
            <p:nvPr/>
          </p:nvSpPr>
          <p:spPr>
            <a:xfrm>
              <a:off x="6580350" y="1977514"/>
              <a:ext cx="1980000" cy="3440542"/>
            </a:xfrm>
            <a:prstGeom prst="roundRect">
              <a:avLst>
                <a:gd name="adj" fmla="val 4343"/>
              </a:avLst>
            </a:prstGeom>
            <a:solidFill>
              <a:srgbClr val="0B9A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ttangolo con angoli arrotondati 84">
              <a:extLst>
                <a:ext uri="{FF2B5EF4-FFF2-40B4-BE49-F238E27FC236}">
                  <a16:creationId xmlns:a16="http://schemas.microsoft.com/office/drawing/2014/main" id="{4C8760FD-652E-7FEC-5DEF-0C0B35AB80DE}"/>
                </a:ext>
              </a:extLst>
            </p:cNvPr>
            <p:cNvSpPr/>
            <p:nvPr/>
          </p:nvSpPr>
          <p:spPr>
            <a:xfrm>
              <a:off x="6580350" y="2024521"/>
              <a:ext cx="1980000" cy="3558709"/>
            </a:xfrm>
            <a:prstGeom prst="roundRect">
              <a:avLst>
                <a:gd name="adj" fmla="val 6445"/>
              </a:avLst>
            </a:prstGeom>
            <a:solidFill>
              <a:schemeClr val="bg1"/>
            </a:solidFill>
            <a:ln w="3175">
              <a:solidFill>
                <a:srgbClr val="0B9A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e 85">
              <a:extLst>
                <a:ext uri="{FF2B5EF4-FFF2-40B4-BE49-F238E27FC236}">
                  <a16:creationId xmlns:a16="http://schemas.microsoft.com/office/drawing/2014/main" id="{633DB2EB-F8E6-0B6D-8713-E0644A09C348}"/>
                </a:ext>
              </a:extLst>
            </p:cNvPr>
            <p:cNvSpPr/>
            <p:nvPr/>
          </p:nvSpPr>
          <p:spPr>
            <a:xfrm>
              <a:off x="7390350" y="1797514"/>
              <a:ext cx="360000" cy="360000"/>
            </a:xfrm>
            <a:prstGeom prst="ellipse">
              <a:avLst/>
            </a:prstGeom>
            <a:solidFill>
              <a:srgbClr val="0B9A4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3</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grpSp>
      <p:sp>
        <p:nvSpPr>
          <p:cNvPr id="89" name="Elaborazione alternativa 88">
            <a:extLst>
              <a:ext uri="{FF2B5EF4-FFF2-40B4-BE49-F238E27FC236}">
                <a16:creationId xmlns:a16="http://schemas.microsoft.com/office/drawing/2014/main" id="{D918EFB0-BBFE-8B49-61EF-B7CD5764A501}"/>
              </a:ext>
            </a:extLst>
          </p:cNvPr>
          <p:cNvSpPr/>
          <p:nvPr/>
        </p:nvSpPr>
        <p:spPr>
          <a:xfrm>
            <a:off x="6744850" y="2913082"/>
            <a:ext cx="1651000" cy="515109"/>
          </a:xfrm>
          <a:prstGeom prst="flowChartAlternateProcess">
            <a:avLst/>
          </a:prstGeom>
          <a:solidFill>
            <a:srgbClr val="EEF8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rgbClr val="098343"/>
                </a:solidFill>
                <a:latin typeface="Poppins SemiBold" panose="00000700000000000000" pitchFamily="2" charset="0"/>
                <a:cs typeface="Poppins SemiBold" panose="00000700000000000000" pitchFamily="2" charset="0"/>
              </a:rPr>
              <a:t>VALIDARE LA ROADMAP</a:t>
            </a:r>
            <a:endParaRPr lang="en-US" sz="1050" dirty="0">
              <a:solidFill>
                <a:srgbClr val="098343"/>
              </a:solidFill>
              <a:latin typeface="Poppins SemiBold" panose="00000700000000000000" pitchFamily="2" charset="0"/>
              <a:cs typeface="Poppins SemiBold" panose="00000700000000000000" pitchFamily="2" charset="0"/>
            </a:endParaRPr>
          </a:p>
        </p:txBody>
      </p:sp>
      <p:sp>
        <p:nvSpPr>
          <p:cNvPr id="150" name="CasellaDiTesto 149">
            <a:extLst>
              <a:ext uri="{FF2B5EF4-FFF2-40B4-BE49-F238E27FC236}">
                <a16:creationId xmlns:a16="http://schemas.microsoft.com/office/drawing/2014/main" id="{E70FB680-CEE4-F135-D9BE-9A8F58567ADF}"/>
              </a:ext>
            </a:extLst>
          </p:cNvPr>
          <p:cNvSpPr txBox="1">
            <a:spLocks/>
          </p:cNvSpPr>
          <p:nvPr/>
        </p:nvSpPr>
        <p:spPr>
          <a:xfrm>
            <a:off x="6662314" y="3580579"/>
            <a:ext cx="1816072" cy="534368"/>
          </a:xfrm>
          <a:prstGeom prst="rect">
            <a:avLst/>
          </a:prstGeom>
          <a:noFill/>
        </p:spPr>
        <p:txBody>
          <a:bodyPr wrap="square" lIns="36000" tIns="36000" rIns="36000" bIns="36000" anchor="ctr" anchorCtr="0">
            <a:spAutoFit/>
          </a:bodyPr>
          <a:lstStyle/>
          <a:p>
            <a:pPr algn="ctr"/>
            <a:r>
              <a:rPr lang="it-IT" sz="1000" dirty="0"/>
              <a:t>Approvare il piano di adozione progressiva e il piano di lavoro associato.</a:t>
            </a:r>
            <a:endParaRPr lang="it-IT" sz="1000" noProof="0" dirty="0"/>
          </a:p>
        </p:txBody>
      </p:sp>
      <p:cxnSp>
        <p:nvCxnSpPr>
          <p:cNvPr id="152" name="Connettore diritto 151">
            <a:extLst>
              <a:ext uri="{FF2B5EF4-FFF2-40B4-BE49-F238E27FC236}">
                <a16:creationId xmlns:a16="http://schemas.microsoft.com/office/drawing/2014/main" id="{3B1DAE2F-BFB6-833B-00C5-379BFDF0BE8C}"/>
              </a:ext>
            </a:extLst>
          </p:cNvPr>
          <p:cNvCxnSpPr>
            <a:cxnSpLocks/>
          </p:cNvCxnSpPr>
          <p:nvPr/>
        </p:nvCxnSpPr>
        <p:spPr>
          <a:xfrm>
            <a:off x="6760350" y="4385262"/>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nvGrpSpPr>
          <p:cNvPr id="181" name="Gruppo 180">
            <a:extLst>
              <a:ext uri="{FF2B5EF4-FFF2-40B4-BE49-F238E27FC236}">
                <a16:creationId xmlns:a16="http://schemas.microsoft.com/office/drawing/2014/main" id="{89C8A624-F190-5634-113E-3DE6A1551238}"/>
              </a:ext>
            </a:extLst>
          </p:cNvPr>
          <p:cNvGrpSpPr/>
          <p:nvPr/>
        </p:nvGrpSpPr>
        <p:grpSpPr>
          <a:xfrm>
            <a:off x="6751702" y="4491957"/>
            <a:ext cx="1637296" cy="1002722"/>
            <a:chOff x="5839140" y="4491957"/>
            <a:chExt cx="1637296" cy="1002722"/>
          </a:xfrm>
        </p:grpSpPr>
        <p:grpSp>
          <p:nvGrpSpPr>
            <p:cNvPr id="162" name="Gruppo 161">
              <a:extLst>
                <a:ext uri="{FF2B5EF4-FFF2-40B4-BE49-F238E27FC236}">
                  <a16:creationId xmlns:a16="http://schemas.microsoft.com/office/drawing/2014/main" id="{623B7B48-75D8-1BC1-1D91-57959B80FEF3}"/>
                </a:ext>
              </a:extLst>
            </p:cNvPr>
            <p:cNvGrpSpPr/>
            <p:nvPr/>
          </p:nvGrpSpPr>
          <p:grpSpPr>
            <a:xfrm>
              <a:off x="5839140" y="4491957"/>
              <a:ext cx="1637296" cy="195814"/>
              <a:chOff x="2046386" y="4508847"/>
              <a:chExt cx="1637296" cy="195814"/>
            </a:xfrm>
          </p:grpSpPr>
          <p:sp>
            <p:nvSpPr>
              <p:cNvPr id="178" name="CasellaDiTesto 177">
                <a:extLst>
                  <a:ext uri="{FF2B5EF4-FFF2-40B4-BE49-F238E27FC236}">
                    <a16:creationId xmlns:a16="http://schemas.microsoft.com/office/drawing/2014/main" id="{E1002129-2592-DAD0-EBD2-E4BBEBD27964}"/>
                  </a:ext>
                </a:extLst>
              </p:cNvPr>
              <p:cNvSpPr txBox="1">
                <a:spLocks/>
              </p:cNvSpPr>
              <p:nvPr/>
            </p:nvSpPr>
            <p:spPr>
              <a:xfrm>
                <a:off x="2258356" y="4508847"/>
                <a:ext cx="1425326" cy="195814"/>
              </a:xfrm>
              <a:prstGeom prst="rect">
                <a:avLst/>
              </a:prstGeom>
              <a:noFill/>
            </p:spPr>
            <p:txBody>
              <a:bodyPr wrap="square" lIns="36000" tIns="36000" rIns="36000" bIns="36000" anchor="ctr" anchorCtr="0">
                <a:spAutoFit/>
              </a:bodyPr>
              <a:lstStyle/>
              <a:p>
                <a:r>
                  <a:rPr lang="it-IT" sz="800" spc="-50" dirty="0"/>
                  <a:t>Percorso in 4 fasi progressive</a:t>
                </a:r>
                <a:endParaRPr lang="it-IT" sz="800" spc="-50" noProof="0" dirty="0"/>
              </a:p>
            </p:txBody>
          </p:sp>
          <p:pic>
            <p:nvPicPr>
              <p:cNvPr id="180" name="Elemento grafico 179">
                <a:extLst>
                  <a:ext uri="{FF2B5EF4-FFF2-40B4-BE49-F238E27FC236}">
                    <a16:creationId xmlns:a16="http://schemas.microsoft.com/office/drawing/2014/main" id="{2563C111-9E8C-5DE8-FE74-14E4258DBAB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046386" y="4516754"/>
                <a:ext cx="180000" cy="180000"/>
              </a:xfrm>
              <a:prstGeom prst="rect">
                <a:avLst/>
              </a:prstGeom>
            </p:spPr>
          </p:pic>
        </p:grpSp>
        <p:grpSp>
          <p:nvGrpSpPr>
            <p:cNvPr id="163" name="Gruppo 162">
              <a:extLst>
                <a:ext uri="{FF2B5EF4-FFF2-40B4-BE49-F238E27FC236}">
                  <a16:creationId xmlns:a16="http://schemas.microsoft.com/office/drawing/2014/main" id="{49CBBF6F-9835-DC7A-1345-8B9D71E49FC5}"/>
                </a:ext>
              </a:extLst>
            </p:cNvPr>
            <p:cNvGrpSpPr/>
            <p:nvPr/>
          </p:nvGrpSpPr>
          <p:grpSpPr>
            <a:xfrm>
              <a:off x="5839140" y="4772301"/>
              <a:ext cx="1637296" cy="318924"/>
              <a:chOff x="2046386" y="4690113"/>
              <a:chExt cx="1637296" cy="318924"/>
            </a:xfrm>
          </p:grpSpPr>
          <p:sp>
            <p:nvSpPr>
              <p:cNvPr id="174" name="CasellaDiTesto 173">
                <a:extLst>
                  <a:ext uri="{FF2B5EF4-FFF2-40B4-BE49-F238E27FC236}">
                    <a16:creationId xmlns:a16="http://schemas.microsoft.com/office/drawing/2014/main" id="{798BDEA0-611F-3FE7-0DEA-C5739E656A28}"/>
                  </a:ext>
                </a:extLst>
              </p:cNvPr>
              <p:cNvSpPr txBox="1">
                <a:spLocks/>
              </p:cNvSpPr>
              <p:nvPr/>
            </p:nvSpPr>
            <p:spPr>
              <a:xfrm>
                <a:off x="2258356" y="4690113"/>
                <a:ext cx="1425326" cy="318924"/>
              </a:xfrm>
              <a:prstGeom prst="rect">
                <a:avLst/>
              </a:prstGeom>
              <a:noFill/>
            </p:spPr>
            <p:txBody>
              <a:bodyPr wrap="square" lIns="36000" tIns="36000" rIns="36000" bIns="36000" anchor="ctr" anchorCtr="0">
                <a:spAutoFit/>
              </a:bodyPr>
              <a:lstStyle/>
              <a:p>
                <a:r>
                  <a:rPr lang="it-IT" sz="800" spc="-50" dirty="0"/>
                  <a:t>ProSIGNAL come progetto pilota</a:t>
                </a:r>
                <a:endParaRPr lang="it-IT" sz="800" spc="-50" noProof="0" dirty="0"/>
              </a:p>
            </p:txBody>
          </p:sp>
          <p:pic>
            <p:nvPicPr>
              <p:cNvPr id="176" name="Elemento grafico 175">
                <a:extLst>
                  <a:ext uri="{FF2B5EF4-FFF2-40B4-BE49-F238E27FC236}">
                    <a16:creationId xmlns:a16="http://schemas.microsoft.com/office/drawing/2014/main" id="{C353B88E-69FD-0323-0931-4C550CC19F1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046386" y="4759575"/>
                <a:ext cx="180000" cy="180000"/>
              </a:xfrm>
              <a:prstGeom prst="rect">
                <a:avLst/>
              </a:prstGeom>
            </p:spPr>
          </p:pic>
        </p:grpSp>
        <p:grpSp>
          <p:nvGrpSpPr>
            <p:cNvPr id="165" name="Gruppo 164">
              <a:extLst>
                <a:ext uri="{FF2B5EF4-FFF2-40B4-BE49-F238E27FC236}">
                  <a16:creationId xmlns:a16="http://schemas.microsoft.com/office/drawing/2014/main" id="{615679B0-EE42-BA80-BE68-8D4EDF03C1E4}"/>
                </a:ext>
              </a:extLst>
            </p:cNvPr>
            <p:cNvGrpSpPr/>
            <p:nvPr/>
          </p:nvGrpSpPr>
          <p:grpSpPr>
            <a:xfrm>
              <a:off x="5839140" y="5175755"/>
              <a:ext cx="1637296" cy="318924"/>
              <a:chOff x="2046386" y="4932934"/>
              <a:chExt cx="1637296" cy="318924"/>
            </a:xfrm>
          </p:grpSpPr>
          <p:sp>
            <p:nvSpPr>
              <p:cNvPr id="172" name="CasellaDiTesto 171">
                <a:extLst>
                  <a:ext uri="{FF2B5EF4-FFF2-40B4-BE49-F238E27FC236}">
                    <a16:creationId xmlns:a16="http://schemas.microsoft.com/office/drawing/2014/main" id="{FD5509A2-6A1B-97D4-387F-A0DBCDD4933D}"/>
                  </a:ext>
                </a:extLst>
              </p:cNvPr>
              <p:cNvSpPr txBox="1">
                <a:spLocks/>
              </p:cNvSpPr>
              <p:nvPr/>
            </p:nvSpPr>
            <p:spPr>
              <a:xfrm>
                <a:off x="2258356" y="4932934"/>
                <a:ext cx="1425326" cy="318924"/>
              </a:xfrm>
              <a:prstGeom prst="rect">
                <a:avLst/>
              </a:prstGeom>
              <a:noFill/>
            </p:spPr>
            <p:txBody>
              <a:bodyPr wrap="square" lIns="36000" tIns="36000" rIns="36000" bIns="36000" anchor="ctr" anchorCtr="0">
                <a:spAutoFit/>
              </a:bodyPr>
              <a:lstStyle/>
              <a:p>
                <a:r>
                  <a:rPr lang="it-IT" sz="800" spc="-50" dirty="0"/>
                  <a:t>Tempistiche, dipendenze e risorse</a:t>
                </a:r>
                <a:endParaRPr lang="it-IT" sz="800" spc="-50" noProof="0" dirty="0"/>
              </a:p>
            </p:txBody>
          </p:sp>
          <p:pic>
            <p:nvPicPr>
              <p:cNvPr id="173" name="Elemento grafico 172">
                <a:extLst>
                  <a:ext uri="{FF2B5EF4-FFF2-40B4-BE49-F238E27FC236}">
                    <a16:creationId xmlns:a16="http://schemas.microsoft.com/office/drawing/2014/main" id="{2F9F2376-7E48-8EFF-D76B-D4F46D37A06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046386" y="5002396"/>
                <a:ext cx="180000" cy="180000"/>
              </a:xfrm>
              <a:prstGeom prst="rect">
                <a:avLst/>
              </a:prstGeom>
            </p:spPr>
          </p:pic>
        </p:grpSp>
      </p:grpSp>
      <p:pic>
        <p:nvPicPr>
          <p:cNvPr id="195" name="Elemento grafico 194">
            <a:extLst>
              <a:ext uri="{FF2B5EF4-FFF2-40B4-BE49-F238E27FC236}">
                <a16:creationId xmlns:a16="http://schemas.microsoft.com/office/drawing/2014/main" id="{8E611A13-85C2-AA6E-61C7-FBE3854A7CA3}"/>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354350" y="2303686"/>
            <a:ext cx="432000" cy="432000"/>
          </a:xfrm>
          <a:prstGeom prst="rect">
            <a:avLst/>
          </a:prstGeom>
        </p:spPr>
      </p:pic>
      <p:grpSp>
        <p:nvGrpSpPr>
          <p:cNvPr id="219" name="Gruppo 218">
            <a:extLst>
              <a:ext uri="{FF2B5EF4-FFF2-40B4-BE49-F238E27FC236}">
                <a16:creationId xmlns:a16="http://schemas.microsoft.com/office/drawing/2014/main" id="{AA199DC7-DCDC-982F-17B8-07ADF89E3E9C}"/>
              </a:ext>
            </a:extLst>
          </p:cNvPr>
          <p:cNvGrpSpPr/>
          <p:nvPr/>
        </p:nvGrpSpPr>
        <p:grpSpPr>
          <a:xfrm>
            <a:off x="9516108" y="2445253"/>
            <a:ext cx="1812724" cy="2710112"/>
            <a:chOff x="9516108" y="1667933"/>
            <a:chExt cx="1812724" cy="2710112"/>
          </a:xfrm>
        </p:grpSpPr>
        <p:sp>
          <p:nvSpPr>
            <p:cNvPr id="211" name="Elaborazione alternativa 210">
              <a:extLst>
                <a:ext uri="{FF2B5EF4-FFF2-40B4-BE49-F238E27FC236}">
                  <a16:creationId xmlns:a16="http://schemas.microsoft.com/office/drawing/2014/main" id="{7FB63E88-7C41-7D1B-EFDE-0D0C7F2774C9}"/>
                </a:ext>
              </a:extLst>
            </p:cNvPr>
            <p:cNvSpPr/>
            <p:nvPr/>
          </p:nvSpPr>
          <p:spPr>
            <a:xfrm>
              <a:off x="9596970" y="2587062"/>
              <a:ext cx="1651000" cy="515109"/>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b="1" dirty="0">
                  <a:gradFill flip="none">
                    <a:gsLst>
                      <a:gs pos="0">
                        <a:srgbClr val="56B093"/>
                      </a:gs>
                      <a:gs pos="100000">
                        <a:srgbClr val="307FE2"/>
                      </a:gs>
                    </a:gsLst>
                    <a:path path="circle">
                      <a:fillToRect t="100000" r="100000"/>
                    </a:path>
                    <a:tileRect l="-100000" b="-100000"/>
                  </a:gradFill>
                </a:rPr>
                <a:t>DECISIONE RICHIESTA</a:t>
              </a:r>
              <a:endParaRPr lang="en-US" sz="1050" b="1" dirty="0">
                <a:gradFill flip="none">
                  <a:gsLst>
                    <a:gs pos="0">
                      <a:srgbClr val="56B093"/>
                    </a:gs>
                    <a:gs pos="100000">
                      <a:srgbClr val="307FE2"/>
                    </a:gs>
                  </a:gsLst>
                  <a:path path="circle">
                    <a:fillToRect t="100000" r="100000"/>
                  </a:path>
                  <a:tileRect l="-100000" b="-100000"/>
                </a:gradFill>
              </a:endParaRPr>
            </a:p>
          </p:txBody>
        </p:sp>
        <p:grpSp>
          <p:nvGrpSpPr>
            <p:cNvPr id="218" name="Gruppo 217">
              <a:extLst>
                <a:ext uri="{FF2B5EF4-FFF2-40B4-BE49-F238E27FC236}">
                  <a16:creationId xmlns:a16="http://schemas.microsoft.com/office/drawing/2014/main" id="{23B2FB05-B602-2F86-17F0-62B271134D47}"/>
                </a:ext>
              </a:extLst>
            </p:cNvPr>
            <p:cNvGrpSpPr/>
            <p:nvPr/>
          </p:nvGrpSpPr>
          <p:grpSpPr>
            <a:xfrm>
              <a:off x="9525040" y="3428191"/>
              <a:ext cx="1794861" cy="623834"/>
              <a:chOff x="9525040" y="3240989"/>
              <a:chExt cx="1794861" cy="623834"/>
            </a:xfrm>
          </p:grpSpPr>
          <p:sp>
            <p:nvSpPr>
              <p:cNvPr id="212" name="CasellaDiTesto 211">
                <a:extLst>
                  <a:ext uri="{FF2B5EF4-FFF2-40B4-BE49-F238E27FC236}">
                    <a16:creationId xmlns:a16="http://schemas.microsoft.com/office/drawing/2014/main" id="{57C730E2-043C-2963-8AF3-810EEA07449E}"/>
                  </a:ext>
                </a:extLst>
              </p:cNvPr>
              <p:cNvSpPr txBox="1">
                <a:spLocks/>
              </p:cNvSpPr>
              <p:nvPr/>
            </p:nvSpPr>
            <p:spPr>
              <a:xfrm>
                <a:off x="9525040" y="3240989"/>
                <a:ext cx="1794861" cy="226591"/>
              </a:xfrm>
              <a:prstGeom prst="rect">
                <a:avLst/>
              </a:prstGeom>
              <a:noFill/>
            </p:spPr>
            <p:txBody>
              <a:bodyPr wrap="square" lIns="36000" tIns="36000" rIns="36000" bIns="36000" anchor="ctr" anchorCtr="0">
                <a:spAutoFit/>
              </a:bodyPr>
              <a:lstStyle/>
              <a:p>
                <a:pPr algn="ctr"/>
                <a:r>
                  <a:rPr lang="it-IT" sz="1000" b="1" spc="-30" dirty="0"/>
                  <a:t>AVVIARE IL PERCORSO</a:t>
                </a:r>
                <a:endParaRPr lang="it-IT" sz="1000" b="1" spc="-30" noProof="0" dirty="0"/>
              </a:p>
            </p:txBody>
          </p:sp>
          <p:sp>
            <p:nvSpPr>
              <p:cNvPr id="214" name="CasellaDiTesto 213">
                <a:extLst>
                  <a:ext uri="{FF2B5EF4-FFF2-40B4-BE49-F238E27FC236}">
                    <a16:creationId xmlns:a16="http://schemas.microsoft.com/office/drawing/2014/main" id="{2E3080EC-9E69-C896-8BF2-093BA7E2B1B2}"/>
                  </a:ext>
                </a:extLst>
              </p:cNvPr>
              <p:cNvSpPr txBox="1">
                <a:spLocks/>
              </p:cNvSpPr>
              <p:nvPr/>
            </p:nvSpPr>
            <p:spPr>
              <a:xfrm>
                <a:off x="9525040" y="3484343"/>
                <a:ext cx="1794861" cy="380480"/>
              </a:xfrm>
              <a:prstGeom prst="rect">
                <a:avLst/>
              </a:prstGeom>
              <a:noFill/>
            </p:spPr>
            <p:txBody>
              <a:bodyPr wrap="square" lIns="36000" tIns="36000" rIns="36000" bIns="36000" anchor="ctr" anchorCtr="0">
                <a:spAutoFit/>
              </a:bodyPr>
              <a:lstStyle/>
              <a:p>
                <a:pPr algn="ctr"/>
                <a:r>
                  <a:rPr lang="it-IT" sz="1000" spc="-30" dirty="0"/>
                  <a:t>Autorizzare l’avvio del programma di adozione </a:t>
                </a:r>
                <a:endParaRPr lang="it-IT" sz="1000" spc="-30" noProof="0" dirty="0"/>
              </a:p>
            </p:txBody>
          </p:sp>
        </p:grpSp>
        <p:grpSp>
          <p:nvGrpSpPr>
            <p:cNvPr id="217" name="Gruppo 216">
              <a:extLst>
                <a:ext uri="{FF2B5EF4-FFF2-40B4-BE49-F238E27FC236}">
                  <a16:creationId xmlns:a16="http://schemas.microsoft.com/office/drawing/2014/main" id="{6B7D97F2-2E42-8BBE-2ADB-F58173B3A062}"/>
                </a:ext>
              </a:extLst>
            </p:cNvPr>
            <p:cNvGrpSpPr/>
            <p:nvPr/>
          </p:nvGrpSpPr>
          <p:grpSpPr>
            <a:xfrm>
              <a:off x="9516108" y="1667933"/>
              <a:ext cx="1812724" cy="2710112"/>
              <a:chOff x="9516108" y="1667933"/>
              <a:chExt cx="1812724" cy="2710112"/>
            </a:xfrm>
          </p:grpSpPr>
          <p:sp>
            <p:nvSpPr>
              <p:cNvPr id="164" name="Rettangolo con angoli arrotondati 163">
                <a:extLst>
                  <a:ext uri="{FF2B5EF4-FFF2-40B4-BE49-F238E27FC236}">
                    <a16:creationId xmlns:a16="http://schemas.microsoft.com/office/drawing/2014/main" id="{3EC4A87E-3592-C160-164D-30685D953499}"/>
                  </a:ext>
                </a:extLst>
              </p:cNvPr>
              <p:cNvSpPr/>
              <p:nvPr/>
            </p:nvSpPr>
            <p:spPr>
              <a:xfrm>
                <a:off x="9516108" y="1977515"/>
                <a:ext cx="1812724" cy="2400530"/>
              </a:xfrm>
              <a:prstGeom prst="roundRect">
                <a:avLst>
                  <a:gd name="adj" fmla="val 6445"/>
                </a:avLst>
              </a:prstGeom>
              <a:ln w="28575">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grpSp>
            <p:nvGrpSpPr>
              <p:cNvPr id="216" name="Gruppo 215">
                <a:extLst>
                  <a:ext uri="{FF2B5EF4-FFF2-40B4-BE49-F238E27FC236}">
                    <a16:creationId xmlns:a16="http://schemas.microsoft.com/office/drawing/2014/main" id="{048444F4-E153-12B9-F3A6-0041550D8EBF}"/>
                  </a:ext>
                </a:extLst>
              </p:cNvPr>
              <p:cNvGrpSpPr/>
              <p:nvPr/>
            </p:nvGrpSpPr>
            <p:grpSpPr>
              <a:xfrm>
                <a:off x="10093329" y="1667933"/>
                <a:ext cx="658282" cy="658282"/>
                <a:chOff x="10093329" y="1667933"/>
                <a:chExt cx="658282" cy="658282"/>
              </a:xfrm>
            </p:grpSpPr>
            <p:sp>
              <p:nvSpPr>
                <p:cNvPr id="215" name="Ovale 214">
                  <a:extLst>
                    <a:ext uri="{FF2B5EF4-FFF2-40B4-BE49-F238E27FC236}">
                      <a16:creationId xmlns:a16="http://schemas.microsoft.com/office/drawing/2014/main" id="{42E8C05F-A6EC-32BB-2AA4-95A8DECE75C2}"/>
                    </a:ext>
                  </a:extLst>
                </p:cNvPr>
                <p:cNvSpPr/>
                <p:nvPr/>
              </p:nvSpPr>
              <p:spPr>
                <a:xfrm>
                  <a:off x="10093329" y="1667933"/>
                  <a:ext cx="658282" cy="658282"/>
                </a:xfrm>
                <a:prstGeom prst="ellipse">
                  <a:avLst/>
                </a:prstGeom>
                <a:solidFill>
                  <a:schemeClr val="bg1"/>
                </a:solidFill>
                <a:ln w="28575">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pic>
              <p:nvPicPr>
                <p:cNvPr id="207" name="Elemento grafico 206">
                  <a:extLst>
                    <a:ext uri="{FF2B5EF4-FFF2-40B4-BE49-F238E27FC236}">
                      <a16:creationId xmlns:a16="http://schemas.microsoft.com/office/drawing/2014/main" id="{E9E19F03-033B-534D-0811-4495BFB48295}"/>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0242470" y="1817074"/>
                  <a:ext cx="360000" cy="360000"/>
                </a:xfrm>
                <a:prstGeom prst="rect">
                  <a:avLst/>
                </a:prstGeom>
              </p:spPr>
            </p:pic>
          </p:grpSp>
        </p:grpSp>
      </p:grpSp>
    </p:spTree>
    <p:custDataLst>
      <p:tags r:id="rId1"/>
    </p:custDataLst>
    <p:extLst>
      <p:ext uri="{BB962C8B-B14F-4D97-AF65-F5344CB8AC3E}">
        <p14:creationId xmlns:p14="http://schemas.microsoft.com/office/powerpoint/2010/main" val="2018394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4AB1E-25D9-06C5-70B1-3A7B8BA0655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B436E84-90F1-4BF2-61E8-BB96A30D8568}"/>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ea typeface="+mn-ea"/>
                <a:cs typeface="+mn-cs"/>
              </a:rPr>
              <a:t>Un modello,  due modi per realizzarla…</a:t>
            </a:r>
          </a:p>
        </p:txBody>
      </p:sp>
      <p:grpSp>
        <p:nvGrpSpPr>
          <p:cNvPr id="498" name="Gruppo 497">
            <a:extLst>
              <a:ext uri="{FF2B5EF4-FFF2-40B4-BE49-F238E27FC236}">
                <a16:creationId xmlns:a16="http://schemas.microsoft.com/office/drawing/2014/main" id="{1FEA0818-5CB4-0FCC-8D06-E72C171906FF}"/>
              </a:ext>
            </a:extLst>
          </p:cNvPr>
          <p:cNvGrpSpPr/>
          <p:nvPr/>
        </p:nvGrpSpPr>
        <p:grpSpPr>
          <a:xfrm>
            <a:off x="827161" y="5722927"/>
            <a:ext cx="10537678" cy="652056"/>
            <a:chOff x="824372" y="5442616"/>
            <a:chExt cx="10537678" cy="652056"/>
          </a:xfrm>
        </p:grpSpPr>
        <p:sp>
          <p:nvSpPr>
            <p:cNvPr id="19" name="Rettangolo con angoli arrotondati 18">
              <a:extLst>
                <a:ext uri="{FF2B5EF4-FFF2-40B4-BE49-F238E27FC236}">
                  <a16:creationId xmlns:a16="http://schemas.microsoft.com/office/drawing/2014/main" id="{95F5A2D6-5BB7-C1E2-652B-808A8C9C953D}"/>
                </a:ext>
              </a:extLst>
            </p:cNvPr>
            <p:cNvSpPr/>
            <p:nvPr/>
          </p:nvSpPr>
          <p:spPr>
            <a:xfrm>
              <a:off x="824372" y="5442616"/>
              <a:ext cx="10537678" cy="652056"/>
            </a:xfrm>
            <a:prstGeom prst="roundRect">
              <a:avLst>
                <a:gd name="adj" fmla="val 15054"/>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8" name="Ovale 347">
              <a:extLst>
                <a:ext uri="{FF2B5EF4-FFF2-40B4-BE49-F238E27FC236}">
                  <a16:creationId xmlns:a16="http://schemas.microsoft.com/office/drawing/2014/main" id="{B1AE8A19-B302-A34B-A2D6-1FE0D1A928F7}"/>
                </a:ext>
              </a:extLst>
            </p:cNvPr>
            <p:cNvSpPr>
              <a:spLocks/>
            </p:cNvSpPr>
            <p:nvPr/>
          </p:nvSpPr>
          <p:spPr>
            <a:xfrm>
              <a:off x="988030" y="5510510"/>
              <a:ext cx="514090" cy="514090"/>
            </a:xfrm>
            <a:prstGeom prst="ellipse">
              <a:avLst/>
            </a:prstGeom>
            <a:solidFill>
              <a:srgbClr val="EEF5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Tittle Function 01…">
              <a:extLst>
                <a:ext uri="{FF2B5EF4-FFF2-40B4-BE49-F238E27FC236}">
                  <a16:creationId xmlns:a16="http://schemas.microsoft.com/office/drawing/2014/main" id="{F3140BA6-4A89-03A2-6720-F446D27BC22E}"/>
                </a:ext>
              </a:extLst>
            </p:cNvPr>
            <p:cNvSpPr txBox="1"/>
            <p:nvPr/>
          </p:nvSpPr>
          <p:spPr>
            <a:xfrm>
              <a:off x="1571617" y="5528927"/>
              <a:ext cx="71169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1680C9"/>
                  </a:solidFill>
                  <a:latin typeface="Poppins SemiBold" panose="00000700000000000000" pitchFamily="2" charset="0"/>
                  <a:cs typeface="Poppins SemiBold" panose="00000700000000000000" pitchFamily="2" charset="0"/>
                </a:rPr>
                <a:t>Confronto</a:t>
              </a:r>
            </a:p>
          </p:txBody>
        </p:sp>
        <p:sp>
          <p:nvSpPr>
            <p:cNvPr id="355" name="CasellaDiTesto 354">
              <a:extLst>
                <a:ext uri="{FF2B5EF4-FFF2-40B4-BE49-F238E27FC236}">
                  <a16:creationId xmlns:a16="http://schemas.microsoft.com/office/drawing/2014/main" id="{C22AACA1-C900-46B9-D8E9-E416F61C9551}"/>
                </a:ext>
              </a:extLst>
            </p:cNvPr>
            <p:cNvSpPr txBox="1"/>
            <p:nvPr/>
          </p:nvSpPr>
          <p:spPr>
            <a:xfrm>
              <a:off x="1571618" y="5663417"/>
              <a:ext cx="1658870" cy="215444"/>
            </a:xfrm>
            <a:prstGeom prst="rect">
              <a:avLst/>
            </a:prstGeom>
            <a:noFill/>
          </p:spPr>
          <p:txBody>
            <a:bodyPr wrap="square" lIns="0" rIns="0" rtlCol="0">
              <a:spAutoFit/>
            </a:bodyPr>
            <a:lstStyle/>
            <a:p>
              <a:r>
                <a:rPr lang="it-IT" sz="800" dirty="0"/>
                <a:t>Valutiamo entrambi gli scenari</a:t>
              </a:r>
              <a:endParaRPr lang="en-US" sz="800" dirty="0"/>
            </a:p>
          </p:txBody>
        </p:sp>
        <p:sp>
          <p:nvSpPr>
            <p:cNvPr id="372" name="Ovale 371">
              <a:extLst>
                <a:ext uri="{FF2B5EF4-FFF2-40B4-BE49-F238E27FC236}">
                  <a16:creationId xmlns:a16="http://schemas.microsoft.com/office/drawing/2014/main" id="{56C7C14D-2F85-566D-0465-B7FCEA3776C7}"/>
                </a:ext>
              </a:extLst>
            </p:cNvPr>
            <p:cNvSpPr>
              <a:spLocks/>
            </p:cNvSpPr>
            <p:nvPr/>
          </p:nvSpPr>
          <p:spPr>
            <a:xfrm>
              <a:off x="3609518" y="5510510"/>
              <a:ext cx="514090" cy="514090"/>
            </a:xfrm>
            <a:prstGeom prst="ellipse">
              <a:avLst/>
            </a:prstGeom>
            <a:solidFill>
              <a:srgbClr val="EEF5FB"/>
            </a:solidFill>
            <a:ln w="3175">
              <a:solidFill>
                <a:srgbClr val="29A1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Tittle Function 01…">
              <a:extLst>
                <a:ext uri="{FF2B5EF4-FFF2-40B4-BE49-F238E27FC236}">
                  <a16:creationId xmlns:a16="http://schemas.microsoft.com/office/drawing/2014/main" id="{DB147D65-FEEB-E962-4488-518D99C5DE6B}"/>
                </a:ext>
              </a:extLst>
            </p:cNvPr>
            <p:cNvSpPr txBox="1"/>
            <p:nvPr/>
          </p:nvSpPr>
          <p:spPr>
            <a:xfrm>
              <a:off x="4193104" y="5528927"/>
              <a:ext cx="9564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29A1C9"/>
                  </a:solidFill>
                  <a:latin typeface="Poppins SemiBold" panose="00000700000000000000" pitchFamily="2" charset="0"/>
                  <a:cs typeface="Poppins SemiBold" panose="00000700000000000000" pitchFamily="2" charset="0"/>
                </a:rPr>
                <a:t>Valutazione</a:t>
              </a:r>
            </a:p>
          </p:txBody>
        </p:sp>
        <p:sp>
          <p:nvSpPr>
            <p:cNvPr id="374" name="CasellaDiTesto 373">
              <a:extLst>
                <a:ext uri="{FF2B5EF4-FFF2-40B4-BE49-F238E27FC236}">
                  <a16:creationId xmlns:a16="http://schemas.microsoft.com/office/drawing/2014/main" id="{D5E637B0-D2A8-44A3-446B-FF8549E07D03}"/>
                </a:ext>
              </a:extLst>
            </p:cNvPr>
            <p:cNvSpPr txBox="1"/>
            <p:nvPr/>
          </p:nvSpPr>
          <p:spPr>
            <a:xfrm>
              <a:off x="4193106" y="5663417"/>
              <a:ext cx="1658870" cy="338554"/>
            </a:xfrm>
            <a:prstGeom prst="rect">
              <a:avLst/>
            </a:prstGeom>
            <a:noFill/>
          </p:spPr>
          <p:txBody>
            <a:bodyPr wrap="square" lIns="0" rIns="0" rtlCol="0">
              <a:spAutoFit/>
            </a:bodyPr>
            <a:lstStyle/>
            <a:p>
              <a:r>
                <a:rPr lang="it-IT" sz="800" dirty="0"/>
                <a:t>Impatto su qualità, tempi, costi e sostenibilità.</a:t>
              </a:r>
              <a:endParaRPr lang="en-US" sz="800" dirty="0"/>
            </a:p>
          </p:txBody>
        </p:sp>
        <p:sp>
          <p:nvSpPr>
            <p:cNvPr id="376" name="Ovale 375">
              <a:extLst>
                <a:ext uri="{FF2B5EF4-FFF2-40B4-BE49-F238E27FC236}">
                  <a16:creationId xmlns:a16="http://schemas.microsoft.com/office/drawing/2014/main" id="{7C209C6F-C408-A6E1-5EA3-E53CD197433B}"/>
                </a:ext>
              </a:extLst>
            </p:cNvPr>
            <p:cNvSpPr>
              <a:spLocks/>
            </p:cNvSpPr>
            <p:nvPr/>
          </p:nvSpPr>
          <p:spPr>
            <a:xfrm>
              <a:off x="6231006" y="5510510"/>
              <a:ext cx="514090" cy="514090"/>
            </a:xfrm>
            <a:prstGeom prst="ellipse">
              <a:avLst/>
            </a:prstGeom>
            <a:solidFill>
              <a:srgbClr val="EEF5FB"/>
            </a:solidFill>
            <a:ln w="3175">
              <a:solidFill>
                <a:srgbClr val="3FB1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7" name="Tittle Function 01…">
              <a:extLst>
                <a:ext uri="{FF2B5EF4-FFF2-40B4-BE49-F238E27FC236}">
                  <a16:creationId xmlns:a16="http://schemas.microsoft.com/office/drawing/2014/main" id="{23FD0128-8EB2-9D89-B28F-D321F7397CFD}"/>
                </a:ext>
              </a:extLst>
            </p:cNvPr>
            <p:cNvSpPr txBox="1"/>
            <p:nvPr/>
          </p:nvSpPr>
          <p:spPr>
            <a:xfrm>
              <a:off x="6814593" y="5528927"/>
              <a:ext cx="71169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3FB1C3"/>
                  </a:solidFill>
                  <a:latin typeface="Poppins SemiBold" panose="00000700000000000000" pitchFamily="2" charset="0"/>
                  <a:cs typeface="Poppins SemiBold" panose="00000700000000000000" pitchFamily="2" charset="0"/>
                </a:rPr>
                <a:t>Scelta</a:t>
              </a:r>
            </a:p>
          </p:txBody>
        </p:sp>
        <p:sp>
          <p:nvSpPr>
            <p:cNvPr id="378" name="CasellaDiTesto 377">
              <a:extLst>
                <a:ext uri="{FF2B5EF4-FFF2-40B4-BE49-F238E27FC236}">
                  <a16:creationId xmlns:a16="http://schemas.microsoft.com/office/drawing/2014/main" id="{C0C79485-FF6C-01BE-3B88-F5689B4F7B4F}"/>
                </a:ext>
              </a:extLst>
            </p:cNvPr>
            <p:cNvSpPr txBox="1"/>
            <p:nvPr/>
          </p:nvSpPr>
          <p:spPr>
            <a:xfrm>
              <a:off x="6814594" y="5663417"/>
              <a:ext cx="1658870" cy="338554"/>
            </a:xfrm>
            <a:prstGeom prst="rect">
              <a:avLst/>
            </a:prstGeom>
            <a:noFill/>
          </p:spPr>
          <p:txBody>
            <a:bodyPr wrap="square" lIns="0" rIns="0" rtlCol="0">
              <a:spAutoFit/>
            </a:bodyPr>
            <a:lstStyle/>
            <a:p>
              <a:r>
                <a:rPr lang="it-IT" sz="800" dirty="0"/>
                <a:t>Selezioniamo il percorso più efficace e scalabile.</a:t>
              </a:r>
              <a:endParaRPr lang="en-US" sz="800" dirty="0"/>
            </a:p>
          </p:txBody>
        </p:sp>
        <p:sp>
          <p:nvSpPr>
            <p:cNvPr id="380" name="Ovale 379">
              <a:extLst>
                <a:ext uri="{FF2B5EF4-FFF2-40B4-BE49-F238E27FC236}">
                  <a16:creationId xmlns:a16="http://schemas.microsoft.com/office/drawing/2014/main" id="{F3124EFB-0BD0-BCC0-F4BD-8360C419B196}"/>
                </a:ext>
              </a:extLst>
            </p:cNvPr>
            <p:cNvSpPr>
              <a:spLocks/>
            </p:cNvSpPr>
            <p:nvPr/>
          </p:nvSpPr>
          <p:spPr>
            <a:xfrm>
              <a:off x="8852493" y="5510510"/>
              <a:ext cx="514090" cy="514090"/>
            </a:xfrm>
            <a:prstGeom prst="ellipse">
              <a:avLst/>
            </a:prstGeom>
            <a:solidFill>
              <a:srgbClr val="EEF5FB"/>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1" name="Tittle Function 01…">
              <a:extLst>
                <a:ext uri="{FF2B5EF4-FFF2-40B4-BE49-F238E27FC236}">
                  <a16:creationId xmlns:a16="http://schemas.microsoft.com/office/drawing/2014/main" id="{4FA0BC31-8285-16A1-9313-6D537F2E83EA}"/>
                </a:ext>
              </a:extLst>
            </p:cNvPr>
            <p:cNvSpPr txBox="1"/>
            <p:nvPr/>
          </p:nvSpPr>
          <p:spPr>
            <a:xfrm>
              <a:off x="9436080" y="5528927"/>
              <a:ext cx="71169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52B3B4"/>
                  </a:solidFill>
                  <a:latin typeface="Poppins SemiBold" panose="00000700000000000000" pitchFamily="2" charset="0"/>
                  <a:cs typeface="Poppins SemiBold" panose="00000700000000000000" pitchFamily="2" charset="0"/>
                </a:rPr>
                <a:t>Esecuzione</a:t>
              </a:r>
            </a:p>
          </p:txBody>
        </p:sp>
        <p:sp>
          <p:nvSpPr>
            <p:cNvPr id="382" name="CasellaDiTesto 381">
              <a:extLst>
                <a:ext uri="{FF2B5EF4-FFF2-40B4-BE49-F238E27FC236}">
                  <a16:creationId xmlns:a16="http://schemas.microsoft.com/office/drawing/2014/main" id="{0186008A-9CF5-8532-7012-05BD722C0233}"/>
                </a:ext>
              </a:extLst>
            </p:cNvPr>
            <p:cNvSpPr txBox="1"/>
            <p:nvPr/>
          </p:nvSpPr>
          <p:spPr>
            <a:xfrm>
              <a:off x="9436081" y="5663417"/>
              <a:ext cx="1658870" cy="338554"/>
            </a:xfrm>
            <a:prstGeom prst="rect">
              <a:avLst/>
            </a:prstGeom>
            <a:noFill/>
          </p:spPr>
          <p:txBody>
            <a:bodyPr wrap="square" lIns="0" rIns="0" rtlCol="0">
              <a:spAutoFit/>
            </a:bodyPr>
            <a:lstStyle/>
            <a:p>
              <a:r>
                <a:rPr lang="it-IT" sz="800" dirty="0"/>
                <a:t>Implementiamo il modello </a:t>
              </a:r>
              <a:r>
                <a:rPr lang="en-US" sz="800" dirty="0"/>
                <a:t>con </a:t>
              </a:r>
              <a:r>
                <a:rPr lang="it-IT" sz="800" noProof="0" dirty="0"/>
                <a:t>controlli</a:t>
              </a:r>
              <a:r>
                <a:rPr lang="en-US" sz="800" dirty="0"/>
                <a:t> e </a:t>
              </a:r>
              <a:r>
                <a:rPr lang="it-IT" sz="800" noProof="0" dirty="0"/>
                <a:t>responsabilità chiare.</a:t>
              </a:r>
            </a:p>
          </p:txBody>
        </p:sp>
        <p:pic>
          <p:nvPicPr>
            <p:cNvPr id="492" name="Elemento grafico 491">
              <a:extLst>
                <a:ext uri="{FF2B5EF4-FFF2-40B4-BE49-F238E27FC236}">
                  <a16:creationId xmlns:a16="http://schemas.microsoft.com/office/drawing/2014/main" id="{A9804666-227B-C15E-296D-B964A99968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01075" y="5623555"/>
              <a:ext cx="288000" cy="288000"/>
            </a:xfrm>
            <a:prstGeom prst="rect">
              <a:avLst/>
            </a:prstGeom>
          </p:spPr>
        </p:pic>
        <p:pic>
          <p:nvPicPr>
            <p:cNvPr id="494" name="Elemento grafico 493">
              <a:extLst>
                <a:ext uri="{FF2B5EF4-FFF2-40B4-BE49-F238E27FC236}">
                  <a16:creationId xmlns:a16="http://schemas.microsoft.com/office/drawing/2014/main" id="{1C402461-E115-78CA-AEF5-B4A35DAA5C3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22563" y="5623555"/>
              <a:ext cx="288000" cy="288000"/>
            </a:xfrm>
            <a:prstGeom prst="rect">
              <a:avLst/>
            </a:prstGeom>
          </p:spPr>
        </p:pic>
        <p:pic>
          <p:nvPicPr>
            <p:cNvPr id="495" name="Elemento grafico 494">
              <a:extLst>
                <a:ext uri="{FF2B5EF4-FFF2-40B4-BE49-F238E27FC236}">
                  <a16:creationId xmlns:a16="http://schemas.microsoft.com/office/drawing/2014/main" id="{433599B9-96C9-2059-0B06-8AF55E5777A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44051" y="5623555"/>
              <a:ext cx="288000" cy="288000"/>
            </a:xfrm>
            <a:prstGeom prst="rect">
              <a:avLst/>
            </a:prstGeom>
          </p:spPr>
        </p:pic>
        <p:pic>
          <p:nvPicPr>
            <p:cNvPr id="497" name="Elemento grafico 496">
              <a:extLst>
                <a:ext uri="{FF2B5EF4-FFF2-40B4-BE49-F238E27FC236}">
                  <a16:creationId xmlns:a16="http://schemas.microsoft.com/office/drawing/2014/main" id="{4EFD1E9D-B750-5EDC-5762-59FCA5A13D5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995238" y="5653255"/>
              <a:ext cx="228600" cy="228600"/>
            </a:xfrm>
            <a:prstGeom prst="rect">
              <a:avLst/>
            </a:prstGeom>
          </p:spPr>
        </p:pic>
      </p:grpSp>
      <p:cxnSp>
        <p:nvCxnSpPr>
          <p:cNvPr id="17" name="Connettore a gomito 16">
            <a:extLst>
              <a:ext uri="{FF2B5EF4-FFF2-40B4-BE49-F238E27FC236}">
                <a16:creationId xmlns:a16="http://schemas.microsoft.com/office/drawing/2014/main" id="{E43E9F97-979D-38BC-9141-F20B673541D1}"/>
              </a:ext>
            </a:extLst>
          </p:cNvPr>
          <p:cNvCxnSpPr>
            <a:cxnSpLocks/>
            <a:stCxn id="23" idx="0"/>
            <a:endCxn id="456" idx="0"/>
          </p:cNvCxnSpPr>
          <p:nvPr/>
        </p:nvCxnSpPr>
        <p:spPr>
          <a:xfrm rot="16200000" flipH="1">
            <a:off x="7937557" y="-739838"/>
            <a:ext cx="199003" cy="3882118"/>
          </a:xfrm>
          <a:prstGeom prst="bentConnector3">
            <a:avLst>
              <a:gd name="adj1" fmla="val -114873"/>
            </a:avLst>
          </a:prstGeom>
          <a:ln w="28575" cap="flat">
            <a:solidFill>
              <a:srgbClr val="52B3B4"/>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2" name="Connettore a gomito 21">
            <a:extLst>
              <a:ext uri="{FF2B5EF4-FFF2-40B4-BE49-F238E27FC236}">
                <a16:creationId xmlns:a16="http://schemas.microsoft.com/office/drawing/2014/main" id="{506A10DE-4C24-32E1-4C56-6C35DE601EAA}"/>
              </a:ext>
            </a:extLst>
          </p:cNvPr>
          <p:cNvCxnSpPr>
            <a:cxnSpLocks/>
            <a:stCxn id="23" idx="0"/>
            <a:endCxn id="49" idx="0"/>
          </p:cNvCxnSpPr>
          <p:nvPr/>
        </p:nvCxnSpPr>
        <p:spPr>
          <a:xfrm rot="16200000" flipH="1" flipV="1">
            <a:off x="4053320" y="-741230"/>
            <a:ext cx="199731" cy="3885629"/>
          </a:xfrm>
          <a:prstGeom prst="bentConnector3">
            <a:avLst>
              <a:gd name="adj1" fmla="val -114454"/>
            </a:avLst>
          </a:prstGeom>
          <a:ln w="28575" cap="sq">
            <a:solidFill>
              <a:srgbClr val="1680C9"/>
            </a:solidFill>
            <a:tailEnd type="arrow" w="lg" len="lg"/>
          </a:ln>
        </p:spPr>
        <p:style>
          <a:lnRef idx="1">
            <a:schemeClr val="accent1"/>
          </a:lnRef>
          <a:fillRef idx="0">
            <a:schemeClr val="accent1"/>
          </a:fillRef>
          <a:effectRef idx="0">
            <a:schemeClr val="accent1"/>
          </a:effectRef>
          <a:fontRef idx="minor">
            <a:schemeClr val="tx1"/>
          </a:fontRef>
        </p:style>
      </p:cxnSp>
      <p:grpSp>
        <p:nvGrpSpPr>
          <p:cNvPr id="464" name="Gruppo 463">
            <a:extLst>
              <a:ext uri="{FF2B5EF4-FFF2-40B4-BE49-F238E27FC236}">
                <a16:creationId xmlns:a16="http://schemas.microsoft.com/office/drawing/2014/main" id="{A0B5386D-045D-74F5-7C7F-4EE9EC483FDB}"/>
              </a:ext>
            </a:extLst>
          </p:cNvPr>
          <p:cNvGrpSpPr/>
          <p:nvPr/>
        </p:nvGrpSpPr>
        <p:grpSpPr>
          <a:xfrm>
            <a:off x="4698053" y="1101720"/>
            <a:ext cx="2783946" cy="4330255"/>
            <a:chOff x="4695264" y="949320"/>
            <a:chExt cx="2783946" cy="4330255"/>
          </a:xfrm>
        </p:grpSpPr>
        <p:grpSp>
          <p:nvGrpSpPr>
            <p:cNvPr id="2" name="Gruppo 1">
              <a:extLst>
                <a:ext uri="{FF2B5EF4-FFF2-40B4-BE49-F238E27FC236}">
                  <a16:creationId xmlns:a16="http://schemas.microsoft.com/office/drawing/2014/main" id="{2C5AA49A-0E16-42E3-6B4B-7B8F054CD319}"/>
                </a:ext>
              </a:extLst>
            </p:cNvPr>
            <p:cNvGrpSpPr/>
            <p:nvPr/>
          </p:nvGrpSpPr>
          <p:grpSpPr>
            <a:xfrm>
              <a:off x="4695264" y="1202588"/>
              <a:ext cx="2783946" cy="4076987"/>
              <a:chOff x="4695264" y="713711"/>
              <a:chExt cx="2783946" cy="4076987"/>
            </a:xfrm>
          </p:grpSpPr>
          <p:grpSp>
            <p:nvGrpSpPr>
              <p:cNvPr id="487" name="Gruppo 486">
                <a:extLst>
                  <a:ext uri="{FF2B5EF4-FFF2-40B4-BE49-F238E27FC236}">
                    <a16:creationId xmlns:a16="http://schemas.microsoft.com/office/drawing/2014/main" id="{4C09E9BA-7CBA-9711-A5D5-BF51B28A03CF}"/>
                  </a:ext>
                </a:extLst>
              </p:cNvPr>
              <p:cNvGrpSpPr>
                <a:grpSpLocks/>
              </p:cNvGrpSpPr>
              <p:nvPr/>
            </p:nvGrpSpPr>
            <p:grpSpPr>
              <a:xfrm>
                <a:off x="4695264" y="713711"/>
                <a:ext cx="2777576" cy="4076987"/>
                <a:chOff x="824373" y="1072529"/>
                <a:chExt cx="2777576" cy="4076987"/>
              </a:xfrm>
            </p:grpSpPr>
            <p:sp>
              <p:nvSpPr>
                <p:cNvPr id="488" name="Rettangolo con angoli arrotondati 487">
                  <a:extLst>
                    <a:ext uri="{FF2B5EF4-FFF2-40B4-BE49-F238E27FC236}">
                      <a16:creationId xmlns:a16="http://schemas.microsoft.com/office/drawing/2014/main" id="{9646916A-1376-3D0D-4309-85A95916C155}"/>
                    </a:ext>
                  </a:extLst>
                </p:cNvPr>
                <p:cNvSpPr>
                  <a:spLocks/>
                </p:cNvSpPr>
                <p:nvPr/>
              </p:nvSpPr>
              <p:spPr>
                <a:xfrm>
                  <a:off x="824373" y="1072529"/>
                  <a:ext cx="2777576" cy="4076987"/>
                </a:xfrm>
                <a:prstGeom prst="roundRect">
                  <a:avLst>
                    <a:gd name="adj" fmla="val 4786"/>
                  </a:avLst>
                </a:prstGeom>
                <a:solidFill>
                  <a:srgbClr val="3DAFD3"/>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489" name="Rettangolo con angoli arrotondati 488">
                  <a:extLst>
                    <a:ext uri="{FF2B5EF4-FFF2-40B4-BE49-F238E27FC236}">
                      <a16:creationId xmlns:a16="http://schemas.microsoft.com/office/drawing/2014/main" id="{CA081574-24E6-BA8F-9C93-B3B8C29CB9A9}"/>
                    </a:ext>
                  </a:extLst>
                </p:cNvPr>
                <p:cNvSpPr>
                  <a:spLocks/>
                </p:cNvSpPr>
                <p:nvPr/>
              </p:nvSpPr>
              <p:spPr>
                <a:xfrm>
                  <a:off x="824373" y="1372948"/>
                  <a:ext cx="2777576" cy="3776568"/>
                </a:xfrm>
                <a:prstGeom prst="roundRect">
                  <a:avLst>
                    <a:gd name="adj" fmla="val 4786"/>
                  </a:avLst>
                </a:prstGeom>
                <a:solidFill>
                  <a:schemeClr val="bg1"/>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317" name="CasellaDiTesto 316">
                <a:extLst>
                  <a:ext uri="{FF2B5EF4-FFF2-40B4-BE49-F238E27FC236}">
                    <a16:creationId xmlns:a16="http://schemas.microsoft.com/office/drawing/2014/main" id="{C2A746A9-CBA1-7EE5-9936-A045B5B59079}"/>
                  </a:ext>
                </a:extLst>
              </p:cNvPr>
              <p:cNvSpPr txBox="1">
                <a:spLocks/>
              </p:cNvSpPr>
              <p:nvPr/>
            </p:nvSpPr>
            <p:spPr>
              <a:xfrm>
                <a:off x="4707211" y="742114"/>
                <a:ext cx="2771999" cy="276999"/>
              </a:xfrm>
              <a:prstGeom prst="rect">
                <a:avLst/>
              </a:prstGeom>
              <a:noFill/>
            </p:spPr>
            <p:txBody>
              <a:bodyPr wrap="square" rtlCol="0" anchor="ctr">
                <a:spAutoFit/>
              </a:bodyPr>
              <a:lstStyle/>
              <a:p>
                <a:pPr algn="ctr"/>
                <a:r>
                  <a:rPr lang="it-IT" sz="1200" spc="-20" dirty="0">
                    <a:solidFill>
                      <a:schemeClr val="bg1"/>
                    </a:solidFill>
                    <a:latin typeface="Poppins SemiBold" panose="00000700000000000000" pitchFamily="2" charset="0"/>
                    <a:cs typeface="Poppins SemiBold" panose="00000700000000000000" pitchFamily="2" charset="0"/>
                  </a:rPr>
                  <a:t>BLUEPRINT</a:t>
                </a: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318" name="AutoShape 4">
                <a:extLst>
                  <a:ext uri="{FF2B5EF4-FFF2-40B4-BE49-F238E27FC236}">
                    <a16:creationId xmlns:a16="http://schemas.microsoft.com/office/drawing/2014/main" id="{3F532439-03B3-D27D-9639-665CB117B60D}"/>
                  </a:ext>
                </a:extLst>
              </p:cNvPr>
              <p:cNvSpPr>
                <a:spLocks noChangeAspect="1"/>
              </p:cNvSpPr>
              <p:nvPr/>
            </p:nvSpPr>
            <p:spPr bwMode="auto">
              <a:xfrm>
                <a:off x="6374445" y="264373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286" name="Connettore diritto 285">
                <a:extLst>
                  <a:ext uri="{FF2B5EF4-FFF2-40B4-BE49-F238E27FC236}">
                    <a16:creationId xmlns:a16="http://schemas.microsoft.com/office/drawing/2014/main" id="{47F36EB5-3425-5DC3-01F6-770CD8A1DEF6}"/>
                  </a:ext>
                </a:extLst>
              </p:cNvPr>
              <p:cNvCxnSpPr>
                <a:cxnSpLocks/>
              </p:cNvCxnSpPr>
              <p:nvPr/>
            </p:nvCxnSpPr>
            <p:spPr>
              <a:xfrm>
                <a:off x="4870869" y="1831917"/>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287" name="Connettore diritto 286">
                <a:extLst>
                  <a:ext uri="{FF2B5EF4-FFF2-40B4-BE49-F238E27FC236}">
                    <a16:creationId xmlns:a16="http://schemas.microsoft.com/office/drawing/2014/main" id="{D96C4296-3E4F-F6D5-11CE-8D35D60BE79A}"/>
                  </a:ext>
                </a:extLst>
              </p:cNvPr>
              <p:cNvCxnSpPr>
                <a:cxnSpLocks/>
              </p:cNvCxnSpPr>
              <p:nvPr/>
            </p:nvCxnSpPr>
            <p:spPr>
              <a:xfrm>
                <a:off x="4870869" y="2561048"/>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288" name="Connettore diritto 287">
                <a:extLst>
                  <a:ext uri="{FF2B5EF4-FFF2-40B4-BE49-F238E27FC236}">
                    <a16:creationId xmlns:a16="http://schemas.microsoft.com/office/drawing/2014/main" id="{CF3C7AC7-C6A9-E688-1720-7441E64358BA}"/>
                  </a:ext>
                </a:extLst>
              </p:cNvPr>
              <p:cNvCxnSpPr>
                <a:cxnSpLocks/>
              </p:cNvCxnSpPr>
              <p:nvPr/>
            </p:nvCxnSpPr>
            <p:spPr>
              <a:xfrm>
                <a:off x="4870869" y="3290180"/>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sp>
            <p:nvSpPr>
              <p:cNvPr id="314" name="Ovale 313">
                <a:extLst>
                  <a:ext uri="{FF2B5EF4-FFF2-40B4-BE49-F238E27FC236}">
                    <a16:creationId xmlns:a16="http://schemas.microsoft.com/office/drawing/2014/main" id="{671EF4D3-8D8B-C72E-FF16-783E36CB2D95}"/>
                  </a:ext>
                </a:extLst>
              </p:cNvPr>
              <p:cNvSpPr>
                <a:spLocks/>
              </p:cNvSpPr>
              <p:nvPr/>
            </p:nvSpPr>
            <p:spPr>
              <a:xfrm>
                <a:off x="4870870" y="1210306"/>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2" name="Tittle Function 01…">
                <a:extLst>
                  <a:ext uri="{FF2B5EF4-FFF2-40B4-BE49-F238E27FC236}">
                    <a16:creationId xmlns:a16="http://schemas.microsoft.com/office/drawing/2014/main" id="{6B10895D-3341-20FC-6ECB-BC8F843C6A73}"/>
                  </a:ext>
                </a:extLst>
              </p:cNvPr>
              <p:cNvSpPr txBox="1">
                <a:spLocks/>
              </p:cNvSpPr>
              <p:nvPr/>
            </p:nvSpPr>
            <p:spPr>
              <a:xfrm>
                <a:off x="5517118" y="1217967"/>
                <a:ext cx="149343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Dato pronto</a:t>
                </a:r>
                <a:endParaRPr lang="it-IT" sz="950" b="1" spc="-10" dirty="0">
                  <a:latin typeface="Poppins SemiBold" panose="00000700000000000000" pitchFamily="2" charset="0"/>
                  <a:cs typeface="Poppins SemiBold" panose="00000700000000000000" pitchFamily="2" charset="0"/>
                </a:endParaRPr>
              </a:p>
            </p:txBody>
          </p:sp>
          <p:sp>
            <p:nvSpPr>
              <p:cNvPr id="313" name="CasellaDiTesto 312">
                <a:extLst>
                  <a:ext uri="{FF2B5EF4-FFF2-40B4-BE49-F238E27FC236}">
                    <a16:creationId xmlns:a16="http://schemas.microsoft.com/office/drawing/2014/main" id="{8A2CD208-8D8A-0F65-49E9-ECCC72812866}"/>
                  </a:ext>
                </a:extLst>
              </p:cNvPr>
              <p:cNvSpPr txBox="1">
                <a:spLocks/>
              </p:cNvSpPr>
              <p:nvPr/>
            </p:nvSpPr>
            <p:spPr>
              <a:xfrm>
                <a:off x="5517118" y="1364161"/>
                <a:ext cx="1828201" cy="484748"/>
              </a:xfrm>
              <a:prstGeom prst="rect">
                <a:avLst/>
              </a:prstGeom>
              <a:noFill/>
            </p:spPr>
            <p:txBody>
              <a:bodyPr wrap="square" lIns="0" rIns="0" rtlCol="0">
                <a:spAutoFit/>
              </a:bodyPr>
              <a:lstStyle/>
              <a:p>
                <a:r>
                  <a:rPr lang="it-IT" sz="850" dirty="0"/>
                  <a:t>Chiariamo quali dati, con quali campi, frequenze e responsabilità.</a:t>
                </a:r>
                <a:endParaRPr lang="en-US" sz="850" dirty="0"/>
              </a:p>
            </p:txBody>
          </p:sp>
          <p:sp>
            <p:nvSpPr>
              <p:cNvPr id="460" name="Figura a mano libera: forma 459">
                <a:extLst>
                  <a:ext uri="{FF2B5EF4-FFF2-40B4-BE49-F238E27FC236}">
                    <a16:creationId xmlns:a16="http://schemas.microsoft.com/office/drawing/2014/main" id="{ACC6E792-EBD8-EB90-07D6-D2DE060ED9ED}"/>
                  </a:ext>
                </a:extLst>
              </p:cNvPr>
              <p:cNvSpPr>
                <a:spLocks/>
              </p:cNvSpPr>
              <p:nvPr/>
            </p:nvSpPr>
            <p:spPr>
              <a:xfrm>
                <a:off x="5049915" y="1369850"/>
                <a:ext cx="156000" cy="195000"/>
              </a:xfrm>
              <a:custGeom>
                <a:avLst/>
                <a:gdLst>
                  <a:gd name="csX0" fmla="*/ 69225 w 156000"/>
                  <a:gd name="csY0" fmla="*/ 195000 h 195000"/>
                  <a:gd name="csX1" fmla="*/ 19500 w 156000"/>
                  <a:gd name="csY1" fmla="*/ 195000 h 195000"/>
                  <a:gd name="csX2" fmla="*/ 0 w 156000"/>
                  <a:gd name="csY2" fmla="*/ 175500 h 195000"/>
                  <a:gd name="csX3" fmla="*/ 0 w 156000"/>
                  <a:gd name="csY3" fmla="*/ 19500 h 195000"/>
                  <a:gd name="csX4" fmla="*/ 19500 w 156000"/>
                  <a:gd name="csY4" fmla="*/ 0 h 195000"/>
                  <a:gd name="csX5" fmla="*/ 97500 w 156000"/>
                  <a:gd name="csY5" fmla="*/ 0 h 195000"/>
                  <a:gd name="csX6" fmla="*/ 114134 w 156000"/>
                  <a:gd name="csY6" fmla="*/ 6884 h 195000"/>
                  <a:gd name="csX7" fmla="*/ 149126 w 156000"/>
                  <a:gd name="csY7" fmla="*/ 41867 h 195000"/>
                  <a:gd name="csX8" fmla="*/ 156000 w 156000"/>
                  <a:gd name="csY8" fmla="*/ 58500 h 195000"/>
                  <a:gd name="csX9" fmla="*/ 156000 w 156000"/>
                  <a:gd name="csY9" fmla="*/ 90188 h 195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56000" h="195000">
                    <a:moveTo>
                      <a:pt x="69225" y="195000"/>
                    </a:moveTo>
                    <a:lnTo>
                      <a:pt x="19500" y="195000"/>
                    </a:lnTo>
                    <a:cubicBezTo>
                      <a:pt x="8730" y="195000"/>
                      <a:pt x="0" y="186270"/>
                      <a:pt x="0" y="175500"/>
                    </a:cubicBezTo>
                    <a:lnTo>
                      <a:pt x="0" y="19500"/>
                    </a:lnTo>
                    <a:cubicBezTo>
                      <a:pt x="0" y="8731"/>
                      <a:pt x="8730" y="0"/>
                      <a:pt x="19500" y="0"/>
                    </a:cubicBezTo>
                    <a:lnTo>
                      <a:pt x="97500" y="0"/>
                    </a:lnTo>
                    <a:cubicBezTo>
                      <a:pt x="103741" y="-15"/>
                      <a:pt x="109728" y="2463"/>
                      <a:pt x="114134" y="6884"/>
                    </a:cubicBezTo>
                    <a:lnTo>
                      <a:pt x="149126" y="41867"/>
                    </a:lnTo>
                    <a:cubicBezTo>
                      <a:pt x="153543" y="46273"/>
                      <a:pt x="156018" y="52261"/>
                      <a:pt x="156000" y="58500"/>
                    </a:cubicBezTo>
                    <a:lnTo>
                      <a:pt x="156000" y="90188"/>
                    </a:lnTo>
                  </a:path>
                </a:pathLst>
              </a:custGeom>
              <a:noFill/>
              <a:ln w="19050" cap="rnd">
                <a:solidFill>
                  <a:srgbClr val="3DAFD3"/>
                </a:solidFill>
                <a:prstDash val="solid"/>
                <a:round/>
              </a:ln>
            </p:spPr>
            <p:txBody>
              <a:bodyPr/>
              <a:lstStyle/>
              <a:p>
                <a:endParaRPr lang="en-US"/>
              </a:p>
            </p:txBody>
          </p:sp>
          <p:sp>
            <p:nvSpPr>
              <p:cNvPr id="461" name="Figura a mano libera: forma 460">
                <a:extLst>
                  <a:ext uri="{FF2B5EF4-FFF2-40B4-BE49-F238E27FC236}">
                    <a16:creationId xmlns:a16="http://schemas.microsoft.com/office/drawing/2014/main" id="{E7C58299-CFE0-F21F-FD72-C5EABBF26DE5}"/>
                  </a:ext>
                </a:extLst>
              </p:cNvPr>
              <p:cNvSpPr>
                <a:spLocks/>
              </p:cNvSpPr>
              <p:nvPr/>
            </p:nvSpPr>
            <p:spPr>
              <a:xfrm>
                <a:off x="5147415" y="1369851"/>
                <a:ext cx="58500" cy="58500"/>
              </a:xfrm>
              <a:custGeom>
                <a:avLst/>
                <a:gdLst>
                  <a:gd name="csX0" fmla="*/ 0 w 58500"/>
                  <a:gd name="csY0" fmla="*/ 0 h 58500"/>
                  <a:gd name="csX1" fmla="*/ 0 w 58500"/>
                  <a:gd name="csY1" fmla="*/ 48750 h 58500"/>
                  <a:gd name="csX2" fmla="*/ 9750 w 58500"/>
                  <a:gd name="csY2" fmla="*/ 58500 h 58500"/>
                  <a:gd name="csX3" fmla="*/ 58500 w 58500"/>
                  <a:gd name="csY3" fmla="*/ 58500 h 58500"/>
                </a:gdLst>
                <a:ahLst/>
                <a:cxnLst>
                  <a:cxn ang="0">
                    <a:pos x="csX0" y="csY0"/>
                  </a:cxn>
                  <a:cxn ang="0">
                    <a:pos x="csX1" y="csY1"/>
                  </a:cxn>
                  <a:cxn ang="0">
                    <a:pos x="csX2" y="csY2"/>
                  </a:cxn>
                  <a:cxn ang="0">
                    <a:pos x="csX3" y="csY3"/>
                  </a:cxn>
                </a:cxnLst>
                <a:rect l="l" t="t" r="r" b="b"/>
                <a:pathLst>
                  <a:path w="58500" h="58500">
                    <a:moveTo>
                      <a:pt x="0" y="0"/>
                    </a:moveTo>
                    <a:lnTo>
                      <a:pt x="0" y="48750"/>
                    </a:lnTo>
                    <a:cubicBezTo>
                      <a:pt x="0" y="54135"/>
                      <a:pt x="4365" y="58500"/>
                      <a:pt x="9750" y="58500"/>
                    </a:cubicBezTo>
                    <a:lnTo>
                      <a:pt x="58500" y="58500"/>
                    </a:lnTo>
                  </a:path>
                </a:pathLst>
              </a:custGeom>
              <a:noFill/>
              <a:ln w="19050" cap="rnd">
                <a:solidFill>
                  <a:srgbClr val="3DAFD3"/>
                </a:solidFill>
                <a:prstDash val="solid"/>
                <a:round/>
              </a:ln>
            </p:spPr>
            <p:txBody>
              <a:bodyPr/>
              <a:lstStyle/>
              <a:p>
                <a:endParaRPr lang="en-US"/>
              </a:p>
            </p:txBody>
          </p:sp>
          <p:sp>
            <p:nvSpPr>
              <p:cNvPr id="462" name="Figura a mano libera: forma 461">
                <a:extLst>
                  <a:ext uri="{FF2B5EF4-FFF2-40B4-BE49-F238E27FC236}">
                    <a16:creationId xmlns:a16="http://schemas.microsoft.com/office/drawing/2014/main" id="{9D10A11D-09B1-4345-BEC8-4CFA4148A190}"/>
                  </a:ext>
                </a:extLst>
              </p:cNvPr>
              <p:cNvSpPr>
                <a:spLocks/>
              </p:cNvSpPr>
              <p:nvPr/>
            </p:nvSpPr>
            <p:spPr>
              <a:xfrm>
                <a:off x="5187585" y="1536771"/>
                <a:ext cx="28079" cy="28079"/>
              </a:xfrm>
              <a:custGeom>
                <a:avLst/>
                <a:gdLst>
                  <a:gd name="csX0" fmla="*/ 28080 w 28079"/>
                  <a:gd name="csY0" fmla="*/ 28080 h 28079"/>
                  <a:gd name="csX1" fmla="*/ 0 w 28079"/>
                  <a:gd name="csY1" fmla="*/ 0 h 28079"/>
                </a:gdLst>
                <a:ahLst/>
                <a:cxnLst>
                  <a:cxn ang="0">
                    <a:pos x="csX0" y="csY0"/>
                  </a:cxn>
                  <a:cxn ang="0">
                    <a:pos x="csX1" y="csY1"/>
                  </a:cxn>
                </a:cxnLst>
                <a:rect l="l" t="t" r="r" b="b"/>
                <a:pathLst>
                  <a:path w="28079" h="28079">
                    <a:moveTo>
                      <a:pt x="28080" y="28080"/>
                    </a:moveTo>
                    <a:lnTo>
                      <a:pt x="0" y="0"/>
                    </a:lnTo>
                  </a:path>
                </a:pathLst>
              </a:custGeom>
              <a:noFill/>
              <a:ln w="19050" cap="rnd">
                <a:solidFill>
                  <a:srgbClr val="3DAFD3"/>
                </a:solidFill>
                <a:prstDash val="solid"/>
                <a:round/>
              </a:ln>
            </p:spPr>
            <p:txBody>
              <a:bodyPr/>
              <a:lstStyle/>
              <a:p>
                <a:endParaRPr lang="en-US"/>
              </a:p>
            </p:txBody>
          </p:sp>
          <p:sp>
            <p:nvSpPr>
              <p:cNvPr id="463" name="Ovale 462">
                <a:extLst>
                  <a:ext uri="{FF2B5EF4-FFF2-40B4-BE49-F238E27FC236}">
                    <a16:creationId xmlns:a16="http://schemas.microsoft.com/office/drawing/2014/main" id="{CDBBCD4F-0711-EC99-B536-9BEC373483E9}"/>
                  </a:ext>
                </a:extLst>
              </p:cNvPr>
              <p:cNvSpPr>
                <a:spLocks/>
              </p:cNvSpPr>
              <p:nvPr/>
            </p:nvSpPr>
            <p:spPr>
              <a:xfrm>
                <a:off x="5137665" y="1486851"/>
                <a:ext cx="58500" cy="58500"/>
              </a:xfrm>
              <a:prstGeom prst="ellipse">
                <a:avLst/>
              </a:prstGeom>
              <a:noFill/>
              <a:ln w="19050" cap="rnd">
                <a:solidFill>
                  <a:srgbClr val="3DAFD3"/>
                </a:solidFill>
                <a:prstDash val="solid"/>
                <a:round/>
              </a:ln>
            </p:spPr>
            <p:txBody>
              <a:bodyPr/>
              <a:lstStyle/>
              <a:p>
                <a:endParaRPr lang="en-US"/>
              </a:p>
            </p:txBody>
          </p:sp>
          <p:sp>
            <p:nvSpPr>
              <p:cNvPr id="308" name="Ovale 307">
                <a:extLst>
                  <a:ext uri="{FF2B5EF4-FFF2-40B4-BE49-F238E27FC236}">
                    <a16:creationId xmlns:a16="http://schemas.microsoft.com/office/drawing/2014/main" id="{D6319556-F062-0E65-EF03-773A1BAB2154}"/>
                  </a:ext>
                </a:extLst>
              </p:cNvPr>
              <p:cNvSpPr>
                <a:spLocks/>
              </p:cNvSpPr>
              <p:nvPr/>
            </p:nvSpPr>
            <p:spPr>
              <a:xfrm>
                <a:off x="4870870" y="1939438"/>
                <a:ext cx="514090" cy="514089"/>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6" name="Tittle Function 01…">
                <a:extLst>
                  <a:ext uri="{FF2B5EF4-FFF2-40B4-BE49-F238E27FC236}">
                    <a16:creationId xmlns:a16="http://schemas.microsoft.com/office/drawing/2014/main" id="{E87B3099-9001-45B0-C4BF-887A8F440060}"/>
                  </a:ext>
                </a:extLst>
              </p:cNvPr>
              <p:cNvSpPr txBox="1">
                <a:spLocks/>
              </p:cNvSpPr>
              <p:nvPr/>
            </p:nvSpPr>
            <p:spPr>
              <a:xfrm>
                <a:off x="5517118" y="1948784"/>
                <a:ext cx="149343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Quality gate</a:t>
                </a:r>
                <a:endParaRPr lang="it-IT" sz="950" b="1" spc="-10" dirty="0">
                  <a:latin typeface="Poppins SemiBold" panose="00000700000000000000" pitchFamily="2" charset="0"/>
                  <a:cs typeface="Poppins SemiBold" panose="00000700000000000000" pitchFamily="2" charset="0"/>
                </a:endParaRPr>
              </a:p>
            </p:txBody>
          </p:sp>
          <p:sp>
            <p:nvSpPr>
              <p:cNvPr id="307" name="CasellaDiTesto 306">
                <a:extLst>
                  <a:ext uri="{FF2B5EF4-FFF2-40B4-BE49-F238E27FC236}">
                    <a16:creationId xmlns:a16="http://schemas.microsoft.com/office/drawing/2014/main" id="{8AB4BDA2-4286-C2F4-B05B-617AC193E25A}"/>
                  </a:ext>
                </a:extLst>
              </p:cNvPr>
              <p:cNvSpPr txBox="1">
                <a:spLocks/>
              </p:cNvSpPr>
              <p:nvPr/>
            </p:nvSpPr>
            <p:spPr>
              <a:xfrm>
                <a:off x="5517118" y="2094978"/>
                <a:ext cx="1828201" cy="353943"/>
              </a:xfrm>
              <a:prstGeom prst="rect">
                <a:avLst/>
              </a:prstGeom>
              <a:noFill/>
            </p:spPr>
            <p:txBody>
              <a:bodyPr wrap="square" lIns="0" rIns="0" rtlCol="0">
                <a:spAutoFit/>
              </a:bodyPr>
              <a:lstStyle/>
              <a:p>
                <a:r>
                  <a:rPr lang="it-IT" sz="850" dirty="0"/>
                  <a:t>Controlli su formati, scarti, quadrature e regole di qualità.</a:t>
                </a:r>
                <a:endParaRPr lang="en-US" sz="850" dirty="0"/>
              </a:p>
            </p:txBody>
          </p:sp>
          <p:sp>
            <p:nvSpPr>
              <p:cNvPr id="465" name="Figura a mano libera: forma 464">
                <a:extLst>
                  <a:ext uri="{FF2B5EF4-FFF2-40B4-BE49-F238E27FC236}">
                    <a16:creationId xmlns:a16="http://schemas.microsoft.com/office/drawing/2014/main" id="{DE54FB7A-5680-CA84-57CC-E3050574FA7F}"/>
                  </a:ext>
                </a:extLst>
              </p:cNvPr>
              <p:cNvSpPr>
                <a:spLocks/>
              </p:cNvSpPr>
              <p:nvPr/>
            </p:nvSpPr>
            <p:spPr>
              <a:xfrm>
                <a:off x="5173349" y="2241916"/>
                <a:ext cx="42315" cy="42315"/>
              </a:xfrm>
              <a:custGeom>
                <a:avLst/>
                <a:gdLst>
                  <a:gd name="csX0" fmla="*/ 42315 w 42315"/>
                  <a:gd name="csY0" fmla="*/ 42315 h 42315"/>
                  <a:gd name="csX1" fmla="*/ 0 w 42315"/>
                  <a:gd name="csY1" fmla="*/ 0 h 42315"/>
                </a:gdLst>
                <a:ahLst/>
                <a:cxnLst>
                  <a:cxn ang="0">
                    <a:pos x="csX0" y="csY0"/>
                  </a:cxn>
                  <a:cxn ang="0">
                    <a:pos x="csX1" y="csY1"/>
                  </a:cxn>
                </a:cxnLst>
                <a:rect l="l" t="t" r="r" b="b"/>
                <a:pathLst>
                  <a:path w="42315" h="42315">
                    <a:moveTo>
                      <a:pt x="42315" y="42315"/>
                    </a:moveTo>
                    <a:lnTo>
                      <a:pt x="0" y="0"/>
                    </a:lnTo>
                  </a:path>
                </a:pathLst>
              </a:custGeom>
              <a:noFill/>
              <a:ln w="19050" cap="rnd">
                <a:solidFill>
                  <a:srgbClr val="3DAFD3"/>
                </a:solidFill>
                <a:prstDash val="solid"/>
                <a:round/>
              </a:ln>
            </p:spPr>
            <p:txBody>
              <a:bodyPr/>
              <a:lstStyle/>
              <a:p>
                <a:endParaRPr lang="en-US"/>
              </a:p>
            </p:txBody>
          </p:sp>
          <p:sp>
            <p:nvSpPr>
              <p:cNvPr id="466" name="Ovale 465">
                <a:extLst>
                  <a:ext uri="{FF2B5EF4-FFF2-40B4-BE49-F238E27FC236}">
                    <a16:creationId xmlns:a16="http://schemas.microsoft.com/office/drawing/2014/main" id="{BBA85B54-6496-7F6C-6137-D4C27E8CDB2A}"/>
                  </a:ext>
                </a:extLst>
              </p:cNvPr>
              <p:cNvSpPr>
                <a:spLocks/>
              </p:cNvSpPr>
              <p:nvPr/>
            </p:nvSpPr>
            <p:spPr>
              <a:xfrm>
                <a:off x="5040165" y="2108732"/>
                <a:ext cx="156000" cy="156000"/>
              </a:xfrm>
              <a:prstGeom prst="ellipse">
                <a:avLst/>
              </a:prstGeom>
              <a:noFill/>
              <a:ln w="19050" cap="rnd">
                <a:solidFill>
                  <a:srgbClr val="3DAFD3"/>
                </a:solidFill>
                <a:prstDash val="solid"/>
                <a:round/>
              </a:ln>
            </p:spPr>
            <p:txBody>
              <a:bodyPr/>
              <a:lstStyle/>
              <a:p>
                <a:endParaRPr lang="en-US"/>
              </a:p>
            </p:txBody>
          </p:sp>
          <p:sp>
            <p:nvSpPr>
              <p:cNvPr id="302" name="Ovale 301">
                <a:extLst>
                  <a:ext uri="{FF2B5EF4-FFF2-40B4-BE49-F238E27FC236}">
                    <a16:creationId xmlns:a16="http://schemas.microsoft.com/office/drawing/2014/main" id="{3B16A5F7-3E44-A08E-995A-F03C6DC44BC6}"/>
                  </a:ext>
                </a:extLst>
              </p:cNvPr>
              <p:cNvSpPr>
                <a:spLocks/>
              </p:cNvSpPr>
              <p:nvPr/>
            </p:nvSpPr>
            <p:spPr>
              <a:xfrm>
                <a:off x="4870869" y="2668569"/>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0" name="Tittle Function 01…">
                <a:extLst>
                  <a:ext uri="{FF2B5EF4-FFF2-40B4-BE49-F238E27FC236}">
                    <a16:creationId xmlns:a16="http://schemas.microsoft.com/office/drawing/2014/main" id="{F609E488-2026-7EA7-5A5F-CFAFC1DA4373}"/>
                  </a:ext>
                </a:extLst>
              </p:cNvPr>
              <p:cNvSpPr txBox="1">
                <a:spLocks/>
              </p:cNvSpPr>
              <p:nvPr/>
            </p:nvSpPr>
            <p:spPr>
              <a:xfrm>
                <a:off x="5517118" y="2679108"/>
                <a:ext cx="149343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Logica di business</a:t>
                </a:r>
                <a:endParaRPr lang="it-IT" sz="950" b="1" spc="-10" dirty="0">
                  <a:latin typeface="Poppins SemiBold" panose="00000700000000000000" pitchFamily="2" charset="0"/>
                  <a:cs typeface="Poppins SemiBold" panose="00000700000000000000" pitchFamily="2" charset="0"/>
                </a:endParaRPr>
              </a:p>
            </p:txBody>
          </p:sp>
          <p:sp>
            <p:nvSpPr>
              <p:cNvPr id="301" name="CasellaDiTesto 300">
                <a:extLst>
                  <a:ext uri="{FF2B5EF4-FFF2-40B4-BE49-F238E27FC236}">
                    <a16:creationId xmlns:a16="http://schemas.microsoft.com/office/drawing/2014/main" id="{1A75AF84-0F57-683B-313C-790F1229C459}"/>
                  </a:ext>
                </a:extLst>
              </p:cNvPr>
              <p:cNvSpPr txBox="1">
                <a:spLocks/>
              </p:cNvSpPr>
              <p:nvPr/>
            </p:nvSpPr>
            <p:spPr>
              <a:xfrm>
                <a:off x="5517118" y="2825302"/>
                <a:ext cx="1828201" cy="353943"/>
              </a:xfrm>
              <a:prstGeom prst="rect">
                <a:avLst/>
              </a:prstGeom>
              <a:noFill/>
            </p:spPr>
            <p:txBody>
              <a:bodyPr wrap="square" lIns="0" rIns="0" rtlCol="0">
                <a:spAutoFit/>
              </a:bodyPr>
              <a:lstStyle/>
              <a:p>
                <a:r>
                  <a:rPr lang="it-IT" sz="850" dirty="0"/>
                  <a:t>Regole, calcoli e aggregazioni definite e condivise.</a:t>
                </a:r>
                <a:endParaRPr lang="en-US" sz="850" dirty="0"/>
              </a:p>
            </p:txBody>
          </p:sp>
          <p:sp>
            <p:nvSpPr>
              <p:cNvPr id="468" name="Figura a mano libera: forma 467">
                <a:extLst>
                  <a:ext uri="{FF2B5EF4-FFF2-40B4-BE49-F238E27FC236}">
                    <a16:creationId xmlns:a16="http://schemas.microsoft.com/office/drawing/2014/main" id="{F56D72E2-D979-68F5-EA77-C04D9ACDEE59}"/>
                  </a:ext>
                </a:extLst>
              </p:cNvPr>
              <p:cNvSpPr>
                <a:spLocks/>
              </p:cNvSpPr>
              <p:nvPr/>
            </p:nvSpPr>
            <p:spPr>
              <a:xfrm>
                <a:off x="5040164" y="2828133"/>
                <a:ext cx="175500" cy="194960"/>
              </a:xfrm>
              <a:custGeom>
                <a:avLst/>
                <a:gdLst>
                  <a:gd name="csX0" fmla="*/ 175500 w 175500"/>
                  <a:gd name="csY0" fmla="*/ 58480 h 194960"/>
                  <a:gd name="csX1" fmla="*/ 165750 w 175500"/>
                  <a:gd name="csY1" fmla="*/ 41613 h 194960"/>
                  <a:gd name="csX2" fmla="*/ 97500 w 175500"/>
                  <a:gd name="csY2" fmla="*/ 2613 h 194960"/>
                  <a:gd name="csX3" fmla="*/ 78000 w 175500"/>
                  <a:gd name="csY3" fmla="*/ 2613 h 194960"/>
                  <a:gd name="csX4" fmla="*/ 9750 w 175500"/>
                  <a:gd name="csY4" fmla="*/ 41613 h 194960"/>
                  <a:gd name="csX5" fmla="*/ 0 w 175500"/>
                  <a:gd name="csY5" fmla="*/ 58480 h 194960"/>
                  <a:gd name="csX6" fmla="*/ 0 w 175500"/>
                  <a:gd name="csY6" fmla="*/ 136480 h 194960"/>
                  <a:gd name="csX7" fmla="*/ 9750 w 175500"/>
                  <a:gd name="csY7" fmla="*/ 153348 h 194960"/>
                  <a:gd name="csX8" fmla="*/ 78000 w 175500"/>
                  <a:gd name="csY8" fmla="*/ 192348 h 194960"/>
                  <a:gd name="csX9" fmla="*/ 97500 w 175500"/>
                  <a:gd name="csY9" fmla="*/ 192348 h 194960"/>
                  <a:gd name="csX10" fmla="*/ 165750 w 175500"/>
                  <a:gd name="csY10" fmla="*/ 153348 h 194960"/>
                  <a:gd name="csX11" fmla="*/ 175500 w 175500"/>
                  <a:gd name="csY11" fmla="*/ 136480 h 194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75500" h="194960">
                    <a:moveTo>
                      <a:pt x="175500" y="58480"/>
                    </a:moveTo>
                    <a:cubicBezTo>
                      <a:pt x="175493" y="51520"/>
                      <a:pt x="171777" y="45092"/>
                      <a:pt x="165750" y="41613"/>
                    </a:cubicBezTo>
                    <a:lnTo>
                      <a:pt x="97500" y="2613"/>
                    </a:lnTo>
                    <a:cubicBezTo>
                      <a:pt x="91467" y="-871"/>
                      <a:pt x="84033" y="-871"/>
                      <a:pt x="78000" y="2613"/>
                    </a:cubicBezTo>
                    <a:lnTo>
                      <a:pt x="9750" y="41613"/>
                    </a:lnTo>
                    <a:cubicBezTo>
                      <a:pt x="3723" y="45092"/>
                      <a:pt x="7" y="51520"/>
                      <a:pt x="0" y="58480"/>
                    </a:cubicBezTo>
                    <a:lnTo>
                      <a:pt x="0" y="136480"/>
                    </a:lnTo>
                    <a:cubicBezTo>
                      <a:pt x="7" y="143440"/>
                      <a:pt x="3723" y="149868"/>
                      <a:pt x="9750" y="153348"/>
                    </a:cubicBezTo>
                    <a:lnTo>
                      <a:pt x="78000" y="192348"/>
                    </a:lnTo>
                    <a:cubicBezTo>
                      <a:pt x="84033" y="195831"/>
                      <a:pt x="91467" y="195831"/>
                      <a:pt x="97500" y="192348"/>
                    </a:cubicBezTo>
                    <a:lnTo>
                      <a:pt x="165750" y="153348"/>
                    </a:lnTo>
                    <a:cubicBezTo>
                      <a:pt x="171777" y="149868"/>
                      <a:pt x="175493" y="143440"/>
                      <a:pt x="175500" y="136480"/>
                    </a:cubicBezTo>
                    <a:close/>
                  </a:path>
                </a:pathLst>
              </a:custGeom>
              <a:noFill/>
              <a:ln w="19050" cap="rnd">
                <a:solidFill>
                  <a:srgbClr val="3DAFD3"/>
                </a:solidFill>
                <a:prstDash val="solid"/>
                <a:round/>
              </a:ln>
            </p:spPr>
            <p:txBody>
              <a:bodyPr/>
              <a:lstStyle/>
              <a:p>
                <a:endParaRPr lang="en-US"/>
              </a:p>
            </p:txBody>
          </p:sp>
          <p:sp>
            <p:nvSpPr>
              <p:cNvPr id="469" name="Figura a mano libera: forma 468">
                <a:extLst>
                  <a:ext uri="{FF2B5EF4-FFF2-40B4-BE49-F238E27FC236}">
                    <a16:creationId xmlns:a16="http://schemas.microsoft.com/office/drawing/2014/main" id="{86AA1883-ACFF-900C-CED8-7308B7F84B40}"/>
                  </a:ext>
                </a:extLst>
              </p:cNvPr>
              <p:cNvSpPr>
                <a:spLocks/>
              </p:cNvSpPr>
              <p:nvPr/>
            </p:nvSpPr>
            <p:spPr>
              <a:xfrm>
                <a:off x="5043088" y="2876864"/>
                <a:ext cx="169650" cy="48750"/>
              </a:xfrm>
              <a:custGeom>
                <a:avLst/>
                <a:gdLst>
                  <a:gd name="csX0" fmla="*/ 0 w 169650"/>
                  <a:gd name="csY0" fmla="*/ 0 h 48750"/>
                  <a:gd name="csX1" fmla="*/ 84825 w 169650"/>
                  <a:gd name="csY1" fmla="*/ 48750 h 48750"/>
                  <a:gd name="csX2" fmla="*/ 169650 w 169650"/>
                  <a:gd name="csY2" fmla="*/ 0 h 48750"/>
                </a:gdLst>
                <a:ahLst/>
                <a:cxnLst>
                  <a:cxn ang="0">
                    <a:pos x="csX0" y="csY0"/>
                  </a:cxn>
                  <a:cxn ang="0">
                    <a:pos x="csX1" y="csY1"/>
                  </a:cxn>
                  <a:cxn ang="0">
                    <a:pos x="csX2" y="csY2"/>
                  </a:cxn>
                </a:cxnLst>
                <a:rect l="l" t="t" r="r" b="b"/>
                <a:pathLst>
                  <a:path w="169650" h="48750">
                    <a:moveTo>
                      <a:pt x="0" y="0"/>
                    </a:moveTo>
                    <a:lnTo>
                      <a:pt x="84825" y="48750"/>
                    </a:lnTo>
                    <a:lnTo>
                      <a:pt x="169650" y="0"/>
                    </a:lnTo>
                  </a:path>
                </a:pathLst>
              </a:custGeom>
              <a:noFill/>
              <a:ln w="19050" cap="rnd">
                <a:solidFill>
                  <a:srgbClr val="3DAFD3"/>
                </a:solidFill>
                <a:prstDash val="solid"/>
                <a:round/>
              </a:ln>
            </p:spPr>
            <p:txBody>
              <a:bodyPr/>
              <a:lstStyle/>
              <a:p>
                <a:endParaRPr lang="en-US"/>
              </a:p>
            </p:txBody>
          </p:sp>
          <p:sp>
            <p:nvSpPr>
              <p:cNvPr id="470" name="Figura a mano libera: forma 469">
                <a:extLst>
                  <a:ext uri="{FF2B5EF4-FFF2-40B4-BE49-F238E27FC236}">
                    <a16:creationId xmlns:a16="http://schemas.microsoft.com/office/drawing/2014/main" id="{817AFFCD-858D-D089-8B32-04AC79A98E54}"/>
                  </a:ext>
                </a:extLst>
              </p:cNvPr>
              <p:cNvSpPr>
                <a:spLocks/>
              </p:cNvSpPr>
              <p:nvPr/>
            </p:nvSpPr>
            <p:spPr>
              <a:xfrm>
                <a:off x="5127914" y="2925614"/>
                <a:ext cx="9750" cy="97500"/>
              </a:xfrm>
              <a:custGeom>
                <a:avLst/>
                <a:gdLst>
                  <a:gd name="csX0" fmla="*/ 0 w 9750"/>
                  <a:gd name="csY0" fmla="*/ 97500 h 97500"/>
                  <a:gd name="csX1" fmla="*/ 0 w 9750"/>
                  <a:gd name="csY1" fmla="*/ 0 h 97500"/>
                </a:gdLst>
                <a:ahLst/>
                <a:cxnLst>
                  <a:cxn ang="0">
                    <a:pos x="csX0" y="csY0"/>
                  </a:cxn>
                  <a:cxn ang="0">
                    <a:pos x="csX1" y="csY1"/>
                  </a:cxn>
                </a:cxnLst>
                <a:rect l="l" t="t" r="r" b="b"/>
                <a:pathLst>
                  <a:path w="9750" h="97500">
                    <a:moveTo>
                      <a:pt x="0" y="97500"/>
                    </a:moveTo>
                    <a:lnTo>
                      <a:pt x="0" y="0"/>
                    </a:lnTo>
                  </a:path>
                </a:pathLst>
              </a:custGeom>
              <a:noFill/>
              <a:ln w="19050" cap="rnd">
                <a:solidFill>
                  <a:srgbClr val="3DAFD3"/>
                </a:solidFill>
                <a:prstDash val="solid"/>
                <a:round/>
              </a:ln>
            </p:spPr>
            <p:txBody>
              <a:bodyPr/>
              <a:lstStyle/>
              <a:p>
                <a:endParaRPr lang="en-US"/>
              </a:p>
            </p:txBody>
          </p:sp>
          <p:sp>
            <p:nvSpPr>
              <p:cNvPr id="296" name="Ovale 295">
                <a:extLst>
                  <a:ext uri="{FF2B5EF4-FFF2-40B4-BE49-F238E27FC236}">
                    <a16:creationId xmlns:a16="http://schemas.microsoft.com/office/drawing/2014/main" id="{4C0AC8BF-0E77-76FD-55C0-0845C8273EBF}"/>
                  </a:ext>
                </a:extLst>
              </p:cNvPr>
              <p:cNvSpPr>
                <a:spLocks/>
              </p:cNvSpPr>
              <p:nvPr/>
            </p:nvSpPr>
            <p:spPr>
              <a:xfrm>
                <a:off x="4870869" y="3397701"/>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Tittle Function 01…">
                <a:extLst>
                  <a:ext uri="{FF2B5EF4-FFF2-40B4-BE49-F238E27FC236}">
                    <a16:creationId xmlns:a16="http://schemas.microsoft.com/office/drawing/2014/main" id="{A01F0B93-03B4-60C8-1EAA-9CE674EE32EE}"/>
                  </a:ext>
                </a:extLst>
              </p:cNvPr>
              <p:cNvSpPr txBox="1">
                <a:spLocks/>
              </p:cNvSpPr>
              <p:nvPr/>
            </p:nvSpPr>
            <p:spPr>
              <a:xfrm>
                <a:off x="5517119" y="3404678"/>
                <a:ext cx="149343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Data product</a:t>
                </a:r>
                <a:endParaRPr lang="it-IT" sz="950" b="1" spc="-10" dirty="0">
                  <a:latin typeface="Poppins SemiBold" panose="00000700000000000000" pitchFamily="2" charset="0"/>
                  <a:cs typeface="Poppins SemiBold" panose="00000700000000000000" pitchFamily="2" charset="0"/>
                </a:endParaRPr>
              </a:p>
            </p:txBody>
          </p:sp>
          <p:sp>
            <p:nvSpPr>
              <p:cNvPr id="295" name="CasellaDiTesto 294">
                <a:extLst>
                  <a:ext uri="{FF2B5EF4-FFF2-40B4-BE49-F238E27FC236}">
                    <a16:creationId xmlns:a16="http://schemas.microsoft.com/office/drawing/2014/main" id="{83E9E340-0BBA-D6CA-6EFF-628D5A0E7906}"/>
                  </a:ext>
                </a:extLst>
              </p:cNvPr>
              <p:cNvSpPr txBox="1">
                <a:spLocks/>
              </p:cNvSpPr>
              <p:nvPr/>
            </p:nvSpPr>
            <p:spPr>
              <a:xfrm>
                <a:off x="5517119" y="3550872"/>
                <a:ext cx="1828201" cy="353943"/>
              </a:xfrm>
              <a:prstGeom prst="rect">
                <a:avLst/>
              </a:prstGeom>
              <a:noFill/>
            </p:spPr>
            <p:txBody>
              <a:bodyPr wrap="square" lIns="0" rIns="0" rtlCol="0">
                <a:spAutoFit/>
              </a:bodyPr>
              <a:lstStyle/>
              <a:p>
                <a:r>
                  <a:rPr lang="it-IT" sz="850" dirty="0"/>
                  <a:t>Mart, output regolamentari e dati pronti per la B.I.</a:t>
                </a:r>
                <a:endParaRPr lang="en-US" sz="850" dirty="0"/>
              </a:p>
            </p:txBody>
          </p:sp>
          <p:cxnSp>
            <p:nvCxnSpPr>
              <p:cNvPr id="345" name="Connettore diritto 344">
                <a:extLst>
                  <a:ext uri="{FF2B5EF4-FFF2-40B4-BE49-F238E27FC236}">
                    <a16:creationId xmlns:a16="http://schemas.microsoft.com/office/drawing/2014/main" id="{B7114616-2F0C-EB50-E040-BC5472BE3291}"/>
                  </a:ext>
                </a:extLst>
              </p:cNvPr>
              <p:cNvCxnSpPr>
                <a:cxnSpLocks/>
              </p:cNvCxnSpPr>
              <p:nvPr/>
            </p:nvCxnSpPr>
            <p:spPr>
              <a:xfrm>
                <a:off x="4915319" y="4019312"/>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sp>
            <p:nvSpPr>
              <p:cNvPr id="472" name="Ovale 471">
                <a:extLst>
                  <a:ext uri="{FF2B5EF4-FFF2-40B4-BE49-F238E27FC236}">
                    <a16:creationId xmlns:a16="http://schemas.microsoft.com/office/drawing/2014/main" id="{A50378BA-A0AA-1DFB-1826-D6A0D1AE1607}"/>
                  </a:ext>
                </a:extLst>
              </p:cNvPr>
              <p:cNvSpPr>
                <a:spLocks/>
              </p:cNvSpPr>
              <p:nvPr/>
            </p:nvSpPr>
            <p:spPr>
              <a:xfrm>
                <a:off x="5040164" y="3557246"/>
                <a:ext cx="175500" cy="58500"/>
              </a:xfrm>
              <a:prstGeom prst="ellipse">
                <a:avLst/>
              </a:prstGeom>
              <a:noFill/>
              <a:ln w="19050" cap="rnd">
                <a:solidFill>
                  <a:srgbClr val="3DAFD3"/>
                </a:solidFill>
                <a:prstDash val="solid"/>
                <a:round/>
              </a:ln>
            </p:spPr>
            <p:txBody>
              <a:bodyPr/>
              <a:lstStyle/>
              <a:p>
                <a:endParaRPr lang="en-US"/>
              </a:p>
            </p:txBody>
          </p:sp>
          <p:sp>
            <p:nvSpPr>
              <p:cNvPr id="473" name="Figura a mano libera: forma 472">
                <a:extLst>
                  <a:ext uri="{FF2B5EF4-FFF2-40B4-BE49-F238E27FC236}">
                    <a16:creationId xmlns:a16="http://schemas.microsoft.com/office/drawing/2014/main" id="{84342ADA-F46C-9AE0-5F5B-D15A80077A4F}"/>
                  </a:ext>
                </a:extLst>
              </p:cNvPr>
              <p:cNvSpPr>
                <a:spLocks/>
              </p:cNvSpPr>
              <p:nvPr/>
            </p:nvSpPr>
            <p:spPr>
              <a:xfrm>
                <a:off x="5040164" y="3586496"/>
                <a:ext cx="175500" cy="165750"/>
              </a:xfrm>
              <a:custGeom>
                <a:avLst/>
                <a:gdLst>
                  <a:gd name="csX0" fmla="*/ 0 w 175500"/>
                  <a:gd name="csY0" fmla="*/ 0 h 165750"/>
                  <a:gd name="csX1" fmla="*/ 0 w 175500"/>
                  <a:gd name="csY1" fmla="*/ 136500 h 165750"/>
                  <a:gd name="csX2" fmla="*/ 87750 w 175500"/>
                  <a:gd name="csY2" fmla="*/ 165750 h 165750"/>
                  <a:gd name="csX3" fmla="*/ 175500 w 175500"/>
                  <a:gd name="csY3" fmla="*/ 136500 h 165750"/>
                  <a:gd name="csX4" fmla="*/ 175500 w 175500"/>
                  <a:gd name="csY4" fmla="*/ 0 h 165750"/>
                </a:gdLst>
                <a:ahLst/>
                <a:cxnLst>
                  <a:cxn ang="0">
                    <a:pos x="csX0" y="csY0"/>
                  </a:cxn>
                  <a:cxn ang="0">
                    <a:pos x="csX1" y="csY1"/>
                  </a:cxn>
                  <a:cxn ang="0">
                    <a:pos x="csX2" y="csY2"/>
                  </a:cxn>
                  <a:cxn ang="0">
                    <a:pos x="csX3" y="csY3"/>
                  </a:cxn>
                  <a:cxn ang="0">
                    <a:pos x="csX4" y="csY4"/>
                  </a:cxn>
                </a:cxnLst>
                <a:rect l="l" t="t" r="r" b="b"/>
                <a:pathLst>
                  <a:path w="175500" h="165750">
                    <a:moveTo>
                      <a:pt x="0" y="0"/>
                    </a:moveTo>
                    <a:lnTo>
                      <a:pt x="0" y="136500"/>
                    </a:lnTo>
                    <a:cubicBezTo>
                      <a:pt x="0" y="152655"/>
                      <a:pt x="39287" y="165750"/>
                      <a:pt x="87750" y="165750"/>
                    </a:cubicBezTo>
                    <a:cubicBezTo>
                      <a:pt x="136213" y="165750"/>
                      <a:pt x="175500" y="152655"/>
                      <a:pt x="175500" y="136500"/>
                    </a:cubicBezTo>
                    <a:lnTo>
                      <a:pt x="175500" y="0"/>
                    </a:lnTo>
                  </a:path>
                </a:pathLst>
              </a:custGeom>
              <a:noFill/>
              <a:ln w="19050" cap="rnd">
                <a:solidFill>
                  <a:srgbClr val="3DAFD3"/>
                </a:solidFill>
                <a:prstDash val="solid"/>
                <a:round/>
              </a:ln>
            </p:spPr>
            <p:txBody>
              <a:bodyPr/>
              <a:lstStyle/>
              <a:p>
                <a:endParaRPr lang="en-US"/>
              </a:p>
            </p:txBody>
          </p:sp>
          <p:sp>
            <p:nvSpPr>
              <p:cNvPr id="474" name="Figura a mano libera: forma 473">
                <a:extLst>
                  <a:ext uri="{FF2B5EF4-FFF2-40B4-BE49-F238E27FC236}">
                    <a16:creationId xmlns:a16="http://schemas.microsoft.com/office/drawing/2014/main" id="{0C774380-3E72-DB97-92D9-BABD29B372EB}"/>
                  </a:ext>
                </a:extLst>
              </p:cNvPr>
              <p:cNvSpPr>
                <a:spLocks/>
              </p:cNvSpPr>
              <p:nvPr/>
            </p:nvSpPr>
            <p:spPr>
              <a:xfrm>
                <a:off x="5040164" y="3654746"/>
                <a:ext cx="175500" cy="29250"/>
              </a:xfrm>
              <a:custGeom>
                <a:avLst/>
                <a:gdLst>
                  <a:gd name="csX0" fmla="*/ 0 w 175500"/>
                  <a:gd name="csY0" fmla="*/ 0 h 29250"/>
                  <a:gd name="csX1" fmla="*/ 87750 w 175500"/>
                  <a:gd name="csY1" fmla="*/ 29250 h 29250"/>
                  <a:gd name="csX2" fmla="*/ 175500 w 175500"/>
                  <a:gd name="csY2" fmla="*/ 0 h 29250"/>
                </a:gdLst>
                <a:ahLst/>
                <a:cxnLst>
                  <a:cxn ang="0">
                    <a:pos x="csX0" y="csY0"/>
                  </a:cxn>
                  <a:cxn ang="0">
                    <a:pos x="csX1" y="csY1"/>
                  </a:cxn>
                  <a:cxn ang="0">
                    <a:pos x="csX2" y="csY2"/>
                  </a:cxn>
                </a:cxnLst>
                <a:rect l="l" t="t" r="r" b="b"/>
                <a:pathLst>
                  <a:path w="175500" h="29250">
                    <a:moveTo>
                      <a:pt x="0" y="0"/>
                    </a:moveTo>
                    <a:cubicBezTo>
                      <a:pt x="0" y="16155"/>
                      <a:pt x="39287" y="29250"/>
                      <a:pt x="87750" y="29250"/>
                    </a:cubicBezTo>
                    <a:cubicBezTo>
                      <a:pt x="136213" y="29250"/>
                      <a:pt x="175500" y="16155"/>
                      <a:pt x="175500" y="0"/>
                    </a:cubicBezTo>
                  </a:path>
                </a:pathLst>
              </a:custGeom>
              <a:noFill/>
              <a:ln w="19050" cap="rnd">
                <a:solidFill>
                  <a:srgbClr val="3DAFD3"/>
                </a:solidFill>
                <a:prstDash val="solid"/>
                <a:round/>
              </a:ln>
            </p:spPr>
            <p:txBody>
              <a:bodyPr/>
              <a:lstStyle/>
              <a:p>
                <a:endParaRPr lang="en-US"/>
              </a:p>
            </p:txBody>
          </p:sp>
          <p:sp>
            <p:nvSpPr>
              <p:cNvPr id="341" name="Ovale 340">
                <a:extLst>
                  <a:ext uri="{FF2B5EF4-FFF2-40B4-BE49-F238E27FC236}">
                    <a16:creationId xmlns:a16="http://schemas.microsoft.com/office/drawing/2014/main" id="{2C1BFC79-34EA-3D19-A666-5B1BF6080E8B}"/>
                  </a:ext>
                </a:extLst>
              </p:cNvPr>
              <p:cNvSpPr>
                <a:spLocks/>
              </p:cNvSpPr>
              <p:nvPr/>
            </p:nvSpPr>
            <p:spPr>
              <a:xfrm>
                <a:off x="4866521" y="4126831"/>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Tittle Function 01…">
                <a:extLst>
                  <a:ext uri="{FF2B5EF4-FFF2-40B4-BE49-F238E27FC236}">
                    <a16:creationId xmlns:a16="http://schemas.microsoft.com/office/drawing/2014/main" id="{B8F7092B-2323-2E75-29A4-A2BE0B52561A}"/>
                  </a:ext>
                </a:extLst>
              </p:cNvPr>
              <p:cNvSpPr txBox="1">
                <a:spLocks/>
              </p:cNvSpPr>
              <p:nvPr/>
            </p:nvSpPr>
            <p:spPr>
              <a:xfrm>
                <a:off x="5512771" y="4133808"/>
                <a:ext cx="149343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Governance</a:t>
                </a:r>
                <a:endParaRPr lang="it-IT" sz="950" b="1" spc="-10" dirty="0">
                  <a:latin typeface="Poppins SemiBold" panose="00000700000000000000" pitchFamily="2" charset="0"/>
                  <a:cs typeface="Poppins SemiBold" panose="00000700000000000000" pitchFamily="2" charset="0"/>
                </a:endParaRPr>
              </a:p>
            </p:txBody>
          </p:sp>
          <p:sp>
            <p:nvSpPr>
              <p:cNvPr id="344" name="CasellaDiTesto 343">
                <a:extLst>
                  <a:ext uri="{FF2B5EF4-FFF2-40B4-BE49-F238E27FC236}">
                    <a16:creationId xmlns:a16="http://schemas.microsoft.com/office/drawing/2014/main" id="{FCB5A478-E8A4-9659-B0E6-E2D83B839ED0}"/>
                  </a:ext>
                </a:extLst>
              </p:cNvPr>
              <p:cNvSpPr txBox="1">
                <a:spLocks/>
              </p:cNvSpPr>
              <p:nvPr/>
            </p:nvSpPr>
            <p:spPr>
              <a:xfrm>
                <a:off x="5512771" y="4280002"/>
                <a:ext cx="1828201" cy="353943"/>
              </a:xfrm>
              <a:prstGeom prst="rect">
                <a:avLst/>
              </a:prstGeom>
              <a:noFill/>
            </p:spPr>
            <p:txBody>
              <a:bodyPr wrap="square" lIns="0" rIns="0" rtlCol="0">
                <a:spAutoFit/>
              </a:bodyPr>
              <a:lstStyle/>
              <a:p>
                <a:r>
                  <a:rPr lang="it-IT" sz="850" dirty="0"/>
                  <a:t>Log, audit, anomalie e ruoli per garantire tracciabilità</a:t>
                </a:r>
                <a:endParaRPr lang="en-US" sz="850" dirty="0"/>
              </a:p>
            </p:txBody>
          </p:sp>
          <p:sp>
            <p:nvSpPr>
              <p:cNvPr id="476" name="Figura a mano libera: forma 475">
                <a:extLst>
                  <a:ext uri="{FF2B5EF4-FFF2-40B4-BE49-F238E27FC236}">
                    <a16:creationId xmlns:a16="http://schemas.microsoft.com/office/drawing/2014/main" id="{77CD9A9D-8012-035E-3212-52B98BD48C36}"/>
                  </a:ext>
                </a:extLst>
              </p:cNvPr>
              <p:cNvSpPr>
                <a:spLocks/>
              </p:cNvSpPr>
              <p:nvPr/>
            </p:nvSpPr>
            <p:spPr>
              <a:xfrm>
                <a:off x="5045566" y="4286371"/>
                <a:ext cx="156000" cy="195032"/>
              </a:xfrm>
              <a:custGeom>
                <a:avLst/>
                <a:gdLst>
                  <a:gd name="csX0" fmla="*/ 156000 w 156000"/>
                  <a:gd name="csY0" fmla="*/ 107254 h 195032"/>
                  <a:gd name="csX1" fmla="*/ 81315 w 156000"/>
                  <a:gd name="csY1" fmla="*/ 194517 h 195032"/>
                  <a:gd name="csX2" fmla="*/ 74783 w 156000"/>
                  <a:gd name="csY2" fmla="*/ 194419 h 195032"/>
                  <a:gd name="csX3" fmla="*/ 0 w 156000"/>
                  <a:gd name="csY3" fmla="*/ 107254 h 195032"/>
                  <a:gd name="csX4" fmla="*/ 0 w 156000"/>
                  <a:gd name="csY4" fmla="*/ 39004 h 195032"/>
                  <a:gd name="csX5" fmla="*/ 9750 w 156000"/>
                  <a:gd name="csY5" fmla="*/ 29254 h 195032"/>
                  <a:gd name="csX6" fmla="*/ 70590 w 156000"/>
                  <a:gd name="csY6" fmla="*/ 2734 h 195032"/>
                  <a:gd name="csX7" fmla="*/ 85410 w 156000"/>
                  <a:gd name="csY7" fmla="*/ 2734 h 195032"/>
                  <a:gd name="csX8" fmla="*/ 146250 w 156000"/>
                  <a:gd name="csY8" fmla="*/ 29254 h 195032"/>
                  <a:gd name="csX9" fmla="*/ 156000 w 156000"/>
                  <a:gd name="csY9" fmla="*/ 39004 h 1950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56000" h="195032">
                    <a:moveTo>
                      <a:pt x="156000" y="107254"/>
                    </a:moveTo>
                    <a:cubicBezTo>
                      <a:pt x="156000" y="156004"/>
                      <a:pt x="121875" y="180379"/>
                      <a:pt x="81315" y="194517"/>
                    </a:cubicBezTo>
                    <a:cubicBezTo>
                      <a:pt x="79191" y="195236"/>
                      <a:pt x="76884" y="195202"/>
                      <a:pt x="74783" y="194419"/>
                    </a:cubicBezTo>
                    <a:cubicBezTo>
                      <a:pt x="34125" y="180379"/>
                      <a:pt x="0" y="156004"/>
                      <a:pt x="0" y="107254"/>
                    </a:cubicBezTo>
                    <a:lnTo>
                      <a:pt x="0" y="39004"/>
                    </a:lnTo>
                    <a:cubicBezTo>
                      <a:pt x="0" y="33620"/>
                      <a:pt x="4365" y="29254"/>
                      <a:pt x="9750" y="29254"/>
                    </a:cubicBezTo>
                    <a:cubicBezTo>
                      <a:pt x="29250" y="29254"/>
                      <a:pt x="53625" y="17554"/>
                      <a:pt x="70590" y="2734"/>
                    </a:cubicBezTo>
                    <a:cubicBezTo>
                      <a:pt x="74858" y="-911"/>
                      <a:pt x="81142" y="-911"/>
                      <a:pt x="85410" y="2734"/>
                    </a:cubicBezTo>
                    <a:cubicBezTo>
                      <a:pt x="102473" y="17652"/>
                      <a:pt x="126750" y="29254"/>
                      <a:pt x="146250" y="29254"/>
                    </a:cubicBezTo>
                    <a:cubicBezTo>
                      <a:pt x="151635" y="29254"/>
                      <a:pt x="156000" y="33620"/>
                      <a:pt x="156000" y="39004"/>
                    </a:cubicBezTo>
                    <a:close/>
                  </a:path>
                </a:pathLst>
              </a:custGeom>
              <a:noFill/>
              <a:ln w="19050" cap="rnd">
                <a:solidFill>
                  <a:srgbClr val="3DAFD3"/>
                </a:solidFill>
                <a:prstDash val="solid"/>
                <a:round/>
              </a:ln>
            </p:spPr>
            <p:txBody>
              <a:bodyPr/>
              <a:lstStyle/>
              <a:p>
                <a:endParaRPr lang="en-US"/>
              </a:p>
            </p:txBody>
          </p:sp>
          <p:sp>
            <p:nvSpPr>
              <p:cNvPr id="477" name="Figura a mano libera: forma 476">
                <a:extLst>
                  <a:ext uri="{FF2B5EF4-FFF2-40B4-BE49-F238E27FC236}">
                    <a16:creationId xmlns:a16="http://schemas.microsoft.com/office/drawing/2014/main" id="{1A49E456-19B0-1897-E1E9-680C64340CED}"/>
                  </a:ext>
                </a:extLst>
              </p:cNvPr>
              <p:cNvSpPr>
                <a:spLocks/>
              </p:cNvSpPr>
              <p:nvPr/>
            </p:nvSpPr>
            <p:spPr>
              <a:xfrm>
                <a:off x="5094316" y="4364376"/>
                <a:ext cx="58500" cy="39000"/>
              </a:xfrm>
              <a:custGeom>
                <a:avLst/>
                <a:gdLst>
                  <a:gd name="csX0" fmla="*/ 0 w 58500"/>
                  <a:gd name="csY0" fmla="*/ 19500 h 39000"/>
                  <a:gd name="csX1" fmla="*/ 19500 w 58500"/>
                  <a:gd name="csY1" fmla="*/ 39000 h 39000"/>
                  <a:gd name="csX2" fmla="*/ 58500 w 58500"/>
                  <a:gd name="csY2" fmla="*/ 0 h 39000"/>
                </a:gdLst>
                <a:ahLst/>
                <a:cxnLst>
                  <a:cxn ang="0">
                    <a:pos x="csX0" y="csY0"/>
                  </a:cxn>
                  <a:cxn ang="0">
                    <a:pos x="csX1" y="csY1"/>
                  </a:cxn>
                  <a:cxn ang="0">
                    <a:pos x="csX2" y="csY2"/>
                  </a:cxn>
                </a:cxnLst>
                <a:rect l="l" t="t" r="r" b="b"/>
                <a:pathLst>
                  <a:path w="58500" h="39000">
                    <a:moveTo>
                      <a:pt x="0" y="19500"/>
                    </a:moveTo>
                    <a:lnTo>
                      <a:pt x="19500" y="39000"/>
                    </a:lnTo>
                    <a:lnTo>
                      <a:pt x="58500" y="0"/>
                    </a:lnTo>
                  </a:path>
                </a:pathLst>
              </a:custGeom>
              <a:noFill/>
              <a:ln w="19050" cap="rnd">
                <a:solidFill>
                  <a:srgbClr val="3DAFD3"/>
                </a:solidFill>
                <a:prstDash val="solid"/>
                <a:round/>
              </a:ln>
            </p:spPr>
            <p:txBody>
              <a:bodyPr/>
              <a:lstStyle/>
              <a:p>
                <a:endParaRPr lang="en-US"/>
              </a:p>
            </p:txBody>
          </p:sp>
        </p:grpSp>
        <p:sp>
          <p:nvSpPr>
            <p:cNvPr id="23" name="Ovale 22">
              <a:extLst>
                <a:ext uri="{FF2B5EF4-FFF2-40B4-BE49-F238E27FC236}">
                  <a16:creationId xmlns:a16="http://schemas.microsoft.com/office/drawing/2014/main" id="{C38D0D36-7A4E-28DB-C764-D723C65F79ED}"/>
                </a:ext>
              </a:extLst>
            </p:cNvPr>
            <p:cNvSpPr/>
            <p:nvPr/>
          </p:nvSpPr>
          <p:spPr>
            <a:xfrm>
              <a:off x="5411598" y="949320"/>
              <a:ext cx="1363225" cy="724172"/>
            </a:xfrm>
            <a:prstGeom prst="ellipse">
              <a:avLst/>
            </a:prstGeom>
            <a:solidFill>
              <a:srgbClr val="3DAFD3"/>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spc="-20" dirty="0">
                  <a:solidFill>
                    <a:schemeClr val="bg1"/>
                  </a:solidFill>
                  <a:latin typeface="Poppins SemiBold" panose="00000700000000000000" pitchFamily="2" charset="0"/>
                  <a:cs typeface="Poppins SemiBold" panose="00000700000000000000" pitchFamily="2" charset="0"/>
                </a:rPr>
                <a:t>M</a:t>
              </a:r>
              <a:r>
                <a:rPr lang="en-US" sz="1200" spc="-20" dirty="0">
                  <a:solidFill>
                    <a:schemeClr val="bg1"/>
                  </a:solidFill>
                  <a:latin typeface="Poppins SemiBold" panose="00000700000000000000" pitchFamily="2" charset="0"/>
                  <a:cs typeface="Poppins SemiBold" panose="00000700000000000000" pitchFamily="2" charset="0"/>
                </a:rPr>
                <a:t>ODELLO</a:t>
              </a:r>
            </a:p>
          </p:txBody>
        </p:sp>
      </p:grpSp>
      <p:grpSp>
        <p:nvGrpSpPr>
          <p:cNvPr id="26" name="Gruppo 25">
            <a:extLst>
              <a:ext uri="{FF2B5EF4-FFF2-40B4-BE49-F238E27FC236}">
                <a16:creationId xmlns:a16="http://schemas.microsoft.com/office/drawing/2014/main" id="{D82BCF96-8BDE-AE24-BA4D-5EA2AFECC821}"/>
              </a:ext>
            </a:extLst>
          </p:cNvPr>
          <p:cNvGrpSpPr/>
          <p:nvPr/>
        </p:nvGrpSpPr>
        <p:grpSpPr>
          <a:xfrm>
            <a:off x="8967395" y="370238"/>
            <a:ext cx="2816133" cy="406706"/>
            <a:chOff x="6734403" y="623243"/>
            <a:chExt cx="2816133" cy="406706"/>
          </a:xfrm>
        </p:grpSpPr>
        <p:sp>
          <p:nvSpPr>
            <p:cNvPr id="27" name="Line">
              <a:extLst>
                <a:ext uri="{FF2B5EF4-FFF2-40B4-BE49-F238E27FC236}">
                  <a16:creationId xmlns:a16="http://schemas.microsoft.com/office/drawing/2014/main" id="{6920F923-AC3D-C2FD-0A2D-17F215EB92E9}"/>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29" name="Gruppo 28">
              <a:extLst>
                <a:ext uri="{FF2B5EF4-FFF2-40B4-BE49-F238E27FC236}">
                  <a16:creationId xmlns:a16="http://schemas.microsoft.com/office/drawing/2014/main" id="{2EEEB0C3-8EA8-D379-F3A6-26595B3771A8}"/>
                </a:ext>
              </a:extLst>
            </p:cNvPr>
            <p:cNvGrpSpPr/>
            <p:nvPr/>
          </p:nvGrpSpPr>
          <p:grpSpPr>
            <a:xfrm>
              <a:off x="6734403" y="623243"/>
              <a:ext cx="2816133" cy="406706"/>
              <a:chOff x="6734403" y="623243"/>
              <a:chExt cx="2816133" cy="406706"/>
            </a:xfrm>
          </p:grpSpPr>
          <p:grpSp>
            <p:nvGrpSpPr>
              <p:cNvPr id="30" name="Gruppo 29">
                <a:extLst>
                  <a:ext uri="{FF2B5EF4-FFF2-40B4-BE49-F238E27FC236}">
                    <a16:creationId xmlns:a16="http://schemas.microsoft.com/office/drawing/2014/main" id="{689829BC-15B2-52CD-537A-DD9EF1828491}"/>
                  </a:ext>
                </a:extLst>
              </p:cNvPr>
              <p:cNvGrpSpPr/>
              <p:nvPr/>
            </p:nvGrpSpPr>
            <p:grpSpPr>
              <a:xfrm>
                <a:off x="6734403" y="623243"/>
                <a:ext cx="576000" cy="406706"/>
                <a:chOff x="6734403" y="623243"/>
                <a:chExt cx="576000" cy="406706"/>
              </a:xfrm>
            </p:grpSpPr>
            <p:pic>
              <p:nvPicPr>
                <p:cNvPr id="46" name="Elemento grafico 45">
                  <a:extLst>
                    <a:ext uri="{FF2B5EF4-FFF2-40B4-BE49-F238E27FC236}">
                      <a16:creationId xmlns:a16="http://schemas.microsoft.com/office/drawing/2014/main" id="{A48166B9-574E-F1DD-C09B-F8264ECD860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908103" y="801349"/>
                  <a:ext cx="228600" cy="228600"/>
                </a:xfrm>
                <a:prstGeom prst="rect">
                  <a:avLst/>
                </a:prstGeom>
              </p:spPr>
            </p:pic>
            <p:sp>
              <p:nvSpPr>
                <p:cNvPr id="448" name="CasellaDiTesto 447">
                  <a:extLst>
                    <a:ext uri="{FF2B5EF4-FFF2-40B4-BE49-F238E27FC236}">
                      <a16:creationId xmlns:a16="http://schemas.microsoft.com/office/drawing/2014/main" id="{19003D4D-9015-7609-C4BA-9C0D48A8D7C0}"/>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1" name="Gruppo 30">
                <a:extLst>
                  <a:ext uri="{FF2B5EF4-FFF2-40B4-BE49-F238E27FC236}">
                    <a16:creationId xmlns:a16="http://schemas.microsoft.com/office/drawing/2014/main" id="{3EF36999-77DB-D194-862B-633E5958C918}"/>
                  </a:ext>
                </a:extLst>
              </p:cNvPr>
              <p:cNvGrpSpPr/>
              <p:nvPr/>
            </p:nvGrpSpPr>
            <p:grpSpPr>
              <a:xfrm>
                <a:off x="7277910" y="623243"/>
                <a:ext cx="576000" cy="406706"/>
                <a:chOff x="7291884" y="623243"/>
                <a:chExt cx="576000" cy="406706"/>
              </a:xfrm>
            </p:grpSpPr>
            <p:pic>
              <p:nvPicPr>
                <p:cNvPr id="43" name="Elemento grafico 42">
                  <a:extLst>
                    <a:ext uri="{FF2B5EF4-FFF2-40B4-BE49-F238E27FC236}">
                      <a16:creationId xmlns:a16="http://schemas.microsoft.com/office/drawing/2014/main" id="{F24531E1-BC76-DC05-5816-5FFD590A341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65584" y="801349"/>
                  <a:ext cx="228600" cy="228600"/>
                </a:xfrm>
                <a:prstGeom prst="rect">
                  <a:avLst/>
                </a:prstGeom>
              </p:spPr>
            </p:pic>
            <p:sp>
              <p:nvSpPr>
                <p:cNvPr id="44" name="CasellaDiTesto 43">
                  <a:extLst>
                    <a:ext uri="{FF2B5EF4-FFF2-40B4-BE49-F238E27FC236}">
                      <a16:creationId xmlns:a16="http://schemas.microsoft.com/office/drawing/2014/main" id="{780FB1BD-8DF0-005E-9BAE-D1CE074D03B0}"/>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2" name="Gruppo 31">
                <a:extLst>
                  <a:ext uri="{FF2B5EF4-FFF2-40B4-BE49-F238E27FC236}">
                    <a16:creationId xmlns:a16="http://schemas.microsoft.com/office/drawing/2014/main" id="{9EEEAA2A-4EA5-72C2-F7A9-BBB4DB7BB944}"/>
                  </a:ext>
                </a:extLst>
              </p:cNvPr>
              <p:cNvGrpSpPr/>
              <p:nvPr/>
            </p:nvGrpSpPr>
            <p:grpSpPr>
              <a:xfrm>
                <a:off x="7743611" y="623243"/>
                <a:ext cx="731612" cy="406706"/>
                <a:chOff x="7777971" y="623243"/>
                <a:chExt cx="731612" cy="406706"/>
              </a:xfrm>
            </p:grpSpPr>
            <p:pic>
              <p:nvPicPr>
                <p:cNvPr id="40" name="Elemento grafico 39">
                  <a:extLst>
                    <a:ext uri="{FF2B5EF4-FFF2-40B4-BE49-F238E27FC236}">
                      <a16:creationId xmlns:a16="http://schemas.microsoft.com/office/drawing/2014/main" id="{76642D53-3878-95FC-F76E-5D4FC36861F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029477" y="801349"/>
                  <a:ext cx="228600" cy="228600"/>
                </a:xfrm>
                <a:prstGeom prst="rect">
                  <a:avLst/>
                </a:prstGeom>
              </p:spPr>
            </p:pic>
            <p:sp>
              <p:nvSpPr>
                <p:cNvPr id="42" name="CasellaDiTesto 41">
                  <a:extLst>
                    <a:ext uri="{FF2B5EF4-FFF2-40B4-BE49-F238E27FC236}">
                      <a16:creationId xmlns:a16="http://schemas.microsoft.com/office/drawing/2014/main" id="{0856E70B-D6F3-B349-64A9-C9A9A046A4F3}"/>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3" name="Gruppo 32">
                <a:extLst>
                  <a:ext uri="{FF2B5EF4-FFF2-40B4-BE49-F238E27FC236}">
                    <a16:creationId xmlns:a16="http://schemas.microsoft.com/office/drawing/2014/main" id="{7B49CA2F-E2E1-0BF3-D42C-9FD152A5BAAF}"/>
                  </a:ext>
                </a:extLst>
              </p:cNvPr>
              <p:cNvGrpSpPr/>
              <p:nvPr/>
            </p:nvGrpSpPr>
            <p:grpSpPr>
              <a:xfrm>
                <a:off x="8401893" y="623243"/>
                <a:ext cx="502061" cy="406706"/>
                <a:chOff x="8613413" y="623243"/>
                <a:chExt cx="502061" cy="406706"/>
              </a:xfrm>
            </p:grpSpPr>
            <p:pic>
              <p:nvPicPr>
                <p:cNvPr id="37" name="Elemento grafico 36">
                  <a:extLst>
                    <a:ext uri="{FF2B5EF4-FFF2-40B4-BE49-F238E27FC236}">
                      <a16:creationId xmlns:a16="http://schemas.microsoft.com/office/drawing/2014/main" id="{B384C6A5-94C8-D3AE-806A-911317CB6A2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50144" y="801349"/>
                  <a:ext cx="228600" cy="228600"/>
                </a:xfrm>
                <a:prstGeom prst="rect">
                  <a:avLst/>
                </a:prstGeom>
              </p:spPr>
            </p:pic>
            <p:sp>
              <p:nvSpPr>
                <p:cNvPr id="39" name="CasellaDiTesto 38">
                  <a:extLst>
                    <a:ext uri="{FF2B5EF4-FFF2-40B4-BE49-F238E27FC236}">
                      <a16:creationId xmlns:a16="http://schemas.microsoft.com/office/drawing/2014/main" id="{21C20E66-4B29-0664-AAFF-3DF0ACB69A7D}"/>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4" name="Gruppo 33">
                <a:extLst>
                  <a:ext uri="{FF2B5EF4-FFF2-40B4-BE49-F238E27FC236}">
                    <a16:creationId xmlns:a16="http://schemas.microsoft.com/office/drawing/2014/main" id="{D3B94326-FFEE-374C-362D-1876DB718769}"/>
                  </a:ext>
                </a:extLst>
              </p:cNvPr>
              <p:cNvGrpSpPr/>
              <p:nvPr/>
            </p:nvGrpSpPr>
            <p:grpSpPr>
              <a:xfrm>
                <a:off x="8842329" y="623243"/>
                <a:ext cx="708207" cy="406706"/>
                <a:chOff x="9001458" y="623243"/>
                <a:chExt cx="708207" cy="406706"/>
              </a:xfrm>
            </p:grpSpPr>
            <p:pic>
              <p:nvPicPr>
                <p:cNvPr id="35" name="Elemento grafico 34">
                  <a:extLst>
                    <a:ext uri="{FF2B5EF4-FFF2-40B4-BE49-F238E27FC236}">
                      <a16:creationId xmlns:a16="http://schemas.microsoft.com/office/drawing/2014/main" id="{82BAC727-FAB0-30F5-0E98-ECE945302AD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241261" y="801349"/>
                  <a:ext cx="228600" cy="228600"/>
                </a:xfrm>
                <a:prstGeom prst="rect">
                  <a:avLst/>
                </a:prstGeom>
              </p:spPr>
            </p:pic>
            <p:sp>
              <p:nvSpPr>
                <p:cNvPr id="36" name="CasellaDiTesto 35">
                  <a:extLst>
                    <a:ext uri="{FF2B5EF4-FFF2-40B4-BE49-F238E27FC236}">
                      <a16:creationId xmlns:a16="http://schemas.microsoft.com/office/drawing/2014/main" id="{7A53E7DA-EE5F-FE17-51A6-F7F6B13259ED}"/>
                    </a:ext>
                  </a:extLst>
                </p:cNvPr>
                <p:cNvSpPr txBox="1"/>
                <p:nvPr/>
              </p:nvSpPr>
              <p:spPr>
                <a:xfrm>
                  <a:off x="9001458" y="623243"/>
                  <a:ext cx="708207"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DECISIONE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grpSp>
      <p:grpSp>
        <p:nvGrpSpPr>
          <p:cNvPr id="506" name="Gruppo 505">
            <a:extLst>
              <a:ext uri="{FF2B5EF4-FFF2-40B4-BE49-F238E27FC236}">
                <a16:creationId xmlns:a16="http://schemas.microsoft.com/office/drawing/2014/main" id="{77692C4C-C2EB-7CA0-4131-ED23C858F891}"/>
              </a:ext>
            </a:extLst>
          </p:cNvPr>
          <p:cNvGrpSpPr/>
          <p:nvPr/>
        </p:nvGrpSpPr>
        <p:grpSpPr>
          <a:xfrm>
            <a:off x="827161" y="1285449"/>
            <a:ext cx="2777577" cy="4346257"/>
            <a:chOff x="827161" y="1285449"/>
            <a:chExt cx="2777577" cy="4346257"/>
          </a:xfrm>
        </p:grpSpPr>
        <p:grpSp>
          <p:nvGrpSpPr>
            <p:cNvPr id="6" name="Gruppo 5">
              <a:extLst>
                <a:ext uri="{FF2B5EF4-FFF2-40B4-BE49-F238E27FC236}">
                  <a16:creationId xmlns:a16="http://schemas.microsoft.com/office/drawing/2014/main" id="{E4B611FD-D37C-C06A-90BE-C4BAAA6AA2AB}"/>
                </a:ext>
              </a:extLst>
            </p:cNvPr>
            <p:cNvGrpSpPr/>
            <p:nvPr/>
          </p:nvGrpSpPr>
          <p:grpSpPr>
            <a:xfrm>
              <a:off x="827161" y="1554719"/>
              <a:ext cx="2777577" cy="4076987"/>
              <a:chOff x="824372" y="1072529"/>
              <a:chExt cx="2777577" cy="4076987"/>
            </a:xfrm>
          </p:grpSpPr>
          <p:grpSp>
            <p:nvGrpSpPr>
              <p:cNvPr id="486" name="Gruppo 485">
                <a:extLst>
                  <a:ext uri="{FF2B5EF4-FFF2-40B4-BE49-F238E27FC236}">
                    <a16:creationId xmlns:a16="http://schemas.microsoft.com/office/drawing/2014/main" id="{A1DCAAA3-92C6-DDFF-A473-00C4DC430763}"/>
                  </a:ext>
                </a:extLst>
              </p:cNvPr>
              <p:cNvGrpSpPr>
                <a:grpSpLocks/>
              </p:cNvGrpSpPr>
              <p:nvPr/>
            </p:nvGrpSpPr>
            <p:grpSpPr>
              <a:xfrm>
                <a:off x="824373" y="1072529"/>
                <a:ext cx="2777576" cy="4076987"/>
                <a:chOff x="824373" y="1072529"/>
                <a:chExt cx="2777576" cy="4076987"/>
              </a:xfrm>
            </p:grpSpPr>
            <p:sp>
              <p:nvSpPr>
                <p:cNvPr id="8" name="Rettangolo con angoli arrotondati 7">
                  <a:extLst>
                    <a:ext uri="{FF2B5EF4-FFF2-40B4-BE49-F238E27FC236}">
                      <a16:creationId xmlns:a16="http://schemas.microsoft.com/office/drawing/2014/main" id="{51D41DD7-BCAD-DE03-9513-27E68F67D8E5}"/>
                    </a:ext>
                  </a:extLst>
                </p:cNvPr>
                <p:cNvSpPr>
                  <a:spLocks/>
                </p:cNvSpPr>
                <p:nvPr/>
              </p:nvSpPr>
              <p:spPr>
                <a:xfrm>
                  <a:off x="824373" y="1072529"/>
                  <a:ext cx="2777576" cy="4076987"/>
                </a:xfrm>
                <a:prstGeom prst="roundRect">
                  <a:avLst>
                    <a:gd name="adj" fmla="val 4786"/>
                  </a:avLst>
                </a:prstGeom>
                <a:solidFill>
                  <a:srgbClr val="1680C9"/>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28" name="Rettangolo con angoli arrotondati 27">
                  <a:extLst>
                    <a:ext uri="{FF2B5EF4-FFF2-40B4-BE49-F238E27FC236}">
                      <a16:creationId xmlns:a16="http://schemas.microsoft.com/office/drawing/2014/main" id="{79722F49-359E-1E5B-7609-EA4267C4EF69}"/>
                    </a:ext>
                  </a:extLst>
                </p:cNvPr>
                <p:cNvSpPr>
                  <a:spLocks/>
                </p:cNvSpPr>
                <p:nvPr/>
              </p:nvSpPr>
              <p:spPr>
                <a:xfrm>
                  <a:off x="824373" y="1385737"/>
                  <a:ext cx="2777576" cy="3763779"/>
                </a:xfrm>
                <a:prstGeom prst="roundRect">
                  <a:avLst>
                    <a:gd name="adj" fmla="val 4786"/>
                  </a:avLst>
                </a:prstGeom>
                <a:solidFill>
                  <a:schemeClr val="bg1"/>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3" name="AutoShape 4">
                <a:extLst>
                  <a:ext uri="{FF2B5EF4-FFF2-40B4-BE49-F238E27FC236}">
                    <a16:creationId xmlns:a16="http://schemas.microsoft.com/office/drawing/2014/main" id="{27A07063-7D7E-361B-CF4F-FB574970C0DF}"/>
                  </a:ext>
                </a:extLst>
              </p:cNvPr>
              <p:cNvSpPr>
                <a:spLocks noChangeAspect="1"/>
              </p:cNvSpPr>
              <p:nvPr/>
            </p:nvSpPr>
            <p:spPr bwMode="auto">
              <a:xfrm>
                <a:off x="2491606" y="301534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 name="CasellaDiTesto 37">
                <a:extLst>
                  <a:ext uri="{FF2B5EF4-FFF2-40B4-BE49-F238E27FC236}">
                    <a16:creationId xmlns:a16="http://schemas.microsoft.com/office/drawing/2014/main" id="{62E6E807-EDD3-4BC3-E00B-55441AF3A89C}"/>
                  </a:ext>
                </a:extLst>
              </p:cNvPr>
              <p:cNvSpPr txBox="1">
                <a:spLocks/>
              </p:cNvSpPr>
              <p:nvPr/>
            </p:nvSpPr>
            <p:spPr>
              <a:xfrm>
                <a:off x="824372" y="1108738"/>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cxnSp>
            <p:nvCxnSpPr>
              <p:cNvPr id="54" name="Connettore diritto 53">
                <a:extLst>
                  <a:ext uri="{FF2B5EF4-FFF2-40B4-BE49-F238E27FC236}">
                    <a16:creationId xmlns:a16="http://schemas.microsoft.com/office/drawing/2014/main" id="{F28226B8-D87B-14F3-9EF6-834895F27011}"/>
                  </a:ext>
                </a:extLst>
              </p:cNvPr>
              <p:cNvCxnSpPr>
                <a:cxnSpLocks/>
              </p:cNvCxnSpPr>
              <p:nvPr/>
            </p:nvCxnSpPr>
            <p:spPr>
              <a:xfrm>
                <a:off x="988030" y="2317843"/>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55" name="Connettore diritto 54">
                <a:extLst>
                  <a:ext uri="{FF2B5EF4-FFF2-40B4-BE49-F238E27FC236}">
                    <a16:creationId xmlns:a16="http://schemas.microsoft.com/office/drawing/2014/main" id="{BE374AFD-499E-E091-DB9E-424EB29FE930}"/>
                  </a:ext>
                </a:extLst>
              </p:cNvPr>
              <p:cNvCxnSpPr>
                <a:cxnSpLocks/>
              </p:cNvCxnSpPr>
              <p:nvPr/>
            </p:nvCxnSpPr>
            <p:spPr>
              <a:xfrm>
                <a:off x="988030" y="3275613"/>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58" name="Connettore diritto 57">
                <a:extLst>
                  <a:ext uri="{FF2B5EF4-FFF2-40B4-BE49-F238E27FC236}">
                    <a16:creationId xmlns:a16="http://schemas.microsoft.com/office/drawing/2014/main" id="{DB6B40A2-C26F-9502-3D44-C1969E7B7E8C}"/>
                  </a:ext>
                </a:extLst>
              </p:cNvPr>
              <p:cNvCxnSpPr>
                <a:cxnSpLocks/>
              </p:cNvCxnSpPr>
              <p:nvPr/>
            </p:nvCxnSpPr>
            <p:spPr>
              <a:xfrm>
                <a:off x="988030" y="4233383"/>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sp>
            <p:nvSpPr>
              <p:cNvPr id="64" name="Tittle Function 01…">
                <a:extLst>
                  <a:ext uri="{FF2B5EF4-FFF2-40B4-BE49-F238E27FC236}">
                    <a16:creationId xmlns:a16="http://schemas.microsoft.com/office/drawing/2014/main" id="{B93B113A-4F8E-27DD-9925-8260E1099F35}"/>
                  </a:ext>
                </a:extLst>
              </p:cNvPr>
              <p:cNvSpPr txBox="1">
                <a:spLocks/>
              </p:cNvSpPr>
              <p:nvPr/>
            </p:nvSpPr>
            <p:spPr>
              <a:xfrm>
                <a:off x="1634279" y="3507992"/>
                <a:ext cx="149343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Componenti separati</a:t>
                </a:r>
                <a:endParaRPr lang="it-IT" sz="950" b="1" spc="-10" dirty="0">
                  <a:latin typeface="Poppins SemiBold" panose="00000700000000000000" pitchFamily="2" charset="0"/>
                  <a:cs typeface="Poppins SemiBold" panose="00000700000000000000" pitchFamily="2" charset="0"/>
                </a:endParaRPr>
              </a:p>
            </p:txBody>
          </p:sp>
          <p:sp>
            <p:nvSpPr>
              <p:cNvPr id="65" name="CasellaDiTesto 64">
                <a:extLst>
                  <a:ext uri="{FF2B5EF4-FFF2-40B4-BE49-F238E27FC236}">
                    <a16:creationId xmlns:a16="http://schemas.microsoft.com/office/drawing/2014/main" id="{EF75CF4A-68F2-5524-E3DA-017F41630A4F}"/>
                  </a:ext>
                </a:extLst>
              </p:cNvPr>
              <p:cNvSpPr txBox="1">
                <a:spLocks/>
              </p:cNvSpPr>
              <p:nvPr/>
            </p:nvSpPr>
            <p:spPr>
              <a:xfrm>
                <a:off x="1634279" y="3654186"/>
                <a:ext cx="1828201" cy="484748"/>
              </a:xfrm>
              <a:prstGeom prst="rect">
                <a:avLst/>
              </a:prstGeom>
              <a:noFill/>
            </p:spPr>
            <p:txBody>
              <a:bodyPr wrap="square" lIns="0" rIns="0" rtlCol="0">
                <a:spAutoFit/>
              </a:bodyPr>
              <a:lstStyle/>
              <a:p>
                <a:r>
                  <a:rPr lang="it-IT" sz="850" dirty="0"/>
                  <a:t>Ogni capacità è coperta da strumenti distinti: orchestrazione, trasformazioni, BI e monitoraggio.</a:t>
                </a:r>
                <a:endParaRPr lang="en-US" sz="850" dirty="0"/>
              </a:p>
            </p:txBody>
          </p:sp>
          <p:sp>
            <p:nvSpPr>
              <p:cNvPr id="13" name="Ovale 12">
                <a:extLst>
                  <a:ext uri="{FF2B5EF4-FFF2-40B4-BE49-F238E27FC236}">
                    <a16:creationId xmlns:a16="http://schemas.microsoft.com/office/drawing/2014/main" id="{F5DD9ABF-2EC3-E382-7DAA-89433078C526}"/>
                  </a:ext>
                </a:extLst>
              </p:cNvPr>
              <p:cNvSpPr>
                <a:spLocks/>
              </p:cNvSpPr>
              <p:nvPr/>
            </p:nvSpPr>
            <p:spPr>
              <a:xfrm>
                <a:off x="988031" y="1581913"/>
                <a:ext cx="514090" cy="514090"/>
              </a:xfrm>
              <a:prstGeom prst="ellipse">
                <a:avLst/>
              </a:prstGeom>
              <a:solidFill>
                <a:srgbClr val="EDF6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tle Function 01…">
                <a:extLst>
                  <a:ext uri="{FF2B5EF4-FFF2-40B4-BE49-F238E27FC236}">
                    <a16:creationId xmlns:a16="http://schemas.microsoft.com/office/drawing/2014/main" id="{840A1338-2180-CC65-2F35-4C49DF90B0B3}"/>
                  </a:ext>
                </a:extLst>
              </p:cNvPr>
              <p:cNvSpPr txBox="1">
                <a:spLocks/>
              </p:cNvSpPr>
              <p:nvPr/>
            </p:nvSpPr>
            <p:spPr>
              <a:xfrm>
                <a:off x="1634279" y="1589574"/>
                <a:ext cx="160692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Orchestrazione avanzata</a:t>
                </a:r>
                <a:endParaRPr lang="it-IT" sz="950" b="1" spc="-10" dirty="0">
                  <a:latin typeface="Poppins SemiBold" panose="00000700000000000000" pitchFamily="2" charset="0"/>
                  <a:cs typeface="Poppins SemiBold" panose="00000700000000000000" pitchFamily="2" charset="0"/>
                </a:endParaRPr>
              </a:p>
            </p:txBody>
          </p:sp>
          <p:sp>
            <p:nvSpPr>
              <p:cNvPr id="52" name="CasellaDiTesto 51">
                <a:extLst>
                  <a:ext uri="{FF2B5EF4-FFF2-40B4-BE49-F238E27FC236}">
                    <a16:creationId xmlns:a16="http://schemas.microsoft.com/office/drawing/2014/main" id="{C7AD354E-59DE-7B88-59A1-5B94F2AD4818}"/>
                  </a:ext>
                </a:extLst>
              </p:cNvPr>
              <p:cNvSpPr txBox="1">
                <a:spLocks/>
              </p:cNvSpPr>
              <p:nvPr/>
            </p:nvSpPr>
            <p:spPr>
              <a:xfrm>
                <a:off x="1634279" y="1735768"/>
                <a:ext cx="1828201" cy="353943"/>
              </a:xfrm>
              <a:prstGeom prst="rect">
                <a:avLst/>
              </a:prstGeom>
              <a:noFill/>
            </p:spPr>
            <p:txBody>
              <a:bodyPr wrap="square" lIns="0" rIns="0" rtlCol="0">
                <a:spAutoFit/>
              </a:bodyPr>
              <a:lstStyle/>
              <a:p>
                <a:r>
                  <a:rPr lang="it-IT" sz="850" noProof="0" dirty="0"/>
                  <a:t>Dagster governa workflow, scheduling e dipendenze.</a:t>
                </a:r>
              </a:p>
            </p:txBody>
          </p:sp>
          <p:sp>
            <p:nvSpPr>
              <p:cNvPr id="443" name="Figura a mano libera: forma 442">
                <a:extLst>
                  <a:ext uri="{FF2B5EF4-FFF2-40B4-BE49-F238E27FC236}">
                    <a16:creationId xmlns:a16="http://schemas.microsoft.com/office/drawing/2014/main" id="{BB4CD8FC-7770-5A92-AD0D-FBC548DCF5F5}"/>
                  </a:ext>
                </a:extLst>
              </p:cNvPr>
              <p:cNvSpPr>
                <a:spLocks/>
              </p:cNvSpPr>
              <p:nvPr/>
            </p:nvSpPr>
            <p:spPr>
              <a:xfrm>
                <a:off x="1276697" y="1806034"/>
                <a:ext cx="65837" cy="65847"/>
              </a:xfrm>
              <a:custGeom>
                <a:avLst/>
                <a:gdLst>
                  <a:gd name="csX0" fmla="*/ 2855 w 65837"/>
                  <a:gd name="csY0" fmla="*/ 26030 h 65847"/>
                  <a:gd name="csX1" fmla="*/ 2855 w 65837"/>
                  <a:gd name="csY1" fmla="*/ 39817 h 65847"/>
                  <a:gd name="csX2" fmla="*/ 26021 w 65837"/>
                  <a:gd name="csY2" fmla="*/ 62993 h 65847"/>
                  <a:gd name="csX3" fmla="*/ 39807 w 65837"/>
                  <a:gd name="csY3" fmla="*/ 62993 h 65847"/>
                  <a:gd name="csX4" fmla="*/ 62983 w 65837"/>
                  <a:gd name="csY4" fmla="*/ 39817 h 65847"/>
                  <a:gd name="csX5" fmla="*/ 62983 w 65837"/>
                  <a:gd name="csY5" fmla="*/ 26030 h 65847"/>
                  <a:gd name="csX6" fmla="*/ 39807 w 65837"/>
                  <a:gd name="csY6" fmla="*/ 2855 h 65847"/>
                  <a:gd name="csX7" fmla="*/ 26021 w 65837"/>
                  <a:gd name="csY7" fmla="*/ 2855 h 658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5837" h="65847">
                    <a:moveTo>
                      <a:pt x="2855" y="26030"/>
                    </a:moveTo>
                    <a:cubicBezTo>
                      <a:pt x="-952" y="29838"/>
                      <a:pt x="-952" y="36010"/>
                      <a:pt x="2855" y="39817"/>
                    </a:cubicBezTo>
                    <a:lnTo>
                      <a:pt x="26021" y="62993"/>
                    </a:lnTo>
                    <a:cubicBezTo>
                      <a:pt x="29828" y="66799"/>
                      <a:pt x="36000" y="66799"/>
                      <a:pt x="39807" y="62993"/>
                    </a:cubicBezTo>
                    <a:lnTo>
                      <a:pt x="62983" y="39817"/>
                    </a:lnTo>
                    <a:cubicBezTo>
                      <a:pt x="66789" y="36010"/>
                      <a:pt x="66789" y="29838"/>
                      <a:pt x="62983" y="26030"/>
                    </a:cubicBezTo>
                    <a:lnTo>
                      <a:pt x="39807" y="2855"/>
                    </a:lnTo>
                    <a:cubicBezTo>
                      <a:pt x="36000" y="-952"/>
                      <a:pt x="29828" y="-952"/>
                      <a:pt x="26021" y="2855"/>
                    </a:cubicBezTo>
                    <a:close/>
                  </a:path>
                </a:pathLst>
              </a:custGeom>
              <a:noFill/>
              <a:ln w="19050" cap="rnd">
                <a:solidFill>
                  <a:srgbClr val="3787CE"/>
                </a:solidFill>
                <a:prstDash val="solid"/>
                <a:round/>
              </a:ln>
            </p:spPr>
            <p:txBody>
              <a:bodyPr/>
              <a:lstStyle/>
              <a:p>
                <a:endParaRPr lang="en-US"/>
              </a:p>
            </p:txBody>
          </p:sp>
          <p:sp>
            <p:nvSpPr>
              <p:cNvPr id="444" name="Figura a mano libera: forma 443">
                <a:extLst>
                  <a:ext uri="{FF2B5EF4-FFF2-40B4-BE49-F238E27FC236}">
                    <a16:creationId xmlns:a16="http://schemas.microsoft.com/office/drawing/2014/main" id="{0CDC8BA2-1CE6-775A-FC02-B126B4A0E6CA}"/>
                  </a:ext>
                </a:extLst>
              </p:cNvPr>
              <p:cNvSpPr>
                <a:spLocks/>
              </p:cNvSpPr>
              <p:nvPr/>
            </p:nvSpPr>
            <p:spPr>
              <a:xfrm>
                <a:off x="1147617" y="1806034"/>
                <a:ext cx="65847" cy="65847"/>
              </a:xfrm>
              <a:custGeom>
                <a:avLst/>
                <a:gdLst>
                  <a:gd name="csX0" fmla="*/ 2855 w 65847"/>
                  <a:gd name="csY0" fmla="*/ 26030 h 65847"/>
                  <a:gd name="csX1" fmla="*/ 2855 w 65847"/>
                  <a:gd name="csY1" fmla="*/ 39817 h 65847"/>
                  <a:gd name="csX2" fmla="*/ 26030 w 65847"/>
                  <a:gd name="csY2" fmla="*/ 62993 h 65847"/>
                  <a:gd name="csX3" fmla="*/ 39817 w 65847"/>
                  <a:gd name="csY3" fmla="*/ 62993 h 65847"/>
                  <a:gd name="csX4" fmla="*/ 62993 w 65847"/>
                  <a:gd name="csY4" fmla="*/ 39817 h 65847"/>
                  <a:gd name="csX5" fmla="*/ 62993 w 65847"/>
                  <a:gd name="csY5" fmla="*/ 26030 h 65847"/>
                  <a:gd name="csX6" fmla="*/ 39817 w 65847"/>
                  <a:gd name="csY6" fmla="*/ 2855 h 65847"/>
                  <a:gd name="csX7" fmla="*/ 26030 w 65847"/>
                  <a:gd name="csY7" fmla="*/ 2855 h 658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5847" h="65847">
                    <a:moveTo>
                      <a:pt x="2855" y="26030"/>
                    </a:moveTo>
                    <a:cubicBezTo>
                      <a:pt x="-952" y="29838"/>
                      <a:pt x="-952" y="36010"/>
                      <a:pt x="2855" y="39817"/>
                    </a:cubicBezTo>
                    <a:lnTo>
                      <a:pt x="26030" y="62993"/>
                    </a:lnTo>
                    <a:cubicBezTo>
                      <a:pt x="29838" y="66799"/>
                      <a:pt x="36010" y="66799"/>
                      <a:pt x="39817" y="62993"/>
                    </a:cubicBezTo>
                    <a:lnTo>
                      <a:pt x="62993" y="39817"/>
                    </a:lnTo>
                    <a:cubicBezTo>
                      <a:pt x="66799" y="36010"/>
                      <a:pt x="66799" y="29838"/>
                      <a:pt x="62993" y="26030"/>
                    </a:cubicBezTo>
                    <a:lnTo>
                      <a:pt x="39817" y="2855"/>
                    </a:lnTo>
                    <a:cubicBezTo>
                      <a:pt x="36010" y="-952"/>
                      <a:pt x="29838" y="-952"/>
                      <a:pt x="26030" y="2855"/>
                    </a:cubicBezTo>
                    <a:close/>
                  </a:path>
                </a:pathLst>
              </a:custGeom>
              <a:noFill/>
              <a:ln w="19050" cap="rnd">
                <a:solidFill>
                  <a:srgbClr val="3787CE"/>
                </a:solidFill>
                <a:prstDash val="solid"/>
                <a:round/>
              </a:ln>
            </p:spPr>
            <p:txBody>
              <a:bodyPr/>
              <a:lstStyle/>
              <a:p>
                <a:endParaRPr lang="en-US"/>
              </a:p>
            </p:txBody>
          </p:sp>
          <p:sp>
            <p:nvSpPr>
              <p:cNvPr id="445" name="Figura a mano libera: forma 444">
                <a:extLst>
                  <a:ext uri="{FF2B5EF4-FFF2-40B4-BE49-F238E27FC236}">
                    <a16:creationId xmlns:a16="http://schemas.microsoft.com/office/drawing/2014/main" id="{167D31FE-9393-A3A4-6A6E-7EDF2D258544}"/>
                  </a:ext>
                </a:extLst>
              </p:cNvPr>
              <p:cNvSpPr>
                <a:spLocks/>
              </p:cNvSpPr>
              <p:nvPr/>
            </p:nvSpPr>
            <p:spPr>
              <a:xfrm>
                <a:off x="1212147" y="1870579"/>
                <a:ext cx="65856" cy="65837"/>
              </a:xfrm>
              <a:custGeom>
                <a:avLst/>
                <a:gdLst>
                  <a:gd name="csX0" fmla="*/ 2860 w 65856"/>
                  <a:gd name="csY0" fmla="*/ 26021 h 65837"/>
                  <a:gd name="csX1" fmla="*/ 2852 w 65856"/>
                  <a:gd name="csY1" fmla="*/ 39809 h 65837"/>
                  <a:gd name="csX2" fmla="*/ 2860 w 65856"/>
                  <a:gd name="csY2" fmla="*/ 39817 h 65837"/>
                  <a:gd name="csX3" fmla="*/ 26035 w 65856"/>
                  <a:gd name="csY3" fmla="*/ 62983 h 65837"/>
                  <a:gd name="csX4" fmla="*/ 39822 w 65856"/>
                  <a:gd name="csY4" fmla="*/ 62983 h 65837"/>
                  <a:gd name="csX5" fmla="*/ 62998 w 65856"/>
                  <a:gd name="csY5" fmla="*/ 39817 h 65837"/>
                  <a:gd name="csX6" fmla="*/ 63005 w 65856"/>
                  <a:gd name="csY6" fmla="*/ 26029 h 65837"/>
                  <a:gd name="csX7" fmla="*/ 62998 w 65856"/>
                  <a:gd name="csY7" fmla="*/ 26021 h 65837"/>
                  <a:gd name="csX8" fmla="*/ 39822 w 65856"/>
                  <a:gd name="csY8" fmla="*/ 2855 h 65837"/>
                  <a:gd name="csX9" fmla="*/ 26035 w 65856"/>
                  <a:gd name="csY9" fmla="*/ 2855 h 65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5856" h="65837">
                    <a:moveTo>
                      <a:pt x="2860" y="26021"/>
                    </a:moveTo>
                    <a:cubicBezTo>
                      <a:pt x="-950" y="29826"/>
                      <a:pt x="-954" y="36000"/>
                      <a:pt x="2852" y="39809"/>
                    </a:cubicBezTo>
                    <a:cubicBezTo>
                      <a:pt x="2854" y="39812"/>
                      <a:pt x="2857" y="39814"/>
                      <a:pt x="2860" y="39817"/>
                    </a:cubicBezTo>
                    <a:lnTo>
                      <a:pt x="26035" y="62983"/>
                    </a:lnTo>
                    <a:cubicBezTo>
                      <a:pt x="29843" y="66789"/>
                      <a:pt x="36014" y="66789"/>
                      <a:pt x="39822" y="62983"/>
                    </a:cubicBezTo>
                    <a:lnTo>
                      <a:pt x="62998" y="39817"/>
                    </a:lnTo>
                    <a:cubicBezTo>
                      <a:pt x="66807" y="36012"/>
                      <a:pt x="66811" y="29838"/>
                      <a:pt x="63005" y="26029"/>
                    </a:cubicBezTo>
                    <a:cubicBezTo>
                      <a:pt x="63002" y="26026"/>
                      <a:pt x="63000" y="26024"/>
                      <a:pt x="62998" y="26021"/>
                    </a:cubicBezTo>
                    <a:lnTo>
                      <a:pt x="39822" y="2855"/>
                    </a:lnTo>
                    <a:cubicBezTo>
                      <a:pt x="36014" y="-952"/>
                      <a:pt x="29843" y="-952"/>
                      <a:pt x="26035" y="2855"/>
                    </a:cubicBezTo>
                    <a:close/>
                  </a:path>
                </a:pathLst>
              </a:custGeom>
              <a:noFill/>
              <a:ln w="19050" cap="rnd">
                <a:solidFill>
                  <a:srgbClr val="3787CE"/>
                </a:solidFill>
                <a:prstDash val="solid"/>
                <a:round/>
              </a:ln>
            </p:spPr>
            <p:txBody>
              <a:bodyPr/>
              <a:lstStyle/>
              <a:p>
                <a:endParaRPr lang="en-US"/>
              </a:p>
            </p:txBody>
          </p:sp>
          <p:sp>
            <p:nvSpPr>
              <p:cNvPr id="446" name="Figura a mano libera: forma 445">
                <a:extLst>
                  <a:ext uri="{FF2B5EF4-FFF2-40B4-BE49-F238E27FC236}">
                    <a16:creationId xmlns:a16="http://schemas.microsoft.com/office/drawing/2014/main" id="{C829D6DE-BCDA-52D3-695C-A9E4052BB722}"/>
                  </a:ext>
                </a:extLst>
              </p:cNvPr>
              <p:cNvSpPr>
                <a:spLocks/>
              </p:cNvSpPr>
              <p:nvPr/>
            </p:nvSpPr>
            <p:spPr>
              <a:xfrm>
                <a:off x="1212152" y="1741499"/>
                <a:ext cx="65847" cy="65837"/>
              </a:xfrm>
              <a:custGeom>
                <a:avLst/>
                <a:gdLst>
                  <a:gd name="csX0" fmla="*/ 2855 w 65847"/>
                  <a:gd name="csY0" fmla="*/ 26030 h 65837"/>
                  <a:gd name="csX1" fmla="*/ 2855 w 65847"/>
                  <a:gd name="csY1" fmla="*/ 39817 h 65837"/>
                  <a:gd name="csX2" fmla="*/ 26030 w 65847"/>
                  <a:gd name="csY2" fmla="*/ 62983 h 65837"/>
                  <a:gd name="csX3" fmla="*/ 39817 w 65847"/>
                  <a:gd name="csY3" fmla="*/ 62983 h 65837"/>
                  <a:gd name="csX4" fmla="*/ 62993 w 65847"/>
                  <a:gd name="csY4" fmla="*/ 39817 h 65837"/>
                  <a:gd name="csX5" fmla="*/ 62993 w 65847"/>
                  <a:gd name="csY5" fmla="*/ 26030 h 65837"/>
                  <a:gd name="csX6" fmla="*/ 39817 w 65847"/>
                  <a:gd name="csY6" fmla="*/ 2855 h 65837"/>
                  <a:gd name="csX7" fmla="*/ 26030 w 65847"/>
                  <a:gd name="csY7" fmla="*/ 2855 h 65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5847" h="65837">
                    <a:moveTo>
                      <a:pt x="2855" y="26030"/>
                    </a:moveTo>
                    <a:cubicBezTo>
                      <a:pt x="-952" y="29838"/>
                      <a:pt x="-952" y="36010"/>
                      <a:pt x="2855" y="39817"/>
                    </a:cubicBezTo>
                    <a:lnTo>
                      <a:pt x="26030" y="62983"/>
                    </a:lnTo>
                    <a:cubicBezTo>
                      <a:pt x="29838" y="66789"/>
                      <a:pt x="36010" y="66789"/>
                      <a:pt x="39817" y="62983"/>
                    </a:cubicBezTo>
                    <a:lnTo>
                      <a:pt x="62993" y="39817"/>
                    </a:lnTo>
                    <a:cubicBezTo>
                      <a:pt x="66799" y="36010"/>
                      <a:pt x="66799" y="29838"/>
                      <a:pt x="62993" y="26030"/>
                    </a:cubicBezTo>
                    <a:lnTo>
                      <a:pt x="39817" y="2855"/>
                    </a:lnTo>
                    <a:cubicBezTo>
                      <a:pt x="36010" y="-952"/>
                      <a:pt x="29838" y="-952"/>
                      <a:pt x="26030" y="2855"/>
                    </a:cubicBezTo>
                    <a:close/>
                  </a:path>
                </a:pathLst>
              </a:custGeom>
              <a:noFill/>
              <a:ln w="19050" cap="rnd">
                <a:solidFill>
                  <a:srgbClr val="3787CE"/>
                </a:solidFill>
                <a:prstDash val="solid"/>
                <a:round/>
              </a:ln>
            </p:spPr>
            <p:txBody>
              <a:bodyPr/>
              <a:lstStyle/>
              <a:p>
                <a:endParaRPr lang="en-US"/>
              </a:p>
            </p:txBody>
          </p:sp>
          <p:sp>
            <p:nvSpPr>
              <p:cNvPr id="41" name="Ovale 40">
                <a:extLst>
                  <a:ext uri="{FF2B5EF4-FFF2-40B4-BE49-F238E27FC236}">
                    <a16:creationId xmlns:a16="http://schemas.microsoft.com/office/drawing/2014/main" id="{DBB6BD7B-DF1A-939B-A630-BB754E18FF2A}"/>
                  </a:ext>
                </a:extLst>
              </p:cNvPr>
              <p:cNvSpPr>
                <a:spLocks/>
              </p:cNvSpPr>
              <p:nvPr/>
            </p:nvSpPr>
            <p:spPr>
              <a:xfrm>
                <a:off x="988031" y="2539683"/>
                <a:ext cx="514090" cy="514090"/>
              </a:xfrm>
              <a:prstGeom prst="ellipse">
                <a:avLst/>
              </a:prstGeom>
              <a:solidFill>
                <a:srgbClr val="F0F6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Tittle Function 01…">
                <a:extLst>
                  <a:ext uri="{FF2B5EF4-FFF2-40B4-BE49-F238E27FC236}">
                    <a16:creationId xmlns:a16="http://schemas.microsoft.com/office/drawing/2014/main" id="{06305027-233F-C11D-5A60-A9AC49EF2C59}"/>
                  </a:ext>
                </a:extLst>
              </p:cNvPr>
              <p:cNvSpPr txBox="1">
                <a:spLocks/>
              </p:cNvSpPr>
              <p:nvPr/>
            </p:nvSpPr>
            <p:spPr>
              <a:xfrm>
                <a:off x="1634278" y="2549029"/>
                <a:ext cx="1783011"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Maggiore flessibilità tecnica</a:t>
                </a:r>
                <a:endParaRPr lang="it-IT" sz="950" b="1" spc="-10" dirty="0">
                  <a:latin typeface="Poppins SemiBold" panose="00000700000000000000" pitchFamily="2" charset="0"/>
                  <a:cs typeface="Poppins SemiBold" panose="00000700000000000000" pitchFamily="2" charset="0"/>
                </a:endParaRPr>
              </a:p>
            </p:txBody>
          </p:sp>
          <p:sp>
            <p:nvSpPr>
              <p:cNvPr id="62" name="CasellaDiTesto 61">
                <a:extLst>
                  <a:ext uri="{FF2B5EF4-FFF2-40B4-BE49-F238E27FC236}">
                    <a16:creationId xmlns:a16="http://schemas.microsoft.com/office/drawing/2014/main" id="{1E5BA1F0-8608-7A37-CBCB-0B0E89038D79}"/>
                  </a:ext>
                </a:extLst>
              </p:cNvPr>
              <p:cNvSpPr txBox="1">
                <a:spLocks/>
              </p:cNvSpPr>
              <p:nvPr/>
            </p:nvSpPr>
            <p:spPr>
              <a:xfrm>
                <a:off x="1634279" y="2695223"/>
                <a:ext cx="1886161" cy="507831"/>
              </a:xfrm>
              <a:prstGeom prst="rect">
                <a:avLst/>
              </a:prstGeom>
              <a:noFill/>
            </p:spPr>
            <p:txBody>
              <a:bodyPr wrap="square" lIns="0" rIns="0" rtlCol="0">
                <a:spAutoFit/>
              </a:bodyPr>
              <a:lstStyle/>
              <a:p>
                <a:r>
                  <a:rPr lang="it-IT" sz="900" dirty="0"/>
                  <a:t>Si può sostituire o evolvere un componente senza cambiare tutta la soluzione.</a:t>
                </a:r>
                <a:endParaRPr lang="en-US" sz="850" dirty="0"/>
              </a:p>
            </p:txBody>
          </p:sp>
          <p:sp>
            <p:nvSpPr>
              <p:cNvPr id="47" name="Ovale 46">
                <a:extLst>
                  <a:ext uri="{FF2B5EF4-FFF2-40B4-BE49-F238E27FC236}">
                    <a16:creationId xmlns:a16="http://schemas.microsoft.com/office/drawing/2014/main" id="{0AA2EC66-B085-9F91-696B-7A51D16752D1}"/>
                  </a:ext>
                </a:extLst>
              </p:cNvPr>
              <p:cNvSpPr>
                <a:spLocks/>
              </p:cNvSpPr>
              <p:nvPr/>
            </p:nvSpPr>
            <p:spPr>
              <a:xfrm>
                <a:off x="988030" y="3497453"/>
                <a:ext cx="514090" cy="514090"/>
              </a:xfrm>
              <a:prstGeom prst="ellipse">
                <a:avLst/>
              </a:prstGeom>
              <a:solidFill>
                <a:srgbClr val="EDF5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Figura a mano libera: forma 451">
                <a:extLst>
                  <a:ext uri="{FF2B5EF4-FFF2-40B4-BE49-F238E27FC236}">
                    <a16:creationId xmlns:a16="http://schemas.microsoft.com/office/drawing/2014/main" id="{5C71BF14-7641-2A41-2E67-0DFA6C46E060}"/>
                  </a:ext>
                </a:extLst>
              </p:cNvPr>
              <p:cNvSpPr>
                <a:spLocks/>
              </p:cNvSpPr>
              <p:nvPr/>
            </p:nvSpPr>
            <p:spPr>
              <a:xfrm>
                <a:off x="1206090" y="3705747"/>
                <a:ext cx="77984" cy="58500"/>
              </a:xfrm>
              <a:custGeom>
                <a:avLst/>
                <a:gdLst>
                  <a:gd name="csX0" fmla="*/ 29235 w 77984"/>
                  <a:gd name="csY0" fmla="*/ 58500 h 58500"/>
                  <a:gd name="csX1" fmla="*/ 0 w 77984"/>
                  <a:gd name="csY1" fmla="*/ 29235 h 58500"/>
                  <a:gd name="csX2" fmla="*/ 29265 w 77984"/>
                  <a:gd name="csY2" fmla="*/ 0 h 58500"/>
                  <a:gd name="csX3" fmla="*/ 56827 w 77984"/>
                  <a:gd name="csY3" fmla="*/ 19500 h 58500"/>
                  <a:gd name="csX4" fmla="*/ 58485 w 77984"/>
                  <a:gd name="csY4" fmla="*/ 19500 h 58500"/>
                  <a:gd name="csX5" fmla="*/ 77985 w 77984"/>
                  <a:gd name="csY5" fmla="*/ 39000 h 58500"/>
                  <a:gd name="csX6" fmla="*/ 58485 w 77984"/>
                  <a:gd name="csY6" fmla="*/ 58500 h 585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7984" h="58500">
                    <a:moveTo>
                      <a:pt x="29235" y="58500"/>
                    </a:moveTo>
                    <a:cubicBezTo>
                      <a:pt x="13080" y="58491"/>
                      <a:pt x="-8" y="45389"/>
                      <a:pt x="0" y="29235"/>
                    </a:cubicBezTo>
                    <a:cubicBezTo>
                      <a:pt x="8" y="13080"/>
                      <a:pt x="13111" y="-8"/>
                      <a:pt x="29265" y="0"/>
                    </a:cubicBezTo>
                    <a:cubicBezTo>
                      <a:pt x="41655" y="7"/>
                      <a:pt x="52697" y="7819"/>
                      <a:pt x="56827" y="19500"/>
                    </a:cubicBezTo>
                    <a:lnTo>
                      <a:pt x="58485" y="19500"/>
                    </a:lnTo>
                    <a:cubicBezTo>
                      <a:pt x="69255" y="19500"/>
                      <a:pt x="77985" y="28230"/>
                      <a:pt x="77985" y="39000"/>
                    </a:cubicBezTo>
                    <a:cubicBezTo>
                      <a:pt x="77985" y="49770"/>
                      <a:pt x="69255" y="58500"/>
                      <a:pt x="58485" y="58500"/>
                    </a:cubicBezTo>
                    <a:close/>
                  </a:path>
                </a:pathLst>
              </a:custGeom>
              <a:noFill/>
              <a:ln w="19050" cap="rnd">
                <a:solidFill>
                  <a:srgbClr val="3787CE"/>
                </a:solidFill>
                <a:prstDash val="solid"/>
                <a:round/>
              </a:ln>
            </p:spPr>
            <p:txBody>
              <a:bodyPr/>
              <a:lstStyle/>
              <a:p>
                <a:endParaRPr lang="en-US"/>
              </a:p>
            </p:txBody>
          </p:sp>
          <p:sp>
            <p:nvSpPr>
              <p:cNvPr id="453" name="Figura a mano libera: forma 452">
                <a:extLst>
                  <a:ext uri="{FF2B5EF4-FFF2-40B4-BE49-F238E27FC236}">
                    <a16:creationId xmlns:a16="http://schemas.microsoft.com/office/drawing/2014/main" id="{B83219A3-1E6A-AD7F-875C-ED37A7B40E59}"/>
                  </a:ext>
                </a:extLst>
              </p:cNvPr>
              <p:cNvSpPr>
                <a:spLocks/>
              </p:cNvSpPr>
              <p:nvPr/>
            </p:nvSpPr>
            <p:spPr>
              <a:xfrm>
                <a:off x="1245075" y="3803248"/>
                <a:ext cx="9750" cy="39000"/>
              </a:xfrm>
              <a:custGeom>
                <a:avLst/>
                <a:gdLst>
                  <a:gd name="csX0" fmla="*/ 0 w 9750"/>
                  <a:gd name="csY0" fmla="*/ 0 h 39000"/>
                  <a:gd name="csX1" fmla="*/ 0 w 9750"/>
                  <a:gd name="csY1" fmla="*/ 39000 h 39000"/>
                </a:gdLst>
                <a:ahLst/>
                <a:cxnLst>
                  <a:cxn ang="0">
                    <a:pos x="csX0" y="csY0"/>
                  </a:cxn>
                  <a:cxn ang="0">
                    <a:pos x="csX1" y="csY1"/>
                  </a:cxn>
                </a:cxnLst>
                <a:rect l="l" t="t" r="r" b="b"/>
                <a:pathLst>
                  <a:path w="9750" h="39000">
                    <a:moveTo>
                      <a:pt x="0" y="0"/>
                    </a:moveTo>
                    <a:lnTo>
                      <a:pt x="0" y="39000"/>
                    </a:lnTo>
                  </a:path>
                </a:pathLst>
              </a:custGeom>
              <a:noFill/>
              <a:ln w="19050" cap="rnd">
                <a:solidFill>
                  <a:srgbClr val="3787CE"/>
                </a:solidFill>
                <a:prstDash val="solid"/>
                <a:round/>
              </a:ln>
            </p:spPr>
            <p:txBody>
              <a:bodyPr/>
              <a:lstStyle/>
              <a:p>
                <a:endParaRPr lang="en-US"/>
              </a:p>
            </p:txBody>
          </p:sp>
          <p:sp>
            <p:nvSpPr>
              <p:cNvPr id="454" name="Figura a mano libera: forma 453">
                <a:extLst>
                  <a:ext uri="{FF2B5EF4-FFF2-40B4-BE49-F238E27FC236}">
                    <a16:creationId xmlns:a16="http://schemas.microsoft.com/office/drawing/2014/main" id="{AA3230C7-C8F0-B061-03DE-3BC2B6237995}"/>
                  </a:ext>
                </a:extLst>
              </p:cNvPr>
              <p:cNvSpPr>
                <a:spLocks/>
              </p:cNvSpPr>
              <p:nvPr/>
            </p:nvSpPr>
            <p:spPr>
              <a:xfrm>
                <a:off x="1206075" y="3842248"/>
                <a:ext cx="78000" cy="9750"/>
              </a:xfrm>
              <a:custGeom>
                <a:avLst/>
                <a:gdLst>
                  <a:gd name="csX0" fmla="*/ 0 w 78000"/>
                  <a:gd name="csY0" fmla="*/ 0 h 9750"/>
                  <a:gd name="csX1" fmla="*/ 78000 w 78000"/>
                  <a:gd name="csY1" fmla="*/ 0 h 9750"/>
                </a:gdLst>
                <a:ahLst/>
                <a:cxnLst>
                  <a:cxn ang="0">
                    <a:pos x="csX0" y="csY0"/>
                  </a:cxn>
                  <a:cxn ang="0">
                    <a:pos x="csX1" y="csY1"/>
                  </a:cxn>
                </a:cxnLst>
                <a:rect l="l" t="t" r="r" b="b"/>
                <a:pathLst>
                  <a:path w="78000" h="9750">
                    <a:moveTo>
                      <a:pt x="0" y="0"/>
                    </a:moveTo>
                    <a:lnTo>
                      <a:pt x="78000" y="0"/>
                    </a:lnTo>
                  </a:path>
                </a:pathLst>
              </a:custGeom>
              <a:noFill/>
              <a:ln w="19050" cap="rnd">
                <a:solidFill>
                  <a:srgbClr val="3787CE"/>
                </a:solidFill>
                <a:prstDash val="solid"/>
                <a:round/>
              </a:ln>
            </p:spPr>
            <p:txBody>
              <a:bodyPr/>
              <a:lstStyle/>
              <a:p>
                <a:endParaRPr lang="en-US"/>
              </a:p>
            </p:txBody>
          </p:sp>
          <p:sp>
            <p:nvSpPr>
              <p:cNvPr id="455" name="Rettangolo con angoli arrotondati 454">
                <a:extLst>
                  <a:ext uri="{FF2B5EF4-FFF2-40B4-BE49-F238E27FC236}">
                    <a16:creationId xmlns:a16="http://schemas.microsoft.com/office/drawing/2014/main" id="{EEA5E88D-BE62-87D1-FC6A-66F57B6E1409}"/>
                  </a:ext>
                </a:extLst>
              </p:cNvPr>
              <p:cNvSpPr>
                <a:spLocks/>
              </p:cNvSpPr>
              <p:nvPr/>
            </p:nvSpPr>
            <p:spPr>
              <a:xfrm>
                <a:off x="1147575" y="3666748"/>
                <a:ext cx="195000" cy="136500"/>
              </a:xfrm>
              <a:prstGeom prst="roundRect">
                <a:avLst>
                  <a:gd name="adj" fmla="val 14285"/>
                </a:avLst>
              </a:prstGeom>
              <a:noFill/>
              <a:ln w="19050" cap="rnd">
                <a:solidFill>
                  <a:srgbClr val="3787CE"/>
                </a:solidFill>
                <a:prstDash val="solid"/>
                <a:round/>
              </a:ln>
            </p:spPr>
            <p:txBody>
              <a:bodyPr/>
              <a:lstStyle/>
              <a:p>
                <a:endParaRPr lang="en-US"/>
              </a:p>
            </p:txBody>
          </p:sp>
          <p:sp>
            <p:nvSpPr>
              <p:cNvPr id="50" name="Ovale 49">
                <a:extLst>
                  <a:ext uri="{FF2B5EF4-FFF2-40B4-BE49-F238E27FC236}">
                    <a16:creationId xmlns:a16="http://schemas.microsoft.com/office/drawing/2014/main" id="{CBB63CC5-5814-F4ED-63F6-4936BEF8BCB0}"/>
                  </a:ext>
                </a:extLst>
              </p:cNvPr>
              <p:cNvSpPr>
                <a:spLocks/>
              </p:cNvSpPr>
              <p:nvPr/>
            </p:nvSpPr>
            <p:spPr>
              <a:xfrm>
                <a:off x="988030" y="4455222"/>
                <a:ext cx="514090" cy="514090"/>
              </a:xfrm>
              <a:prstGeom prst="ellipse">
                <a:avLst/>
              </a:prstGeom>
              <a:solidFill>
                <a:srgbClr val="EEF5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ittle Function 01…">
                <a:extLst>
                  <a:ext uri="{FF2B5EF4-FFF2-40B4-BE49-F238E27FC236}">
                    <a16:creationId xmlns:a16="http://schemas.microsoft.com/office/drawing/2014/main" id="{1AF0EB79-25E8-D2AD-F28A-750BABD90316}"/>
                  </a:ext>
                </a:extLst>
              </p:cNvPr>
              <p:cNvSpPr txBox="1">
                <a:spLocks/>
              </p:cNvSpPr>
              <p:nvPr/>
            </p:nvSpPr>
            <p:spPr>
              <a:xfrm>
                <a:off x="1634280" y="4462199"/>
                <a:ext cx="1783010"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Governance distribuita</a:t>
                </a:r>
                <a:endParaRPr lang="it-IT" sz="950" b="1" spc="-10" dirty="0">
                  <a:latin typeface="Poppins SemiBold" panose="00000700000000000000" pitchFamily="2" charset="0"/>
                  <a:cs typeface="Poppins SemiBold" panose="00000700000000000000" pitchFamily="2" charset="0"/>
                </a:endParaRPr>
              </a:p>
            </p:txBody>
          </p:sp>
          <p:sp>
            <p:nvSpPr>
              <p:cNvPr id="68" name="CasellaDiTesto 67">
                <a:extLst>
                  <a:ext uri="{FF2B5EF4-FFF2-40B4-BE49-F238E27FC236}">
                    <a16:creationId xmlns:a16="http://schemas.microsoft.com/office/drawing/2014/main" id="{16EAAA24-E264-CC4E-DFB7-F946E55A9DD7}"/>
                  </a:ext>
                </a:extLst>
              </p:cNvPr>
              <p:cNvSpPr txBox="1">
                <a:spLocks/>
              </p:cNvSpPr>
              <p:nvPr/>
            </p:nvSpPr>
            <p:spPr>
              <a:xfrm>
                <a:off x="1634280" y="4608393"/>
                <a:ext cx="1828201" cy="507831"/>
              </a:xfrm>
              <a:prstGeom prst="rect">
                <a:avLst/>
              </a:prstGeom>
              <a:noFill/>
            </p:spPr>
            <p:txBody>
              <a:bodyPr wrap="square" lIns="0" rIns="0" rtlCol="0">
                <a:spAutoFit/>
              </a:bodyPr>
              <a:lstStyle/>
              <a:p>
                <a:r>
                  <a:rPr lang="it-IT" sz="900" noProof="0" dirty="0"/>
                  <a:t>Controlli, permessi, log e responsabilità vanno coordinati tra più componenti.</a:t>
                </a:r>
                <a:endParaRPr lang="it-IT" sz="850" noProof="0" dirty="0"/>
              </a:p>
            </p:txBody>
          </p:sp>
          <p:sp>
            <p:nvSpPr>
              <p:cNvPr id="457" name="Figura a mano libera: forma 456">
                <a:extLst>
                  <a:ext uri="{FF2B5EF4-FFF2-40B4-BE49-F238E27FC236}">
                    <a16:creationId xmlns:a16="http://schemas.microsoft.com/office/drawing/2014/main" id="{ADDA7CA6-B61C-6B86-090E-A5CC9667D67F}"/>
                  </a:ext>
                </a:extLst>
              </p:cNvPr>
              <p:cNvSpPr>
                <a:spLocks/>
              </p:cNvSpPr>
              <p:nvPr/>
            </p:nvSpPr>
            <p:spPr>
              <a:xfrm>
                <a:off x="1167075" y="4614762"/>
                <a:ext cx="156000" cy="195032"/>
              </a:xfrm>
              <a:custGeom>
                <a:avLst/>
                <a:gdLst>
                  <a:gd name="csX0" fmla="*/ 156000 w 156000"/>
                  <a:gd name="csY0" fmla="*/ 107254 h 195032"/>
                  <a:gd name="csX1" fmla="*/ 81315 w 156000"/>
                  <a:gd name="csY1" fmla="*/ 194517 h 195032"/>
                  <a:gd name="csX2" fmla="*/ 74783 w 156000"/>
                  <a:gd name="csY2" fmla="*/ 194419 h 195032"/>
                  <a:gd name="csX3" fmla="*/ 0 w 156000"/>
                  <a:gd name="csY3" fmla="*/ 107254 h 195032"/>
                  <a:gd name="csX4" fmla="*/ 0 w 156000"/>
                  <a:gd name="csY4" fmla="*/ 39004 h 195032"/>
                  <a:gd name="csX5" fmla="*/ 9750 w 156000"/>
                  <a:gd name="csY5" fmla="*/ 29254 h 195032"/>
                  <a:gd name="csX6" fmla="*/ 70590 w 156000"/>
                  <a:gd name="csY6" fmla="*/ 2734 h 195032"/>
                  <a:gd name="csX7" fmla="*/ 85410 w 156000"/>
                  <a:gd name="csY7" fmla="*/ 2734 h 195032"/>
                  <a:gd name="csX8" fmla="*/ 146250 w 156000"/>
                  <a:gd name="csY8" fmla="*/ 29254 h 195032"/>
                  <a:gd name="csX9" fmla="*/ 156000 w 156000"/>
                  <a:gd name="csY9" fmla="*/ 39004 h 1950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56000" h="195032">
                    <a:moveTo>
                      <a:pt x="156000" y="107254"/>
                    </a:moveTo>
                    <a:cubicBezTo>
                      <a:pt x="156000" y="156004"/>
                      <a:pt x="121875" y="180379"/>
                      <a:pt x="81315" y="194517"/>
                    </a:cubicBezTo>
                    <a:cubicBezTo>
                      <a:pt x="79191" y="195236"/>
                      <a:pt x="76884" y="195202"/>
                      <a:pt x="74783" y="194419"/>
                    </a:cubicBezTo>
                    <a:cubicBezTo>
                      <a:pt x="34125" y="180379"/>
                      <a:pt x="0" y="156004"/>
                      <a:pt x="0" y="107254"/>
                    </a:cubicBezTo>
                    <a:lnTo>
                      <a:pt x="0" y="39004"/>
                    </a:lnTo>
                    <a:cubicBezTo>
                      <a:pt x="0" y="33620"/>
                      <a:pt x="4365" y="29254"/>
                      <a:pt x="9750" y="29254"/>
                    </a:cubicBezTo>
                    <a:cubicBezTo>
                      <a:pt x="29250" y="29254"/>
                      <a:pt x="53625" y="17554"/>
                      <a:pt x="70590" y="2734"/>
                    </a:cubicBezTo>
                    <a:cubicBezTo>
                      <a:pt x="74858" y="-911"/>
                      <a:pt x="81142" y="-911"/>
                      <a:pt x="85410" y="2734"/>
                    </a:cubicBezTo>
                    <a:cubicBezTo>
                      <a:pt x="102473" y="17652"/>
                      <a:pt x="126750" y="29254"/>
                      <a:pt x="146250" y="29254"/>
                    </a:cubicBezTo>
                    <a:cubicBezTo>
                      <a:pt x="151635" y="29254"/>
                      <a:pt x="156000" y="33620"/>
                      <a:pt x="156000" y="39004"/>
                    </a:cubicBezTo>
                    <a:close/>
                  </a:path>
                </a:pathLst>
              </a:custGeom>
              <a:noFill/>
              <a:ln w="19050" cap="rnd">
                <a:solidFill>
                  <a:srgbClr val="3787CE"/>
                </a:solidFill>
                <a:prstDash val="solid"/>
                <a:round/>
              </a:ln>
            </p:spPr>
            <p:txBody>
              <a:bodyPr/>
              <a:lstStyle/>
              <a:p>
                <a:endParaRPr lang="en-US"/>
              </a:p>
            </p:txBody>
          </p:sp>
          <p:sp>
            <p:nvSpPr>
              <p:cNvPr id="458" name="Figura a mano libera: forma 457">
                <a:extLst>
                  <a:ext uri="{FF2B5EF4-FFF2-40B4-BE49-F238E27FC236}">
                    <a16:creationId xmlns:a16="http://schemas.microsoft.com/office/drawing/2014/main" id="{D8B88CFD-1E04-A70B-FE5A-972E5E0ED752}"/>
                  </a:ext>
                </a:extLst>
              </p:cNvPr>
              <p:cNvSpPr>
                <a:spLocks/>
              </p:cNvSpPr>
              <p:nvPr/>
            </p:nvSpPr>
            <p:spPr>
              <a:xfrm>
                <a:off x="1215825" y="4692767"/>
                <a:ext cx="58500" cy="39000"/>
              </a:xfrm>
              <a:custGeom>
                <a:avLst/>
                <a:gdLst>
                  <a:gd name="csX0" fmla="*/ 0 w 58500"/>
                  <a:gd name="csY0" fmla="*/ 19500 h 39000"/>
                  <a:gd name="csX1" fmla="*/ 19500 w 58500"/>
                  <a:gd name="csY1" fmla="*/ 39000 h 39000"/>
                  <a:gd name="csX2" fmla="*/ 58500 w 58500"/>
                  <a:gd name="csY2" fmla="*/ 0 h 39000"/>
                </a:gdLst>
                <a:ahLst/>
                <a:cxnLst>
                  <a:cxn ang="0">
                    <a:pos x="csX0" y="csY0"/>
                  </a:cxn>
                  <a:cxn ang="0">
                    <a:pos x="csX1" y="csY1"/>
                  </a:cxn>
                  <a:cxn ang="0">
                    <a:pos x="csX2" y="csY2"/>
                  </a:cxn>
                </a:cxnLst>
                <a:rect l="l" t="t" r="r" b="b"/>
                <a:pathLst>
                  <a:path w="58500" h="39000">
                    <a:moveTo>
                      <a:pt x="0" y="19500"/>
                    </a:moveTo>
                    <a:lnTo>
                      <a:pt x="19500" y="39000"/>
                    </a:lnTo>
                    <a:lnTo>
                      <a:pt x="58500" y="0"/>
                    </a:lnTo>
                  </a:path>
                </a:pathLst>
              </a:custGeom>
              <a:noFill/>
              <a:ln w="19050" cap="rnd">
                <a:solidFill>
                  <a:srgbClr val="3787CE"/>
                </a:solidFill>
                <a:prstDash val="solid"/>
                <a:round/>
              </a:ln>
            </p:spPr>
            <p:txBody>
              <a:bodyPr/>
              <a:lstStyle/>
              <a:p>
                <a:endParaRPr lang="en-US"/>
              </a:p>
            </p:txBody>
          </p:sp>
          <p:pic>
            <p:nvPicPr>
              <p:cNvPr id="499" name="Elemento grafico 498">
                <a:extLst>
                  <a:ext uri="{FF2B5EF4-FFF2-40B4-BE49-F238E27FC236}">
                    <a16:creationId xmlns:a16="http://schemas.microsoft.com/office/drawing/2014/main" id="{FBEBEAEF-A190-7D2A-7CA4-9AC15254F23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101076" y="2652728"/>
                <a:ext cx="288000" cy="288000"/>
              </a:xfrm>
              <a:prstGeom prst="rect">
                <a:avLst/>
              </a:prstGeom>
            </p:spPr>
          </p:pic>
        </p:grpSp>
        <p:sp>
          <p:nvSpPr>
            <p:cNvPr id="49" name="Ovale 48">
              <a:extLst>
                <a:ext uri="{FF2B5EF4-FFF2-40B4-BE49-F238E27FC236}">
                  <a16:creationId xmlns:a16="http://schemas.microsoft.com/office/drawing/2014/main" id="{27B2E624-F6DF-F087-B92A-575E852089EF}"/>
                </a:ext>
              </a:extLst>
            </p:cNvPr>
            <p:cNvSpPr/>
            <p:nvPr/>
          </p:nvSpPr>
          <p:spPr>
            <a:xfrm>
              <a:off x="1528758" y="1301451"/>
              <a:ext cx="1363225" cy="724172"/>
            </a:xfrm>
            <a:prstGeom prst="ellipse">
              <a:avLst/>
            </a:prstGeom>
            <a:solidFill>
              <a:schemeClr val="bg1"/>
            </a:solidFill>
            <a:ln w="285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502" name="Ovale 501">
              <a:extLst>
                <a:ext uri="{FF2B5EF4-FFF2-40B4-BE49-F238E27FC236}">
                  <a16:creationId xmlns:a16="http://schemas.microsoft.com/office/drawing/2014/main" id="{B11BFCF4-F11C-E8DD-8F20-269F0BFDFC67}"/>
                </a:ext>
              </a:extLst>
            </p:cNvPr>
            <p:cNvSpPr/>
            <p:nvPr/>
          </p:nvSpPr>
          <p:spPr>
            <a:xfrm>
              <a:off x="1498635" y="1285449"/>
              <a:ext cx="1423468" cy="756174"/>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pic>
          <p:nvPicPr>
            <p:cNvPr id="501" name="Immagine 500">
              <a:extLst>
                <a:ext uri="{FF2B5EF4-FFF2-40B4-BE49-F238E27FC236}">
                  <a16:creationId xmlns:a16="http://schemas.microsoft.com/office/drawing/2014/main" id="{FBF4E949-9BA0-EBA7-CA96-845100F2E9CB}"/>
                </a:ext>
              </a:extLst>
            </p:cNvPr>
            <p:cNvPicPr>
              <a:picLocks noChangeAspect="1"/>
            </p:cNvPicPr>
            <p:nvPr/>
          </p:nvPicPr>
          <p:blipFill>
            <a:blip r:embed="rId12"/>
            <a:srcRect t="22519" b="16473"/>
            <a:stretch>
              <a:fillRect/>
            </a:stretch>
          </p:blipFill>
          <p:spPr>
            <a:xfrm>
              <a:off x="1949023" y="1504095"/>
              <a:ext cx="522693" cy="318883"/>
            </a:xfrm>
            <a:prstGeom prst="rect">
              <a:avLst/>
            </a:prstGeom>
          </p:spPr>
        </p:pic>
      </p:grpSp>
      <p:grpSp>
        <p:nvGrpSpPr>
          <p:cNvPr id="505" name="Gruppo 504">
            <a:extLst>
              <a:ext uri="{FF2B5EF4-FFF2-40B4-BE49-F238E27FC236}">
                <a16:creationId xmlns:a16="http://schemas.microsoft.com/office/drawing/2014/main" id="{26B28EE7-074F-9DBA-6024-F56E0D0829C6}"/>
              </a:ext>
            </a:extLst>
          </p:cNvPr>
          <p:cNvGrpSpPr/>
          <p:nvPr/>
        </p:nvGrpSpPr>
        <p:grpSpPr>
          <a:xfrm>
            <a:off x="8592840" y="1284722"/>
            <a:ext cx="2777577" cy="4346984"/>
            <a:chOff x="8592840" y="1284722"/>
            <a:chExt cx="2777577" cy="4346984"/>
          </a:xfrm>
        </p:grpSpPr>
        <p:grpSp>
          <p:nvGrpSpPr>
            <p:cNvPr id="418" name="Gruppo 417">
              <a:extLst>
                <a:ext uri="{FF2B5EF4-FFF2-40B4-BE49-F238E27FC236}">
                  <a16:creationId xmlns:a16="http://schemas.microsoft.com/office/drawing/2014/main" id="{9D4DF298-A50D-29B8-5A6B-2408F836DE55}"/>
                </a:ext>
              </a:extLst>
            </p:cNvPr>
            <p:cNvGrpSpPr>
              <a:grpSpLocks/>
            </p:cNvGrpSpPr>
            <p:nvPr/>
          </p:nvGrpSpPr>
          <p:grpSpPr>
            <a:xfrm>
              <a:off x="8592840" y="1554719"/>
              <a:ext cx="2777577" cy="4076987"/>
              <a:chOff x="8590051" y="1072529"/>
              <a:chExt cx="2777577" cy="4076987"/>
            </a:xfrm>
          </p:grpSpPr>
          <p:grpSp>
            <p:nvGrpSpPr>
              <p:cNvPr id="205" name="Gruppo 204">
                <a:extLst>
                  <a:ext uri="{FF2B5EF4-FFF2-40B4-BE49-F238E27FC236}">
                    <a16:creationId xmlns:a16="http://schemas.microsoft.com/office/drawing/2014/main" id="{A33CB05D-E225-A93E-D3C7-6A2EF3C70AAA}"/>
                  </a:ext>
                </a:extLst>
              </p:cNvPr>
              <p:cNvGrpSpPr>
                <a:grpSpLocks/>
              </p:cNvGrpSpPr>
              <p:nvPr/>
            </p:nvGrpSpPr>
            <p:grpSpPr>
              <a:xfrm>
                <a:off x="8590051" y="1072529"/>
                <a:ext cx="2777577" cy="4076987"/>
                <a:chOff x="4276366" y="1333786"/>
                <a:chExt cx="2777577" cy="4076987"/>
              </a:xfrm>
            </p:grpSpPr>
            <p:grpSp>
              <p:nvGrpSpPr>
                <p:cNvPr id="237" name="Gruppo 236">
                  <a:extLst>
                    <a:ext uri="{FF2B5EF4-FFF2-40B4-BE49-F238E27FC236}">
                      <a16:creationId xmlns:a16="http://schemas.microsoft.com/office/drawing/2014/main" id="{B5B6F6CA-428E-765D-D341-EC7D752D7C70}"/>
                    </a:ext>
                  </a:extLst>
                </p:cNvPr>
                <p:cNvGrpSpPr>
                  <a:grpSpLocks/>
                </p:cNvGrpSpPr>
                <p:nvPr/>
              </p:nvGrpSpPr>
              <p:grpSpPr>
                <a:xfrm>
                  <a:off x="4276367" y="1333786"/>
                  <a:ext cx="2777576" cy="4076987"/>
                  <a:chOff x="4276367" y="1333786"/>
                  <a:chExt cx="2777576" cy="4076987"/>
                </a:xfrm>
              </p:grpSpPr>
              <p:sp>
                <p:nvSpPr>
                  <p:cNvPr id="239" name="AutoShape 4">
                    <a:extLst>
                      <a:ext uri="{FF2B5EF4-FFF2-40B4-BE49-F238E27FC236}">
                        <a16:creationId xmlns:a16="http://schemas.microsoft.com/office/drawing/2014/main" id="{7A218D10-9325-6346-97E8-919E754B7FE8}"/>
                      </a:ext>
                    </a:extLst>
                  </p:cNvPr>
                  <p:cNvSpPr>
                    <a:spLocks noChangeAspect="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0" name="Rettangolo con angoli arrotondati 239">
                    <a:extLst>
                      <a:ext uri="{FF2B5EF4-FFF2-40B4-BE49-F238E27FC236}">
                        <a16:creationId xmlns:a16="http://schemas.microsoft.com/office/drawing/2014/main" id="{FEA25DF6-BD1B-1F9B-C99F-CA83323EBB99}"/>
                      </a:ext>
                    </a:extLst>
                  </p:cNvPr>
                  <p:cNvSpPr>
                    <a:spLocks/>
                  </p:cNvSpPr>
                  <p:nvPr/>
                </p:nvSpPr>
                <p:spPr>
                  <a:xfrm>
                    <a:off x="4276367" y="1333786"/>
                    <a:ext cx="2777576" cy="4076987"/>
                  </a:xfrm>
                  <a:prstGeom prst="roundRect">
                    <a:avLst>
                      <a:gd name="adj" fmla="val 4786"/>
                    </a:avLst>
                  </a:prstGeom>
                  <a:solidFill>
                    <a:srgbClr val="52B3B4"/>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241" name="Rettangolo con angoli arrotondati 240">
                    <a:extLst>
                      <a:ext uri="{FF2B5EF4-FFF2-40B4-BE49-F238E27FC236}">
                        <a16:creationId xmlns:a16="http://schemas.microsoft.com/office/drawing/2014/main" id="{5288B8B9-1335-9714-E220-D6BB5C4593A4}"/>
                      </a:ext>
                    </a:extLst>
                  </p:cNvPr>
                  <p:cNvSpPr>
                    <a:spLocks/>
                  </p:cNvSpPr>
                  <p:nvPr/>
                </p:nvSpPr>
                <p:spPr>
                  <a:xfrm>
                    <a:off x="4276367" y="1646994"/>
                    <a:ext cx="2777576" cy="3763779"/>
                  </a:xfrm>
                  <a:prstGeom prst="roundRect">
                    <a:avLst>
                      <a:gd name="adj" fmla="val 4786"/>
                    </a:avLst>
                  </a:prstGeom>
                  <a:solidFill>
                    <a:schemeClr val="bg1"/>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238" name="CasellaDiTesto 237">
                  <a:extLst>
                    <a:ext uri="{FF2B5EF4-FFF2-40B4-BE49-F238E27FC236}">
                      <a16:creationId xmlns:a16="http://schemas.microsoft.com/office/drawing/2014/main" id="{E710D35C-EB27-A7EB-4BC2-9E6C42D8564A}"/>
                    </a:ext>
                  </a:extLst>
                </p:cNvPr>
                <p:cNvSpPr txBox="1">
                  <a:spLocks/>
                </p:cNvSpPr>
                <p:nvPr/>
              </p:nvSpPr>
              <p:spPr>
                <a:xfrm>
                  <a:off x="4276366" y="1362364"/>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grpSp>
          <p:cxnSp>
            <p:nvCxnSpPr>
              <p:cNvPr id="207" name="Connettore diritto 206">
                <a:extLst>
                  <a:ext uri="{FF2B5EF4-FFF2-40B4-BE49-F238E27FC236}">
                    <a16:creationId xmlns:a16="http://schemas.microsoft.com/office/drawing/2014/main" id="{62E89392-250A-E44B-9874-FD3F006F7203}"/>
                  </a:ext>
                </a:extLst>
              </p:cNvPr>
              <p:cNvCxnSpPr>
                <a:cxnSpLocks/>
              </p:cNvCxnSpPr>
              <p:nvPr/>
            </p:nvCxnSpPr>
            <p:spPr>
              <a:xfrm>
                <a:off x="8753709" y="2317843"/>
                <a:ext cx="2474451" cy="0"/>
              </a:xfrm>
              <a:prstGeom prst="line">
                <a:avLst/>
              </a:prstGeom>
              <a:ln>
                <a:solidFill>
                  <a:srgbClr val="52B3B4">
                    <a:alpha val="25098"/>
                  </a:srgbClr>
                </a:solidFill>
              </a:ln>
            </p:spPr>
            <p:style>
              <a:lnRef idx="1">
                <a:schemeClr val="accent1"/>
              </a:lnRef>
              <a:fillRef idx="0">
                <a:schemeClr val="accent1"/>
              </a:fillRef>
              <a:effectRef idx="0">
                <a:schemeClr val="accent1"/>
              </a:effectRef>
              <a:fontRef idx="minor">
                <a:schemeClr val="tx1"/>
              </a:fontRef>
            </p:style>
          </p:cxnSp>
          <p:cxnSp>
            <p:nvCxnSpPr>
              <p:cNvPr id="208" name="Connettore diritto 207">
                <a:extLst>
                  <a:ext uri="{FF2B5EF4-FFF2-40B4-BE49-F238E27FC236}">
                    <a16:creationId xmlns:a16="http://schemas.microsoft.com/office/drawing/2014/main" id="{74407527-2ACA-D911-1DDD-5D518DB6FB40}"/>
                  </a:ext>
                </a:extLst>
              </p:cNvPr>
              <p:cNvCxnSpPr>
                <a:cxnSpLocks/>
              </p:cNvCxnSpPr>
              <p:nvPr/>
            </p:nvCxnSpPr>
            <p:spPr>
              <a:xfrm>
                <a:off x="8753709" y="3275613"/>
                <a:ext cx="2474451" cy="0"/>
              </a:xfrm>
              <a:prstGeom prst="line">
                <a:avLst/>
              </a:prstGeom>
              <a:ln>
                <a:solidFill>
                  <a:srgbClr val="52B3B4">
                    <a:alpha val="25098"/>
                  </a:srgbClr>
                </a:solidFill>
              </a:ln>
            </p:spPr>
            <p:style>
              <a:lnRef idx="1">
                <a:schemeClr val="accent1"/>
              </a:lnRef>
              <a:fillRef idx="0">
                <a:schemeClr val="accent1"/>
              </a:fillRef>
              <a:effectRef idx="0">
                <a:schemeClr val="accent1"/>
              </a:effectRef>
              <a:fontRef idx="minor">
                <a:schemeClr val="tx1"/>
              </a:fontRef>
            </p:style>
          </p:cxnSp>
          <p:cxnSp>
            <p:nvCxnSpPr>
              <p:cNvPr id="209" name="Connettore diritto 208">
                <a:extLst>
                  <a:ext uri="{FF2B5EF4-FFF2-40B4-BE49-F238E27FC236}">
                    <a16:creationId xmlns:a16="http://schemas.microsoft.com/office/drawing/2014/main" id="{A975145D-8265-19D4-8278-6E58D3AC7331}"/>
                  </a:ext>
                </a:extLst>
              </p:cNvPr>
              <p:cNvCxnSpPr>
                <a:cxnSpLocks/>
              </p:cNvCxnSpPr>
              <p:nvPr/>
            </p:nvCxnSpPr>
            <p:spPr>
              <a:xfrm>
                <a:off x="8753709" y="4233383"/>
                <a:ext cx="2474451" cy="0"/>
              </a:xfrm>
              <a:prstGeom prst="line">
                <a:avLst/>
              </a:prstGeom>
              <a:ln>
                <a:solidFill>
                  <a:srgbClr val="52B3B4">
                    <a:alpha val="25098"/>
                  </a:srgbClr>
                </a:solidFill>
              </a:ln>
            </p:spPr>
            <p:style>
              <a:lnRef idx="1">
                <a:schemeClr val="accent1"/>
              </a:lnRef>
              <a:fillRef idx="0">
                <a:schemeClr val="accent1"/>
              </a:fillRef>
              <a:effectRef idx="0">
                <a:schemeClr val="accent1"/>
              </a:effectRef>
              <a:fontRef idx="minor">
                <a:schemeClr val="tx1"/>
              </a:fontRef>
            </p:style>
          </p:cxnSp>
          <p:grpSp>
            <p:nvGrpSpPr>
              <p:cNvPr id="414" name="Gruppo 413">
                <a:extLst>
                  <a:ext uri="{FF2B5EF4-FFF2-40B4-BE49-F238E27FC236}">
                    <a16:creationId xmlns:a16="http://schemas.microsoft.com/office/drawing/2014/main" id="{BA1BEC0B-8E6A-E20B-01F6-0271177F7B12}"/>
                  </a:ext>
                </a:extLst>
              </p:cNvPr>
              <p:cNvGrpSpPr>
                <a:grpSpLocks/>
              </p:cNvGrpSpPr>
              <p:nvPr/>
            </p:nvGrpSpPr>
            <p:grpSpPr>
              <a:xfrm>
                <a:off x="8753710" y="2539683"/>
                <a:ext cx="2474449" cy="640288"/>
                <a:chOff x="8753710" y="2539683"/>
                <a:chExt cx="2474449" cy="640288"/>
              </a:xfrm>
            </p:grpSpPr>
            <p:sp>
              <p:nvSpPr>
                <p:cNvPr id="229" name="Ovale 228">
                  <a:extLst>
                    <a:ext uri="{FF2B5EF4-FFF2-40B4-BE49-F238E27FC236}">
                      <a16:creationId xmlns:a16="http://schemas.microsoft.com/office/drawing/2014/main" id="{9821320C-78D2-9DF4-FDB4-CD0B5AA3AA0A}"/>
                    </a:ext>
                  </a:extLst>
                </p:cNvPr>
                <p:cNvSpPr>
                  <a:spLocks/>
                </p:cNvSpPr>
                <p:nvPr/>
              </p:nvSpPr>
              <p:spPr>
                <a:xfrm>
                  <a:off x="8753710" y="2539683"/>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26" name="Gruppo 225">
                  <a:extLst>
                    <a:ext uri="{FF2B5EF4-FFF2-40B4-BE49-F238E27FC236}">
                      <a16:creationId xmlns:a16="http://schemas.microsoft.com/office/drawing/2014/main" id="{FF0B873A-8F07-05E6-33BD-19623AB7C01F}"/>
                    </a:ext>
                  </a:extLst>
                </p:cNvPr>
                <p:cNvGrpSpPr>
                  <a:grpSpLocks/>
                </p:cNvGrpSpPr>
                <p:nvPr/>
              </p:nvGrpSpPr>
              <p:grpSpPr>
                <a:xfrm>
                  <a:off x="9399958" y="2549029"/>
                  <a:ext cx="1828201" cy="630942"/>
                  <a:chOff x="1113119" y="1858492"/>
                  <a:chExt cx="1828201" cy="630942"/>
                </a:xfrm>
              </p:grpSpPr>
              <p:sp>
                <p:nvSpPr>
                  <p:cNvPr id="227" name="Tittle Function 01…">
                    <a:extLst>
                      <a:ext uri="{FF2B5EF4-FFF2-40B4-BE49-F238E27FC236}">
                        <a16:creationId xmlns:a16="http://schemas.microsoft.com/office/drawing/2014/main" id="{6868C371-42AC-F6A9-A72E-149A0C616AC6}"/>
                      </a:ext>
                    </a:extLst>
                  </p:cNvPr>
                  <p:cNvSpPr txBox="1">
                    <a:spLocks/>
                  </p:cNvSpPr>
                  <p:nvPr/>
                </p:nvSpPr>
                <p:spPr>
                  <a:xfrm>
                    <a:off x="1113119" y="1858492"/>
                    <a:ext cx="174472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Minore </a:t>
                    </a:r>
                    <a:r>
                      <a:rPr lang="en-US" sz="950" spc="-10" noProof="0" dirty="0">
                        <a:latin typeface="Poppins SemiBold" panose="00000700000000000000" pitchFamily="2" charset="0"/>
                        <a:cs typeface="Poppins SemiBold" panose="00000700000000000000" pitchFamily="2" charset="0"/>
                      </a:rPr>
                      <a:t>effort</a:t>
                    </a:r>
                    <a:r>
                      <a:rPr lang="it-IT" sz="950" spc="-10" dirty="0">
                        <a:latin typeface="Poppins SemiBold" panose="00000700000000000000" pitchFamily="2" charset="0"/>
                        <a:cs typeface="Poppins SemiBold" panose="00000700000000000000" pitchFamily="2" charset="0"/>
                      </a:rPr>
                      <a:t> di integrazione</a:t>
                    </a:r>
                    <a:endParaRPr lang="it-IT" sz="950" b="1" spc="-10" dirty="0">
                      <a:latin typeface="Poppins SemiBold" panose="00000700000000000000" pitchFamily="2" charset="0"/>
                      <a:cs typeface="Poppins SemiBold" panose="00000700000000000000" pitchFamily="2" charset="0"/>
                    </a:endParaRPr>
                  </a:p>
                </p:txBody>
              </p:sp>
              <p:sp>
                <p:nvSpPr>
                  <p:cNvPr id="228" name="CasellaDiTesto 227">
                    <a:extLst>
                      <a:ext uri="{FF2B5EF4-FFF2-40B4-BE49-F238E27FC236}">
                        <a16:creationId xmlns:a16="http://schemas.microsoft.com/office/drawing/2014/main" id="{6DA4643E-9D7B-37E2-2F14-7D25F92E32CC}"/>
                      </a:ext>
                    </a:extLst>
                  </p:cNvPr>
                  <p:cNvSpPr txBox="1">
                    <a:spLocks/>
                  </p:cNvSpPr>
                  <p:nvPr/>
                </p:nvSpPr>
                <p:spPr>
                  <a:xfrm>
                    <a:off x="1113119" y="2004686"/>
                    <a:ext cx="1828201" cy="484748"/>
                  </a:xfrm>
                  <a:prstGeom prst="rect">
                    <a:avLst/>
                  </a:prstGeom>
                  <a:noFill/>
                </p:spPr>
                <p:txBody>
                  <a:bodyPr wrap="square" lIns="0" rIns="0" rtlCol="0">
                    <a:spAutoFit/>
                  </a:bodyPr>
                  <a:lstStyle/>
                  <a:p>
                    <a:r>
                      <a:rPr lang="it-IT" sz="850" dirty="0"/>
                      <a:t>Qlik Cloud offre analisi, dashboard e automazioni operative.</a:t>
                    </a:r>
                    <a:endParaRPr lang="en-US" sz="850" dirty="0"/>
                  </a:p>
                </p:txBody>
              </p:sp>
            </p:grpSp>
            <p:pic>
              <p:nvPicPr>
                <p:cNvPr id="406" name="Elemento grafico 405">
                  <a:extLst>
                    <a:ext uri="{FF2B5EF4-FFF2-40B4-BE49-F238E27FC236}">
                      <a16:creationId xmlns:a16="http://schemas.microsoft.com/office/drawing/2014/main" id="{990CEF2D-7D75-F48F-0D4C-29B0507599A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893755" y="2679728"/>
                  <a:ext cx="234000" cy="234000"/>
                </a:xfrm>
                <a:prstGeom prst="rect">
                  <a:avLst/>
                </a:prstGeom>
              </p:spPr>
            </p:pic>
          </p:grpSp>
          <p:grpSp>
            <p:nvGrpSpPr>
              <p:cNvPr id="415" name="Gruppo 414">
                <a:extLst>
                  <a:ext uri="{FF2B5EF4-FFF2-40B4-BE49-F238E27FC236}">
                    <a16:creationId xmlns:a16="http://schemas.microsoft.com/office/drawing/2014/main" id="{2EADD640-D166-AD19-E4E3-309E65954C01}"/>
                  </a:ext>
                </a:extLst>
              </p:cNvPr>
              <p:cNvGrpSpPr>
                <a:grpSpLocks/>
              </p:cNvGrpSpPr>
              <p:nvPr/>
            </p:nvGrpSpPr>
            <p:grpSpPr>
              <a:xfrm>
                <a:off x="8753709" y="3497453"/>
                <a:ext cx="2552191" cy="526065"/>
                <a:chOff x="8753709" y="3497453"/>
                <a:chExt cx="2552191" cy="526065"/>
              </a:xfrm>
            </p:grpSpPr>
            <p:sp>
              <p:nvSpPr>
                <p:cNvPr id="223" name="Ovale 222">
                  <a:extLst>
                    <a:ext uri="{FF2B5EF4-FFF2-40B4-BE49-F238E27FC236}">
                      <a16:creationId xmlns:a16="http://schemas.microsoft.com/office/drawing/2014/main" id="{63AFE461-72A5-13F9-2F74-A49123BA098A}"/>
                    </a:ext>
                  </a:extLst>
                </p:cNvPr>
                <p:cNvSpPr>
                  <a:spLocks/>
                </p:cNvSpPr>
                <p:nvPr/>
              </p:nvSpPr>
              <p:spPr>
                <a:xfrm>
                  <a:off x="8753709" y="3497453"/>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0" name="Gruppo 219">
                  <a:extLst>
                    <a:ext uri="{FF2B5EF4-FFF2-40B4-BE49-F238E27FC236}">
                      <a16:creationId xmlns:a16="http://schemas.microsoft.com/office/drawing/2014/main" id="{8CA98D37-31D4-D481-1147-F3F62E2B96AF}"/>
                    </a:ext>
                  </a:extLst>
                </p:cNvPr>
                <p:cNvGrpSpPr>
                  <a:grpSpLocks/>
                </p:cNvGrpSpPr>
                <p:nvPr/>
              </p:nvGrpSpPr>
              <p:grpSpPr>
                <a:xfrm>
                  <a:off x="9399958" y="3507992"/>
                  <a:ext cx="1905942" cy="515526"/>
                  <a:chOff x="1113119" y="1858492"/>
                  <a:chExt cx="1905942" cy="515526"/>
                </a:xfrm>
              </p:grpSpPr>
              <p:sp>
                <p:nvSpPr>
                  <p:cNvPr id="221" name="Tittle Function 01…">
                    <a:extLst>
                      <a:ext uri="{FF2B5EF4-FFF2-40B4-BE49-F238E27FC236}">
                        <a16:creationId xmlns:a16="http://schemas.microsoft.com/office/drawing/2014/main" id="{6C8D739B-4804-2647-6817-DEDBCA91E105}"/>
                      </a:ext>
                    </a:extLst>
                  </p:cNvPr>
                  <p:cNvSpPr txBox="1">
                    <a:spLocks/>
                  </p:cNvSpPr>
                  <p:nvPr/>
                </p:nvSpPr>
                <p:spPr>
                  <a:xfrm>
                    <a:off x="1113119" y="1858492"/>
                    <a:ext cx="190594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Dipendenza dal </a:t>
                    </a:r>
                    <a:r>
                      <a:rPr lang="en-US" sz="950" spc="-10" noProof="0" dirty="0">
                        <a:latin typeface="Poppins SemiBold" panose="00000700000000000000" pitchFamily="2" charset="0"/>
                        <a:cs typeface="Poppins SemiBold" panose="00000700000000000000" pitchFamily="2" charset="0"/>
                      </a:rPr>
                      <a:t>vendor</a:t>
                    </a:r>
                    <a:endParaRPr lang="it-IT" sz="950" b="1" spc="-10" dirty="0">
                      <a:latin typeface="Poppins SemiBold" panose="00000700000000000000" pitchFamily="2" charset="0"/>
                      <a:cs typeface="Poppins SemiBold" panose="00000700000000000000" pitchFamily="2" charset="0"/>
                    </a:endParaRPr>
                  </a:p>
                </p:txBody>
              </p:sp>
              <p:sp>
                <p:nvSpPr>
                  <p:cNvPr id="222" name="CasellaDiTesto 221">
                    <a:extLst>
                      <a:ext uri="{FF2B5EF4-FFF2-40B4-BE49-F238E27FC236}">
                        <a16:creationId xmlns:a16="http://schemas.microsoft.com/office/drawing/2014/main" id="{09FED2B4-37AC-C3D1-5181-8FA167F10C18}"/>
                      </a:ext>
                    </a:extLst>
                  </p:cNvPr>
                  <p:cNvSpPr txBox="1">
                    <a:spLocks/>
                  </p:cNvSpPr>
                  <p:nvPr/>
                </p:nvSpPr>
                <p:spPr>
                  <a:xfrm>
                    <a:off x="1113119" y="2004686"/>
                    <a:ext cx="1828201" cy="369332"/>
                  </a:xfrm>
                  <a:prstGeom prst="rect">
                    <a:avLst/>
                  </a:prstGeom>
                  <a:noFill/>
                </p:spPr>
                <p:txBody>
                  <a:bodyPr wrap="square" lIns="0" rIns="0" rtlCol="0">
                    <a:spAutoFit/>
                  </a:bodyPr>
                  <a:lstStyle/>
                  <a:p>
                    <a:r>
                      <a:rPr lang="it-IT" sz="900" noProof="0" dirty="0"/>
                      <a:t>La soluzione segue logiche, licenze, limiti e roadmap Qlik.</a:t>
                    </a:r>
                    <a:endParaRPr lang="it-IT" sz="850" noProof="0" dirty="0"/>
                  </a:p>
                </p:txBody>
              </p:sp>
            </p:grpSp>
            <p:pic>
              <p:nvPicPr>
                <p:cNvPr id="408" name="Elemento grafico 407">
                  <a:extLst>
                    <a:ext uri="{FF2B5EF4-FFF2-40B4-BE49-F238E27FC236}">
                      <a16:creationId xmlns:a16="http://schemas.microsoft.com/office/drawing/2014/main" id="{A24BA73A-A53C-FF3E-A8B2-9E7FB739A0C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896454" y="3640198"/>
                  <a:ext cx="228600" cy="228600"/>
                </a:xfrm>
                <a:prstGeom prst="rect">
                  <a:avLst/>
                </a:prstGeom>
              </p:spPr>
            </p:pic>
          </p:grpSp>
          <p:grpSp>
            <p:nvGrpSpPr>
              <p:cNvPr id="416" name="Gruppo 415">
                <a:extLst>
                  <a:ext uri="{FF2B5EF4-FFF2-40B4-BE49-F238E27FC236}">
                    <a16:creationId xmlns:a16="http://schemas.microsoft.com/office/drawing/2014/main" id="{DE2C18FF-95A4-DF64-EC74-7049FC4FAED9}"/>
                  </a:ext>
                </a:extLst>
              </p:cNvPr>
              <p:cNvGrpSpPr>
                <a:grpSpLocks/>
              </p:cNvGrpSpPr>
              <p:nvPr/>
            </p:nvGrpSpPr>
            <p:grpSpPr>
              <a:xfrm>
                <a:off x="8753709" y="4455222"/>
                <a:ext cx="2474451" cy="661002"/>
                <a:chOff x="8753709" y="4455222"/>
                <a:chExt cx="2474451" cy="661002"/>
              </a:xfrm>
            </p:grpSpPr>
            <p:sp>
              <p:nvSpPr>
                <p:cNvPr id="217" name="Ovale 216">
                  <a:extLst>
                    <a:ext uri="{FF2B5EF4-FFF2-40B4-BE49-F238E27FC236}">
                      <a16:creationId xmlns:a16="http://schemas.microsoft.com/office/drawing/2014/main" id="{D3DD6143-1B06-5581-1238-2D98C5FE7F70}"/>
                    </a:ext>
                  </a:extLst>
                </p:cNvPr>
                <p:cNvSpPr>
                  <a:spLocks/>
                </p:cNvSpPr>
                <p:nvPr/>
              </p:nvSpPr>
              <p:spPr>
                <a:xfrm>
                  <a:off x="8753709" y="4455222"/>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4" name="Gruppo 213">
                  <a:extLst>
                    <a:ext uri="{FF2B5EF4-FFF2-40B4-BE49-F238E27FC236}">
                      <a16:creationId xmlns:a16="http://schemas.microsoft.com/office/drawing/2014/main" id="{CBEC05F8-9089-B602-2A3D-51351186617D}"/>
                    </a:ext>
                  </a:extLst>
                </p:cNvPr>
                <p:cNvGrpSpPr>
                  <a:grpSpLocks/>
                </p:cNvGrpSpPr>
                <p:nvPr/>
              </p:nvGrpSpPr>
              <p:grpSpPr>
                <a:xfrm>
                  <a:off x="9399958" y="4462199"/>
                  <a:ext cx="1828202" cy="654025"/>
                  <a:chOff x="1113118" y="1858492"/>
                  <a:chExt cx="1828202" cy="654025"/>
                </a:xfrm>
              </p:grpSpPr>
              <p:sp>
                <p:nvSpPr>
                  <p:cNvPr id="215" name="Tittle Function 01…">
                    <a:extLst>
                      <a:ext uri="{FF2B5EF4-FFF2-40B4-BE49-F238E27FC236}">
                        <a16:creationId xmlns:a16="http://schemas.microsoft.com/office/drawing/2014/main" id="{CD879326-2450-FDA4-E74B-E964CD32C11C}"/>
                      </a:ext>
                    </a:extLst>
                  </p:cNvPr>
                  <p:cNvSpPr txBox="1">
                    <a:spLocks/>
                  </p:cNvSpPr>
                  <p:nvPr/>
                </p:nvSpPr>
                <p:spPr>
                  <a:xfrm>
                    <a:off x="1113118" y="1858492"/>
                    <a:ext cx="1804011"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Governance centralizzata</a:t>
                    </a:r>
                  </a:p>
                </p:txBody>
              </p:sp>
              <p:sp>
                <p:nvSpPr>
                  <p:cNvPr id="216" name="CasellaDiTesto 215">
                    <a:extLst>
                      <a:ext uri="{FF2B5EF4-FFF2-40B4-BE49-F238E27FC236}">
                        <a16:creationId xmlns:a16="http://schemas.microsoft.com/office/drawing/2014/main" id="{05C97F50-5C16-A0E1-F00A-C39C0A8A35E6}"/>
                      </a:ext>
                    </a:extLst>
                  </p:cNvPr>
                  <p:cNvSpPr txBox="1">
                    <a:spLocks/>
                  </p:cNvSpPr>
                  <p:nvPr/>
                </p:nvSpPr>
                <p:spPr>
                  <a:xfrm>
                    <a:off x="1113119" y="2004686"/>
                    <a:ext cx="1828201" cy="507831"/>
                  </a:xfrm>
                  <a:prstGeom prst="rect">
                    <a:avLst/>
                  </a:prstGeom>
                  <a:noFill/>
                </p:spPr>
                <p:txBody>
                  <a:bodyPr wrap="square" lIns="0" rIns="0" rtlCol="0">
                    <a:spAutoFit/>
                  </a:bodyPr>
                  <a:lstStyle/>
                  <a:p>
                    <a:r>
                      <a:rPr lang="it-IT" sz="900" noProof="0" dirty="0"/>
                      <a:t>Utenti, permessi, ambienti e monitoraggio sono gestiti in modo centralizzato.</a:t>
                    </a:r>
                    <a:endParaRPr lang="it-IT" sz="850" noProof="0" dirty="0"/>
                  </a:p>
                </p:txBody>
              </p:sp>
            </p:grpSp>
            <p:pic>
              <p:nvPicPr>
                <p:cNvPr id="410" name="Elemento grafico 409">
                  <a:extLst>
                    <a:ext uri="{FF2B5EF4-FFF2-40B4-BE49-F238E27FC236}">
                      <a16:creationId xmlns:a16="http://schemas.microsoft.com/office/drawing/2014/main" id="{A87B8917-0E88-E3AE-B122-E9E6466FDAE6}"/>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8893754" y="4595267"/>
                  <a:ext cx="234000" cy="234000"/>
                </a:xfrm>
                <a:prstGeom prst="rect">
                  <a:avLst/>
                </a:prstGeom>
              </p:spPr>
            </p:pic>
          </p:grpSp>
          <p:grpSp>
            <p:nvGrpSpPr>
              <p:cNvPr id="413" name="Gruppo 412">
                <a:extLst>
                  <a:ext uri="{FF2B5EF4-FFF2-40B4-BE49-F238E27FC236}">
                    <a16:creationId xmlns:a16="http://schemas.microsoft.com/office/drawing/2014/main" id="{7EA42BE3-CF44-F5B4-A9D8-8668C68EF796}"/>
                  </a:ext>
                </a:extLst>
              </p:cNvPr>
              <p:cNvGrpSpPr>
                <a:grpSpLocks/>
              </p:cNvGrpSpPr>
              <p:nvPr/>
            </p:nvGrpSpPr>
            <p:grpSpPr>
              <a:xfrm>
                <a:off x="8753710" y="1581913"/>
                <a:ext cx="2474449" cy="661686"/>
                <a:chOff x="8753710" y="1581913"/>
                <a:chExt cx="2474449" cy="661686"/>
              </a:xfrm>
            </p:grpSpPr>
            <p:sp>
              <p:nvSpPr>
                <p:cNvPr id="235" name="Ovale 234">
                  <a:extLst>
                    <a:ext uri="{FF2B5EF4-FFF2-40B4-BE49-F238E27FC236}">
                      <a16:creationId xmlns:a16="http://schemas.microsoft.com/office/drawing/2014/main" id="{251C04E6-6B0E-9FA4-B599-8ABCFA426E3A}"/>
                    </a:ext>
                  </a:extLst>
                </p:cNvPr>
                <p:cNvSpPr>
                  <a:spLocks/>
                </p:cNvSpPr>
                <p:nvPr/>
              </p:nvSpPr>
              <p:spPr>
                <a:xfrm>
                  <a:off x="8753710" y="1581913"/>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2" name="Gruppo 231">
                  <a:extLst>
                    <a:ext uri="{FF2B5EF4-FFF2-40B4-BE49-F238E27FC236}">
                      <a16:creationId xmlns:a16="http://schemas.microsoft.com/office/drawing/2014/main" id="{21E888CD-7D62-F8E5-82A3-C13506A2E382}"/>
                    </a:ext>
                  </a:extLst>
                </p:cNvPr>
                <p:cNvGrpSpPr>
                  <a:grpSpLocks/>
                </p:cNvGrpSpPr>
                <p:nvPr/>
              </p:nvGrpSpPr>
              <p:grpSpPr>
                <a:xfrm>
                  <a:off x="9399958" y="1589574"/>
                  <a:ext cx="1828201" cy="654025"/>
                  <a:chOff x="1113119" y="1858492"/>
                  <a:chExt cx="1828201" cy="654025"/>
                </a:xfrm>
              </p:grpSpPr>
              <p:sp>
                <p:nvSpPr>
                  <p:cNvPr id="233" name="Tittle Function 01…">
                    <a:extLst>
                      <a:ext uri="{FF2B5EF4-FFF2-40B4-BE49-F238E27FC236}">
                        <a16:creationId xmlns:a16="http://schemas.microsoft.com/office/drawing/2014/main" id="{E3E75454-464A-AFDA-C9A3-22E03298ABFF}"/>
                      </a:ext>
                    </a:extLst>
                  </p:cNvPr>
                  <p:cNvSpPr txBox="1">
                    <a:spLocks/>
                  </p:cNvSpPr>
                  <p:nvPr/>
                </p:nvSpPr>
                <p:spPr>
                  <a:xfrm>
                    <a:off x="1113119" y="1858492"/>
                    <a:ext cx="173159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Piattaforma più integrata</a:t>
                    </a:r>
                    <a:endParaRPr lang="it-IT" sz="950" b="1" spc="-10" dirty="0">
                      <a:latin typeface="Poppins SemiBold" panose="00000700000000000000" pitchFamily="2" charset="0"/>
                      <a:cs typeface="Poppins SemiBold" panose="00000700000000000000" pitchFamily="2" charset="0"/>
                    </a:endParaRPr>
                  </a:p>
                </p:txBody>
              </p:sp>
              <p:sp>
                <p:nvSpPr>
                  <p:cNvPr id="234" name="CasellaDiTesto 233">
                    <a:extLst>
                      <a:ext uri="{FF2B5EF4-FFF2-40B4-BE49-F238E27FC236}">
                        <a16:creationId xmlns:a16="http://schemas.microsoft.com/office/drawing/2014/main" id="{69FC7708-4E4B-E7B4-EFA0-CC6F4C0618CB}"/>
                      </a:ext>
                    </a:extLst>
                  </p:cNvPr>
                  <p:cNvSpPr txBox="1">
                    <a:spLocks/>
                  </p:cNvSpPr>
                  <p:nvPr/>
                </p:nvSpPr>
                <p:spPr>
                  <a:xfrm>
                    <a:off x="1113119" y="2004686"/>
                    <a:ext cx="1828201" cy="507831"/>
                  </a:xfrm>
                  <a:prstGeom prst="rect">
                    <a:avLst/>
                  </a:prstGeom>
                  <a:noFill/>
                </p:spPr>
                <p:txBody>
                  <a:bodyPr wrap="square" lIns="0" rIns="0" rtlCol="0">
                    <a:spAutoFit/>
                  </a:bodyPr>
                  <a:lstStyle/>
                  <a:p>
                    <a:r>
                      <a:rPr lang="en-US" sz="900" noProof="0" dirty="0"/>
                      <a:t>Ingestion</a:t>
                    </a:r>
                    <a:r>
                      <a:rPr lang="it-IT" sz="900" noProof="0" dirty="0"/>
                      <a:t>, trasformazioni, </a:t>
                    </a:r>
                    <a:r>
                      <a:rPr lang="en-US" sz="900" noProof="0" dirty="0"/>
                      <a:t>analytics</a:t>
                    </a:r>
                    <a:r>
                      <a:rPr lang="it-IT" sz="900" noProof="0" dirty="0"/>
                      <a:t> sono concentrati nello stesso ecosistema cloud.</a:t>
                    </a:r>
                    <a:endParaRPr lang="it-IT" sz="850" noProof="0" dirty="0"/>
                  </a:p>
                </p:txBody>
              </p:sp>
            </p:grpSp>
            <p:pic>
              <p:nvPicPr>
                <p:cNvPr id="412" name="Elemento grafico 411">
                  <a:extLst>
                    <a:ext uri="{FF2B5EF4-FFF2-40B4-BE49-F238E27FC236}">
                      <a16:creationId xmlns:a16="http://schemas.microsoft.com/office/drawing/2014/main" id="{B68B9684-D755-459B-0957-0D90A11693A4}"/>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8893755" y="1721958"/>
                  <a:ext cx="234000" cy="234000"/>
                </a:xfrm>
                <a:prstGeom prst="rect">
                  <a:avLst/>
                </a:prstGeom>
              </p:spPr>
            </p:pic>
          </p:grpSp>
        </p:grpSp>
        <p:sp>
          <p:nvSpPr>
            <p:cNvPr id="456" name="Ovale 455">
              <a:extLst>
                <a:ext uri="{FF2B5EF4-FFF2-40B4-BE49-F238E27FC236}">
                  <a16:creationId xmlns:a16="http://schemas.microsoft.com/office/drawing/2014/main" id="{2B4B481B-4F5E-A399-D883-1646B927056F}"/>
                </a:ext>
              </a:extLst>
            </p:cNvPr>
            <p:cNvSpPr/>
            <p:nvPr/>
          </p:nvSpPr>
          <p:spPr>
            <a:xfrm>
              <a:off x="9296505" y="1300723"/>
              <a:ext cx="1363225" cy="724172"/>
            </a:xfrm>
            <a:prstGeom prst="ellipse">
              <a:avLst/>
            </a:prstGeom>
            <a:solidFill>
              <a:schemeClr val="bg1"/>
            </a:solidFill>
            <a:ln w="285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503" name="Ovale 502">
              <a:extLst>
                <a:ext uri="{FF2B5EF4-FFF2-40B4-BE49-F238E27FC236}">
                  <a16:creationId xmlns:a16="http://schemas.microsoft.com/office/drawing/2014/main" id="{2F97839A-23B7-EEBC-6223-4CBFAC6C0307}"/>
                </a:ext>
              </a:extLst>
            </p:cNvPr>
            <p:cNvSpPr/>
            <p:nvPr/>
          </p:nvSpPr>
          <p:spPr>
            <a:xfrm>
              <a:off x="9266383" y="1284722"/>
              <a:ext cx="1423468" cy="756174"/>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pic>
          <p:nvPicPr>
            <p:cNvPr id="504" name="Immagine 503">
              <a:extLst>
                <a:ext uri="{FF2B5EF4-FFF2-40B4-BE49-F238E27FC236}">
                  <a16:creationId xmlns:a16="http://schemas.microsoft.com/office/drawing/2014/main" id="{696C5AC4-6DD7-B7B4-EB2C-3DEB8BCFC301}"/>
                </a:ext>
              </a:extLst>
            </p:cNvPr>
            <p:cNvPicPr>
              <a:picLocks noChangeAspect="1"/>
            </p:cNvPicPr>
            <p:nvPr/>
          </p:nvPicPr>
          <p:blipFill>
            <a:blip r:embed="rId17">
              <a:extLst>
                <a:ext uri="{28A0092B-C50C-407E-A947-70E740481C1C}">
                  <a14:useLocalDpi xmlns:a14="http://schemas.microsoft.com/office/drawing/2010/main" val="0"/>
                </a:ext>
              </a:extLst>
            </a:blip>
            <a:srcRect t="29190" b="29933"/>
            <a:stretch>
              <a:fillRect/>
            </a:stretch>
          </p:blipFill>
          <p:spPr>
            <a:xfrm>
              <a:off x="9635879" y="1511843"/>
              <a:ext cx="715687" cy="292556"/>
            </a:xfrm>
            <a:prstGeom prst="rect">
              <a:avLst/>
            </a:prstGeom>
          </p:spPr>
        </p:pic>
      </p:grpSp>
      <p:sp>
        <p:nvSpPr>
          <p:cNvPr id="507" name="CasellaDiTesto 506">
            <a:extLst>
              <a:ext uri="{FF2B5EF4-FFF2-40B4-BE49-F238E27FC236}">
                <a16:creationId xmlns:a16="http://schemas.microsoft.com/office/drawing/2014/main" id="{4CBA0F4F-5B75-6247-D553-816DBD7B9FD8}"/>
              </a:ext>
            </a:extLst>
          </p:cNvPr>
          <p:cNvSpPr txBox="1"/>
          <p:nvPr/>
        </p:nvSpPr>
        <p:spPr>
          <a:xfrm>
            <a:off x="1692000" y="421001"/>
            <a:ext cx="5976316" cy="307777"/>
          </a:xfrm>
          <a:prstGeom prst="rect">
            <a:avLst/>
          </a:prstGeom>
          <a:noFill/>
        </p:spPr>
        <p:txBody>
          <a:bodyPr wrap="none" rtlCol="0">
            <a:spAutoFit/>
          </a:bodyPr>
          <a:lstStyle/>
          <a:p>
            <a:r>
              <a:rPr lang="it-IT" sz="1400" spc="-50" dirty="0">
                <a:solidFill>
                  <a:schemeClr val="tx1">
                    <a:lumMod val="65000"/>
                    <a:lumOff val="35000"/>
                  </a:schemeClr>
                </a:solidFill>
              </a:rPr>
              <a:t>Per proseguire è necessario scegliere quale approccio implementare</a:t>
            </a:r>
            <a:endParaRPr lang="en-US" sz="1400" spc="-50" dirty="0">
              <a:solidFill>
                <a:schemeClr val="tx1">
                  <a:lumMod val="65000"/>
                  <a:lumOff val="35000"/>
                </a:schemeClr>
              </a:solidFill>
            </a:endParaRPr>
          </a:p>
        </p:txBody>
      </p:sp>
    </p:spTree>
    <p:custDataLst>
      <p:tags r:id="rId1"/>
    </p:custDataLst>
    <p:extLst>
      <p:ext uri="{BB962C8B-B14F-4D97-AF65-F5344CB8AC3E}">
        <p14:creationId xmlns:p14="http://schemas.microsoft.com/office/powerpoint/2010/main" val="2648889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9951B-CA73-8611-0552-0DCAB149BFEA}"/>
              </a:ext>
            </a:extLst>
          </p:cNvPr>
          <p:cNvSpPr>
            <a:spLocks noGrp="1"/>
          </p:cNvSpPr>
          <p:nvPr>
            <p:ph type="title"/>
          </p:nvPr>
        </p:nvSpPr>
        <p:spPr/>
        <p:txBody>
          <a:bodyPr/>
          <a:lstStyle/>
          <a:p>
            <a:r>
              <a:rPr lang="it-IT" dirty="0"/>
              <a:t>Data pipeline | </a:t>
            </a:r>
            <a:r>
              <a:rPr lang="it-IT" dirty="0">
                <a:solidFill>
                  <a:schemeClr val="tx1"/>
                </a:solidFill>
                <a:ea typeface="+mn-ea"/>
                <a:cs typeface="+mn-cs"/>
              </a:rPr>
              <a:t>Grado di copertura di ciascuna soluzione</a:t>
            </a:r>
          </a:p>
        </p:txBody>
      </p:sp>
      <p:grpSp>
        <p:nvGrpSpPr>
          <p:cNvPr id="193" name="Gruppo 192">
            <a:extLst>
              <a:ext uri="{FF2B5EF4-FFF2-40B4-BE49-F238E27FC236}">
                <a16:creationId xmlns:a16="http://schemas.microsoft.com/office/drawing/2014/main" id="{4A32327E-4CF4-3625-3151-9B29BF3B4F3F}"/>
              </a:ext>
            </a:extLst>
          </p:cNvPr>
          <p:cNvGrpSpPr>
            <a:grpSpLocks/>
          </p:cNvGrpSpPr>
          <p:nvPr/>
        </p:nvGrpSpPr>
        <p:grpSpPr>
          <a:xfrm>
            <a:off x="2154496" y="6244568"/>
            <a:ext cx="7883008" cy="412866"/>
            <a:chOff x="3074773" y="6184784"/>
            <a:chExt cx="7883008" cy="412866"/>
          </a:xfrm>
        </p:grpSpPr>
        <p:grpSp>
          <p:nvGrpSpPr>
            <p:cNvPr id="181" name="Gruppo 180">
              <a:extLst>
                <a:ext uri="{FF2B5EF4-FFF2-40B4-BE49-F238E27FC236}">
                  <a16:creationId xmlns:a16="http://schemas.microsoft.com/office/drawing/2014/main" id="{9867EB15-1EE3-C7BC-6552-0758CB9E6144}"/>
                </a:ext>
              </a:extLst>
            </p:cNvPr>
            <p:cNvGrpSpPr>
              <a:grpSpLocks/>
            </p:cNvGrpSpPr>
            <p:nvPr/>
          </p:nvGrpSpPr>
          <p:grpSpPr>
            <a:xfrm>
              <a:off x="3074773" y="6198599"/>
              <a:ext cx="1666211" cy="386604"/>
              <a:chOff x="2496672" y="6198599"/>
              <a:chExt cx="1666211" cy="386604"/>
            </a:xfrm>
          </p:grpSpPr>
          <p:sp>
            <p:nvSpPr>
              <p:cNvPr id="116" name="Oval 115"/>
              <p:cNvSpPr>
                <a:spLocks/>
              </p:cNvSpPr>
              <p:nvPr/>
            </p:nvSpPr>
            <p:spPr>
              <a:xfrm>
                <a:off x="2496672" y="6212216"/>
                <a:ext cx="128016" cy="128016"/>
              </a:xfrm>
              <a:prstGeom prst="ellipse">
                <a:avLst/>
              </a:prstGeom>
              <a:solidFill>
                <a:srgbClr val="33AF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a:spLocks/>
              </p:cNvSpPr>
              <p:nvPr/>
            </p:nvSpPr>
            <p:spPr>
              <a:xfrm>
                <a:off x="2722883" y="6351293"/>
                <a:ext cx="1440000" cy="233910"/>
              </a:xfrm>
              <a:prstGeom prst="rect">
                <a:avLst/>
              </a:prstGeom>
              <a:noFill/>
            </p:spPr>
            <p:txBody>
              <a:bodyPr wrap="square" lIns="45720" tIns="9144" rIns="45720" bIns="9144" anchor="ctr">
                <a:spAutoFit/>
              </a:bodyPr>
              <a:lstStyle/>
              <a:p>
                <a:pPr algn="l">
                  <a:spcAft>
                    <a:spcPts val="0"/>
                  </a:spcAft>
                </a:pPr>
                <a:r>
                  <a:rPr lang="it-IT" sz="700" b="0" dirty="0">
                    <a:solidFill>
                      <a:srgbClr val="64717A"/>
                    </a:solidFill>
                    <a:latin typeface="Poppins"/>
                  </a:rPr>
                  <a:t>Funzione disponibile con i componenti previsti</a:t>
                </a:r>
                <a:endParaRPr sz="700" b="0" dirty="0">
                  <a:solidFill>
                    <a:srgbClr val="64717A"/>
                  </a:solidFill>
                  <a:latin typeface="Poppins"/>
                </a:endParaRPr>
              </a:p>
            </p:txBody>
          </p:sp>
          <p:sp>
            <p:nvSpPr>
              <p:cNvPr id="4" name="TextBox 116">
                <a:extLst>
                  <a:ext uri="{FF2B5EF4-FFF2-40B4-BE49-F238E27FC236}">
                    <a16:creationId xmlns:a16="http://schemas.microsoft.com/office/drawing/2014/main" id="{22865EE1-AD61-F8DA-414E-E96B7BB5EF15}"/>
                  </a:ext>
                </a:extLst>
              </p:cNvPr>
              <p:cNvSpPr txBox="1">
                <a:spLocks/>
              </p:cNvSpPr>
              <p:nvPr/>
            </p:nvSpPr>
            <p:spPr>
              <a:xfrm>
                <a:off x="2716128" y="6198599"/>
                <a:ext cx="1440000" cy="136961"/>
              </a:xfrm>
              <a:prstGeom prst="rect">
                <a:avLst/>
              </a:prstGeom>
              <a:noFill/>
            </p:spPr>
            <p:txBody>
              <a:bodyPr wrap="square" lIns="45720" tIns="9144" rIns="45720" bIns="9144" anchor="ctr">
                <a:spAutoFit/>
              </a:bodyPr>
              <a:lstStyle/>
              <a:p>
                <a:pPr algn="l">
                  <a:spcAft>
                    <a:spcPts val="0"/>
                  </a:spcAft>
                </a:pPr>
                <a:r>
                  <a:rPr lang="it-IT" sz="770" b="1" dirty="0">
                    <a:solidFill>
                      <a:srgbClr val="33AF74"/>
                    </a:solidFill>
                    <a:latin typeface="Poppins"/>
                  </a:rPr>
                  <a:t>DIRETTA</a:t>
                </a:r>
                <a:endParaRPr sz="770" b="1" dirty="0">
                  <a:solidFill>
                    <a:srgbClr val="33AF74"/>
                  </a:solidFill>
                  <a:latin typeface="Poppins"/>
                </a:endParaRPr>
              </a:p>
            </p:txBody>
          </p:sp>
        </p:grpSp>
        <p:grpSp>
          <p:nvGrpSpPr>
            <p:cNvPr id="182" name="Gruppo 181">
              <a:extLst>
                <a:ext uri="{FF2B5EF4-FFF2-40B4-BE49-F238E27FC236}">
                  <a16:creationId xmlns:a16="http://schemas.microsoft.com/office/drawing/2014/main" id="{E3C059E5-FFC0-BB91-424E-079F191F9070}"/>
                </a:ext>
              </a:extLst>
            </p:cNvPr>
            <p:cNvGrpSpPr>
              <a:grpSpLocks/>
            </p:cNvGrpSpPr>
            <p:nvPr/>
          </p:nvGrpSpPr>
          <p:grpSpPr>
            <a:xfrm>
              <a:off x="5146918" y="6198599"/>
              <a:ext cx="1666211" cy="386604"/>
              <a:chOff x="5258160" y="6198599"/>
              <a:chExt cx="1666211" cy="386604"/>
            </a:xfrm>
          </p:grpSpPr>
          <p:sp>
            <p:nvSpPr>
              <p:cNvPr id="118" name="Oval 117"/>
              <p:cNvSpPr>
                <a:spLocks/>
              </p:cNvSpPr>
              <p:nvPr/>
            </p:nvSpPr>
            <p:spPr>
              <a:xfrm>
                <a:off x="5258160" y="6212216"/>
                <a:ext cx="128016" cy="128016"/>
              </a:xfrm>
              <a:prstGeom prst="ellipse">
                <a:avLst/>
              </a:prstGeom>
              <a:solidFill>
                <a:srgbClr val="2299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extBox 118"/>
              <p:cNvSpPr txBox="1">
                <a:spLocks/>
              </p:cNvSpPr>
              <p:nvPr/>
            </p:nvSpPr>
            <p:spPr>
              <a:xfrm>
                <a:off x="5484371" y="6351293"/>
                <a:ext cx="1440000" cy="233910"/>
              </a:xfrm>
              <a:prstGeom prst="rect">
                <a:avLst/>
              </a:prstGeom>
              <a:noFill/>
            </p:spPr>
            <p:txBody>
              <a:bodyPr wrap="square" lIns="45720" tIns="9144" rIns="45720" bIns="9144" anchor="ctr">
                <a:spAutoFit/>
              </a:bodyPr>
              <a:lstStyle/>
              <a:p>
                <a:pPr algn="l">
                  <a:spcAft>
                    <a:spcPts val="0"/>
                  </a:spcAft>
                </a:pPr>
                <a:r>
                  <a:rPr lang="it-IT" sz="700" b="0" dirty="0">
                    <a:solidFill>
                      <a:srgbClr val="64717A"/>
                    </a:solidFill>
                    <a:latin typeface="Poppins"/>
                  </a:rPr>
                  <a:t>Richiede parametri, regole o impostazioni</a:t>
                </a:r>
                <a:endParaRPr sz="700" b="0" dirty="0">
                  <a:solidFill>
                    <a:srgbClr val="64717A"/>
                  </a:solidFill>
                  <a:latin typeface="Poppins"/>
                </a:endParaRPr>
              </a:p>
            </p:txBody>
          </p:sp>
          <p:sp>
            <p:nvSpPr>
              <p:cNvPr id="6" name="TextBox 118">
                <a:extLst>
                  <a:ext uri="{FF2B5EF4-FFF2-40B4-BE49-F238E27FC236}">
                    <a16:creationId xmlns:a16="http://schemas.microsoft.com/office/drawing/2014/main" id="{3FFA2B89-3B51-81F2-932D-79431FB7AB25}"/>
                  </a:ext>
                </a:extLst>
              </p:cNvPr>
              <p:cNvSpPr txBox="1">
                <a:spLocks/>
              </p:cNvSpPr>
              <p:nvPr/>
            </p:nvSpPr>
            <p:spPr>
              <a:xfrm>
                <a:off x="5477616" y="6198599"/>
                <a:ext cx="1440000" cy="136961"/>
              </a:xfrm>
              <a:prstGeom prst="rect">
                <a:avLst/>
              </a:prstGeom>
              <a:noFill/>
            </p:spPr>
            <p:txBody>
              <a:bodyPr wrap="square" lIns="45720" tIns="9144" rIns="45720" bIns="9144" anchor="ctr">
                <a:spAutoFit/>
              </a:bodyPr>
              <a:lstStyle/>
              <a:p>
                <a:pPr algn="l">
                  <a:spcAft>
                    <a:spcPts val="0"/>
                  </a:spcAft>
                </a:pPr>
                <a:r>
                  <a:rPr lang="en-US" sz="770" b="1" dirty="0">
                    <a:solidFill>
                      <a:srgbClr val="2299D3"/>
                    </a:solidFill>
                    <a:latin typeface="Poppins"/>
                  </a:rPr>
                  <a:t>CONFIGURAZIONE</a:t>
                </a:r>
              </a:p>
            </p:txBody>
          </p:sp>
        </p:grpSp>
        <p:grpSp>
          <p:nvGrpSpPr>
            <p:cNvPr id="191" name="Gruppo 190">
              <a:extLst>
                <a:ext uri="{FF2B5EF4-FFF2-40B4-BE49-F238E27FC236}">
                  <a16:creationId xmlns:a16="http://schemas.microsoft.com/office/drawing/2014/main" id="{8E5AA9F7-C063-2040-EE03-97AA114C2D36}"/>
                </a:ext>
              </a:extLst>
            </p:cNvPr>
            <p:cNvGrpSpPr>
              <a:grpSpLocks/>
            </p:cNvGrpSpPr>
            <p:nvPr/>
          </p:nvGrpSpPr>
          <p:grpSpPr>
            <a:xfrm>
              <a:off x="7219063" y="6198599"/>
              <a:ext cx="1661449" cy="386604"/>
              <a:chOff x="7453245" y="6198599"/>
              <a:chExt cx="1661449" cy="386604"/>
            </a:xfrm>
          </p:grpSpPr>
          <p:sp>
            <p:nvSpPr>
              <p:cNvPr id="120" name="Oval 119"/>
              <p:cNvSpPr>
                <a:spLocks/>
              </p:cNvSpPr>
              <p:nvPr/>
            </p:nvSpPr>
            <p:spPr>
              <a:xfrm>
                <a:off x="7453245" y="6212216"/>
                <a:ext cx="128016" cy="128016"/>
              </a:xfrm>
              <a:prstGeom prst="ellipse">
                <a:avLst/>
              </a:prstGeom>
              <a:solidFill>
                <a:srgbClr val="DCA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a:spLocks/>
              </p:cNvSpPr>
              <p:nvPr/>
            </p:nvSpPr>
            <p:spPr>
              <a:xfrm>
                <a:off x="7674694" y="6351293"/>
                <a:ext cx="1440000" cy="233910"/>
              </a:xfrm>
              <a:prstGeom prst="rect">
                <a:avLst/>
              </a:prstGeom>
              <a:noFill/>
            </p:spPr>
            <p:txBody>
              <a:bodyPr wrap="square" lIns="45720" tIns="9144" rIns="45720" bIns="9144" anchor="ctr">
                <a:spAutoFit/>
              </a:bodyPr>
              <a:lstStyle/>
              <a:p>
                <a:pPr algn="l">
                  <a:spcAft>
                    <a:spcPts val="0"/>
                  </a:spcAft>
                </a:pPr>
                <a:r>
                  <a:rPr lang="it-IT" sz="700" b="0" dirty="0">
                    <a:solidFill>
                      <a:srgbClr val="64717A"/>
                    </a:solidFill>
                    <a:latin typeface="Poppins"/>
                  </a:rPr>
                  <a:t>Richiede sviluppo, connettori o integrazioni aggiuntive</a:t>
                </a:r>
                <a:endParaRPr sz="700" b="0" dirty="0">
                  <a:solidFill>
                    <a:srgbClr val="64717A"/>
                  </a:solidFill>
                  <a:latin typeface="Poppins"/>
                </a:endParaRPr>
              </a:p>
            </p:txBody>
          </p:sp>
          <p:sp>
            <p:nvSpPr>
              <p:cNvPr id="7" name="TextBox 120">
                <a:extLst>
                  <a:ext uri="{FF2B5EF4-FFF2-40B4-BE49-F238E27FC236}">
                    <a16:creationId xmlns:a16="http://schemas.microsoft.com/office/drawing/2014/main" id="{C2A83297-12CB-F80F-D3E8-D4789CE66CEC}"/>
                  </a:ext>
                </a:extLst>
              </p:cNvPr>
              <p:cNvSpPr txBox="1">
                <a:spLocks/>
              </p:cNvSpPr>
              <p:nvPr/>
            </p:nvSpPr>
            <p:spPr>
              <a:xfrm>
                <a:off x="7672701" y="6198599"/>
                <a:ext cx="1440000" cy="136961"/>
              </a:xfrm>
              <a:prstGeom prst="rect">
                <a:avLst/>
              </a:prstGeom>
              <a:noFill/>
            </p:spPr>
            <p:txBody>
              <a:bodyPr wrap="square" lIns="45720" tIns="9144" rIns="45720" bIns="9144" anchor="ctr">
                <a:spAutoFit/>
              </a:bodyPr>
              <a:lstStyle/>
              <a:p>
                <a:pPr algn="l">
                  <a:spcAft>
                    <a:spcPts val="0"/>
                  </a:spcAft>
                </a:pPr>
                <a:r>
                  <a:rPr lang="it-IT" sz="770" b="1" dirty="0">
                    <a:solidFill>
                      <a:srgbClr val="DCA037"/>
                    </a:solidFill>
                    <a:latin typeface="Poppins"/>
                  </a:rPr>
                  <a:t>ESTENSIONE</a:t>
                </a:r>
                <a:endParaRPr sz="770" b="1" dirty="0">
                  <a:solidFill>
                    <a:srgbClr val="DCA037"/>
                  </a:solidFill>
                  <a:latin typeface="Poppins"/>
                </a:endParaRPr>
              </a:p>
            </p:txBody>
          </p:sp>
        </p:grpSp>
        <p:grpSp>
          <p:nvGrpSpPr>
            <p:cNvPr id="192" name="Gruppo 191">
              <a:extLst>
                <a:ext uri="{FF2B5EF4-FFF2-40B4-BE49-F238E27FC236}">
                  <a16:creationId xmlns:a16="http://schemas.microsoft.com/office/drawing/2014/main" id="{DD623CBF-08F3-7DB9-5565-76187DEA889B}"/>
                </a:ext>
              </a:extLst>
            </p:cNvPr>
            <p:cNvGrpSpPr>
              <a:grpSpLocks/>
            </p:cNvGrpSpPr>
            <p:nvPr/>
          </p:nvGrpSpPr>
          <p:grpSpPr>
            <a:xfrm>
              <a:off x="9286444" y="6198599"/>
              <a:ext cx="1671337" cy="386604"/>
              <a:chOff x="9286444" y="6198599"/>
              <a:chExt cx="1671337" cy="386604"/>
            </a:xfrm>
          </p:grpSpPr>
          <p:sp>
            <p:nvSpPr>
              <p:cNvPr id="10" name="Oval 119">
                <a:extLst>
                  <a:ext uri="{FF2B5EF4-FFF2-40B4-BE49-F238E27FC236}">
                    <a16:creationId xmlns:a16="http://schemas.microsoft.com/office/drawing/2014/main" id="{AF1373CB-6A4E-9A85-2036-04ED24CE1222}"/>
                  </a:ext>
                </a:extLst>
              </p:cNvPr>
              <p:cNvSpPr>
                <a:spLocks/>
              </p:cNvSpPr>
              <p:nvPr/>
            </p:nvSpPr>
            <p:spPr>
              <a:xfrm>
                <a:off x="9286444" y="6212216"/>
                <a:ext cx="128016" cy="128016"/>
              </a:xfrm>
              <a:prstGeom prst="ellipse">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20">
                <a:extLst>
                  <a:ext uri="{FF2B5EF4-FFF2-40B4-BE49-F238E27FC236}">
                    <a16:creationId xmlns:a16="http://schemas.microsoft.com/office/drawing/2014/main" id="{7177512F-70E3-6E80-6E8F-D429006718F8}"/>
                  </a:ext>
                </a:extLst>
              </p:cNvPr>
              <p:cNvSpPr txBox="1">
                <a:spLocks/>
              </p:cNvSpPr>
              <p:nvPr/>
            </p:nvSpPr>
            <p:spPr>
              <a:xfrm>
                <a:off x="9505900" y="6198599"/>
                <a:ext cx="1440000" cy="136961"/>
              </a:xfrm>
              <a:prstGeom prst="rect">
                <a:avLst/>
              </a:prstGeom>
              <a:noFill/>
            </p:spPr>
            <p:txBody>
              <a:bodyPr wrap="square" lIns="45720" tIns="9144" rIns="45720" bIns="9144" anchor="ctr">
                <a:spAutoFit/>
              </a:bodyPr>
              <a:lstStyle/>
              <a:p>
                <a:pPr algn="l">
                  <a:spcAft>
                    <a:spcPts val="0"/>
                  </a:spcAft>
                </a:pPr>
                <a:r>
                  <a:rPr lang="it-IT" sz="770" b="1" dirty="0">
                    <a:solidFill>
                      <a:srgbClr val="A3A3A3"/>
                    </a:solidFill>
                    <a:latin typeface="Poppins"/>
                  </a:rPr>
                  <a:t>NON COPERTO</a:t>
                </a:r>
                <a:endParaRPr sz="770" b="1" dirty="0">
                  <a:solidFill>
                    <a:srgbClr val="A3A3A3"/>
                  </a:solidFill>
                  <a:latin typeface="Poppins"/>
                </a:endParaRPr>
              </a:p>
            </p:txBody>
          </p:sp>
          <p:sp>
            <p:nvSpPr>
              <p:cNvPr id="14" name="TextBox 120">
                <a:extLst>
                  <a:ext uri="{FF2B5EF4-FFF2-40B4-BE49-F238E27FC236}">
                    <a16:creationId xmlns:a16="http://schemas.microsoft.com/office/drawing/2014/main" id="{DE5467FB-EFC5-B788-6152-2D0177F41BBC}"/>
                  </a:ext>
                </a:extLst>
              </p:cNvPr>
              <p:cNvSpPr txBox="1">
                <a:spLocks/>
              </p:cNvSpPr>
              <p:nvPr/>
            </p:nvSpPr>
            <p:spPr>
              <a:xfrm>
                <a:off x="9517781" y="6351293"/>
                <a:ext cx="1440000" cy="233910"/>
              </a:xfrm>
              <a:prstGeom prst="rect">
                <a:avLst/>
              </a:prstGeom>
              <a:noFill/>
            </p:spPr>
            <p:txBody>
              <a:bodyPr wrap="square" lIns="45720" tIns="9144" rIns="45720" bIns="9144" anchor="ctr">
                <a:spAutoFit/>
              </a:bodyPr>
              <a:lstStyle/>
              <a:p>
                <a:pPr algn="l">
                  <a:spcAft>
                    <a:spcPts val="0"/>
                  </a:spcAft>
                </a:pPr>
                <a:r>
                  <a:rPr lang="it-IT" sz="700" b="0" dirty="0">
                    <a:solidFill>
                      <a:srgbClr val="64717A"/>
                    </a:solidFill>
                    <a:latin typeface="Poppins"/>
                  </a:rPr>
                  <a:t>Funzione esterna al perimetro della soluzione</a:t>
                </a:r>
                <a:endParaRPr sz="700" b="0" dirty="0">
                  <a:solidFill>
                    <a:srgbClr val="64717A"/>
                  </a:solidFill>
                  <a:latin typeface="Poppins"/>
                </a:endParaRPr>
              </a:p>
            </p:txBody>
          </p:sp>
        </p:grpSp>
        <p:cxnSp>
          <p:nvCxnSpPr>
            <p:cNvPr id="18" name="Connettore diritto 17">
              <a:extLst>
                <a:ext uri="{FF2B5EF4-FFF2-40B4-BE49-F238E27FC236}">
                  <a16:creationId xmlns:a16="http://schemas.microsoft.com/office/drawing/2014/main" id="{49659FBC-F76B-77B5-E713-B183722C2400}"/>
                </a:ext>
              </a:extLst>
            </p:cNvPr>
            <p:cNvCxnSpPr>
              <a:cxnSpLocks/>
            </p:cNvCxnSpPr>
            <p:nvPr/>
          </p:nvCxnSpPr>
          <p:spPr>
            <a:xfrm>
              <a:off x="4943951" y="6184784"/>
              <a:ext cx="0" cy="412866"/>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86" name="Connettore diritto 185">
              <a:extLst>
                <a:ext uri="{FF2B5EF4-FFF2-40B4-BE49-F238E27FC236}">
                  <a16:creationId xmlns:a16="http://schemas.microsoft.com/office/drawing/2014/main" id="{D30802BA-2CC5-4158-04E0-9F62A635728F}"/>
                </a:ext>
              </a:extLst>
            </p:cNvPr>
            <p:cNvCxnSpPr>
              <a:cxnSpLocks/>
            </p:cNvCxnSpPr>
            <p:nvPr/>
          </p:nvCxnSpPr>
          <p:spPr>
            <a:xfrm>
              <a:off x="7016096" y="6184784"/>
              <a:ext cx="0" cy="412866"/>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87" name="Connettore diritto 186">
              <a:extLst>
                <a:ext uri="{FF2B5EF4-FFF2-40B4-BE49-F238E27FC236}">
                  <a16:creationId xmlns:a16="http://schemas.microsoft.com/office/drawing/2014/main" id="{11F95C54-FAB1-47C5-0189-E7E4B5B6DB65}"/>
                </a:ext>
              </a:extLst>
            </p:cNvPr>
            <p:cNvCxnSpPr>
              <a:cxnSpLocks/>
            </p:cNvCxnSpPr>
            <p:nvPr/>
          </p:nvCxnSpPr>
          <p:spPr>
            <a:xfrm>
              <a:off x="9083479" y="6184784"/>
              <a:ext cx="0" cy="412866"/>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200" name="Gruppo 199">
            <a:extLst>
              <a:ext uri="{FF2B5EF4-FFF2-40B4-BE49-F238E27FC236}">
                <a16:creationId xmlns:a16="http://schemas.microsoft.com/office/drawing/2014/main" id="{8D287036-764E-27AF-E47F-51F2D9C5713F}"/>
              </a:ext>
            </a:extLst>
          </p:cNvPr>
          <p:cNvGrpSpPr/>
          <p:nvPr/>
        </p:nvGrpSpPr>
        <p:grpSpPr>
          <a:xfrm>
            <a:off x="730758" y="991474"/>
            <a:ext cx="2423160" cy="4105656"/>
            <a:chOff x="713232" y="1022251"/>
            <a:chExt cx="2423160" cy="4105656"/>
          </a:xfrm>
        </p:grpSpPr>
        <p:sp>
          <p:nvSpPr>
            <p:cNvPr id="8" name="Rounded Rectangle 7"/>
            <p:cNvSpPr>
              <a:spLocks/>
            </p:cNvSpPr>
            <p:nvPr/>
          </p:nvSpPr>
          <p:spPr>
            <a:xfrm>
              <a:off x="713232" y="1022251"/>
              <a:ext cx="2423160" cy="621792"/>
            </a:xfrm>
            <a:prstGeom prst="roundRect">
              <a:avLst/>
            </a:prstGeom>
            <a:solidFill>
              <a:srgbClr val="F6F8F9"/>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a:spLocks/>
            </p:cNvSpPr>
            <p:nvPr/>
          </p:nvSpPr>
          <p:spPr>
            <a:xfrm>
              <a:off x="896112" y="1246279"/>
              <a:ext cx="2057400" cy="173736"/>
            </a:xfrm>
            <a:prstGeom prst="rect">
              <a:avLst/>
            </a:prstGeom>
            <a:noFill/>
          </p:spPr>
          <p:txBody>
            <a:bodyPr wrap="square" lIns="45720" tIns="9144" rIns="45720" bIns="9144" anchor="ctr">
              <a:spAutoFit/>
            </a:bodyPr>
            <a:lstStyle/>
            <a:p>
              <a:pPr algn="l">
                <a:spcAft>
                  <a:spcPts val="0"/>
                </a:spcAft>
              </a:pPr>
              <a:r>
                <a:rPr lang="it-IT" sz="919" b="1" noProof="0" dirty="0">
                  <a:solidFill>
                    <a:srgbClr val="64717A"/>
                  </a:solidFill>
                  <a:latin typeface="Poppins"/>
                </a:rPr>
                <a:t>PROCESSO END-TO-END</a:t>
              </a:r>
            </a:p>
          </p:txBody>
        </p:sp>
        <p:sp>
          <p:nvSpPr>
            <p:cNvPr id="19" name="Rounded Rectangle 18"/>
            <p:cNvSpPr>
              <a:spLocks/>
            </p:cNvSpPr>
            <p:nvPr/>
          </p:nvSpPr>
          <p:spPr>
            <a:xfrm>
              <a:off x="713232" y="1744627"/>
              <a:ext cx="2423160"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a:spLocks/>
            </p:cNvSpPr>
            <p:nvPr/>
          </p:nvSpPr>
          <p:spPr>
            <a:xfrm>
              <a:off x="804672" y="1813207"/>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a:spLocks/>
            </p:cNvSpPr>
            <p:nvPr/>
          </p:nvSpPr>
          <p:spPr>
            <a:xfrm>
              <a:off x="804672" y="1831495"/>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1</a:t>
              </a:r>
            </a:p>
          </p:txBody>
        </p:sp>
        <p:sp>
          <p:nvSpPr>
            <p:cNvPr id="22" name="TextBox 21"/>
            <p:cNvSpPr txBox="1">
              <a:spLocks/>
            </p:cNvSpPr>
            <p:nvPr/>
          </p:nvSpPr>
          <p:spPr>
            <a:xfrm>
              <a:off x="1133856" y="1794919"/>
              <a:ext cx="1911095" cy="274320"/>
            </a:xfrm>
            <a:prstGeom prst="rect">
              <a:avLst/>
            </a:prstGeom>
            <a:noFill/>
          </p:spPr>
          <p:txBody>
            <a:bodyPr wrap="square" lIns="45720" tIns="9144" rIns="45720" bIns="9144" anchor="ctr">
              <a:spAutoFit/>
            </a:bodyPr>
            <a:lstStyle/>
            <a:p>
              <a:pPr algn="l">
                <a:spcAft>
                  <a:spcPts val="0"/>
                </a:spcAft>
              </a:pPr>
              <a:r>
                <a:rPr lang="it-IT" sz="869" b="1" noProof="0" dirty="0">
                  <a:solidFill>
                    <a:srgbClr val="2C3740"/>
                  </a:solidFill>
                  <a:latin typeface="Poppins"/>
                </a:rPr>
                <a:t>Fonti e acquisizione</a:t>
              </a:r>
            </a:p>
          </p:txBody>
        </p:sp>
        <p:sp>
          <p:nvSpPr>
            <p:cNvPr id="31" name="Rounded Rectangle 30"/>
            <p:cNvSpPr>
              <a:spLocks/>
            </p:cNvSpPr>
            <p:nvPr/>
          </p:nvSpPr>
          <p:spPr>
            <a:xfrm>
              <a:off x="713232" y="2174395"/>
              <a:ext cx="2423160"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2" name="Oval 31"/>
            <p:cNvSpPr>
              <a:spLocks/>
            </p:cNvSpPr>
            <p:nvPr/>
          </p:nvSpPr>
          <p:spPr>
            <a:xfrm>
              <a:off x="804672" y="2242975"/>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a:spLocks/>
            </p:cNvSpPr>
            <p:nvPr/>
          </p:nvSpPr>
          <p:spPr>
            <a:xfrm>
              <a:off x="804672" y="2261263"/>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2</a:t>
              </a:r>
            </a:p>
          </p:txBody>
        </p:sp>
        <p:sp>
          <p:nvSpPr>
            <p:cNvPr id="34" name="TextBox 33"/>
            <p:cNvSpPr txBox="1">
              <a:spLocks/>
            </p:cNvSpPr>
            <p:nvPr/>
          </p:nvSpPr>
          <p:spPr>
            <a:xfrm>
              <a:off x="1133856" y="2224687"/>
              <a:ext cx="1911095" cy="274320"/>
            </a:xfrm>
            <a:prstGeom prst="rect">
              <a:avLst/>
            </a:prstGeom>
            <a:noFill/>
          </p:spPr>
          <p:txBody>
            <a:bodyPr wrap="square" lIns="45720" tIns="9144" rIns="45720" bIns="9144" anchor="ctr">
              <a:spAutoFit/>
            </a:bodyPr>
            <a:lstStyle/>
            <a:p>
              <a:pPr algn="l">
                <a:spcAft>
                  <a:spcPts val="0"/>
                </a:spcAft>
              </a:pPr>
              <a:r>
                <a:rPr lang="it-IT" sz="869" b="1" noProof="0" dirty="0">
                  <a:solidFill>
                    <a:srgbClr val="2C3740"/>
                  </a:solidFill>
                  <a:latin typeface="Poppins"/>
                </a:rPr>
                <a:t>Conservazione degli input</a:t>
              </a:r>
            </a:p>
          </p:txBody>
        </p:sp>
        <p:sp>
          <p:nvSpPr>
            <p:cNvPr id="43" name="Rounded Rectangle 42"/>
            <p:cNvSpPr>
              <a:spLocks/>
            </p:cNvSpPr>
            <p:nvPr/>
          </p:nvSpPr>
          <p:spPr>
            <a:xfrm>
              <a:off x="713232" y="2604163"/>
              <a:ext cx="2423160"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a:spLocks/>
            </p:cNvSpPr>
            <p:nvPr/>
          </p:nvSpPr>
          <p:spPr>
            <a:xfrm>
              <a:off x="804672" y="2672743"/>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a:spLocks/>
            </p:cNvSpPr>
            <p:nvPr/>
          </p:nvSpPr>
          <p:spPr>
            <a:xfrm>
              <a:off x="804672" y="2691031"/>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3</a:t>
              </a:r>
            </a:p>
          </p:txBody>
        </p:sp>
        <p:sp>
          <p:nvSpPr>
            <p:cNvPr id="46" name="TextBox 45"/>
            <p:cNvSpPr txBox="1">
              <a:spLocks/>
            </p:cNvSpPr>
            <p:nvPr/>
          </p:nvSpPr>
          <p:spPr>
            <a:xfrm>
              <a:off x="1133856" y="2654455"/>
              <a:ext cx="1911095" cy="274320"/>
            </a:xfrm>
            <a:prstGeom prst="rect">
              <a:avLst/>
            </a:prstGeom>
            <a:noFill/>
          </p:spPr>
          <p:txBody>
            <a:bodyPr wrap="square" lIns="45720" tIns="9144" rIns="45720" bIns="9144" anchor="ctr">
              <a:spAutoFit/>
            </a:bodyPr>
            <a:lstStyle/>
            <a:p>
              <a:pPr algn="l">
                <a:spcAft>
                  <a:spcPts val="0"/>
                </a:spcAft>
              </a:pPr>
              <a:r>
                <a:rPr lang="it-IT" sz="869" b="1" noProof="0" dirty="0">
                  <a:solidFill>
                    <a:srgbClr val="2C3740"/>
                  </a:solidFill>
                  <a:latin typeface="Poppins"/>
                </a:rPr>
                <a:t>Preparazione e mapping</a:t>
              </a:r>
            </a:p>
          </p:txBody>
        </p:sp>
        <p:sp>
          <p:nvSpPr>
            <p:cNvPr id="55" name="Rounded Rectangle 54"/>
            <p:cNvSpPr>
              <a:spLocks/>
            </p:cNvSpPr>
            <p:nvPr/>
          </p:nvSpPr>
          <p:spPr>
            <a:xfrm>
              <a:off x="713232" y="3033931"/>
              <a:ext cx="2423160"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a:spLocks/>
            </p:cNvSpPr>
            <p:nvPr/>
          </p:nvSpPr>
          <p:spPr>
            <a:xfrm>
              <a:off x="804672" y="3102511"/>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a:spLocks/>
            </p:cNvSpPr>
            <p:nvPr/>
          </p:nvSpPr>
          <p:spPr>
            <a:xfrm>
              <a:off x="804672" y="3120799"/>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4</a:t>
              </a:r>
            </a:p>
          </p:txBody>
        </p:sp>
        <p:sp>
          <p:nvSpPr>
            <p:cNvPr id="58" name="TextBox 57"/>
            <p:cNvSpPr txBox="1">
              <a:spLocks/>
            </p:cNvSpPr>
            <p:nvPr/>
          </p:nvSpPr>
          <p:spPr>
            <a:xfrm>
              <a:off x="1133856" y="3084223"/>
              <a:ext cx="1911095" cy="274320"/>
            </a:xfrm>
            <a:prstGeom prst="rect">
              <a:avLst/>
            </a:prstGeom>
            <a:noFill/>
          </p:spPr>
          <p:txBody>
            <a:bodyPr wrap="square" lIns="45720" tIns="9144" rIns="45720" bIns="9144" anchor="ctr">
              <a:spAutoFit/>
            </a:bodyPr>
            <a:lstStyle/>
            <a:p>
              <a:pPr algn="l">
                <a:spcAft>
                  <a:spcPts val="0"/>
                </a:spcAft>
              </a:pPr>
              <a:r>
                <a:rPr lang="it-IT" sz="869" b="1" noProof="0" dirty="0">
                  <a:solidFill>
                    <a:srgbClr val="2C3740"/>
                  </a:solidFill>
                  <a:latin typeface="Poppins"/>
                </a:rPr>
                <a:t>Regole, allocazioni e calcoli</a:t>
              </a:r>
            </a:p>
          </p:txBody>
        </p:sp>
        <p:sp>
          <p:nvSpPr>
            <p:cNvPr id="67" name="Rounded Rectangle 66"/>
            <p:cNvSpPr>
              <a:spLocks/>
            </p:cNvSpPr>
            <p:nvPr/>
          </p:nvSpPr>
          <p:spPr>
            <a:xfrm>
              <a:off x="713232" y="3463698"/>
              <a:ext cx="2423160"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a:spLocks/>
            </p:cNvSpPr>
            <p:nvPr/>
          </p:nvSpPr>
          <p:spPr>
            <a:xfrm>
              <a:off x="804672" y="3532278"/>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a:spLocks/>
            </p:cNvSpPr>
            <p:nvPr/>
          </p:nvSpPr>
          <p:spPr>
            <a:xfrm>
              <a:off x="804672" y="3550566"/>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5</a:t>
              </a:r>
            </a:p>
          </p:txBody>
        </p:sp>
        <p:sp>
          <p:nvSpPr>
            <p:cNvPr id="70" name="TextBox 69"/>
            <p:cNvSpPr txBox="1">
              <a:spLocks/>
            </p:cNvSpPr>
            <p:nvPr/>
          </p:nvSpPr>
          <p:spPr>
            <a:xfrm>
              <a:off x="1133856" y="3513990"/>
              <a:ext cx="1911095" cy="274320"/>
            </a:xfrm>
            <a:prstGeom prst="rect">
              <a:avLst/>
            </a:prstGeom>
            <a:noFill/>
          </p:spPr>
          <p:txBody>
            <a:bodyPr wrap="square" lIns="45720" tIns="9144" rIns="45720" bIns="9144" anchor="ctr">
              <a:spAutoFit/>
            </a:bodyPr>
            <a:lstStyle/>
            <a:p>
              <a:pPr algn="l">
                <a:spcAft>
                  <a:spcPts val="0"/>
                </a:spcAft>
              </a:pPr>
              <a:r>
                <a:rPr lang="it-IT" sz="869" b="1" noProof="0" dirty="0">
                  <a:solidFill>
                    <a:srgbClr val="2C3740"/>
                  </a:solidFill>
                  <a:latin typeface="Poppins"/>
                </a:rPr>
                <a:t>Qualità e riconciliazione</a:t>
              </a:r>
            </a:p>
          </p:txBody>
        </p:sp>
        <p:sp>
          <p:nvSpPr>
            <p:cNvPr id="79" name="Rounded Rectangle 78"/>
            <p:cNvSpPr>
              <a:spLocks/>
            </p:cNvSpPr>
            <p:nvPr/>
          </p:nvSpPr>
          <p:spPr>
            <a:xfrm>
              <a:off x="713232" y="3893467"/>
              <a:ext cx="2423160"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a:spLocks/>
            </p:cNvSpPr>
            <p:nvPr/>
          </p:nvSpPr>
          <p:spPr>
            <a:xfrm>
              <a:off x="804672" y="3962047"/>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a:spLocks/>
            </p:cNvSpPr>
            <p:nvPr/>
          </p:nvSpPr>
          <p:spPr>
            <a:xfrm>
              <a:off x="804672" y="3980335"/>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6</a:t>
              </a:r>
            </a:p>
          </p:txBody>
        </p:sp>
        <p:sp>
          <p:nvSpPr>
            <p:cNvPr id="82" name="TextBox 81"/>
            <p:cNvSpPr txBox="1">
              <a:spLocks/>
            </p:cNvSpPr>
            <p:nvPr/>
          </p:nvSpPr>
          <p:spPr>
            <a:xfrm>
              <a:off x="1133856" y="3943759"/>
              <a:ext cx="1911095" cy="274320"/>
            </a:xfrm>
            <a:prstGeom prst="rect">
              <a:avLst/>
            </a:prstGeom>
            <a:noFill/>
          </p:spPr>
          <p:txBody>
            <a:bodyPr wrap="square" lIns="45720" tIns="9144" rIns="45720" bIns="9144" anchor="ctr">
              <a:spAutoFit/>
            </a:bodyPr>
            <a:lstStyle/>
            <a:p>
              <a:pPr algn="l">
                <a:spcAft>
                  <a:spcPts val="0"/>
                </a:spcAft>
              </a:pPr>
              <a:r>
                <a:rPr lang="en-US" sz="869" b="1" noProof="0" dirty="0">
                  <a:solidFill>
                    <a:srgbClr val="2C3740"/>
                  </a:solidFill>
                  <a:latin typeface="Poppins"/>
                </a:rPr>
                <a:t>Actual</a:t>
              </a:r>
              <a:r>
                <a:rPr lang="it-IT" sz="869" b="1" noProof="0" dirty="0">
                  <a:solidFill>
                    <a:srgbClr val="2C3740"/>
                  </a:solidFill>
                  <a:latin typeface="Poppins"/>
                </a:rPr>
                <a:t>, Forecast e versioni</a:t>
              </a:r>
            </a:p>
          </p:txBody>
        </p:sp>
        <p:sp>
          <p:nvSpPr>
            <p:cNvPr id="91" name="Rounded Rectangle 90"/>
            <p:cNvSpPr>
              <a:spLocks/>
            </p:cNvSpPr>
            <p:nvPr/>
          </p:nvSpPr>
          <p:spPr>
            <a:xfrm>
              <a:off x="713232" y="4323235"/>
              <a:ext cx="2423160"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a:spLocks/>
            </p:cNvSpPr>
            <p:nvPr/>
          </p:nvSpPr>
          <p:spPr>
            <a:xfrm>
              <a:off x="804672" y="4391815"/>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a:spLocks/>
            </p:cNvSpPr>
            <p:nvPr/>
          </p:nvSpPr>
          <p:spPr>
            <a:xfrm>
              <a:off x="804672" y="4410103"/>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7</a:t>
              </a:r>
            </a:p>
          </p:txBody>
        </p:sp>
        <p:sp>
          <p:nvSpPr>
            <p:cNvPr id="94" name="TextBox 93"/>
            <p:cNvSpPr txBox="1">
              <a:spLocks/>
            </p:cNvSpPr>
            <p:nvPr/>
          </p:nvSpPr>
          <p:spPr>
            <a:xfrm>
              <a:off x="1133856" y="4373527"/>
              <a:ext cx="1911095" cy="274320"/>
            </a:xfrm>
            <a:prstGeom prst="rect">
              <a:avLst/>
            </a:prstGeom>
            <a:noFill/>
          </p:spPr>
          <p:txBody>
            <a:bodyPr wrap="square" lIns="45720" tIns="9144" rIns="45720" bIns="9144" anchor="ctr">
              <a:spAutoFit/>
            </a:bodyPr>
            <a:lstStyle/>
            <a:p>
              <a:pPr algn="l">
                <a:spcAft>
                  <a:spcPts val="0"/>
                </a:spcAft>
              </a:pPr>
              <a:r>
                <a:rPr lang="it-IT" sz="869" b="1" noProof="0" dirty="0">
                  <a:solidFill>
                    <a:srgbClr val="2C3740"/>
                  </a:solidFill>
                  <a:latin typeface="Poppins"/>
                </a:rPr>
                <a:t>Reporting e distribuzione</a:t>
              </a:r>
            </a:p>
          </p:txBody>
        </p:sp>
        <p:sp>
          <p:nvSpPr>
            <p:cNvPr id="103" name="Rounded Rectangle 102"/>
            <p:cNvSpPr>
              <a:spLocks/>
            </p:cNvSpPr>
            <p:nvPr/>
          </p:nvSpPr>
          <p:spPr>
            <a:xfrm>
              <a:off x="713232" y="4753003"/>
              <a:ext cx="2423160"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a:spLocks/>
            </p:cNvSpPr>
            <p:nvPr/>
          </p:nvSpPr>
          <p:spPr>
            <a:xfrm>
              <a:off x="804672" y="4821583"/>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a:spLocks/>
            </p:cNvSpPr>
            <p:nvPr/>
          </p:nvSpPr>
          <p:spPr>
            <a:xfrm>
              <a:off x="804672" y="4839871"/>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8</a:t>
              </a:r>
            </a:p>
          </p:txBody>
        </p:sp>
        <p:sp>
          <p:nvSpPr>
            <p:cNvPr id="106" name="TextBox 105"/>
            <p:cNvSpPr txBox="1">
              <a:spLocks/>
            </p:cNvSpPr>
            <p:nvPr/>
          </p:nvSpPr>
          <p:spPr>
            <a:xfrm>
              <a:off x="1133856" y="4803295"/>
              <a:ext cx="1911095" cy="274320"/>
            </a:xfrm>
            <a:prstGeom prst="rect">
              <a:avLst/>
            </a:prstGeom>
            <a:noFill/>
          </p:spPr>
          <p:txBody>
            <a:bodyPr wrap="square" lIns="45720" tIns="9144" rIns="45720" bIns="9144" anchor="ctr">
              <a:spAutoFit/>
            </a:bodyPr>
            <a:lstStyle/>
            <a:p>
              <a:pPr algn="l">
                <a:spcAft>
                  <a:spcPts val="0"/>
                </a:spcAft>
              </a:pPr>
              <a:r>
                <a:rPr lang="it-IT" sz="869" b="1" noProof="0" dirty="0">
                  <a:solidFill>
                    <a:srgbClr val="2C3740"/>
                  </a:solidFill>
                  <a:latin typeface="Poppins"/>
                </a:rPr>
                <a:t>Monitoraggio, audit e </a:t>
              </a:r>
              <a:r>
                <a:rPr lang="en-US" sz="869" b="1" noProof="0" dirty="0">
                  <a:solidFill>
                    <a:srgbClr val="2C3740"/>
                  </a:solidFill>
                  <a:latin typeface="Poppins"/>
                </a:rPr>
                <a:t>lineage</a:t>
              </a:r>
              <a:endParaRPr lang="it-IT" sz="869" b="1" noProof="0" dirty="0">
                <a:solidFill>
                  <a:srgbClr val="2C3740"/>
                </a:solidFill>
                <a:latin typeface="Poppins"/>
              </a:endParaRPr>
            </a:p>
          </p:txBody>
        </p:sp>
      </p:grpSp>
      <p:grpSp>
        <p:nvGrpSpPr>
          <p:cNvPr id="198" name="Gruppo 197">
            <a:extLst>
              <a:ext uri="{FF2B5EF4-FFF2-40B4-BE49-F238E27FC236}">
                <a16:creationId xmlns:a16="http://schemas.microsoft.com/office/drawing/2014/main" id="{FE20C5F4-06A1-F5FF-9917-B842B18ECCC2}"/>
              </a:ext>
            </a:extLst>
          </p:cNvPr>
          <p:cNvGrpSpPr/>
          <p:nvPr/>
        </p:nvGrpSpPr>
        <p:grpSpPr>
          <a:xfrm>
            <a:off x="3318510" y="991474"/>
            <a:ext cx="3913632" cy="4684466"/>
            <a:chOff x="3300984" y="1022251"/>
            <a:chExt cx="3913632" cy="4684466"/>
          </a:xfrm>
        </p:grpSpPr>
        <p:sp>
          <p:nvSpPr>
            <p:cNvPr id="11" name="Rounded Rectangle 10"/>
            <p:cNvSpPr>
              <a:spLocks/>
            </p:cNvSpPr>
            <p:nvPr/>
          </p:nvSpPr>
          <p:spPr>
            <a:xfrm>
              <a:off x="3300984" y="1022251"/>
              <a:ext cx="3913632" cy="621792"/>
            </a:xfrm>
            <a:prstGeom prst="roundRect">
              <a:avLst/>
            </a:prstGeom>
            <a:solidFill>
              <a:srgbClr val="EFF8FC"/>
            </a:solidFill>
            <a:ln w="1016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a:spLocks/>
            </p:cNvSpPr>
            <p:nvPr/>
          </p:nvSpPr>
          <p:spPr>
            <a:xfrm>
              <a:off x="3502152" y="1232563"/>
              <a:ext cx="3547872" cy="201168"/>
            </a:xfrm>
            <a:prstGeom prst="rect">
              <a:avLst/>
            </a:prstGeom>
            <a:noFill/>
          </p:spPr>
          <p:txBody>
            <a:bodyPr wrap="square" lIns="45720" tIns="9144" rIns="45720" bIns="9144" anchor="ctr">
              <a:spAutoFit/>
            </a:bodyPr>
            <a:lstStyle/>
            <a:p>
              <a:pPr algn="l">
                <a:spcAft>
                  <a:spcPts val="0"/>
                </a:spcAft>
              </a:pPr>
              <a:r>
                <a:rPr lang="it-IT" sz="1350" b="1" noProof="0" dirty="0">
                  <a:solidFill>
                    <a:srgbClr val="2C3740"/>
                  </a:solidFill>
                  <a:latin typeface="Poppins"/>
                </a:rPr>
                <a:t>AWS | Stack componibile</a:t>
              </a:r>
            </a:p>
          </p:txBody>
        </p:sp>
        <p:sp>
          <p:nvSpPr>
            <p:cNvPr id="23" name="Rounded Rectangle 22"/>
            <p:cNvSpPr>
              <a:spLocks/>
            </p:cNvSpPr>
            <p:nvPr/>
          </p:nvSpPr>
          <p:spPr>
            <a:xfrm>
              <a:off x="3300984" y="1744627"/>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a:spLocks/>
            </p:cNvSpPr>
            <p:nvPr/>
          </p:nvSpPr>
          <p:spPr>
            <a:xfrm>
              <a:off x="3392424" y="1813207"/>
              <a:ext cx="1097280" cy="237744"/>
            </a:xfrm>
            <a:prstGeom prst="roundRect">
              <a:avLst/>
            </a:prstGeom>
            <a:solidFill>
              <a:srgbClr val="FDF7E9"/>
            </a:solidFill>
            <a:ln w="889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a:spLocks/>
            </p:cNvSpPr>
            <p:nvPr/>
          </p:nvSpPr>
          <p:spPr>
            <a:xfrm>
              <a:off x="3419857" y="1870523"/>
              <a:ext cx="1042415" cy="123111"/>
            </a:xfrm>
            <a:prstGeom prst="rect">
              <a:avLst/>
            </a:prstGeom>
            <a:noFill/>
          </p:spPr>
          <p:txBody>
            <a:bodyPr wrap="square" lIns="45720" tIns="9144" rIns="45720" bIns="9144" anchor="ctr">
              <a:spAutoFit/>
            </a:bodyPr>
            <a:lstStyle/>
            <a:p>
              <a:pPr algn="ctr"/>
              <a:r>
                <a:rPr lang="it-IT" sz="680" b="1" dirty="0">
                  <a:solidFill>
                    <a:srgbClr val="DCA037"/>
                  </a:solidFill>
                  <a:latin typeface="Poppins"/>
                </a:rPr>
                <a:t>ESTENSIONE</a:t>
              </a:r>
            </a:p>
          </p:txBody>
        </p:sp>
        <p:sp>
          <p:nvSpPr>
            <p:cNvPr id="26" name="TextBox 25"/>
            <p:cNvSpPr txBox="1">
              <a:spLocks/>
            </p:cNvSpPr>
            <p:nvPr/>
          </p:nvSpPr>
          <p:spPr>
            <a:xfrm>
              <a:off x="4599431" y="1794919"/>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Connettori dedicati, coordinati da </a:t>
              </a:r>
              <a:r>
                <a:rPr lang="it-IT" sz="815" b="0" noProof="0" dirty="0" err="1">
                  <a:solidFill>
                    <a:srgbClr val="2C3740"/>
                  </a:solidFill>
                  <a:latin typeface="Poppins"/>
                </a:rPr>
                <a:t>Dagster</a:t>
              </a:r>
              <a:endParaRPr lang="it-IT" sz="815" b="0" noProof="0" dirty="0">
                <a:solidFill>
                  <a:srgbClr val="2C3740"/>
                </a:solidFill>
                <a:latin typeface="Poppins"/>
              </a:endParaRPr>
            </a:p>
          </p:txBody>
        </p:sp>
        <p:sp>
          <p:nvSpPr>
            <p:cNvPr id="35" name="Rounded Rectangle 34"/>
            <p:cNvSpPr>
              <a:spLocks/>
            </p:cNvSpPr>
            <p:nvPr/>
          </p:nvSpPr>
          <p:spPr>
            <a:xfrm>
              <a:off x="3300984" y="2174395"/>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a:spLocks/>
            </p:cNvSpPr>
            <p:nvPr/>
          </p:nvSpPr>
          <p:spPr>
            <a:xfrm>
              <a:off x="3392424" y="2242975"/>
              <a:ext cx="1097280" cy="237744"/>
            </a:xfrm>
            <a:prstGeom prst="roundRect">
              <a:avLst/>
            </a:prstGeom>
            <a:solidFill>
              <a:srgbClr val="EAF8F0"/>
            </a:solidFill>
            <a:ln w="889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a:spLocks/>
            </p:cNvSpPr>
            <p:nvPr/>
          </p:nvSpPr>
          <p:spPr>
            <a:xfrm>
              <a:off x="3419857" y="2300291"/>
              <a:ext cx="1042415" cy="123111"/>
            </a:xfrm>
            <a:prstGeom prst="rect">
              <a:avLst/>
            </a:prstGeom>
            <a:noFill/>
          </p:spPr>
          <p:txBody>
            <a:bodyPr wrap="square" lIns="45720" tIns="9144" rIns="45720" bIns="9144" anchor="ctr">
              <a:spAutoFit/>
            </a:bodyPr>
            <a:lstStyle/>
            <a:p>
              <a:pPr algn="ctr">
                <a:spcAft>
                  <a:spcPts val="0"/>
                </a:spcAft>
              </a:pPr>
              <a:r>
                <a:rPr lang="it-IT" sz="680" b="1" dirty="0">
                  <a:solidFill>
                    <a:srgbClr val="33AF74"/>
                  </a:solidFill>
                </a:rPr>
                <a:t>DIRETTA</a:t>
              </a:r>
              <a:endParaRPr lang="it-IT" sz="680" b="1" noProof="0" dirty="0">
                <a:solidFill>
                  <a:srgbClr val="33AF74"/>
                </a:solidFill>
                <a:latin typeface="Poppins"/>
              </a:endParaRPr>
            </a:p>
          </p:txBody>
        </p:sp>
        <p:sp>
          <p:nvSpPr>
            <p:cNvPr id="38" name="TextBox 37"/>
            <p:cNvSpPr txBox="1">
              <a:spLocks/>
            </p:cNvSpPr>
            <p:nvPr/>
          </p:nvSpPr>
          <p:spPr>
            <a:xfrm>
              <a:off x="4599431" y="2224687"/>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Database e archivio file su AWS</a:t>
              </a:r>
            </a:p>
          </p:txBody>
        </p:sp>
        <p:sp>
          <p:nvSpPr>
            <p:cNvPr id="47" name="Rounded Rectangle 46"/>
            <p:cNvSpPr>
              <a:spLocks/>
            </p:cNvSpPr>
            <p:nvPr/>
          </p:nvSpPr>
          <p:spPr>
            <a:xfrm>
              <a:off x="3300984" y="2604163"/>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a:spLocks/>
            </p:cNvSpPr>
            <p:nvPr/>
          </p:nvSpPr>
          <p:spPr>
            <a:xfrm>
              <a:off x="3392424" y="2672743"/>
              <a:ext cx="1097280" cy="237744"/>
            </a:xfrm>
            <a:prstGeom prst="roundRect">
              <a:avLst/>
            </a:prstGeom>
            <a:solidFill>
              <a:srgbClr val="EAF8F0"/>
            </a:solidFill>
            <a:ln w="889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a:spLocks/>
            </p:cNvSpPr>
            <p:nvPr/>
          </p:nvSpPr>
          <p:spPr>
            <a:xfrm>
              <a:off x="3419857" y="2730059"/>
              <a:ext cx="1042415" cy="123111"/>
            </a:xfrm>
            <a:prstGeom prst="rect">
              <a:avLst/>
            </a:prstGeom>
            <a:noFill/>
          </p:spPr>
          <p:txBody>
            <a:bodyPr wrap="square" lIns="45720" tIns="9144" rIns="45720" bIns="9144" anchor="ctr">
              <a:spAutoFit/>
            </a:bodyPr>
            <a:lstStyle/>
            <a:p>
              <a:pPr algn="ctr">
                <a:spcAft>
                  <a:spcPts val="0"/>
                </a:spcAft>
              </a:pPr>
              <a:r>
                <a:rPr lang="it-IT" sz="680" b="1" dirty="0">
                  <a:solidFill>
                    <a:srgbClr val="33AF74"/>
                  </a:solidFill>
                </a:rPr>
                <a:t>DIRETTA</a:t>
              </a:r>
              <a:endParaRPr lang="it-IT" sz="680" b="1" noProof="0" dirty="0">
                <a:solidFill>
                  <a:srgbClr val="33AF74"/>
                </a:solidFill>
                <a:latin typeface="Poppins"/>
              </a:endParaRPr>
            </a:p>
          </p:txBody>
        </p:sp>
        <p:sp>
          <p:nvSpPr>
            <p:cNvPr id="50" name="TextBox 49"/>
            <p:cNvSpPr txBox="1">
              <a:spLocks/>
            </p:cNvSpPr>
            <p:nvPr/>
          </p:nvSpPr>
          <p:spPr>
            <a:xfrm>
              <a:off x="4599431" y="2654455"/>
              <a:ext cx="2514600" cy="274320"/>
            </a:xfrm>
            <a:prstGeom prst="rect">
              <a:avLst/>
            </a:prstGeom>
            <a:noFill/>
          </p:spPr>
          <p:txBody>
            <a:bodyPr wrap="square" lIns="45720" tIns="9144" rIns="45720" bIns="9144" anchor="ctr">
              <a:spAutoFit/>
            </a:bodyPr>
            <a:lstStyle/>
            <a:p>
              <a:pPr algn="l">
                <a:spcAft>
                  <a:spcPts val="0"/>
                </a:spcAft>
              </a:pPr>
              <a:r>
                <a:rPr lang="it-IT" sz="815" b="0" noProof="0" dirty="0" err="1">
                  <a:solidFill>
                    <a:srgbClr val="2C3740"/>
                  </a:solidFill>
                  <a:latin typeface="Poppins"/>
                </a:rPr>
                <a:t>dbt</a:t>
              </a:r>
              <a:r>
                <a:rPr lang="it-IT" sz="815" b="0" noProof="0" dirty="0">
                  <a:solidFill>
                    <a:srgbClr val="2C3740"/>
                  </a:solidFill>
                  <a:latin typeface="Poppins"/>
                </a:rPr>
                <a:t> e tabelle di corrispondenza</a:t>
              </a:r>
            </a:p>
          </p:txBody>
        </p:sp>
        <p:sp>
          <p:nvSpPr>
            <p:cNvPr id="59" name="Rounded Rectangle 58"/>
            <p:cNvSpPr>
              <a:spLocks/>
            </p:cNvSpPr>
            <p:nvPr/>
          </p:nvSpPr>
          <p:spPr>
            <a:xfrm>
              <a:off x="3300984" y="3033931"/>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p:cNvSpPr>
              <a:spLocks/>
            </p:cNvSpPr>
            <p:nvPr/>
          </p:nvSpPr>
          <p:spPr>
            <a:xfrm>
              <a:off x="3392424" y="3102511"/>
              <a:ext cx="1097280" cy="237744"/>
            </a:xfrm>
            <a:prstGeom prst="roundRect">
              <a:avLst/>
            </a:prstGeom>
            <a:solidFill>
              <a:srgbClr val="FDF7E9"/>
            </a:solidFill>
            <a:ln w="889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a:spLocks/>
            </p:cNvSpPr>
            <p:nvPr/>
          </p:nvSpPr>
          <p:spPr>
            <a:xfrm>
              <a:off x="3419857" y="3159827"/>
              <a:ext cx="1042415" cy="123111"/>
            </a:xfrm>
            <a:prstGeom prst="rect">
              <a:avLst/>
            </a:prstGeom>
            <a:noFill/>
          </p:spPr>
          <p:txBody>
            <a:bodyPr wrap="square" lIns="45720" tIns="9144" rIns="45720" bIns="9144" anchor="ctr">
              <a:spAutoFit/>
            </a:bodyPr>
            <a:lstStyle/>
            <a:p>
              <a:pPr algn="ctr"/>
              <a:r>
                <a:rPr lang="it-IT" sz="680" b="1" dirty="0">
                  <a:solidFill>
                    <a:srgbClr val="DCA037"/>
                  </a:solidFill>
                </a:rPr>
                <a:t>ESTENSIONE</a:t>
              </a:r>
            </a:p>
          </p:txBody>
        </p:sp>
        <p:sp>
          <p:nvSpPr>
            <p:cNvPr id="62" name="TextBox 61"/>
            <p:cNvSpPr txBox="1">
              <a:spLocks/>
            </p:cNvSpPr>
            <p:nvPr/>
          </p:nvSpPr>
          <p:spPr>
            <a:xfrm>
              <a:off x="4599431" y="3084223"/>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Modelli </a:t>
              </a:r>
              <a:r>
                <a:rPr lang="it-IT" sz="815" b="0" noProof="0" dirty="0" err="1">
                  <a:solidFill>
                    <a:srgbClr val="2C3740"/>
                  </a:solidFill>
                  <a:latin typeface="Poppins"/>
                </a:rPr>
                <a:t>dbt</a:t>
              </a:r>
              <a:r>
                <a:rPr lang="it-IT" sz="815" b="0" noProof="0" dirty="0">
                  <a:solidFill>
                    <a:srgbClr val="2C3740"/>
                  </a:solidFill>
                  <a:latin typeface="Poppins"/>
                </a:rPr>
                <a:t> e regole CDG da implementare</a:t>
              </a:r>
            </a:p>
          </p:txBody>
        </p:sp>
        <p:sp>
          <p:nvSpPr>
            <p:cNvPr id="71" name="Rounded Rectangle 70"/>
            <p:cNvSpPr>
              <a:spLocks/>
            </p:cNvSpPr>
            <p:nvPr/>
          </p:nvSpPr>
          <p:spPr>
            <a:xfrm>
              <a:off x="3300984" y="3463698"/>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71"/>
            <p:cNvSpPr>
              <a:spLocks/>
            </p:cNvSpPr>
            <p:nvPr/>
          </p:nvSpPr>
          <p:spPr>
            <a:xfrm>
              <a:off x="3392424" y="3532278"/>
              <a:ext cx="1097280" cy="237744"/>
            </a:xfrm>
            <a:prstGeom prst="roundRect">
              <a:avLst/>
            </a:prstGeom>
            <a:solidFill>
              <a:srgbClr val="EFF8FC"/>
            </a:solidFill>
            <a:ln w="889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a:spLocks/>
            </p:cNvSpPr>
            <p:nvPr/>
          </p:nvSpPr>
          <p:spPr>
            <a:xfrm>
              <a:off x="3419857" y="3589594"/>
              <a:ext cx="1042415" cy="123111"/>
            </a:xfrm>
            <a:prstGeom prst="rect">
              <a:avLst/>
            </a:prstGeom>
            <a:noFill/>
          </p:spPr>
          <p:txBody>
            <a:bodyPr wrap="square" lIns="45720" tIns="9144" rIns="45720" bIns="9144" anchor="ctr">
              <a:spAutoFit/>
            </a:bodyPr>
            <a:lstStyle/>
            <a:p>
              <a:pPr algn="ctr">
                <a:spcAft>
                  <a:spcPts val="0"/>
                </a:spcAft>
              </a:pPr>
              <a:r>
                <a:rPr lang="it-IT" sz="680" b="1" dirty="0">
                  <a:solidFill>
                    <a:srgbClr val="2299D3"/>
                  </a:solidFill>
                </a:rPr>
                <a:t>CONFIGURAZIONE</a:t>
              </a:r>
            </a:p>
          </p:txBody>
        </p:sp>
        <p:sp>
          <p:nvSpPr>
            <p:cNvPr id="74" name="TextBox 73"/>
            <p:cNvSpPr txBox="1">
              <a:spLocks/>
            </p:cNvSpPr>
            <p:nvPr/>
          </p:nvSpPr>
          <p:spPr>
            <a:xfrm>
              <a:off x="4599431" y="3513990"/>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Test, controlli e soglie da impostare</a:t>
              </a:r>
            </a:p>
          </p:txBody>
        </p:sp>
        <p:sp>
          <p:nvSpPr>
            <p:cNvPr id="83" name="Rounded Rectangle 82"/>
            <p:cNvSpPr>
              <a:spLocks/>
            </p:cNvSpPr>
            <p:nvPr/>
          </p:nvSpPr>
          <p:spPr>
            <a:xfrm>
              <a:off x="3300984" y="3893467"/>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ounded Rectangle 83"/>
            <p:cNvSpPr>
              <a:spLocks/>
            </p:cNvSpPr>
            <p:nvPr/>
          </p:nvSpPr>
          <p:spPr>
            <a:xfrm>
              <a:off x="3392424" y="3962047"/>
              <a:ext cx="1097280" cy="237744"/>
            </a:xfrm>
            <a:prstGeom prst="roundRect">
              <a:avLst/>
            </a:prstGeom>
            <a:solidFill>
              <a:srgbClr val="FDF7E9"/>
            </a:solidFill>
            <a:ln w="889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a:spLocks/>
            </p:cNvSpPr>
            <p:nvPr/>
          </p:nvSpPr>
          <p:spPr>
            <a:xfrm>
              <a:off x="3419857" y="4019363"/>
              <a:ext cx="1042415" cy="123111"/>
            </a:xfrm>
            <a:prstGeom prst="rect">
              <a:avLst/>
            </a:prstGeom>
            <a:noFill/>
          </p:spPr>
          <p:txBody>
            <a:bodyPr wrap="square" lIns="45720" tIns="9144" rIns="45720" bIns="9144" anchor="ctr">
              <a:spAutoFit/>
            </a:bodyPr>
            <a:lstStyle/>
            <a:p>
              <a:pPr algn="ctr"/>
              <a:r>
                <a:rPr lang="it-IT" sz="680" b="1" dirty="0">
                  <a:solidFill>
                    <a:srgbClr val="DCA037"/>
                  </a:solidFill>
                </a:rPr>
                <a:t>ESTENSIONE</a:t>
              </a:r>
            </a:p>
          </p:txBody>
        </p:sp>
        <p:sp>
          <p:nvSpPr>
            <p:cNvPr id="86" name="TextBox 85"/>
            <p:cNvSpPr txBox="1">
              <a:spLocks/>
            </p:cNvSpPr>
            <p:nvPr/>
          </p:nvSpPr>
          <p:spPr>
            <a:xfrm>
              <a:off x="4599431" y="3943759"/>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Modelli separati per ciascun progetto</a:t>
              </a:r>
            </a:p>
          </p:txBody>
        </p:sp>
        <p:sp>
          <p:nvSpPr>
            <p:cNvPr id="95" name="Rounded Rectangle 94"/>
            <p:cNvSpPr>
              <a:spLocks/>
            </p:cNvSpPr>
            <p:nvPr/>
          </p:nvSpPr>
          <p:spPr>
            <a:xfrm>
              <a:off x="3300984" y="4323235"/>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Rounded Rectangle 95"/>
            <p:cNvSpPr>
              <a:spLocks/>
            </p:cNvSpPr>
            <p:nvPr/>
          </p:nvSpPr>
          <p:spPr>
            <a:xfrm>
              <a:off x="3392424" y="4391815"/>
              <a:ext cx="1097280" cy="237744"/>
            </a:xfrm>
            <a:prstGeom prst="roundRect">
              <a:avLst/>
            </a:prstGeom>
            <a:solidFill>
              <a:srgbClr val="EAF8F0"/>
            </a:solidFill>
            <a:ln w="889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a:spLocks/>
            </p:cNvSpPr>
            <p:nvPr/>
          </p:nvSpPr>
          <p:spPr>
            <a:xfrm>
              <a:off x="3419857" y="4449131"/>
              <a:ext cx="1042415" cy="123111"/>
            </a:xfrm>
            <a:prstGeom prst="rect">
              <a:avLst/>
            </a:prstGeom>
            <a:noFill/>
          </p:spPr>
          <p:txBody>
            <a:bodyPr wrap="square" lIns="45720" tIns="9144" rIns="45720" bIns="9144" anchor="ctr">
              <a:spAutoFit/>
            </a:bodyPr>
            <a:lstStyle/>
            <a:p>
              <a:pPr algn="ctr">
                <a:spcAft>
                  <a:spcPts val="0"/>
                </a:spcAft>
              </a:pPr>
              <a:r>
                <a:rPr lang="it-IT" sz="680" b="1" noProof="0" dirty="0">
                  <a:solidFill>
                    <a:srgbClr val="33AF74"/>
                  </a:solidFill>
                  <a:latin typeface="Poppins"/>
                </a:rPr>
                <a:t>DIRETTA</a:t>
              </a:r>
            </a:p>
          </p:txBody>
        </p:sp>
        <p:sp>
          <p:nvSpPr>
            <p:cNvPr id="98" name="TextBox 97"/>
            <p:cNvSpPr txBox="1">
              <a:spLocks/>
            </p:cNvSpPr>
            <p:nvPr/>
          </p:nvSpPr>
          <p:spPr>
            <a:xfrm>
              <a:off x="4599431" y="4373527"/>
              <a:ext cx="2514600" cy="274320"/>
            </a:xfrm>
            <a:prstGeom prst="rect">
              <a:avLst/>
            </a:prstGeom>
            <a:noFill/>
          </p:spPr>
          <p:txBody>
            <a:bodyPr wrap="square" lIns="45720" tIns="9144" rIns="45720" bIns="9144" anchor="ctr">
              <a:spAutoFit/>
            </a:bodyPr>
            <a:lstStyle/>
            <a:p>
              <a:pPr algn="l">
                <a:spcAft>
                  <a:spcPts val="0"/>
                </a:spcAft>
              </a:pPr>
              <a:r>
                <a:rPr lang="it-IT" sz="815" b="0" noProof="0" dirty="0" err="1">
                  <a:solidFill>
                    <a:srgbClr val="2C3740"/>
                  </a:solidFill>
                  <a:latin typeface="Poppins"/>
                </a:rPr>
                <a:t>Metabase</a:t>
              </a:r>
              <a:r>
                <a:rPr lang="it-IT" sz="815" b="0" noProof="0" dirty="0">
                  <a:solidFill>
                    <a:srgbClr val="2C3740"/>
                  </a:solidFill>
                  <a:latin typeface="Poppins"/>
                </a:rPr>
                <a:t> sui dati già controllati</a:t>
              </a:r>
            </a:p>
          </p:txBody>
        </p:sp>
        <p:sp>
          <p:nvSpPr>
            <p:cNvPr id="107" name="Rounded Rectangle 106"/>
            <p:cNvSpPr>
              <a:spLocks/>
            </p:cNvSpPr>
            <p:nvPr/>
          </p:nvSpPr>
          <p:spPr>
            <a:xfrm>
              <a:off x="3300984" y="4753003"/>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ounded Rectangle 107"/>
            <p:cNvSpPr>
              <a:spLocks/>
            </p:cNvSpPr>
            <p:nvPr/>
          </p:nvSpPr>
          <p:spPr>
            <a:xfrm>
              <a:off x="3392424" y="4821583"/>
              <a:ext cx="1097280" cy="237744"/>
            </a:xfrm>
            <a:prstGeom prst="roundRect">
              <a:avLst/>
            </a:prstGeom>
            <a:solidFill>
              <a:srgbClr val="EFF8FC"/>
            </a:solidFill>
            <a:ln w="889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a:spLocks/>
            </p:cNvSpPr>
            <p:nvPr/>
          </p:nvSpPr>
          <p:spPr>
            <a:xfrm>
              <a:off x="3419857" y="4878899"/>
              <a:ext cx="1042415" cy="123111"/>
            </a:xfrm>
            <a:prstGeom prst="rect">
              <a:avLst/>
            </a:prstGeom>
            <a:noFill/>
          </p:spPr>
          <p:txBody>
            <a:bodyPr wrap="square" lIns="45720" tIns="9144" rIns="45720" bIns="9144" anchor="ctr">
              <a:spAutoFit/>
            </a:bodyPr>
            <a:lstStyle/>
            <a:p>
              <a:pPr algn="ctr">
                <a:spcAft>
                  <a:spcPts val="0"/>
                </a:spcAft>
              </a:pPr>
              <a:r>
                <a:rPr lang="it-IT" sz="680" b="1" dirty="0">
                  <a:solidFill>
                    <a:srgbClr val="2299D3"/>
                  </a:solidFill>
                </a:rPr>
                <a:t>CONFIGURAZIONE</a:t>
              </a:r>
            </a:p>
          </p:txBody>
        </p:sp>
        <p:sp>
          <p:nvSpPr>
            <p:cNvPr id="110" name="TextBox 109"/>
            <p:cNvSpPr txBox="1">
              <a:spLocks/>
            </p:cNvSpPr>
            <p:nvPr/>
          </p:nvSpPr>
          <p:spPr>
            <a:xfrm>
              <a:off x="4599431" y="4803295"/>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Log, catalogo e prove delle esecuzioni</a:t>
              </a:r>
            </a:p>
          </p:txBody>
        </p:sp>
        <p:sp>
          <p:nvSpPr>
            <p:cNvPr id="122" name="Rounded Rectangle 121"/>
            <p:cNvSpPr>
              <a:spLocks/>
            </p:cNvSpPr>
            <p:nvPr/>
          </p:nvSpPr>
          <p:spPr>
            <a:xfrm>
              <a:off x="3300984" y="5182771"/>
              <a:ext cx="3913632" cy="523946"/>
            </a:xfrm>
            <a:prstGeom prst="roundRect">
              <a:avLst/>
            </a:prstGeom>
            <a:solidFill>
              <a:srgbClr val="EFF8FC"/>
            </a:solidFill>
            <a:ln w="1016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a:spLocks/>
            </p:cNvSpPr>
            <p:nvPr/>
          </p:nvSpPr>
          <p:spPr>
            <a:xfrm>
              <a:off x="3446446" y="5268197"/>
              <a:ext cx="3629634" cy="353094"/>
            </a:xfrm>
            <a:prstGeom prst="rect">
              <a:avLst/>
            </a:prstGeom>
            <a:noFill/>
          </p:spPr>
          <p:txBody>
            <a:bodyPr wrap="square" lIns="45720" tIns="9144" rIns="45720" bIns="9144" anchor="ctr">
              <a:spAutoFit/>
            </a:bodyPr>
            <a:lstStyle/>
            <a:p>
              <a:pPr algn="ctr">
                <a:spcAft>
                  <a:spcPts val="0"/>
                </a:spcAft>
              </a:pPr>
              <a:r>
                <a:rPr lang="it-IT" sz="840" b="1" noProof="0" dirty="0">
                  <a:solidFill>
                    <a:srgbClr val="2C3740"/>
                  </a:solidFill>
                  <a:latin typeface="Poppins"/>
                </a:rPr>
                <a:t>Maggiore modularità e sostituibilità; </a:t>
              </a:r>
              <a:br>
                <a:rPr lang="it-IT" sz="840" b="1" noProof="0" dirty="0">
                  <a:solidFill>
                    <a:srgbClr val="2C3740"/>
                  </a:solidFill>
                  <a:latin typeface="Poppins"/>
                </a:rPr>
              </a:br>
              <a:r>
                <a:rPr lang="it-IT" sz="840" b="1" noProof="0" dirty="0">
                  <a:solidFill>
                    <a:srgbClr val="2C3740"/>
                  </a:solidFill>
                  <a:latin typeface="Poppins"/>
                </a:rPr>
                <a:t>maggiore onere di integrazione e gestione.</a:t>
              </a:r>
            </a:p>
          </p:txBody>
        </p:sp>
      </p:grpSp>
      <p:grpSp>
        <p:nvGrpSpPr>
          <p:cNvPr id="199" name="Gruppo 198">
            <a:extLst>
              <a:ext uri="{FF2B5EF4-FFF2-40B4-BE49-F238E27FC236}">
                <a16:creationId xmlns:a16="http://schemas.microsoft.com/office/drawing/2014/main" id="{EA3C9021-4428-EF91-BD04-95864F3755EB}"/>
              </a:ext>
            </a:extLst>
          </p:cNvPr>
          <p:cNvGrpSpPr/>
          <p:nvPr/>
        </p:nvGrpSpPr>
        <p:grpSpPr>
          <a:xfrm>
            <a:off x="7396734" y="991474"/>
            <a:ext cx="4064509" cy="4875053"/>
            <a:chOff x="7379208" y="1022251"/>
            <a:chExt cx="4064509" cy="4875053"/>
          </a:xfrm>
        </p:grpSpPr>
        <p:sp>
          <p:nvSpPr>
            <p:cNvPr id="15" name="Rounded Rectangle 14"/>
            <p:cNvSpPr>
              <a:spLocks/>
            </p:cNvSpPr>
            <p:nvPr/>
          </p:nvSpPr>
          <p:spPr>
            <a:xfrm>
              <a:off x="7379208" y="1022251"/>
              <a:ext cx="3913632" cy="621792"/>
            </a:xfrm>
            <a:prstGeom prst="roundRect">
              <a:avLst/>
            </a:prstGeom>
            <a:solidFill>
              <a:srgbClr val="EFFAF8"/>
            </a:solidFill>
            <a:ln w="1016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a:spLocks/>
            </p:cNvSpPr>
            <p:nvPr/>
          </p:nvSpPr>
          <p:spPr>
            <a:xfrm>
              <a:off x="7580376" y="1220039"/>
              <a:ext cx="3547872" cy="226216"/>
            </a:xfrm>
            <a:prstGeom prst="rect">
              <a:avLst/>
            </a:prstGeom>
            <a:noFill/>
          </p:spPr>
          <p:txBody>
            <a:bodyPr wrap="square" lIns="45720" tIns="9144" rIns="45720" bIns="9144" anchor="ctr">
              <a:spAutoFit/>
            </a:bodyPr>
            <a:lstStyle/>
            <a:p>
              <a:pPr algn="l">
                <a:spcAft>
                  <a:spcPts val="0"/>
                </a:spcAft>
              </a:pPr>
              <a:r>
                <a:rPr sz="1350" b="1" dirty="0">
                  <a:solidFill>
                    <a:srgbClr val="2C3740"/>
                  </a:solidFill>
                  <a:latin typeface="Poppins"/>
                </a:rPr>
                <a:t>Qlik | </a:t>
              </a:r>
              <a:r>
                <a:rPr lang="it-IT" sz="1350" b="1" dirty="0">
                  <a:solidFill>
                    <a:srgbClr val="2C3740"/>
                  </a:solidFill>
                  <a:latin typeface="Poppins"/>
                </a:rPr>
                <a:t>Cloud</a:t>
              </a:r>
              <a:r>
                <a:rPr sz="1350" b="1" dirty="0">
                  <a:solidFill>
                    <a:srgbClr val="2C3740"/>
                  </a:solidFill>
                  <a:latin typeface="Poppins"/>
                </a:rPr>
                <a:t> + Talend</a:t>
              </a:r>
            </a:p>
          </p:txBody>
        </p:sp>
        <p:sp>
          <p:nvSpPr>
            <p:cNvPr id="27" name="Rounded Rectangle 26"/>
            <p:cNvSpPr>
              <a:spLocks/>
            </p:cNvSpPr>
            <p:nvPr/>
          </p:nvSpPr>
          <p:spPr>
            <a:xfrm>
              <a:off x="7379208" y="1744627"/>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a:spLocks/>
            </p:cNvSpPr>
            <p:nvPr/>
          </p:nvSpPr>
          <p:spPr>
            <a:xfrm>
              <a:off x="7470648" y="1813207"/>
              <a:ext cx="1097280" cy="237744"/>
            </a:xfrm>
            <a:prstGeom prst="roundRect">
              <a:avLst/>
            </a:prstGeom>
            <a:solidFill>
              <a:srgbClr val="EAF8F0"/>
            </a:solidFill>
            <a:ln w="889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a:spLocks/>
            </p:cNvSpPr>
            <p:nvPr/>
          </p:nvSpPr>
          <p:spPr>
            <a:xfrm>
              <a:off x="7498081" y="1870523"/>
              <a:ext cx="1042415" cy="123111"/>
            </a:xfrm>
            <a:prstGeom prst="rect">
              <a:avLst/>
            </a:prstGeom>
            <a:noFill/>
          </p:spPr>
          <p:txBody>
            <a:bodyPr wrap="square" lIns="45720" tIns="9144" rIns="45720" bIns="9144" anchor="ctr">
              <a:spAutoFit/>
            </a:bodyPr>
            <a:lstStyle/>
            <a:p>
              <a:pPr algn="ctr">
                <a:spcAft>
                  <a:spcPts val="0"/>
                </a:spcAft>
              </a:pPr>
              <a:r>
                <a:rPr lang="it-IT" sz="680" b="1" dirty="0">
                  <a:solidFill>
                    <a:srgbClr val="33AF74"/>
                  </a:solidFill>
                </a:rPr>
                <a:t>DIRETTA</a:t>
              </a:r>
              <a:endParaRPr lang="it-IT" sz="680" b="1" noProof="0" dirty="0">
                <a:solidFill>
                  <a:srgbClr val="33AF74"/>
                </a:solidFill>
                <a:latin typeface="Poppins"/>
              </a:endParaRPr>
            </a:p>
          </p:txBody>
        </p:sp>
        <p:sp>
          <p:nvSpPr>
            <p:cNvPr id="30" name="TextBox 29"/>
            <p:cNvSpPr txBox="1">
              <a:spLocks/>
            </p:cNvSpPr>
            <p:nvPr/>
          </p:nvSpPr>
          <p:spPr>
            <a:xfrm>
              <a:off x="8677656" y="1794919"/>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Acquisizione con </a:t>
              </a:r>
              <a:r>
                <a:rPr lang="it-IT" sz="815" b="0" noProof="0" dirty="0" err="1">
                  <a:solidFill>
                    <a:srgbClr val="2C3740"/>
                  </a:solidFill>
                  <a:latin typeface="Poppins"/>
                </a:rPr>
                <a:t>Qlik</a:t>
              </a:r>
              <a:r>
                <a:rPr lang="it-IT" sz="815" b="0" noProof="0" dirty="0">
                  <a:solidFill>
                    <a:srgbClr val="2C3740"/>
                  </a:solidFill>
                  <a:latin typeface="Poppins"/>
                </a:rPr>
                <a:t> </a:t>
              </a:r>
              <a:r>
                <a:rPr lang="it-IT" sz="815" b="0" noProof="0" dirty="0" err="1">
                  <a:solidFill>
                    <a:srgbClr val="2C3740"/>
                  </a:solidFill>
                  <a:latin typeface="Poppins"/>
                </a:rPr>
                <a:t>Talend</a:t>
              </a:r>
              <a:r>
                <a:rPr lang="it-IT" sz="815" b="0" noProof="0" dirty="0">
                  <a:solidFill>
                    <a:srgbClr val="2C3740"/>
                  </a:solidFill>
                  <a:latin typeface="Poppins"/>
                </a:rPr>
                <a:t> Cloud</a:t>
              </a:r>
            </a:p>
          </p:txBody>
        </p:sp>
        <p:sp>
          <p:nvSpPr>
            <p:cNvPr id="39" name="Rounded Rectangle 38"/>
            <p:cNvSpPr>
              <a:spLocks/>
            </p:cNvSpPr>
            <p:nvPr/>
          </p:nvSpPr>
          <p:spPr>
            <a:xfrm>
              <a:off x="7379208" y="2174395"/>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0" name="Rounded Rectangle 39"/>
            <p:cNvSpPr>
              <a:spLocks/>
            </p:cNvSpPr>
            <p:nvPr/>
          </p:nvSpPr>
          <p:spPr>
            <a:xfrm>
              <a:off x="7470648" y="2242975"/>
              <a:ext cx="1097280" cy="237744"/>
            </a:xfrm>
            <a:prstGeom prst="roundRect">
              <a:avLst/>
            </a:prstGeom>
            <a:solidFill>
              <a:srgbClr val="FDF7E9"/>
            </a:solidFill>
            <a:ln w="889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1" name="TextBox 40"/>
            <p:cNvSpPr txBox="1">
              <a:spLocks/>
            </p:cNvSpPr>
            <p:nvPr/>
          </p:nvSpPr>
          <p:spPr>
            <a:xfrm>
              <a:off x="7498081" y="2300291"/>
              <a:ext cx="1042415" cy="123111"/>
            </a:xfrm>
            <a:prstGeom prst="rect">
              <a:avLst/>
            </a:prstGeom>
            <a:noFill/>
          </p:spPr>
          <p:txBody>
            <a:bodyPr wrap="square" lIns="45720" tIns="9144" rIns="45720" bIns="9144" anchor="ctr">
              <a:spAutoFit/>
            </a:bodyPr>
            <a:lstStyle/>
            <a:p>
              <a:pPr algn="ctr">
                <a:spcAft>
                  <a:spcPts val="0"/>
                </a:spcAft>
              </a:pPr>
              <a:r>
                <a:rPr lang="it-IT" sz="680" b="1" dirty="0">
                  <a:solidFill>
                    <a:srgbClr val="DCA037"/>
                  </a:solidFill>
                </a:rPr>
                <a:t>ESTENSIONE*</a:t>
              </a:r>
              <a:endParaRPr lang="it-IT" sz="680" b="1" noProof="0" dirty="0">
                <a:solidFill>
                  <a:srgbClr val="DCA037"/>
                </a:solidFill>
                <a:latin typeface="Poppins"/>
              </a:endParaRPr>
            </a:p>
          </p:txBody>
        </p:sp>
        <p:sp>
          <p:nvSpPr>
            <p:cNvPr id="42" name="TextBox 41"/>
            <p:cNvSpPr txBox="1">
              <a:spLocks/>
            </p:cNvSpPr>
            <p:nvPr/>
          </p:nvSpPr>
          <p:spPr>
            <a:xfrm>
              <a:off x="8677656" y="2224687"/>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Archivio storico ancora da scegliere</a:t>
              </a:r>
            </a:p>
          </p:txBody>
        </p:sp>
        <p:sp>
          <p:nvSpPr>
            <p:cNvPr id="51" name="Rounded Rectangle 50"/>
            <p:cNvSpPr>
              <a:spLocks/>
            </p:cNvSpPr>
            <p:nvPr/>
          </p:nvSpPr>
          <p:spPr>
            <a:xfrm>
              <a:off x="7379208" y="2604163"/>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a:spLocks/>
            </p:cNvSpPr>
            <p:nvPr/>
          </p:nvSpPr>
          <p:spPr>
            <a:xfrm>
              <a:off x="7470648" y="2672743"/>
              <a:ext cx="1097280" cy="237744"/>
            </a:xfrm>
            <a:prstGeom prst="roundRect">
              <a:avLst/>
            </a:prstGeom>
            <a:solidFill>
              <a:srgbClr val="EAF8F0"/>
            </a:solidFill>
            <a:ln w="889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a:spLocks/>
            </p:cNvSpPr>
            <p:nvPr/>
          </p:nvSpPr>
          <p:spPr>
            <a:xfrm>
              <a:off x="7498081" y="2730059"/>
              <a:ext cx="1042415" cy="123111"/>
            </a:xfrm>
            <a:prstGeom prst="rect">
              <a:avLst/>
            </a:prstGeom>
            <a:noFill/>
          </p:spPr>
          <p:txBody>
            <a:bodyPr wrap="square" lIns="45720" tIns="9144" rIns="45720" bIns="9144" anchor="ctr">
              <a:spAutoFit/>
            </a:bodyPr>
            <a:lstStyle/>
            <a:p>
              <a:pPr algn="ctr">
                <a:spcAft>
                  <a:spcPts val="0"/>
                </a:spcAft>
              </a:pPr>
              <a:r>
                <a:rPr lang="it-IT" sz="680" b="1" dirty="0">
                  <a:solidFill>
                    <a:srgbClr val="33AF74"/>
                  </a:solidFill>
                </a:rPr>
                <a:t>DIRETTA</a:t>
              </a:r>
              <a:endParaRPr lang="it-IT" sz="680" b="1" noProof="0" dirty="0">
                <a:solidFill>
                  <a:srgbClr val="33AF74"/>
                </a:solidFill>
                <a:latin typeface="Poppins"/>
              </a:endParaRPr>
            </a:p>
          </p:txBody>
        </p:sp>
        <p:sp>
          <p:nvSpPr>
            <p:cNvPr id="54" name="TextBox 53"/>
            <p:cNvSpPr txBox="1">
              <a:spLocks/>
            </p:cNvSpPr>
            <p:nvPr/>
          </p:nvSpPr>
          <p:spPr>
            <a:xfrm>
              <a:off x="8677656" y="2654455"/>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Preparazione e mapping con </a:t>
              </a:r>
              <a:r>
                <a:rPr lang="it-IT" sz="815" b="0" noProof="0" dirty="0" err="1">
                  <a:solidFill>
                    <a:srgbClr val="2C3740"/>
                  </a:solidFill>
                  <a:latin typeface="Poppins"/>
                </a:rPr>
                <a:t>Talend</a:t>
              </a:r>
              <a:endParaRPr lang="it-IT" sz="815" b="0" noProof="0" dirty="0">
                <a:solidFill>
                  <a:srgbClr val="2C3740"/>
                </a:solidFill>
                <a:latin typeface="Poppins"/>
              </a:endParaRPr>
            </a:p>
          </p:txBody>
        </p:sp>
        <p:sp>
          <p:nvSpPr>
            <p:cNvPr id="63" name="Rounded Rectangle 62"/>
            <p:cNvSpPr>
              <a:spLocks/>
            </p:cNvSpPr>
            <p:nvPr/>
          </p:nvSpPr>
          <p:spPr>
            <a:xfrm>
              <a:off x="7379208" y="3033931"/>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ounded Rectangle 63"/>
            <p:cNvSpPr>
              <a:spLocks/>
            </p:cNvSpPr>
            <p:nvPr/>
          </p:nvSpPr>
          <p:spPr>
            <a:xfrm>
              <a:off x="7470648" y="3102511"/>
              <a:ext cx="1097280" cy="237744"/>
            </a:xfrm>
            <a:prstGeom prst="roundRect">
              <a:avLst/>
            </a:prstGeom>
            <a:solidFill>
              <a:srgbClr val="FDF7E9"/>
            </a:solidFill>
            <a:ln w="889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a:spLocks/>
            </p:cNvSpPr>
            <p:nvPr/>
          </p:nvSpPr>
          <p:spPr>
            <a:xfrm>
              <a:off x="7498081" y="3159827"/>
              <a:ext cx="1042415" cy="123111"/>
            </a:xfrm>
            <a:prstGeom prst="rect">
              <a:avLst/>
            </a:prstGeom>
            <a:noFill/>
          </p:spPr>
          <p:txBody>
            <a:bodyPr wrap="square" lIns="45720" tIns="9144" rIns="45720" bIns="9144" anchor="ctr">
              <a:spAutoFit/>
            </a:bodyPr>
            <a:lstStyle/>
            <a:p>
              <a:pPr algn="ctr">
                <a:spcAft>
                  <a:spcPts val="0"/>
                </a:spcAft>
              </a:pPr>
              <a:r>
                <a:rPr lang="it-IT" sz="680" b="1" dirty="0">
                  <a:solidFill>
                    <a:srgbClr val="DCA037"/>
                  </a:solidFill>
                </a:rPr>
                <a:t>ESTENSIONE</a:t>
              </a:r>
              <a:endParaRPr lang="it-IT" sz="680" b="1" noProof="0" dirty="0">
                <a:solidFill>
                  <a:srgbClr val="2299D3"/>
                </a:solidFill>
                <a:latin typeface="Poppins"/>
              </a:endParaRPr>
            </a:p>
          </p:txBody>
        </p:sp>
        <p:sp>
          <p:nvSpPr>
            <p:cNvPr id="66" name="TextBox 65"/>
            <p:cNvSpPr txBox="1">
              <a:spLocks/>
            </p:cNvSpPr>
            <p:nvPr/>
          </p:nvSpPr>
          <p:spPr>
            <a:xfrm>
              <a:off x="8677656" y="3084223"/>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Procedure </a:t>
              </a:r>
              <a:r>
                <a:rPr lang="it-IT" sz="815" b="0" noProof="0" dirty="0" err="1">
                  <a:solidFill>
                    <a:srgbClr val="2C3740"/>
                  </a:solidFill>
                  <a:latin typeface="Poppins"/>
                </a:rPr>
                <a:t>Talend</a:t>
              </a:r>
              <a:r>
                <a:rPr lang="it-IT" sz="815" b="0" noProof="0" dirty="0">
                  <a:solidFill>
                    <a:srgbClr val="2C3740"/>
                  </a:solidFill>
                  <a:latin typeface="Poppins"/>
                </a:rPr>
                <a:t>, SQL o moduli dedicati</a:t>
              </a:r>
            </a:p>
          </p:txBody>
        </p:sp>
        <p:sp>
          <p:nvSpPr>
            <p:cNvPr id="75" name="Rounded Rectangle 74"/>
            <p:cNvSpPr>
              <a:spLocks/>
            </p:cNvSpPr>
            <p:nvPr/>
          </p:nvSpPr>
          <p:spPr>
            <a:xfrm>
              <a:off x="7379208" y="3463698"/>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ounded Rectangle 75"/>
            <p:cNvSpPr>
              <a:spLocks/>
            </p:cNvSpPr>
            <p:nvPr/>
          </p:nvSpPr>
          <p:spPr>
            <a:xfrm>
              <a:off x="7470648" y="3532278"/>
              <a:ext cx="1097280" cy="237744"/>
            </a:xfrm>
            <a:prstGeom prst="roundRect">
              <a:avLst/>
            </a:prstGeom>
            <a:solidFill>
              <a:srgbClr val="EFF8FC"/>
            </a:solidFill>
            <a:ln w="889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a:spLocks/>
            </p:cNvSpPr>
            <p:nvPr/>
          </p:nvSpPr>
          <p:spPr>
            <a:xfrm>
              <a:off x="7498081" y="3589594"/>
              <a:ext cx="1042415" cy="123111"/>
            </a:xfrm>
            <a:prstGeom prst="rect">
              <a:avLst/>
            </a:prstGeom>
            <a:noFill/>
          </p:spPr>
          <p:txBody>
            <a:bodyPr wrap="square" lIns="45720" tIns="9144" rIns="45720" bIns="9144" anchor="ctr">
              <a:spAutoFit/>
            </a:bodyPr>
            <a:lstStyle/>
            <a:p>
              <a:pPr algn="ctr">
                <a:spcAft>
                  <a:spcPts val="0"/>
                </a:spcAft>
              </a:pPr>
              <a:r>
                <a:rPr lang="it-IT" sz="680" b="1" dirty="0">
                  <a:solidFill>
                    <a:srgbClr val="2299D3"/>
                  </a:solidFill>
                </a:rPr>
                <a:t>CONFIGURAZIONE</a:t>
              </a:r>
              <a:endParaRPr lang="it-IT" sz="680" b="1" noProof="0" dirty="0">
                <a:solidFill>
                  <a:srgbClr val="2299D3"/>
                </a:solidFill>
                <a:latin typeface="Poppins"/>
              </a:endParaRPr>
            </a:p>
          </p:txBody>
        </p:sp>
        <p:sp>
          <p:nvSpPr>
            <p:cNvPr id="78" name="TextBox 77"/>
            <p:cNvSpPr txBox="1">
              <a:spLocks/>
            </p:cNvSpPr>
            <p:nvPr/>
          </p:nvSpPr>
          <p:spPr>
            <a:xfrm>
              <a:off x="8677656" y="3513990"/>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Controlli </a:t>
              </a:r>
              <a:r>
                <a:rPr lang="it-IT" sz="815" b="0" noProof="0" dirty="0" err="1">
                  <a:solidFill>
                    <a:srgbClr val="2C3740"/>
                  </a:solidFill>
                  <a:latin typeface="Poppins"/>
                </a:rPr>
                <a:t>Talend</a:t>
              </a:r>
              <a:r>
                <a:rPr lang="it-IT" sz="815" b="0" noProof="0" dirty="0">
                  <a:solidFill>
                    <a:srgbClr val="2C3740"/>
                  </a:solidFill>
                  <a:latin typeface="Poppins"/>
                </a:rPr>
                <a:t> e soglie da impostare</a:t>
              </a:r>
            </a:p>
          </p:txBody>
        </p:sp>
        <p:sp>
          <p:nvSpPr>
            <p:cNvPr id="87" name="Rounded Rectangle 86"/>
            <p:cNvSpPr>
              <a:spLocks/>
            </p:cNvSpPr>
            <p:nvPr/>
          </p:nvSpPr>
          <p:spPr>
            <a:xfrm>
              <a:off x="7379208" y="3893467"/>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ounded Rectangle 87"/>
            <p:cNvSpPr>
              <a:spLocks/>
            </p:cNvSpPr>
            <p:nvPr/>
          </p:nvSpPr>
          <p:spPr>
            <a:xfrm>
              <a:off x="7470648" y="3962047"/>
              <a:ext cx="1097280" cy="237744"/>
            </a:xfrm>
            <a:prstGeom prst="roundRect">
              <a:avLst/>
            </a:prstGeom>
            <a:solidFill>
              <a:srgbClr val="FDF7E9"/>
            </a:solidFill>
            <a:ln w="889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a:spLocks/>
            </p:cNvSpPr>
            <p:nvPr/>
          </p:nvSpPr>
          <p:spPr>
            <a:xfrm>
              <a:off x="7498081" y="4019363"/>
              <a:ext cx="1042415" cy="123111"/>
            </a:xfrm>
            <a:prstGeom prst="rect">
              <a:avLst/>
            </a:prstGeom>
            <a:noFill/>
          </p:spPr>
          <p:txBody>
            <a:bodyPr wrap="square" lIns="45720" tIns="9144" rIns="45720" bIns="9144" anchor="ctr">
              <a:spAutoFit/>
            </a:bodyPr>
            <a:lstStyle/>
            <a:p>
              <a:pPr algn="ctr">
                <a:spcAft>
                  <a:spcPts val="0"/>
                </a:spcAft>
              </a:pPr>
              <a:r>
                <a:rPr lang="it-IT" sz="680" b="1" dirty="0">
                  <a:solidFill>
                    <a:srgbClr val="DCA037"/>
                  </a:solidFill>
                </a:rPr>
                <a:t>ESTENSIONE</a:t>
              </a:r>
              <a:endParaRPr lang="it-IT" sz="680" b="1" dirty="0">
                <a:solidFill>
                  <a:srgbClr val="2299D3"/>
                </a:solidFill>
              </a:endParaRPr>
            </a:p>
          </p:txBody>
        </p:sp>
        <p:sp>
          <p:nvSpPr>
            <p:cNvPr id="90" name="TextBox 89"/>
            <p:cNvSpPr txBox="1">
              <a:spLocks/>
            </p:cNvSpPr>
            <p:nvPr/>
          </p:nvSpPr>
          <p:spPr>
            <a:xfrm>
              <a:off x="8677656" y="3943759"/>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Procedure separate per ciascun progetto</a:t>
              </a:r>
            </a:p>
          </p:txBody>
        </p:sp>
        <p:sp>
          <p:nvSpPr>
            <p:cNvPr id="99" name="Rounded Rectangle 98"/>
            <p:cNvSpPr>
              <a:spLocks/>
            </p:cNvSpPr>
            <p:nvPr/>
          </p:nvSpPr>
          <p:spPr>
            <a:xfrm>
              <a:off x="7379208" y="4323235"/>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ounded Rectangle 99"/>
            <p:cNvSpPr>
              <a:spLocks/>
            </p:cNvSpPr>
            <p:nvPr/>
          </p:nvSpPr>
          <p:spPr>
            <a:xfrm>
              <a:off x="7470648" y="4391815"/>
              <a:ext cx="1097280" cy="237744"/>
            </a:xfrm>
            <a:prstGeom prst="roundRect">
              <a:avLst/>
            </a:prstGeom>
            <a:solidFill>
              <a:srgbClr val="EAF8F0"/>
            </a:solidFill>
            <a:ln w="889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a:spLocks/>
            </p:cNvSpPr>
            <p:nvPr/>
          </p:nvSpPr>
          <p:spPr>
            <a:xfrm>
              <a:off x="7498081" y="4449131"/>
              <a:ext cx="1042415" cy="123111"/>
            </a:xfrm>
            <a:prstGeom prst="rect">
              <a:avLst/>
            </a:prstGeom>
            <a:noFill/>
          </p:spPr>
          <p:txBody>
            <a:bodyPr wrap="square" lIns="45720" tIns="9144" rIns="45720" bIns="9144" anchor="ctr">
              <a:spAutoFit/>
            </a:bodyPr>
            <a:lstStyle/>
            <a:p>
              <a:pPr algn="ctr">
                <a:spcAft>
                  <a:spcPts val="0"/>
                </a:spcAft>
              </a:pPr>
              <a:r>
                <a:rPr lang="it-IT" sz="680" b="1" dirty="0">
                  <a:solidFill>
                    <a:srgbClr val="33AF74"/>
                  </a:solidFill>
                </a:rPr>
                <a:t>DIRETTA</a:t>
              </a:r>
              <a:endParaRPr lang="it-IT" sz="680" b="1" noProof="0" dirty="0">
                <a:solidFill>
                  <a:srgbClr val="33AF74"/>
                </a:solidFill>
                <a:latin typeface="Poppins"/>
              </a:endParaRPr>
            </a:p>
          </p:txBody>
        </p:sp>
        <p:sp>
          <p:nvSpPr>
            <p:cNvPr id="102" name="TextBox 101"/>
            <p:cNvSpPr txBox="1">
              <a:spLocks/>
            </p:cNvSpPr>
            <p:nvPr/>
          </p:nvSpPr>
          <p:spPr>
            <a:xfrm>
              <a:off x="8677656" y="4373527"/>
              <a:ext cx="2514600" cy="274320"/>
            </a:xfrm>
            <a:prstGeom prst="rect">
              <a:avLst/>
            </a:prstGeom>
            <a:noFill/>
          </p:spPr>
          <p:txBody>
            <a:bodyPr wrap="square" lIns="45720" tIns="9144" rIns="45720" bIns="9144" anchor="ctr">
              <a:spAutoFit/>
            </a:bodyPr>
            <a:lstStyle/>
            <a:p>
              <a:pPr algn="l">
                <a:spcAft>
                  <a:spcPts val="0"/>
                </a:spcAft>
              </a:pPr>
              <a:r>
                <a:rPr lang="it-IT" sz="815" b="0" noProof="0" dirty="0" err="1">
                  <a:solidFill>
                    <a:srgbClr val="2C3740"/>
                  </a:solidFill>
                  <a:latin typeface="Poppins"/>
                </a:rPr>
                <a:t>Qlik</a:t>
              </a:r>
              <a:r>
                <a:rPr lang="it-IT" sz="815" b="0" noProof="0" dirty="0">
                  <a:solidFill>
                    <a:srgbClr val="2C3740"/>
                  </a:solidFill>
                  <a:latin typeface="Poppins"/>
                </a:rPr>
                <a:t> Cloud Analytics</a:t>
              </a:r>
            </a:p>
          </p:txBody>
        </p:sp>
        <p:sp>
          <p:nvSpPr>
            <p:cNvPr id="111" name="Rounded Rectangle 110"/>
            <p:cNvSpPr>
              <a:spLocks/>
            </p:cNvSpPr>
            <p:nvPr/>
          </p:nvSpPr>
          <p:spPr>
            <a:xfrm>
              <a:off x="7379208" y="4753003"/>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ounded Rectangle 111"/>
            <p:cNvSpPr>
              <a:spLocks/>
            </p:cNvSpPr>
            <p:nvPr/>
          </p:nvSpPr>
          <p:spPr>
            <a:xfrm>
              <a:off x="7470648" y="4821583"/>
              <a:ext cx="1097280" cy="237744"/>
            </a:xfrm>
            <a:prstGeom prst="roundRect">
              <a:avLst/>
            </a:prstGeom>
            <a:solidFill>
              <a:srgbClr val="EFF8FC"/>
            </a:solidFill>
            <a:ln w="889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a:spLocks/>
            </p:cNvSpPr>
            <p:nvPr/>
          </p:nvSpPr>
          <p:spPr>
            <a:xfrm>
              <a:off x="7498081" y="4878899"/>
              <a:ext cx="1042415" cy="123111"/>
            </a:xfrm>
            <a:prstGeom prst="rect">
              <a:avLst/>
            </a:prstGeom>
            <a:noFill/>
          </p:spPr>
          <p:txBody>
            <a:bodyPr wrap="square" lIns="45720" tIns="9144" rIns="45720" bIns="9144" anchor="ctr">
              <a:spAutoFit/>
            </a:bodyPr>
            <a:lstStyle/>
            <a:p>
              <a:pPr algn="ctr">
                <a:spcAft>
                  <a:spcPts val="0"/>
                </a:spcAft>
              </a:pPr>
              <a:r>
                <a:rPr lang="it-IT" sz="680" b="1" dirty="0">
                  <a:solidFill>
                    <a:srgbClr val="2299D3"/>
                  </a:solidFill>
                </a:rPr>
                <a:t>CONFIGURAZIONE*</a:t>
              </a:r>
            </a:p>
          </p:txBody>
        </p:sp>
        <p:sp>
          <p:nvSpPr>
            <p:cNvPr id="114" name="TextBox 113"/>
            <p:cNvSpPr txBox="1">
              <a:spLocks/>
            </p:cNvSpPr>
            <p:nvPr/>
          </p:nvSpPr>
          <p:spPr>
            <a:xfrm>
              <a:off x="8677656" y="4803295"/>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Dipende dall'edizione e dalle parti personalizzate</a:t>
              </a:r>
            </a:p>
          </p:txBody>
        </p:sp>
        <p:sp>
          <p:nvSpPr>
            <p:cNvPr id="124" name="Rounded Rectangle 123"/>
            <p:cNvSpPr>
              <a:spLocks/>
            </p:cNvSpPr>
            <p:nvPr/>
          </p:nvSpPr>
          <p:spPr>
            <a:xfrm>
              <a:off x="7379208" y="5182771"/>
              <a:ext cx="3913632" cy="523946"/>
            </a:xfrm>
            <a:prstGeom prst="roundRect">
              <a:avLst/>
            </a:prstGeom>
            <a:solidFill>
              <a:srgbClr val="EFFAF8"/>
            </a:solidFill>
            <a:ln w="1016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124"/>
            <p:cNvSpPr txBox="1">
              <a:spLocks/>
            </p:cNvSpPr>
            <p:nvPr/>
          </p:nvSpPr>
          <p:spPr>
            <a:xfrm>
              <a:off x="7524670" y="5268197"/>
              <a:ext cx="3629634" cy="353094"/>
            </a:xfrm>
            <a:prstGeom prst="rect">
              <a:avLst/>
            </a:prstGeom>
            <a:noFill/>
          </p:spPr>
          <p:txBody>
            <a:bodyPr wrap="square" lIns="45720" tIns="9144" rIns="45720" bIns="9144" anchor="ctr">
              <a:spAutoFit/>
            </a:bodyPr>
            <a:lstStyle/>
            <a:p>
              <a:pPr algn="ctr">
                <a:spcAft>
                  <a:spcPts val="0"/>
                </a:spcAft>
              </a:pPr>
              <a:r>
                <a:rPr lang="it-IT" sz="840" b="1" noProof="0" dirty="0">
                  <a:solidFill>
                    <a:srgbClr val="2C3740"/>
                  </a:solidFill>
                  <a:latin typeface="Poppins"/>
                </a:rPr>
                <a:t>Maggiore integrazione e rapidità potenziale; </a:t>
              </a:r>
              <a:br>
                <a:rPr lang="it-IT" sz="840" b="1" noProof="0" dirty="0">
                  <a:solidFill>
                    <a:srgbClr val="2C3740"/>
                  </a:solidFill>
                  <a:latin typeface="Poppins"/>
                </a:rPr>
              </a:br>
              <a:r>
                <a:rPr lang="it-IT" sz="840" b="1" noProof="0" dirty="0">
                  <a:solidFill>
                    <a:srgbClr val="2C3740"/>
                  </a:solidFill>
                  <a:latin typeface="Poppins"/>
                </a:rPr>
                <a:t>maggiore lock-in</a:t>
              </a:r>
            </a:p>
          </p:txBody>
        </p:sp>
        <p:sp>
          <p:nvSpPr>
            <p:cNvPr id="194" name="TextBox 64">
              <a:extLst>
                <a:ext uri="{FF2B5EF4-FFF2-40B4-BE49-F238E27FC236}">
                  <a16:creationId xmlns:a16="http://schemas.microsoft.com/office/drawing/2014/main" id="{49380E01-6F43-4DD2-0DA9-8BBE1C0391BF}"/>
                </a:ext>
              </a:extLst>
            </p:cNvPr>
            <p:cNvSpPr txBox="1">
              <a:spLocks/>
            </p:cNvSpPr>
            <p:nvPr/>
          </p:nvSpPr>
          <p:spPr>
            <a:xfrm>
              <a:off x="9319260" y="5774193"/>
              <a:ext cx="2124457" cy="123111"/>
            </a:xfrm>
            <a:prstGeom prst="rect">
              <a:avLst/>
            </a:prstGeom>
            <a:noFill/>
          </p:spPr>
          <p:txBody>
            <a:bodyPr wrap="square" lIns="45720" tIns="9144" rIns="45720" bIns="9144" anchor="ctr">
              <a:spAutoFit/>
            </a:bodyPr>
            <a:lstStyle/>
            <a:p>
              <a:pPr>
                <a:spcAft>
                  <a:spcPts val="0"/>
                </a:spcAft>
              </a:pPr>
              <a:r>
                <a:rPr lang="it-IT" sz="680" b="1" dirty="0">
                  <a:solidFill>
                    <a:schemeClr val="tx1">
                      <a:lumMod val="65000"/>
                      <a:lumOff val="35000"/>
                    </a:schemeClr>
                  </a:solidFill>
                </a:rPr>
                <a:t>* Da verificare in base alla licenza/versione</a:t>
              </a:r>
              <a:endParaRPr lang="it-IT" sz="680" b="1" noProof="0" dirty="0">
                <a:solidFill>
                  <a:schemeClr val="tx1">
                    <a:lumMod val="65000"/>
                    <a:lumOff val="35000"/>
                  </a:schemeClr>
                </a:solidFill>
                <a:latin typeface="Poppins"/>
              </a:endParaRPr>
            </a:p>
          </p:txBody>
        </p:sp>
      </p:grpSp>
      <p:grpSp>
        <p:nvGrpSpPr>
          <p:cNvPr id="136" name="Gruppo 135">
            <a:extLst>
              <a:ext uri="{FF2B5EF4-FFF2-40B4-BE49-F238E27FC236}">
                <a16:creationId xmlns:a16="http://schemas.microsoft.com/office/drawing/2014/main" id="{0A141B3F-4A2C-1404-0FAB-684D3E99025B}"/>
              </a:ext>
            </a:extLst>
          </p:cNvPr>
          <p:cNvGrpSpPr/>
          <p:nvPr/>
        </p:nvGrpSpPr>
        <p:grpSpPr>
          <a:xfrm>
            <a:off x="1200605" y="1981610"/>
            <a:ext cx="1693593" cy="72000"/>
            <a:chOff x="1222034" y="1595852"/>
            <a:chExt cx="1693593" cy="72000"/>
          </a:xfrm>
        </p:grpSpPr>
        <p:sp>
          <p:nvSpPr>
            <p:cNvPr id="2" name="Rounded Rectangle 199">
              <a:extLst>
                <a:ext uri="{FF2B5EF4-FFF2-40B4-BE49-F238E27FC236}">
                  <a16:creationId xmlns:a16="http://schemas.microsoft.com/office/drawing/2014/main" id="{396F7CD1-ABDD-A867-E2BE-A300D5C6999B}"/>
                </a:ext>
              </a:extLst>
            </p:cNvPr>
            <p:cNvSpPr/>
            <p:nvPr/>
          </p:nvSpPr>
          <p:spPr>
            <a:xfrm>
              <a:off x="1304903"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2299D3"/>
                  </a:solidFill>
                  <a:latin typeface="Poppins SemiBold" panose="00000700000000000000" pitchFamily="2" charset="0"/>
                  <a:cs typeface="Poppins SemiBold" panose="00000700000000000000" pitchFamily="2" charset="0"/>
                </a:rPr>
                <a:t>ProSIGNAL</a:t>
              </a:r>
            </a:p>
          </p:txBody>
        </p:sp>
        <p:sp>
          <p:nvSpPr>
            <p:cNvPr id="115" name="Ovale 114">
              <a:extLst>
                <a:ext uri="{FF2B5EF4-FFF2-40B4-BE49-F238E27FC236}">
                  <a16:creationId xmlns:a16="http://schemas.microsoft.com/office/drawing/2014/main" id="{62D938D1-C8A9-A97A-4D96-1EFC7D6CF658}"/>
                </a:ext>
              </a:extLst>
            </p:cNvPr>
            <p:cNvSpPr/>
            <p:nvPr/>
          </p:nvSpPr>
          <p:spPr>
            <a:xfrm>
              <a:off x="1222034" y="1613852"/>
              <a:ext cx="36000" cy="36000"/>
            </a:xfrm>
            <a:prstGeom prst="ellipse">
              <a:avLst/>
            </a:prstGeom>
            <a:solidFill>
              <a:srgbClr val="2299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ounded Rectangle 200">
              <a:extLst>
                <a:ext uri="{FF2B5EF4-FFF2-40B4-BE49-F238E27FC236}">
                  <a16:creationId xmlns:a16="http://schemas.microsoft.com/office/drawing/2014/main" id="{6B0B333F-A25B-89A7-478E-6957D56A1FCE}"/>
                </a:ext>
              </a:extLst>
            </p:cNvPr>
            <p:cNvSpPr/>
            <p:nvPr/>
          </p:nvSpPr>
          <p:spPr>
            <a:xfrm>
              <a:off x="1919408"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26B1AC"/>
                  </a:solidFill>
                  <a:latin typeface="Poppins SemiBold" panose="00000700000000000000" pitchFamily="2" charset="0"/>
                  <a:cs typeface="Poppins SemiBold" panose="00000700000000000000" pitchFamily="2" charset="0"/>
                </a:rPr>
                <a:t>Kiron CDG</a:t>
              </a:r>
            </a:p>
          </p:txBody>
        </p:sp>
        <p:sp>
          <p:nvSpPr>
            <p:cNvPr id="126" name="Ovale 125">
              <a:extLst>
                <a:ext uri="{FF2B5EF4-FFF2-40B4-BE49-F238E27FC236}">
                  <a16:creationId xmlns:a16="http://schemas.microsoft.com/office/drawing/2014/main" id="{24D4E1AE-3B6A-ACCA-4E2A-F337E44B9B44}"/>
                </a:ext>
              </a:extLst>
            </p:cNvPr>
            <p:cNvSpPr/>
            <p:nvPr/>
          </p:nvSpPr>
          <p:spPr>
            <a:xfrm>
              <a:off x="1834788" y="1613852"/>
              <a:ext cx="36000" cy="36000"/>
            </a:xfrm>
            <a:prstGeom prst="ellipse">
              <a:avLst/>
            </a:prstGeom>
            <a:solidFill>
              <a:srgbClr val="49BE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201">
              <a:extLst>
                <a:ext uri="{FF2B5EF4-FFF2-40B4-BE49-F238E27FC236}">
                  <a16:creationId xmlns:a16="http://schemas.microsoft.com/office/drawing/2014/main" id="{08C63C38-12DE-A4F4-9DCF-CDF4A4570AD6}"/>
                </a:ext>
              </a:extLst>
            </p:cNvPr>
            <p:cNvSpPr/>
            <p:nvPr/>
          </p:nvSpPr>
          <p:spPr>
            <a:xfrm>
              <a:off x="2519627"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33AF74"/>
                  </a:solidFill>
                  <a:latin typeface="Poppins SemiBold" panose="00000700000000000000" pitchFamily="2" charset="0"/>
                  <a:cs typeface="Poppins SemiBold" panose="00000700000000000000" pitchFamily="2" charset="0"/>
                </a:rPr>
                <a:t>CDG </a:t>
              </a:r>
              <a:r>
                <a:rPr lang="it-IT" sz="450" noProof="0" dirty="0">
                  <a:solidFill>
                    <a:srgbClr val="33AF74"/>
                  </a:solidFill>
                  <a:latin typeface="Poppins SemiBold" panose="00000700000000000000" pitchFamily="2" charset="0"/>
                  <a:cs typeface="Poppins SemiBold" panose="00000700000000000000" pitchFamily="2" charset="0"/>
                </a:rPr>
                <a:t>interno</a:t>
              </a:r>
              <a:endParaRPr sz="450" dirty="0">
                <a:solidFill>
                  <a:srgbClr val="33AF74"/>
                </a:solidFill>
                <a:latin typeface="Poppins SemiBold" panose="00000700000000000000" pitchFamily="2" charset="0"/>
                <a:cs typeface="Poppins SemiBold" panose="00000700000000000000" pitchFamily="2" charset="0"/>
              </a:endParaRPr>
            </a:p>
          </p:txBody>
        </p:sp>
        <p:sp>
          <p:nvSpPr>
            <p:cNvPr id="127" name="Ovale 126">
              <a:extLst>
                <a:ext uri="{FF2B5EF4-FFF2-40B4-BE49-F238E27FC236}">
                  <a16:creationId xmlns:a16="http://schemas.microsoft.com/office/drawing/2014/main" id="{1D5D4628-CC85-82DE-C29A-59174FB02544}"/>
                </a:ext>
              </a:extLst>
            </p:cNvPr>
            <p:cNvSpPr/>
            <p:nvPr/>
          </p:nvSpPr>
          <p:spPr>
            <a:xfrm>
              <a:off x="2443502" y="1613852"/>
              <a:ext cx="36000" cy="36000"/>
            </a:xfrm>
            <a:prstGeom prst="ellipse">
              <a:avLst/>
            </a:prstGeom>
            <a:solidFill>
              <a:srgbClr val="33AF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7" name="Gruppo 136">
            <a:extLst>
              <a:ext uri="{FF2B5EF4-FFF2-40B4-BE49-F238E27FC236}">
                <a16:creationId xmlns:a16="http://schemas.microsoft.com/office/drawing/2014/main" id="{C295F41A-6947-59B3-22FB-27CDC91044C4}"/>
              </a:ext>
            </a:extLst>
          </p:cNvPr>
          <p:cNvGrpSpPr/>
          <p:nvPr/>
        </p:nvGrpSpPr>
        <p:grpSpPr>
          <a:xfrm>
            <a:off x="1200605" y="2408331"/>
            <a:ext cx="1693593" cy="72000"/>
            <a:chOff x="1222034" y="1595852"/>
            <a:chExt cx="1693593" cy="72000"/>
          </a:xfrm>
        </p:grpSpPr>
        <p:sp>
          <p:nvSpPr>
            <p:cNvPr id="138" name="Rounded Rectangle 199">
              <a:extLst>
                <a:ext uri="{FF2B5EF4-FFF2-40B4-BE49-F238E27FC236}">
                  <a16:creationId xmlns:a16="http://schemas.microsoft.com/office/drawing/2014/main" id="{4D73168A-D092-C22D-22B7-B19B0293150C}"/>
                </a:ext>
              </a:extLst>
            </p:cNvPr>
            <p:cNvSpPr/>
            <p:nvPr/>
          </p:nvSpPr>
          <p:spPr>
            <a:xfrm>
              <a:off x="1304903"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2299D3"/>
                  </a:solidFill>
                  <a:latin typeface="Poppins SemiBold" panose="00000700000000000000" pitchFamily="2" charset="0"/>
                  <a:cs typeface="Poppins SemiBold" panose="00000700000000000000" pitchFamily="2" charset="0"/>
                </a:rPr>
                <a:t>ProSIGNAL</a:t>
              </a:r>
            </a:p>
          </p:txBody>
        </p:sp>
        <p:sp>
          <p:nvSpPr>
            <p:cNvPr id="139" name="Ovale 138">
              <a:extLst>
                <a:ext uri="{FF2B5EF4-FFF2-40B4-BE49-F238E27FC236}">
                  <a16:creationId xmlns:a16="http://schemas.microsoft.com/office/drawing/2014/main" id="{60A090E2-368D-E1E9-F3E2-E869B7E9A374}"/>
                </a:ext>
              </a:extLst>
            </p:cNvPr>
            <p:cNvSpPr/>
            <p:nvPr/>
          </p:nvSpPr>
          <p:spPr>
            <a:xfrm>
              <a:off x="1222034" y="1613852"/>
              <a:ext cx="36000" cy="36000"/>
            </a:xfrm>
            <a:prstGeom prst="ellipse">
              <a:avLst/>
            </a:prstGeom>
            <a:solidFill>
              <a:srgbClr val="2299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0" name="Rounded Rectangle 200">
              <a:extLst>
                <a:ext uri="{FF2B5EF4-FFF2-40B4-BE49-F238E27FC236}">
                  <a16:creationId xmlns:a16="http://schemas.microsoft.com/office/drawing/2014/main" id="{03DA6A80-B682-3B50-7491-436B7F7549B3}"/>
                </a:ext>
              </a:extLst>
            </p:cNvPr>
            <p:cNvSpPr/>
            <p:nvPr/>
          </p:nvSpPr>
          <p:spPr>
            <a:xfrm>
              <a:off x="1919408"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26B1AC"/>
                  </a:solidFill>
                  <a:latin typeface="Poppins SemiBold" panose="00000700000000000000" pitchFamily="2" charset="0"/>
                  <a:cs typeface="Poppins SemiBold" panose="00000700000000000000" pitchFamily="2" charset="0"/>
                </a:rPr>
                <a:t>Kiron CDG</a:t>
              </a:r>
            </a:p>
          </p:txBody>
        </p:sp>
        <p:sp>
          <p:nvSpPr>
            <p:cNvPr id="141" name="Ovale 140">
              <a:extLst>
                <a:ext uri="{FF2B5EF4-FFF2-40B4-BE49-F238E27FC236}">
                  <a16:creationId xmlns:a16="http://schemas.microsoft.com/office/drawing/2014/main" id="{E6F8D936-61D2-1530-C2DB-46D68B7883EC}"/>
                </a:ext>
              </a:extLst>
            </p:cNvPr>
            <p:cNvSpPr/>
            <p:nvPr/>
          </p:nvSpPr>
          <p:spPr>
            <a:xfrm>
              <a:off x="1834788" y="1613852"/>
              <a:ext cx="36000" cy="36000"/>
            </a:xfrm>
            <a:prstGeom prst="ellipse">
              <a:avLst/>
            </a:prstGeom>
            <a:solidFill>
              <a:srgbClr val="49BE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ounded Rectangle 201">
              <a:extLst>
                <a:ext uri="{FF2B5EF4-FFF2-40B4-BE49-F238E27FC236}">
                  <a16:creationId xmlns:a16="http://schemas.microsoft.com/office/drawing/2014/main" id="{119B22E3-61BC-7164-DE00-1F81E4FF3840}"/>
                </a:ext>
              </a:extLst>
            </p:cNvPr>
            <p:cNvSpPr/>
            <p:nvPr/>
          </p:nvSpPr>
          <p:spPr>
            <a:xfrm>
              <a:off x="2519627"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33AF74"/>
                  </a:solidFill>
                  <a:latin typeface="Poppins SemiBold" panose="00000700000000000000" pitchFamily="2" charset="0"/>
                  <a:cs typeface="Poppins SemiBold" panose="00000700000000000000" pitchFamily="2" charset="0"/>
                </a:rPr>
                <a:t>CDG </a:t>
              </a:r>
              <a:r>
                <a:rPr lang="it-IT" sz="450" noProof="0" dirty="0">
                  <a:solidFill>
                    <a:srgbClr val="33AF74"/>
                  </a:solidFill>
                  <a:latin typeface="Poppins SemiBold" panose="00000700000000000000" pitchFamily="2" charset="0"/>
                  <a:cs typeface="Poppins SemiBold" panose="00000700000000000000" pitchFamily="2" charset="0"/>
                </a:rPr>
                <a:t>interno</a:t>
              </a:r>
              <a:endParaRPr sz="450" dirty="0">
                <a:solidFill>
                  <a:srgbClr val="33AF74"/>
                </a:solidFill>
                <a:latin typeface="Poppins SemiBold" panose="00000700000000000000" pitchFamily="2" charset="0"/>
                <a:cs typeface="Poppins SemiBold" panose="00000700000000000000" pitchFamily="2" charset="0"/>
              </a:endParaRPr>
            </a:p>
          </p:txBody>
        </p:sp>
        <p:sp>
          <p:nvSpPr>
            <p:cNvPr id="143" name="Ovale 142">
              <a:extLst>
                <a:ext uri="{FF2B5EF4-FFF2-40B4-BE49-F238E27FC236}">
                  <a16:creationId xmlns:a16="http://schemas.microsoft.com/office/drawing/2014/main" id="{B5EF58B8-D922-7837-A76F-DC93F833E070}"/>
                </a:ext>
              </a:extLst>
            </p:cNvPr>
            <p:cNvSpPr/>
            <p:nvPr/>
          </p:nvSpPr>
          <p:spPr>
            <a:xfrm>
              <a:off x="2443502" y="1613852"/>
              <a:ext cx="36000" cy="36000"/>
            </a:xfrm>
            <a:prstGeom prst="ellipse">
              <a:avLst/>
            </a:prstGeom>
            <a:solidFill>
              <a:srgbClr val="33AF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4" name="Gruppo 143">
            <a:extLst>
              <a:ext uri="{FF2B5EF4-FFF2-40B4-BE49-F238E27FC236}">
                <a16:creationId xmlns:a16="http://schemas.microsoft.com/office/drawing/2014/main" id="{A890B81F-B063-C01C-F0D1-46479F6FA1D8}"/>
              </a:ext>
            </a:extLst>
          </p:cNvPr>
          <p:cNvGrpSpPr/>
          <p:nvPr/>
        </p:nvGrpSpPr>
        <p:grpSpPr>
          <a:xfrm>
            <a:off x="1200605" y="2836956"/>
            <a:ext cx="1693593" cy="72000"/>
            <a:chOff x="1222034" y="1595852"/>
            <a:chExt cx="1693593" cy="72000"/>
          </a:xfrm>
        </p:grpSpPr>
        <p:sp>
          <p:nvSpPr>
            <p:cNvPr id="145" name="Rounded Rectangle 199">
              <a:extLst>
                <a:ext uri="{FF2B5EF4-FFF2-40B4-BE49-F238E27FC236}">
                  <a16:creationId xmlns:a16="http://schemas.microsoft.com/office/drawing/2014/main" id="{BA391326-01D1-09C7-6D41-5DA3632014E7}"/>
                </a:ext>
              </a:extLst>
            </p:cNvPr>
            <p:cNvSpPr/>
            <p:nvPr/>
          </p:nvSpPr>
          <p:spPr>
            <a:xfrm>
              <a:off x="1304903"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2299D3"/>
                  </a:solidFill>
                  <a:latin typeface="Poppins SemiBold" panose="00000700000000000000" pitchFamily="2" charset="0"/>
                  <a:cs typeface="Poppins SemiBold" panose="00000700000000000000" pitchFamily="2" charset="0"/>
                </a:rPr>
                <a:t>ProSIGNAL</a:t>
              </a:r>
            </a:p>
          </p:txBody>
        </p:sp>
        <p:sp>
          <p:nvSpPr>
            <p:cNvPr id="146" name="Ovale 145">
              <a:extLst>
                <a:ext uri="{FF2B5EF4-FFF2-40B4-BE49-F238E27FC236}">
                  <a16:creationId xmlns:a16="http://schemas.microsoft.com/office/drawing/2014/main" id="{E4581D40-842C-BE96-95AF-B04DACB561C1}"/>
                </a:ext>
              </a:extLst>
            </p:cNvPr>
            <p:cNvSpPr/>
            <p:nvPr/>
          </p:nvSpPr>
          <p:spPr>
            <a:xfrm>
              <a:off x="1222034" y="1613852"/>
              <a:ext cx="36000" cy="36000"/>
            </a:xfrm>
            <a:prstGeom prst="ellipse">
              <a:avLst/>
            </a:prstGeom>
            <a:solidFill>
              <a:srgbClr val="2299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7" name="Rounded Rectangle 200">
              <a:extLst>
                <a:ext uri="{FF2B5EF4-FFF2-40B4-BE49-F238E27FC236}">
                  <a16:creationId xmlns:a16="http://schemas.microsoft.com/office/drawing/2014/main" id="{B3EE8AD5-0169-4466-D326-C651B0FC9AAA}"/>
                </a:ext>
              </a:extLst>
            </p:cNvPr>
            <p:cNvSpPr/>
            <p:nvPr/>
          </p:nvSpPr>
          <p:spPr>
            <a:xfrm>
              <a:off x="1919408"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26B1AC"/>
                  </a:solidFill>
                  <a:latin typeface="Poppins SemiBold" panose="00000700000000000000" pitchFamily="2" charset="0"/>
                  <a:cs typeface="Poppins SemiBold" panose="00000700000000000000" pitchFamily="2" charset="0"/>
                </a:rPr>
                <a:t>Kiron CDG</a:t>
              </a:r>
            </a:p>
          </p:txBody>
        </p:sp>
        <p:sp>
          <p:nvSpPr>
            <p:cNvPr id="148" name="Ovale 147">
              <a:extLst>
                <a:ext uri="{FF2B5EF4-FFF2-40B4-BE49-F238E27FC236}">
                  <a16:creationId xmlns:a16="http://schemas.microsoft.com/office/drawing/2014/main" id="{90B23F1B-B94A-B37E-3C60-79FB4B7A3198}"/>
                </a:ext>
              </a:extLst>
            </p:cNvPr>
            <p:cNvSpPr/>
            <p:nvPr/>
          </p:nvSpPr>
          <p:spPr>
            <a:xfrm>
              <a:off x="1834788" y="1613852"/>
              <a:ext cx="36000" cy="36000"/>
            </a:xfrm>
            <a:prstGeom prst="ellipse">
              <a:avLst/>
            </a:prstGeom>
            <a:solidFill>
              <a:srgbClr val="49BE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ounded Rectangle 201">
              <a:extLst>
                <a:ext uri="{FF2B5EF4-FFF2-40B4-BE49-F238E27FC236}">
                  <a16:creationId xmlns:a16="http://schemas.microsoft.com/office/drawing/2014/main" id="{B92BDBAA-4002-5310-A58A-00CD5FED8FA4}"/>
                </a:ext>
              </a:extLst>
            </p:cNvPr>
            <p:cNvSpPr/>
            <p:nvPr/>
          </p:nvSpPr>
          <p:spPr>
            <a:xfrm>
              <a:off x="2519627"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33AF74"/>
                  </a:solidFill>
                  <a:latin typeface="Poppins SemiBold" panose="00000700000000000000" pitchFamily="2" charset="0"/>
                  <a:cs typeface="Poppins SemiBold" panose="00000700000000000000" pitchFamily="2" charset="0"/>
                </a:rPr>
                <a:t>CDG </a:t>
              </a:r>
              <a:r>
                <a:rPr lang="it-IT" sz="450" noProof="0" dirty="0">
                  <a:solidFill>
                    <a:srgbClr val="33AF74"/>
                  </a:solidFill>
                  <a:latin typeface="Poppins SemiBold" panose="00000700000000000000" pitchFamily="2" charset="0"/>
                  <a:cs typeface="Poppins SemiBold" panose="00000700000000000000" pitchFamily="2" charset="0"/>
                </a:rPr>
                <a:t>interno</a:t>
              </a:r>
              <a:endParaRPr sz="450" dirty="0">
                <a:solidFill>
                  <a:srgbClr val="33AF74"/>
                </a:solidFill>
                <a:latin typeface="Poppins SemiBold" panose="00000700000000000000" pitchFamily="2" charset="0"/>
                <a:cs typeface="Poppins SemiBold" panose="00000700000000000000" pitchFamily="2" charset="0"/>
              </a:endParaRPr>
            </a:p>
          </p:txBody>
        </p:sp>
        <p:sp>
          <p:nvSpPr>
            <p:cNvPr id="150" name="Ovale 149">
              <a:extLst>
                <a:ext uri="{FF2B5EF4-FFF2-40B4-BE49-F238E27FC236}">
                  <a16:creationId xmlns:a16="http://schemas.microsoft.com/office/drawing/2014/main" id="{8292946E-FA9D-CC6B-83AD-2F9AA2DA024E}"/>
                </a:ext>
              </a:extLst>
            </p:cNvPr>
            <p:cNvSpPr/>
            <p:nvPr/>
          </p:nvSpPr>
          <p:spPr>
            <a:xfrm>
              <a:off x="2443502" y="1613852"/>
              <a:ext cx="36000" cy="36000"/>
            </a:xfrm>
            <a:prstGeom prst="ellipse">
              <a:avLst/>
            </a:prstGeom>
            <a:solidFill>
              <a:srgbClr val="33AF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1" name="Gruppo 150">
            <a:extLst>
              <a:ext uri="{FF2B5EF4-FFF2-40B4-BE49-F238E27FC236}">
                <a16:creationId xmlns:a16="http://schemas.microsoft.com/office/drawing/2014/main" id="{89881708-2988-AF65-2906-82DB20737C1F}"/>
              </a:ext>
            </a:extLst>
          </p:cNvPr>
          <p:cNvGrpSpPr/>
          <p:nvPr/>
        </p:nvGrpSpPr>
        <p:grpSpPr>
          <a:xfrm>
            <a:off x="1200605" y="3267962"/>
            <a:ext cx="1693593" cy="72000"/>
            <a:chOff x="1222034" y="1595852"/>
            <a:chExt cx="1693593" cy="72000"/>
          </a:xfrm>
        </p:grpSpPr>
        <p:sp>
          <p:nvSpPr>
            <p:cNvPr id="152" name="Rounded Rectangle 199">
              <a:extLst>
                <a:ext uri="{FF2B5EF4-FFF2-40B4-BE49-F238E27FC236}">
                  <a16:creationId xmlns:a16="http://schemas.microsoft.com/office/drawing/2014/main" id="{E6329E87-DC68-2FE6-B86F-2CAF87497A67}"/>
                </a:ext>
              </a:extLst>
            </p:cNvPr>
            <p:cNvSpPr/>
            <p:nvPr/>
          </p:nvSpPr>
          <p:spPr>
            <a:xfrm>
              <a:off x="1304903"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2299D3"/>
                  </a:solidFill>
                  <a:latin typeface="Poppins SemiBold" panose="00000700000000000000" pitchFamily="2" charset="0"/>
                  <a:cs typeface="Poppins SemiBold" panose="00000700000000000000" pitchFamily="2" charset="0"/>
                </a:rPr>
                <a:t>ProSIGNAL</a:t>
              </a:r>
            </a:p>
          </p:txBody>
        </p:sp>
        <p:sp>
          <p:nvSpPr>
            <p:cNvPr id="153" name="Ovale 152">
              <a:extLst>
                <a:ext uri="{FF2B5EF4-FFF2-40B4-BE49-F238E27FC236}">
                  <a16:creationId xmlns:a16="http://schemas.microsoft.com/office/drawing/2014/main" id="{D2D4AEA7-86A7-F8F0-666D-737146419BB1}"/>
                </a:ext>
              </a:extLst>
            </p:cNvPr>
            <p:cNvSpPr/>
            <p:nvPr/>
          </p:nvSpPr>
          <p:spPr>
            <a:xfrm>
              <a:off x="1222034" y="1613852"/>
              <a:ext cx="36000" cy="36000"/>
            </a:xfrm>
            <a:prstGeom prst="ellipse">
              <a:avLst/>
            </a:prstGeom>
            <a:solidFill>
              <a:srgbClr val="2299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4" name="Rounded Rectangle 200">
              <a:extLst>
                <a:ext uri="{FF2B5EF4-FFF2-40B4-BE49-F238E27FC236}">
                  <a16:creationId xmlns:a16="http://schemas.microsoft.com/office/drawing/2014/main" id="{CE1F3937-0A22-8BD6-C545-EA87C9C558C2}"/>
                </a:ext>
              </a:extLst>
            </p:cNvPr>
            <p:cNvSpPr/>
            <p:nvPr/>
          </p:nvSpPr>
          <p:spPr>
            <a:xfrm>
              <a:off x="1919408"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26B1AC"/>
                  </a:solidFill>
                  <a:latin typeface="Poppins SemiBold" panose="00000700000000000000" pitchFamily="2" charset="0"/>
                  <a:cs typeface="Poppins SemiBold" panose="00000700000000000000" pitchFamily="2" charset="0"/>
                </a:rPr>
                <a:t>Kiron CDG</a:t>
              </a:r>
            </a:p>
          </p:txBody>
        </p:sp>
        <p:sp>
          <p:nvSpPr>
            <p:cNvPr id="155" name="Ovale 154">
              <a:extLst>
                <a:ext uri="{FF2B5EF4-FFF2-40B4-BE49-F238E27FC236}">
                  <a16:creationId xmlns:a16="http://schemas.microsoft.com/office/drawing/2014/main" id="{32D4E511-F198-63AE-96D1-39121D5BD215}"/>
                </a:ext>
              </a:extLst>
            </p:cNvPr>
            <p:cNvSpPr/>
            <p:nvPr/>
          </p:nvSpPr>
          <p:spPr>
            <a:xfrm>
              <a:off x="1834788" y="1613852"/>
              <a:ext cx="36000" cy="36000"/>
            </a:xfrm>
            <a:prstGeom prst="ellipse">
              <a:avLst/>
            </a:prstGeom>
            <a:solidFill>
              <a:srgbClr val="49BE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ounded Rectangle 201">
              <a:extLst>
                <a:ext uri="{FF2B5EF4-FFF2-40B4-BE49-F238E27FC236}">
                  <a16:creationId xmlns:a16="http://schemas.microsoft.com/office/drawing/2014/main" id="{8FEFA496-04B0-DE21-6808-7027A3C15573}"/>
                </a:ext>
              </a:extLst>
            </p:cNvPr>
            <p:cNvSpPr/>
            <p:nvPr/>
          </p:nvSpPr>
          <p:spPr>
            <a:xfrm>
              <a:off x="2519627"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33AF74"/>
                  </a:solidFill>
                  <a:latin typeface="Poppins SemiBold" panose="00000700000000000000" pitchFamily="2" charset="0"/>
                  <a:cs typeface="Poppins SemiBold" panose="00000700000000000000" pitchFamily="2" charset="0"/>
                </a:rPr>
                <a:t>CDG </a:t>
              </a:r>
              <a:r>
                <a:rPr lang="it-IT" sz="450" noProof="0" dirty="0">
                  <a:solidFill>
                    <a:srgbClr val="33AF74"/>
                  </a:solidFill>
                  <a:latin typeface="Poppins SemiBold" panose="00000700000000000000" pitchFamily="2" charset="0"/>
                  <a:cs typeface="Poppins SemiBold" panose="00000700000000000000" pitchFamily="2" charset="0"/>
                </a:rPr>
                <a:t>interno</a:t>
              </a:r>
              <a:endParaRPr sz="450" dirty="0">
                <a:solidFill>
                  <a:srgbClr val="33AF74"/>
                </a:solidFill>
                <a:latin typeface="Poppins SemiBold" panose="00000700000000000000" pitchFamily="2" charset="0"/>
                <a:cs typeface="Poppins SemiBold" panose="00000700000000000000" pitchFamily="2" charset="0"/>
              </a:endParaRPr>
            </a:p>
          </p:txBody>
        </p:sp>
        <p:sp>
          <p:nvSpPr>
            <p:cNvPr id="157" name="Ovale 156">
              <a:extLst>
                <a:ext uri="{FF2B5EF4-FFF2-40B4-BE49-F238E27FC236}">
                  <a16:creationId xmlns:a16="http://schemas.microsoft.com/office/drawing/2014/main" id="{24885CF6-C031-D282-44EA-7A907627C9CD}"/>
                </a:ext>
              </a:extLst>
            </p:cNvPr>
            <p:cNvSpPr/>
            <p:nvPr/>
          </p:nvSpPr>
          <p:spPr>
            <a:xfrm>
              <a:off x="2443502" y="1613852"/>
              <a:ext cx="36000" cy="36000"/>
            </a:xfrm>
            <a:prstGeom prst="ellipse">
              <a:avLst/>
            </a:prstGeom>
            <a:solidFill>
              <a:srgbClr val="33AF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8" name="Gruppo 157">
            <a:extLst>
              <a:ext uri="{FF2B5EF4-FFF2-40B4-BE49-F238E27FC236}">
                <a16:creationId xmlns:a16="http://schemas.microsoft.com/office/drawing/2014/main" id="{C7A39A4B-D554-B680-8F08-0DB0A7BD6A74}"/>
              </a:ext>
            </a:extLst>
          </p:cNvPr>
          <p:cNvGrpSpPr/>
          <p:nvPr/>
        </p:nvGrpSpPr>
        <p:grpSpPr>
          <a:xfrm>
            <a:off x="1200605" y="3696587"/>
            <a:ext cx="1693593" cy="72000"/>
            <a:chOff x="1222034" y="1595852"/>
            <a:chExt cx="1693593" cy="72000"/>
          </a:xfrm>
        </p:grpSpPr>
        <p:sp>
          <p:nvSpPr>
            <p:cNvPr id="159" name="Rounded Rectangle 199">
              <a:extLst>
                <a:ext uri="{FF2B5EF4-FFF2-40B4-BE49-F238E27FC236}">
                  <a16:creationId xmlns:a16="http://schemas.microsoft.com/office/drawing/2014/main" id="{0CB34FEF-389C-E749-E8EB-35A92362103B}"/>
                </a:ext>
              </a:extLst>
            </p:cNvPr>
            <p:cNvSpPr/>
            <p:nvPr/>
          </p:nvSpPr>
          <p:spPr>
            <a:xfrm>
              <a:off x="1304903"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2299D3"/>
                  </a:solidFill>
                  <a:latin typeface="Poppins SemiBold" panose="00000700000000000000" pitchFamily="2" charset="0"/>
                  <a:cs typeface="Poppins SemiBold" panose="00000700000000000000" pitchFamily="2" charset="0"/>
                </a:rPr>
                <a:t>ProSIGNAL</a:t>
              </a:r>
            </a:p>
          </p:txBody>
        </p:sp>
        <p:sp>
          <p:nvSpPr>
            <p:cNvPr id="160" name="Ovale 159">
              <a:extLst>
                <a:ext uri="{FF2B5EF4-FFF2-40B4-BE49-F238E27FC236}">
                  <a16:creationId xmlns:a16="http://schemas.microsoft.com/office/drawing/2014/main" id="{93384D08-B473-D46A-7165-67D1D59CB0EB}"/>
                </a:ext>
              </a:extLst>
            </p:cNvPr>
            <p:cNvSpPr/>
            <p:nvPr/>
          </p:nvSpPr>
          <p:spPr>
            <a:xfrm>
              <a:off x="1222034" y="1613852"/>
              <a:ext cx="36000" cy="36000"/>
            </a:xfrm>
            <a:prstGeom prst="ellipse">
              <a:avLst/>
            </a:prstGeom>
            <a:solidFill>
              <a:srgbClr val="2299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1" name="Rounded Rectangle 200">
              <a:extLst>
                <a:ext uri="{FF2B5EF4-FFF2-40B4-BE49-F238E27FC236}">
                  <a16:creationId xmlns:a16="http://schemas.microsoft.com/office/drawing/2014/main" id="{EF6552D6-E6D4-A15B-FB82-CE3AD4052A5B}"/>
                </a:ext>
              </a:extLst>
            </p:cNvPr>
            <p:cNvSpPr/>
            <p:nvPr/>
          </p:nvSpPr>
          <p:spPr>
            <a:xfrm>
              <a:off x="1919408"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26B1AC"/>
                  </a:solidFill>
                  <a:latin typeface="Poppins SemiBold" panose="00000700000000000000" pitchFamily="2" charset="0"/>
                  <a:cs typeface="Poppins SemiBold" panose="00000700000000000000" pitchFamily="2" charset="0"/>
                </a:rPr>
                <a:t>Kiron CDG</a:t>
              </a:r>
            </a:p>
          </p:txBody>
        </p:sp>
        <p:sp>
          <p:nvSpPr>
            <p:cNvPr id="162" name="Ovale 161">
              <a:extLst>
                <a:ext uri="{FF2B5EF4-FFF2-40B4-BE49-F238E27FC236}">
                  <a16:creationId xmlns:a16="http://schemas.microsoft.com/office/drawing/2014/main" id="{B31385CE-8318-A11C-20AF-A2ECE7F30A4C}"/>
                </a:ext>
              </a:extLst>
            </p:cNvPr>
            <p:cNvSpPr/>
            <p:nvPr/>
          </p:nvSpPr>
          <p:spPr>
            <a:xfrm>
              <a:off x="1834788" y="1613852"/>
              <a:ext cx="36000" cy="36000"/>
            </a:xfrm>
            <a:prstGeom prst="ellipse">
              <a:avLst/>
            </a:prstGeom>
            <a:solidFill>
              <a:srgbClr val="49BE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ounded Rectangle 201">
              <a:extLst>
                <a:ext uri="{FF2B5EF4-FFF2-40B4-BE49-F238E27FC236}">
                  <a16:creationId xmlns:a16="http://schemas.microsoft.com/office/drawing/2014/main" id="{5CB485A1-7ADF-33FF-0115-7C2917D2D97D}"/>
                </a:ext>
              </a:extLst>
            </p:cNvPr>
            <p:cNvSpPr/>
            <p:nvPr/>
          </p:nvSpPr>
          <p:spPr>
            <a:xfrm>
              <a:off x="2519627"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33AF74"/>
                  </a:solidFill>
                  <a:latin typeface="Poppins SemiBold" panose="00000700000000000000" pitchFamily="2" charset="0"/>
                  <a:cs typeface="Poppins SemiBold" panose="00000700000000000000" pitchFamily="2" charset="0"/>
                </a:rPr>
                <a:t>CDG </a:t>
              </a:r>
              <a:r>
                <a:rPr lang="it-IT" sz="450" noProof="0" dirty="0">
                  <a:solidFill>
                    <a:srgbClr val="33AF74"/>
                  </a:solidFill>
                  <a:latin typeface="Poppins SemiBold" panose="00000700000000000000" pitchFamily="2" charset="0"/>
                  <a:cs typeface="Poppins SemiBold" panose="00000700000000000000" pitchFamily="2" charset="0"/>
                </a:rPr>
                <a:t>interno</a:t>
              </a:r>
              <a:endParaRPr sz="450" dirty="0">
                <a:solidFill>
                  <a:srgbClr val="33AF74"/>
                </a:solidFill>
                <a:latin typeface="Poppins SemiBold" panose="00000700000000000000" pitchFamily="2" charset="0"/>
                <a:cs typeface="Poppins SemiBold" panose="00000700000000000000" pitchFamily="2" charset="0"/>
              </a:endParaRPr>
            </a:p>
          </p:txBody>
        </p:sp>
        <p:sp>
          <p:nvSpPr>
            <p:cNvPr id="164" name="Ovale 163">
              <a:extLst>
                <a:ext uri="{FF2B5EF4-FFF2-40B4-BE49-F238E27FC236}">
                  <a16:creationId xmlns:a16="http://schemas.microsoft.com/office/drawing/2014/main" id="{69477218-20B7-A1C7-212F-D5EE3F4939C1}"/>
                </a:ext>
              </a:extLst>
            </p:cNvPr>
            <p:cNvSpPr/>
            <p:nvPr/>
          </p:nvSpPr>
          <p:spPr>
            <a:xfrm>
              <a:off x="2443502" y="1613852"/>
              <a:ext cx="36000" cy="36000"/>
            </a:xfrm>
            <a:prstGeom prst="ellipse">
              <a:avLst/>
            </a:prstGeom>
            <a:solidFill>
              <a:srgbClr val="33AF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5" name="Gruppo 164">
            <a:extLst>
              <a:ext uri="{FF2B5EF4-FFF2-40B4-BE49-F238E27FC236}">
                <a16:creationId xmlns:a16="http://schemas.microsoft.com/office/drawing/2014/main" id="{C1D9274D-17D8-62B8-242B-E57754EFA94C}"/>
              </a:ext>
            </a:extLst>
          </p:cNvPr>
          <p:cNvGrpSpPr/>
          <p:nvPr/>
        </p:nvGrpSpPr>
        <p:grpSpPr>
          <a:xfrm>
            <a:off x="1200605" y="4127594"/>
            <a:ext cx="1693593" cy="72000"/>
            <a:chOff x="1222034" y="1595852"/>
            <a:chExt cx="1693593" cy="72000"/>
          </a:xfrm>
        </p:grpSpPr>
        <p:sp>
          <p:nvSpPr>
            <p:cNvPr id="166" name="Rounded Rectangle 199">
              <a:extLst>
                <a:ext uri="{FF2B5EF4-FFF2-40B4-BE49-F238E27FC236}">
                  <a16:creationId xmlns:a16="http://schemas.microsoft.com/office/drawing/2014/main" id="{3CB9F102-785E-79A7-6868-80AE4043D94B}"/>
                </a:ext>
              </a:extLst>
            </p:cNvPr>
            <p:cNvSpPr/>
            <p:nvPr/>
          </p:nvSpPr>
          <p:spPr>
            <a:xfrm>
              <a:off x="1304903"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2299D3"/>
                  </a:solidFill>
                  <a:latin typeface="Poppins SemiBold" panose="00000700000000000000" pitchFamily="2" charset="0"/>
                  <a:cs typeface="Poppins SemiBold" panose="00000700000000000000" pitchFamily="2" charset="0"/>
                </a:rPr>
                <a:t>ProSIGNAL</a:t>
              </a:r>
            </a:p>
          </p:txBody>
        </p:sp>
        <p:sp>
          <p:nvSpPr>
            <p:cNvPr id="167" name="Ovale 166">
              <a:extLst>
                <a:ext uri="{FF2B5EF4-FFF2-40B4-BE49-F238E27FC236}">
                  <a16:creationId xmlns:a16="http://schemas.microsoft.com/office/drawing/2014/main" id="{23DEDDD9-CFE5-A507-1671-9042BA36E771}"/>
                </a:ext>
              </a:extLst>
            </p:cNvPr>
            <p:cNvSpPr/>
            <p:nvPr/>
          </p:nvSpPr>
          <p:spPr>
            <a:xfrm>
              <a:off x="1222034" y="1613852"/>
              <a:ext cx="36000" cy="36000"/>
            </a:xfrm>
            <a:prstGeom prst="ellipse">
              <a:avLst/>
            </a:prstGeom>
            <a:solidFill>
              <a:srgbClr val="2299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8" name="Rounded Rectangle 200">
              <a:extLst>
                <a:ext uri="{FF2B5EF4-FFF2-40B4-BE49-F238E27FC236}">
                  <a16:creationId xmlns:a16="http://schemas.microsoft.com/office/drawing/2014/main" id="{8B5E6914-E4AE-1D71-B490-1E4DDF7E3817}"/>
                </a:ext>
              </a:extLst>
            </p:cNvPr>
            <p:cNvSpPr/>
            <p:nvPr/>
          </p:nvSpPr>
          <p:spPr>
            <a:xfrm>
              <a:off x="1919408"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26B1AC"/>
                  </a:solidFill>
                  <a:latin typeface="Poppins SemiBold" panose="00000700000000000000" pitchFamily="2" charset="0"/>
                  <a:cs typeface="Poppins SemiBold" panose="00000700000000000000" pitchFamily="2" charset="0"/>
                </a:rPr>
                <a:t>Kiron CDG</a:t>
              </a:r>
            </a:p>
          </p:txBody>
        </p:sp>
        <p:sp>
          <p:nvSpPr>
            <p:cNvPr id="169" name="Ovale 168">
              <a:extLst>
                <a:ext uri="{FF2B5EF4-FFF2-40B4-BE49-F238E27FC236}">
                  <a16:creationId xmlns:a16="http://schemas.microsoft.com/office/drawing/2014/main" id="{B5B15167-9A01-1B5F-D622-E860EA072747}"/>
                </a:ext>
              </a:extLst>
            </p:cNvPr>
            <p:cNvSpPr/>
            <p:nvPr/>
          </p:nvSpPr>
          <p:spPr>
            <a:xfrm>
              <a:off x="1834788" y="1613852"/>
              <a:ext cx="36000" cy="36000"/>
            </a:xfrm>
            <a:prstGeom prst="ellipse">
              <a:avLst/>
            </a:prstGeom>
            <a:solidFill>
              <a:srgbClr val="49BE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ounded Rectangle 201">
              <a:extLst>
                <a:ext uri="{FF2B5EF4-FFF2-40B4-BE49-F238E27FC236}">
                  <a16:creationId xmlns:a16="http://schemas.microsoft.com/office/drawing/2014/main" id="{C80BB884-FFE8-80F8-2415-BE3E97B7A40A}"/>
                </a:ext>
              </a:extLst>
            </p:cNvPr>
            <p:cNvSpPr/>
            <p:nvPr/>
          </p:nvSpPr>
          <p:spPr>
            <a:xfrm>
              <a:off x="2519627"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endParaRPr sz="450" dirty="0">
                <a:solidFill>
                  <a:srgbClr val="33AF74"/>
                </a:solidFill>
                <a:latin typeface="Poppins SemiBold" panose="00000700000000000000" pitchFamily="2" charset="0"/>
                <a:cs typeface="Poppins SemiBold" panose="00000700000000000000" pitchFamily="2" charset="0"/>
              </a:endParaRPr>
            </a:p>
          </p:txBody>
        </p:sp>
      </p:grpSp>
      <p:grpSp>
        <p:nvGrpSpPr>
          <p:cNvPr id="172" name="Gruppo 171">
            <a:extLst>
              <a:ext uri="{FF2B5EF4-FFF2-40B4-BE49-F238E27FC236}">
                <a16:creationId xmlns:a16="http://schemas.microsoft.com/office/drawing/2014/main" id="{FC1BE762-4EC9-D5F3-7A36-BD16E9776FFD}"/>
              </a:ext>
            </a:extLst>
          </p:cNvPr>
          <p:cNvGrpSpPr/>
          <p:nvPr/>
        </p:nvGrpSpPr>
        <p:grpSpPr>
          <a:xfrm>
            <a:off x="1200605" y="4558600"/>
            <a:ext cx="1693593" cy="72000"/>
            <a:chOff x="1222034" y="1595852"/>
            <a:chExt cx="1693593" cy="72000"/>
          </a:xfrm>
        </p:grpSpPr>
        <p:sp>
          <p:nvSpPr>
            <p:cNvPr id="173" name="Rounded Rectangle 199">
              <a:extLst>
                <a:ext uri="{FF2B5EF4-FFF2-40B4-BE49-F238E27FC236}">
                  <a16:creationId xmlns:a16="http://schemas.microsoft.com/office/drawing/2014/main" id="{2C5FA4FB-4CD7-D92F-06B7-46B9CD7E6144}"/>
                </a:ext>
              </a:extLst>
            </p:cNvPr>
            <p:cNvSpPr/>
            <p:nvPr/>
          </p:nvSpPr>
          <p:spPr>
            <a:xfrm>
              <a:off x="1304903"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2299D3"/>
                  </a:solidFill>
                  <a:latin typeface="Poppins SemiBold" panose="00000700000000000000" pitchFamily="2" charset="0"/>
                  <a:cs typeface="Poppins SemiBold" panose="00000700000000000000" pitchFamily="2" charset="0"/>
                </a:rPr>
                <a:t>ProSIGNAL</a:t>
              </a:r>
            </a:p>
          </p:txBody>
        </p:sp>
        <p:sp>
          <p:nvSpPr>
            <p:cNvPr id="174" name="Ovale 173">
              <a:extLst>
                <a:ext uri="{FF2B5EF4-FFF2-40B4-BE49-F238E27FC236}">
                  <a16:creationId xmlns:a16="http://schemas.microsoft.com/office/drawing/2014/main" id="{C583BC29-1539-4548-57E5-F1B283E7ED26}"/>
                </a:ext>
              </a:extLst>
            </p:cNvPr>
            <p:cNvSpPr/>
            <p:nvPr/>
          </p:nvSpPr>
          <p:spPr>
            <a:xfrm>
              <a:off x="1222034" y="1613852"/>
              <a:ext cx="36000" cy="36000"/>
            </a:xfrm>
            <a:prstGeom prst="ellipse">
              <a:avLst/>
            </a:prstGeom>
            <a:solidFill>
              <a:srgbClr val="2299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Rounded Rectangle 200">
              <a:extLst>
                <a:ext uri="{FF2B5EF4-FFF2-40B4-BE49-F238E27FC236}">
                  <a16:creationId xmlns:a16="http://schemas.microsoft.com/office/drawing/2014/main" id="{7001982F-93A7-E2C7-0776-5ED475AB2416}"/>
                </a:ext>
              </a:extLst>
            </p:cNvPr>
            <p:cNvSpPr/>
            <p:nvPr/>
          </p:nvSpPr>
          <p:spPr>
            <a:xfrm>
              <a:off x="1919408"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26B1AC"/>
                  </a:solidFill>
                  <a:latin typeface="Poppins SemiBold" panose="00000700000000000000" pitchFamily="2" charset="0"/>
                  <a:cs typeface="Poppins SemiBold" panose="00000700000000000000" pitchFamily="2" charset="0"/>
                </a:rPr>
                <a:t>Kiron CDG</a:t>
              </a:r>
            </a:p>
          </p:txBody>
        </p:sp>
        <p:sp>
          <p:nvSpPr>
            <p:cNvPr id="176" name="Ovale 175">
              <a:extLst>
                <a:ext uri="{FF2B5EF4-FFF2-40B4-BE49-F238E27FC236}">
                  <a16:creationId xmlns:a16="http://schemas.microsoft.com/office/drawing/2014/main" id="{31FC2734-4096-3651-C79A-0E9F4B38CB08}"/>
                </a:ext>
              </a:extLst>
            </p:cNvPr>
            <p:cNvSpPr/>
            <p:nvPr/>
          </p:nvSpPr>
          <p:spPr>
            <a:xfrm>
              <a:off x="1834788" y="1613852"/>
              <a:ext cx="36000" cy="36000"/>
            </a:xfrm>
            <a:prstGeom prst="ellipse">
              <a:avLst/>
            </a:prstGeom>
            <a:solidFill>
              <a:srgbClr val="49BE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ounded Rectangle 201">
              <a:extLst>
                <a:ext uri="{FF2B5EF4-FFF2-40B4-BE49-F238E27FC236}">
                  <a16:creationId xmlns:a16="http://schemas.microsoft.com/office/drawing/2014/main" id="{41C28159-6269-6C32-8F9B-88AFF03099D8}"/>
                </a:ext>
              </a:extLst>
            </p:cNvPr>
            <p:cNvSpPr/>
            <p:nvPr/>
          </p:nvSpPr>
          <p:spPr>
            <a:xfrm>
              <a:off x="2519627"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endParaRPr sz="450" dirty="0">
                <a:solidFill>
                  <a:srgbClr val="33AF74"/>
                </a:solidFill>
                <a:latin typeface="Poppins SemiBold" panose="00000700000000000000" pitchFamily="2" charset="0"/>
                <a:cs typeface="Poppins SemiBold" panose="00000700000000000000" pitchFamily="2" charset="0"/>
              </a:endParaRPr>
            </a:p>
          </p:txBody>
        </p:sp>
      </p:grpSp>
      <p:grpSp>
        <p:nvGrpSpPr>
          <p:cNvPr id="178" name="Gruppo 177">
            <a:extLst>
              <a:ext uri="{FF2B5EF4-FFF2-40B4-BE49-F238E27FC236}">
                <a16:creationId xmlns:a16="http://schemas.microsoft.com/office/drawing/2014/main" id="{D798AF69-E0BD-8AE8-3805-8AFB846342BB}"/>
              </a:ext>
            </a:extLst>
          </p:cNvPr>
          <p:cNvGrpSpPr/>
          <p:nvPr/>
        </p:nvGrpSpPr>
        <p:grpSpPr>
          <a:xfrm>
            <a:off x="1283474" y="4989605"/>
            <a:ext cx="1610724" cy="72000"/>
            <a:chOff x="1304903" y="1595852"/>
            <a:chExt cx="1610724" cy="72000"/>
          </a:xfrm>
        </p:grpSpPr>
        <p:sp>
          <p:nvSpPr>
            <p:cNvPr id="179" name="Rounded Rectangle 199">
              <a:extLst>
                <a:ext uri="{FF2B5EF4-FFF2-40B4-BE49-F238E27FC236}">
                  <a16:creationId xmlns:a16="http://schemas.microsoft.com/office/drawing/2014/main" id="{C62A8BB1-86D2-AC27-3673-7D01F6F1C8D9}"/>
                </a:ext>
              </a:extLst>
            </p:cNvPr>
            <p:cNvSpPr/>
            <p:nvPr/>
          </p:nvSpPr>
          <p:spPr>
            <a:xfrm>
              <a:off x="1304903"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endParaRPr sz="450" dirty="0">
                <a:solidFill>
                  <a:srgbClr val="2299D3"/>
                </a:solidFill>
                <a:latin typeface="Poppins SemiBold" panose="00000700000000000000" pitchFamily="2" charset="0"/>
                <a:cs typeface="Poppins SemiBold" panose="00000700000000000000" pitchFamily="2" charset="0"/>
              </a:endParaRPr>
            </a:p>
          </p:txBody>
        </p:sp>
        <p:sp>
          <p:nvSpPr>
            <p:cNvPr id="183" name="Rounded Rectangle 200">
              <a:extLst>
                <a:ext uri="{FF2B5EF4-FFF2-40B4-BE49-F238E27FC236}">
                  <a16:creationId xmlns:a16="http://schemas.microsoft.com/office/drawing/2014/main" id="{27F7B4E3-6312-1569-6C00-21E45ABC7434}"/>
                </a:ext>
              </a:extLst>
            </p:cNvPr>
            <p:cNvSpPr/>
            <p:nvPr/>
          </p:nvSpPr>
          <p:spPr>
            <a:xfrm>
              <a:off x="1919408"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26B1AC"/>
                  </a:solidFill>
                  <a:latin typeface="Poppins SemiBold" panose="00000700000000000000" pitchFamily="2" charset="0"/>
                  <a:cs typeface="Poppins SemiBold" panose="00000700000000000000" pitchFamily="2" charset="0"/>
                </a:rPr>
                <a:t>Kiron CDG</a:t>
              </a:r>
            </a:p>
          </p:txBody>
        </p:sp>
        <p:sp>
          <p:nvSpPr>
            <p:cNvPr id="184" name="Ovale 183">
              <a:extLst>
                <a:ext uri="{FF2B5EF4-FFF2-40B4-BE49-F238E27FC236}">
                  <a16:creationId xmlns:a16="http://schemas.microsoft.com/office/drawing/2014/main" id="{4BA9AF5A-AFB2-8784-5AF4-8D2D0409537A}"/>
                </a:ext>
              </a:extLst>
            </p:cNvPr>
            <p:cNvSpPr/>
            <p:nvPr/>
          </p:nvSpPr>
          <p:spPr>
            <a:xfrm>
              <a:off x="1834788" y="1613852"/>
              <a:ext cx="36000" cy="36000"/>
            </a:xfrm>
            <a:prstGeom prst="ellipse">
              <a:avLst/>
            </a:prstGeom>
            <a:solidFill>
              <a:srgbClr val="49BE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ounded Rectangle 201">
              <a:extLst>
                <a:ext uri="{FF2B5EF4-FFF2-40B4-BE49-F238E27FC236}">
                  <a16:creationId xmlns:a16="http://schemas.microsoft.com/office/drawing/2014/main" id="{4B475456-28A6-B7CF-4627-173BE265BFE4}"/>
                </a:ext>
              </a:extLst>
            </p:cNvPr>
            <p:cNvSpPr/>
            <p:nvPr/>
          </p:nvSpPr>
          <p:spPr>
            <a:xfrm>
              <a:off x="2519627"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33AF74"/>
                  </a:solidFill>
                  <a:latin typeface="Poppins SemiBold" panose="00000700000000000000" pitchFamily="2" charset="0"/>
                  <a:cs typeface="Poppins SemiBold" panose="00000700000000000000" pitchFamily="2" charset="0"/>
                </a:rPr>
                <a:t>CDG </a:t>
              </a:r>
              <a:r>
                <a:rPr lang="it-IT" sz="450" noProof="0" dirty="0">
                  <a:solidFill>
                    <a:srgbClr val="33AF74"/>
                  </a:solidFill>
                  <a:latin typeface="Poppins SemiBold" panose="00000700000000000000" pitchFamily="2" charset="0"/>
                  <a:cs typeface="Poppins SemiBold" panose="00000700000000000000" pitchFamily="2" charset="0"/>
                </a:rPr>
                <a:t>interno</a:t>
              </a:r>
              <a:endParaRPr sz="450" dirty="0">
                <a:solidFill>
                  <a:srgbClr val="33AF74"/>
                </a:solidFill>
                <a:latin typeface="Poppins SemiBold" panose="00000700000000000000" pitchFamily="2" charset="0"/>
                <a:cs typeface="Poppins SemiBold" panose="00000700000000000000" pitchFamily="2" charset="0"/>
              </a:endParaRPr>
            </a:p>
          </p:txBody>
        </p:sp>
        <p:sp>
          <p:nvSpPr>
            <p:cNvPr id="188" name="Ovale 187">
              <a:extLst>
                <a:ext uri="{FF2B5EF4-FFF2-40B4-BE49-F238E27FC236}">
                  <a16:creationId xmlns:a16="http://schemas.microsoft.com/office/drawing/2014/main" id="{6DC51869-3AA8-5F9A-448A-2452B2841CA7}"/>
                </a:ext>
              </a:extLst>
            </p:cNvPr>
            <p:cNvSpPr/>
            <p:nvPr/>
          </p:nvSpPr>
          <p:spPr>
            <a:xfrm>
              <a:off x="2443502" y="1613852"/>
              <a:ext cx="36000" cy="36000"/>
            </a:xfrm>
            <a:prstGeom prst="ellipse">
              <a:avLst/>
            </a:prstGeom>
            <a:solidFill>
              <a:srgbClr val="33AF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C120D-7C30-0F9D-0B81-E37B7BF84E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576C10B-8A15-53B5-F075-9F5C31C89D60}"/>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ea typeface="+mn-ea"/>
                <a:cs typeface="+mn-cs"/>
              </a:rPr>
              <a:t>Criteri di scelta</a:t>
            </a:r>
          </a:p>
        </p:txBody>
      </p:sp>
      <p:grpSp>
        <p:nvGrpSpPr>
          <p:cNvPr id="101" name="Gruppo 100">
            <a:extLst>
              <a:ext uri="{FF2B5EF4-FFF2-40B4-BE49-F238E27FC236}">
                <a16:creationId xmlns:a16="http://schemas.microsoft.com/office/drawing/2014/main" id="{3425BF90-673F-2040-BE44-72C97B135EDC}"/>
              </a:ext>
            </a:extLst>
          </p:cNvPr>
          <p:cNvGrpSpPr/>
          <p:nvPr/>
        </p:nvGrpSpPr>
        <p:grpSpPr>
          <a:xfrm>
            <a:off x="1292906" y="873124"/>
            <a:ext cx="9606188" cy="5858857"/>
            <a:chOff x="1292906" y="873124"/>
            <a:chExt cx="9606188" cy="5858857"/>
          </a:xfrm>
        </p:grpSpPr>
        <p:grpSp>
          <p:nvGrpSpPr>
            <p:cNvPr id="100" name="Gruppo 99">
              <a:extLst>
                <a:ext uri="{FF2B5EF4-FFF2-40B4-BE49-F238E27FC236}">
                  <a16:creationId xmlns:a16="http://schemas.microsoft.com/office/drawing/2014/main" id="{26E668F3-9A72-8B12-ADBA-320DDDA4B56D}"/>
                </a:ext>
              </a:extLst>
            </p:cNvPr>
            <p:cNvGrpSpPr/>
            <p:nvPr/>
          </p:nvGrpSpPr>
          <p:grpSpPr>
            <a:xfrm>
              <a:off x="1292906" y="873124"/>
              <a:ext cx="9606188" cy="5436532"/>
              <a:chOff x="1292906" y="873124"/>
              <a:chExt cx="9606188" cy="5436532"/>
            </a:xfrm>
          </p:grpSpPr>
          <p:sp>
            <p:nvSpPr>
              <p:cNvPr id="99" name="Rettangolo con angoli arrotondati 98">
                <a:extLst>
                  <a:ext uri="{FF2B5EF4-FFF2-40B4-BE49-F238E27FC236}">
                    <a16:creationId xmlns:a16="http://schemas.microsoft.com/office/drawing/2014/main" id="{EBE97D88-8339-508A-ED25-780D81631FD5}"/>
                  </a:ext>
                </a:extLst>
              </p:cNvPr>
              <p:cNvSpPr>
                <a:spLocks/>
              </p:cNvSpPr>
              <p:nvPr/>
            </p:nvSpPr>
            <p:spPr>
              <a:xfrm>
                <a:off x="8553894" y="873124"/>
                <a:ext cx="1424577" cy="644906"/>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98" name="Rettangolo con angoli arrotondati 97">
                <a:extLst>
                  <a:ext uri="{FF2B5EF4-FFF2-40B4-BE49-F238E27FC236}">
                    <a16:creationId xmlns:a16="http://schemas.microsoft.com/office/drawing/2014/main" id="{1EA2472D-0B0F-D245-18C1-E94C205D92C3}"/>
                  </a:ext>
                </a:extLst>
              </p:cNvPr>
              <p:cNvSpPr>
                <a:spLocks/>
              </p:cNvSpPr>
              <p:nvPr/>
            </p:nvSpPr>
            <p:spPr>
              <a:xfrm>
                <a:off x="4901405" y="873124"/>
                <a:ext cx="14234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pic>
            <p:nvPicPr>
              <p:cNvPr id="20" name="Immagine 19">
                <a:extLst>
                  <a:ext uri="{FF2B5EF4-FFF2-40B4-BE49-F238E27FC236}">
                    <a16:creationId xmlns:a16="http://schemas.microsoft.com/office/drawing/2014/main" id="{FAA92945-0654-FE44-695C-32EEDAA4716B}"/>
                  </a:ext>
                </a:extLst>
              </p:cNvPr>
              <p:cNvPicPr>
                <a:picLocks noChangeAspect="1"/>
              </p:cNvPicPr>
              <p:nvPr/>
            </p:nvPicPr>
            <p:blipFill>
              <a:blip r:embed="rId4">
                <a:extLst>
                  <a:ext uri="{28A0092B-C50C-407E-A947-70E740481C1C}">
                    <a14:useLocalDpi xmlns:a14="http://schemas.microsoft.com/office/drawing/2010/main" val="0"/>
                  </a:ext>
                </a:extLst>
              </a:blip>
              <a:srcRect t="29190" b="29933"/>
              <a:stretch>
                <a:fillRect/>
              </a:stretch>
            </p:blipFill>
            <p:spPr>
              <a:xfrm>
                <a:off x="8874787" y="1021891"/>
                <a:ext cx="715687" cy="292556"/>
              </a:xfrm>
              <a:prstGeom prst="rect">
                <a:avLst/>
              </a:prstGeom>
            </p:spPr>
          </p:pic>
          <p:pic>
            <p:nvPicPr>
              <p:cNvPr id="23" name="Immagine 22">
                <a:extLst>
                  <a:ext uri="{FF2B5EF4-FFF2-40B4-BE49-F238E27FC236}">
                    <a16:creationId xmlns:a16="http://schemas.microsoft.com/office/drawing/2014/main" id="{B97E042F-C022-A80A-147A-A43BA943EC03}"/>
                  </a:ext>
                </a:extLst>
              </p:cNvPr>
              <p:cNvPicPr>
                <a:picLocks noChangeAspect="1"/>
              </p:cNvPicPr>
              <p:nvPr/>
            </p:nvPicPr>
            <p:blipFill>
              <a:blip r:embed="rId5"/>
              <a:srcRect t="22519" b="16473"/>
              <a:stretch>
                <a:fillRect/>
              </a:stretch>
            </p:blipFill>
            <p:spPr>
              <a:xfrm>
                <a:off x="5374342" y="1008728"/>
                <a:ext cx="522693" cy="318883"/>
              </a:xfrm>
              <a:prstGeom prst="rect">
                <a:avLst/>
              </a:prstGeom>
            </p:spPr>
          </p:pic>
          <p:sp>
            <p:nvSpPr>
              <p:cNvPr id="27" name="Rettangolo con angoli arrotondati 26">
                <a:extLst>
                  <a:ext uri="{FF2B5EF4-FFF2-40B4-BE49-F238E27FC236}">
                    <a16:creationId xmlns:a16="http://schemas.microsoft.com/office/drawing/2014/main" id="{90CC3A37-096D-8BDE-34C8-566D42344199}"/>
                  </a:ext>
                </a:extLst>
              </p:cNvPr>
              <p:cNvSpPr>
                <a:spLocks/>
              </p:cNvSpPr>
              <p:nvPr/>
            </p:nvSpPr>
            <p:spPr>
              <a:xfrm>
                <a:off x="1292906" y="1385631"/>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65" name="CasellaDiTesto 64">
                <a:extLst>
                  <a:ext uri="{FF2B5EF4-FFF2-40B4-BE49-F238E27FC236}">
                    <a16:creationId xmlns:a16="http://schemas.microsoft.com/office/drawing/2014/main" id="{9A1AE737-ACEE-D5CD-1F04-6C6629D54FE8}"/>
                  </a:ext>
                </a:extLst>
              </p:cNvPr>
              <p:cNvSpPr txBox="1">
                <a:spLocks/>
              </p:cNvSpPr>
              <p:nvPr/>
            </p:nvSpPr>
            <p:spPr>
              <a:xfrm>
                <a:off x="2141941" y="1427558"/>
                <a:ext cx="595308"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RIUSO</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69" name="CasellaDiTesto 68">
                <a:extLst>
                  <a:ext uri="{FF2B5EF4-FFF2-40B4-BE49-F238E27FC236}">
                    <a16:creationId xmlns:a16="http://schemas.microsoft.com/office/drawing/2014/main" id="{00089743-539B-B4C5-ED29-F01A7044911A}"/>
                  </a:ext>
                </a:extLst>
              </p:cNvPr>
              <p:cNvSpPr txBox="1">
                <a:spLocks/>
              </p:cNvSpPr>
              <p:nvPr/>
            </p:nvSpPr>
            <p:spPr>
              <a:xfrm>
                <a:off x="2154174" y="1635585"/>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facile riusarlo nel tempo?</a:t>
                </a:r>
                <a:endParaRPr lang="en-US" sz="900" dirty="0">
                  <a:solidFill>
                    <a:schemeClr val="tx1">
                      <a:lumMod val="75000"/>
                      <a:lumOff val="25000"/>
                    </a:schemeClr>
                  </a:solidFill>
                  <a:cs typeface="Poppins SemiBold" panose="00000700000000000000" pitchFamily="2" charset="0"/>
                </a:endParaRPr>
              </a:p>
            </p:txBody>
          </p:sp>
          <p:pic>
            <p:nvPicPr>
              <p:cNvPr id="73" name="Elemento grafico 72">
                <a:extLst>
                  <a:ext uri="{FF2B5EF4-FFF2-40B4-BE49-F238E27FC236}">
                    <a16:creationId xmlns:a16="http://schemas.microsoft.com/office/drawing/2014/main" id="{AB927BF0-0213-4CEC-34B2-E5021239BD6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71037" y="1513876"/>
                <a:ext cx="388417" cy="388417"/>
              </a:xfrm>
              <a:prstGeom prst="rect">
                <a:avLst/>
              </a:prstGeom>
            </p:spPr>
          </p:pic>
          <p:sp>
            <p:nvSpPr>
              <p:cNvPr id="6" name="Rettangolo con angoli arrotondati 5">
                <a:extLst>
                  <a:ext uri="{FF2B5EF4-FFF2-40B4-BE49-F238E27FC236}">
                    <a16:creationId xmlns:a16="http://schemas.microsoft.com/office/drawing/2014/main" id="{D3EA4F94-0C77-D323-E498-8F004C0AAF91}"/>
                  </a:ext>
                </a:extLst>
              </p:cNvPr>
              <p:cNvSpPr>
                <a:spLocks/>
              </p:cNvSpPr>
              <p:nvPr/>
            </p:nvSpPr>
            <p:spPr>
              <a:xfrm>
                <a:off x="3977213" y="1392256"/>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76" name="CasellaDiTesto 75">
                <a:extLst>
                  <a:ext uri="{FF2B5EF4-FFF2-40B4-BE49-F238E27FC236}">
                    <a16:creationId xmlns:a16="http://schemas.microsoft.com/office/drawing/2014/main" id="{58F92C05-3951-6013-64B7-BDC745218E9B}"/>
                  </a:ext>
                </a:extLst>
              </p:cNvPr>
              <p:cNvSpPr txBox="1">
                <a:spLocks/>
              </p:cNvSpPr>
              <p:nvPr/>
            </p:nvSpPr>
            <p:spPr>
              <a:xfrm>
                <a:off x="4117724" y="1420562"/>
                <a:ext cx="808041"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Flessibile</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82" name="CasellaDiTesto 81">
                <a:extLst>
                  <a:ext uri="{FF2B5EF4-FFF2-40B4-BE49-F238E27FC236}">
                    <a16:creationId xmlns:a16="http://schemas.microsoft.com/office/drawing/2014/main" id="{136012AF-A7EC-B4AF-669F-1889C8BE6F8B}"/>
                  </a:ext>
                </a:extLst>
              </p:cNvPr>
              <p:cNvSpPr txBox="1">
                <a:spLocks/>
              </p:cNvSpPr>
              <p:nvPr/>
            </p:nvSpPr>
            <p:spPr>
              <a:xfrm>
                <a:off x="4117724" y="1628588"/>
                <a:ext cx="3029656" cy="398486"/>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Componenti e modelli riusabili anche fuori dallo </a:t>
                </a:r>
                <a:r>
                  <a:rPr lang="en-US" sz="900" noProof="0" dirty="0">
                    <a:solidFill>
                      <a:schemeClr val="tx1">
                        <a:lumMod val="75000"/>
                        <a:lumOff val="25000"/>
                      </a:schemeClr>
                    </a:solidFill>
                    <a:cs typeface="Poppins SemiBold" panose="00000700000000000000" pitchFamily="2" charset="0"/>
                  </a:rPr>
                  <a:t>stack</a:t>
                </a:r>
                <a:r>
                  <a:rPr lang="it-IT" sz="900" dirty="0">
                    <a:solidFill>
                      <a:schemeClr val="tx1">
                        <a:lumMod val="75000"/>
                        <a:lumOff val="25000"/>
                      </a:schemeClr>
                    </a:solidFill>
                    <a:cs typeface="Poppins SemiBold" panose="00000700000000000000" pitchFamily="2" charset="0"/>
                  </a:rPr>
                  <a:t>.</a:t>
                </a:r>
                <a:endParaRPr lang="en-US" sz="900" dirty="0">
                  <a:solidFill>
                    <a:schemeClr val="tx1">
                      <a:lumMod val="75000"/>
                      <a:lumOff val="25000"/>
                    </a:schemeClr>
                  </a:solidFill>
                  <a:cs typeface="Poppins SemiBold" panose="00000700000000000000" pitchFamily="2" charset="0"/>
                </a:endParaRPr>
              </a:p>
            </p:txBody>
          </p:sp>
          <p:sp>
            <p:nvSpPr>
              <p:cNvPr id="10" name="Rettangolo con angoli arrotondati 9">
                <a:extLst>
                  <a:ext uri="{FF2B5EF4-FFF2-40B4-BE49-F238E27FC236}">
                    <a16:creationId xmlns:a16="http://schemas.microsoft.com/office/drawing/2014/main" id="{ED78F6C7-66E9-A7EF-842D-F7A1760FA0C6}"/>
                  </a:ext>
                </a:extLst>
              </p:cNvPr>
              <p:cNvSpPr>
                <a:spLocks/>
              </p:cNvSpPr>
              <p:nvPr/>
            </p:nvSpPr>
            <p:spPr>
              <a:xfrm>
                <a:off x="7574155" y="1392256"/>
                <a:ext cx="3316951" cy="644906"/>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2" name="CasellaDiTesto 11">
                <a:extLst>
                  <a:ext uri="{FF2B5EF4-FFF2-40B4-BE49-F238E27FC236}">
                    <a16:creationId xmlns:a16="http://schemas.microsoft.com/office/drawing/2014/main" id="{48A0080F-A777-F664-B28D-E763A4174445}"/>
                  </a:ext>
                </a:extLst>
              </p:cNvPr>
              <p:cNvSpPr txBox="1">
                <a:spLocks/>
              </p:cNvSpPr>
              <p:nvPr/>
            </p:nvSpPr>
            <p:spPr>
              <a:xfrm>
                <a:off x="7717803" y="1420562"/>
                <a:ext cx="820148" cy="257355"/>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Integrato</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13" name="CasellaDiTesto 12">
                <a:extLst>
                  <a:ext uri="{FF2B5EF4-FFF2-40B4-BE49-F238E27FC236}">
                    <a16:creationId xmlns:a16="http://schemas.microsoft.com/office/drawing/2014/main" id="{75103C5A-BCB1-970E-9115-36B323EAD99F}"/>
                  </a:ext>
                </a:extLst>
              </p:cNvPr>
              <p:cNvSpPr txBox="1">
                <a:spLocks/>
              </p:cNvSpPr>
              <p:nvPr/>
            </p:nvSpPr>
            <p:spPr>
              <a:xfrm>
                <a:off x="7717803" y="1628588"/>
                <a:ext cx="3029656" cy="249053"/>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Riuso efficace all’interno dell’ecosistema </a:t>
                </a:r>
                <a:r>
                  <a:rPr lang="en-US" sz="900" noProof="0" dirty="0">
                    <a:solidFill>
                      <a:schemeClr val="tx1">
                        <a:lumMod val="75000"/>
                        <a:lumOff val="25000"/>
                      </a:schemeClr>
                    </a:solidFill>
                    <a:cs typeface="Poppins SemiBold" panose="00000700000000000000" pitchFamily="2" charset="0"/>
                  </a:rPr>
                  <a:t>Qlik</a:t>
                </a:r>
                <a:r>
                  <a:rPr lang="it-IT" sz="900" dirty="0">
                    <a:solidFill>
                      <a:schemeClr val="tx1">
                        <a:lumMod val="75000"/>
                        <a:lumOff val="25000"/>
                      </a:schemeClr>
                    </a:solidFill>
                    <a:cs typeface="Poppins SemiBold" panose="00000700000000000000" pitchFamily="2" charset="0"/>
                  </a:rPr>
                  <a:t>.</a:t>
                </a:r>
                <a:endParaRPr lang="en-US" sz="900" dirty="0">
                  <a:solidFill>
                    <a:schemeClr val="tx1">
                      <a:lumMod val="75000"/>
                      <a:lumOff val="25000"/>
                    </a:schemeClr>
                  </a:solidFill>
                  <a:cs typeface="Poppins SemiBold" panose="00000700000000000000" pitchFamily="2" charset="0"/>
                </a:endParaRPr>
              </a:p>
            </p:txBody>
          </p:sp>
          <p:sp>
            <p:nvSpPr>
              <p:cNvPr id="91" name="Connettore 90">
                <a:extLst>
                  <a:ext uri="{FF2B5EF4-FFF2-40B4-BE49-F238E27FC236}">
                    <a16:creationId xmlns:a16="http://schemas.microsoft.com/office/drawing/2014/main" id="{1A2766A0-0EE0-F03F-C2BE-6368B92A282B}"/>
                  </a:ext>
                </a:extLst>
              </p:cNvPr>
              <p:cNvSpPr>
                <a:spLocks/>
              </p:cNvSpPr>
              <p:nvPr/>
            </p:nvSpPr>
            <p:spPr>
              <a:xfrm>
                <a:off x="7228239" y="1511076"/>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dirty="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04" name="Rettangolo con angoli arrotondati 103">
                <a:extLst>
                  <a:ext uri="{FF2B5EF4-FFF2-40B4-BE49-F238E27FC236}">
                    <a16:creationId xmlns:a16="http://schemas.microsoft.com/office/drawing/2014/main" id="{8A2D2194-C2D8-4DA1-63E6-052C22FAC471}"/>
                  </a:ext>
                </a:extLst>
              </p:cNvPr>
              <p:cNvSpPr>
                <a:spLocks/>
              </p:cNvSpPr>
              <p:nvPr/>
            </p:nvSpPr>
            <p:spPr>
              <a:xfrm>
                <a:off x="1292906" y="2106312"/>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07" name="CasellaDiTesto 106">
                <a:extLst>
                  <a:ext uri="{FF2B5EF4-FFF2-40B4-BE49-F238E27FC236}">
                    <a16:creationId xmlns:a16="http://schemas.microsoft.com/office/drawing/2014/main" id="{B4C7B9B8-7226-AE17-9A70-D10B2B6FDCC6}"/>
                  </a:ext>
                </a:extLst>
              </p:cNvPr>
              <p:cNvSpPr txBox="1">
                <a:spLocks/>
              </p:cNvSpPr>
              <p:nvPr/>
            </p:nvSpPr>
            <p:spPr>
              <a:xfrm>
                <a:off x="2141941" y="2148240"/>
                <a:ext cx="83225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VELOCITÀ</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10" name="CasellaDiTesto 109">
                <a:extLst>
                  <a:ext uri="{FF2B5EF4-FFF2-40B4-BE49-F238E27FC236}">
                    <a16:creationId xmlns:a16="http://schemas.microsoft.com/office/drawing/2014/main" id="{E0326604-2F86-FB8A-D4DE-55BE28B2CF11}"/>
                  </a:ext>
                </a:extLst>
              </p:cNvPr>
              <p:cNvSpPr txBox="1">
                <a:spLocks/>
              </p:cNvSpPr>
              <p:nvPr/>
            </p:nvSpPr>
            <p:spPr>
              <a:xfrm>
                <a:off x="2154174" y="2356266"/>
                <a:ext cx="1676255" cy="2308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rapido partire ?</a:t>
                </a:r>
                <a:endParaRPr lang="en-US" sz="900" dirty="0">
                  <a:solidFill>
                    <a:schemeClr val="tx1">
                      <a:lumMod val="75000"/>
                      <a:lumOff val="25000"/>
                    </a:schemeClr>
                  </a:solidFill>
                  <a:cs typeface="Poppins SemiBold" panose="00000700000000000000" pitchFamily="2" charset="0"/>
                </a:endParaRPr>
              </a:p>
            </p:txBody>
          </p:sp>
          <p:pic>
            <p:nvPicPr>
              <p:cNvPr id="1027" name="Elemento grafico 1026">
                <a:extLst>
                  <a:ext uri="{FF2B5EF4-FFF2-40B4-BE49-F238E27FC236}">
                    <a16:creationId xmlns:a16="http://schemas.microsoft.com/office/drawing/2014/main" id="{57085B4D-4A9F-FAB9-7E96-0A57E9B8C5E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71037" y="2234557"/>
                <a:ext cx="388417" cy="388417"/>
              </a:xfrm>
              <a:prstGeom prst="rect">
                <a:avLst/>
              </a:prstGeom>
            </p:spPr>
          </p:pic>
          <p:sp>
            <p:nvSpPr>
              <p:cNvPr id="17" name="Rettangolo con angoli arrotondati 16">
                <a:extLst>
                  <a:ext uri="{FF2B5EF4-FFF2-40B4-BE49-F238E27FC236}">
                    <a16:creationId xmlns:a16="http://schemas.microsoft.com/office/drawing/2014/main" id="{6725E20A-197C-DD7B-DF15-6B8376B61F8C}"/>
                  </a:ext>
                </a:extLst>
              </p:cNvPr>
              <p:cNvSpPr>
                <a:spLocks/>
              </p:cNvSpPr>
              <p:nvPr/>
            </p:nvSpPr>
            <p:spPr>
              <a:xfrm>
                <a:off x="3977213" y="2101116"/>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8" name="CasellaDiTesto 17">
                <a:extLst>
                  <a:ext uri="{FF2B5EF4-FFF2-40B4-BE49-F238E27FC236}">
                    <a16:creationId xmlns:a16="http://schemas.microsoft.com/office/drawing/2014/main" id="{05861569-FC04-3210-5264-DEA417248656}"/>
                  </a:ext>
                </a:extLst>
              </p:cNvPr>
              <p:cNvSpPr txBox="1">
                <a:spLocks/>
              </p:cNvSpPr>
              <p:nvPr/>
            </p:nvSpPr>
            <p:spPr>
              <a:xfrm>
                <a:off x="4117724" y="2121919"/>
                <a:ext cx="1114170"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Configurabile</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19" name="CasellaDiTesto 18">
                <a:extLst>
                  <a:ext uri="{FF2B5EF4-FFF2-40B4-BE49-F238E27FC236}">
                    <a16:creationId xmlns:a16="http://schemas.microsoft.com/office/drawing/2014/main" id="{C3C87CF8-009B-6EEC-F281-ABAA23C24B99}"/>
                  </a:ext>
                </a:extLst>
              </p:cNvPr>
              <p:cNvSpPr txBox="1">
                <a:spLocks/>
              </p:cNvSpPr>
              <p:nvPr/>
            </p:nvSpPr>
            <p:spPr>
              <a:xfrm>
                <a:off x="4117724" y="2337448"/>
                <a:ext cx="3029656" cy="398486"/>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Richiede più setup iniziale, ma offre maggiore libertà.</a:t>
                </a:r>
                <a:endParaRPr lang="en-US" sz="900" dirty="0">
                  <a:solidFill>
                    <a:schemeClr val="tx1">
                      <a:lumMod val="75000"/>
                      <a:lumOff val="25000"/>
                    </a:schemeClr>
                  </a:solidFill>
                  <a:cs typeface="Poppins SemiBold" panose="00000700000000000000" pitchFamily="2" charset="0"/>
                </a:endParaRPr>
              </a:p>
            </p:txBody>
          </p:sp>
          <p:grpSp>
            <p:nvGrpSpPr>
              <p:cNvPr id="1054" name="Gruppo 1053">
                <a:extLst>
                  <a:ext uri="{FF2B5EF4-FFF2-40B4-BE49-F238E27FC236}">
                    <a16:creationId xmlns:a16="http://schemas.microsoft.com/office/drawing/2014/main" id="{768372D0-4E2A-70DD-E5CB-5FB06D96A848}"/>
                  </a:ext>
                </a:extLst>
              </p:cNvPr>
              <p:cNvGrpSpPr>
                <a:grpSpLocks/>
              </p:cNvGrpSpPr>
              <p:nvPr/>
            </p:nvGrpSpPr>
            <p:grpSpPr>
              <a:xfrm>
                <a:off x="7574155" y="2101116"/>
                <a:ext cx="3316951" cy="644906"/>
                <a:chOff x="6976720" y="1970714"/>
                <a:chExt cx="3074276" cy="597724"/>
              </a:xfrm>
            </p:grpSpPr>
            <p:sp>
              <p:nvSpPr>
                <p:cNvPr id="21" name="Rettangolo con angoli arrotondati 20">
                  <a:extLst>
                    <a:ext uri="{FF2B5EF4-FFF2-40B4-BE49-F238E27FC236}">
                      <a16:creationId xmlns:a16="http://schemas.microsoft.com/office/drawing/2014/main" id="{B263F2C6-0ACB-C520-3C13-DC468A775D11}"/>
                    </a:ext>
                  </a:extLst>
                </p:cNvPr>
                <p:cNvSpPr>
                  <a:spLocks/>
                </p:cNvSpPr>
                <p:nvPr/>
              </p:nvSpPr>
              <p:spPr>
                <a:xfrm>
                  <a:off x="6976720" y="1970714"/>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22" name="CasellaDiTesto 21">
                  <a:extLst>
                    <a:ext uri="{FF2B5EF4-FFF2-40B4-BE49-F238E27FC236}">
                      <a16:creationId xmlns:a16="http://schemas.microsoft.com/office/drawing/2014/main" id="{458A5ABF-CBF4-2934-CCAA-6F981EF9F25A}"/>
                    </a:ext>
                  </a:extLst>
                </p:cNvPr>
                <p:cNvSpPr txBox="1">
                  <a:spLocks/>
                </p:cNvSpPr>
                <p:nvPr/>
              </p:nvSpPr>
              <p:spPr>
                <a:xfrm>
                  <a:off x="7109858" y="1996949"/>
                  <a:ext cx="623889"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Rapido</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24" name="CasellaDiTesto 23">
                  <a:extLst>
                    <a:ext uri="{FF2B5EF4-FFF2-40B4-BE49-F238E27FC236}">
                      <a16:creationId xmlns:a16="http://schemas.microsoft.com/office/drawing/2014/main" id="{2DEC9978-5868-27E3-3CC6-18F37895D709}"/>
                    </a:ext>
                  </a:extLst>
                </p:cNvPr>
                <p:cNvSpPr txBox="1">
                  <a:spLocks/>
                </p:cNvSpPr>
                <p:nvPr/>
              </p:nvSpPr>
              <p:spPr>
                <a:xfrm>
                  <a:off x="7109858" y="2189756"/>
                  <a:ext cx="2808000"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Piattaforma integrata con tempi di avvio più brevi.</a:t>
                  </a:r>
                  <a:endParaRPr lang="en-US" sz="900" dirty="0">
                    <a:solidFill>
                      <a:schemeClr val="tx1">
                        <a:lumMod val="75000"/>
                        <a:lumOff val="25000"/>
                      </a:schemeClr>
                    </a:solidFill>
                    <a:cs typeface="Poppins SemiBold" panose="00000700000000000000" pitchFamily="2" charset="0"/>
                  </a:endParaRPr>
                </a:p>
              </p:txBody>
            </p:sp>
          </p:grpSp>
          <p:sp>
            <p:nvSpPr>
              <p:cNvPr id="25" name="Connettore 24">
                <a:extLst>
                  <a:ext uri="{FF2B5EF4-FFF2-40B4-BE49-F238E27FC236}">
                    <a16:creationId xmlns:a16="http://schemas.microsoft.com/office/drawing/2014/main" id="{C72A1349-FF70-21B6-62AB-3A8FC2546EBB}"/>
                  </a:ext>
                </a:extLst>
              </p:cNvPr>
              <p:cNvSpPr>
                <a:spLocks/>
              </p:cNvSpPr>
              <p:nvPr/>
            </p:nvSpPr>
            <p:spPr>
              <a:xfrm>
                <a:off x="7228239" y="2219936"/>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23" name="Rettangolo con angoli arrotondati 122">
                <a:extLst>
                  <a:ext uri="{FF2B5EF4-FFF2-40B4-BE49-F238E27FC236}">
                    <a16:creationId xmlns:a16="http://schemas.microsoft.com/office/drawing/2014/main" id="{DC1265EA-F414-F944-2ECE-B7DC1BFDFC04}"/>
                  </a:ext>
                </a:extLst>
              </p:cNvPr>
              <p:cNvSpPr>
                <a:spLocks/>
              </p:cNvSpPr>
              <p:nvPr/>
            </p:nvSpPr>
            <p:spPr>
              <a:xfrm>
                <a:off x="1292906" y="2818706"/>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27" name="CasellaDiTesto 126">
                <a:extLst>
                  <a:ext uri="{FF2B5EF4-FFF2-40B4-BE49-F238E27FC236}">
                    <a16:creationId xmlns:a16="http://schemas.microsoft.com/office/drawing/2014/main" id="{2BAA4AB0-829C-038E-62B3-7F2FE11260C1}"/>
                  </a:ext>
                </a:extLst>
              </p:cNvPr>
              <p:cNvSpPr txBox="1">
                <a:spLocks/>
              </p:cNvSpPr>
              <p:nvPr/>
            </p:nvSpPr>
            <p:spPr>
              <a:xfrm>
                <a:off x="2141941" y="2860633"/>
                <a:ext cx="595308"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COSTI</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30" name="CasellaDiTesto 129">
                <a:extLst>
                  <a:ext uri="{FF2B5EF4-FFF2-40B4-BE49-F238E27FC236}">
                    <a16:creationId xmlns:a16="http://schemas.microsoft.com/office/drawing/2014/main" id="{D0CC49FD-ECD4-F2E3-D9E0-DD708BF4FE85}"/>
                  </a:ext>
                </a:extLst>
              </p:cNvPr>
              <p:cNvSpPr txBox="1">
                <a:spLocks/>
              </p:cNvSpPr>
              <p:nvPr/>
            </p:nvSpPr>
            <p:spPr>
              <a:xfrm>
                <a:off x="2154174" y="3068660"/>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facile controllare i costi?</a:t>
                </a:r>
                <a:endParaRPr lang="en-US" sz="900" dirty="0">
                  <a:solidFill>
                    <a:schemeClr val="tx1">
                      <a:lumMod val="75000"/>
                      <a:lumOff val="25000"/>
                    </a:schemeClr>
                  </a:solidFill>
                  <a:cs typeface="Poppins SemiBold" panose="00000700000000000000" pitchFamily="2" charset="0"/>
                </a:endParaRPr>
              </a:p>
            </p:txBody>
          </p:sp>
          <p:pic>
            <p:nvPicPr>
              <p:cNvPr id="1031" name="Elemento grafico 1030">
                <a:extLst>
                  <a:ext uri="{FF2B5EF4-FFF2-40B4-BE49-F238E27FC236}">
                    <a16:creationId xmlns:a16="http://schemas.microsoft.com/office/drawing/2014/main" id="{97BB0CF4-BDDD-0DEB-AF3A-4C9A09613EA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571037" y="2946951"/>
                <a:ext cx="388417" cy="388417"/>
              </a:xfrm>
              <a:prstGeom prst="rect">
                <a:avLst/>
              </a:prstGeom>
            </p:spPr>
          </p:pic>
          <p:sp>
            <p:nvSpPr>
              <p:cNvPr id="28" name="Rettangolo con angoli arrotondati 27">
                <a:extLst>
                  <a:ext uri="{FF2B5EF4-FFF2-40B4-BE49-F238E27FC236}">
                    <a16:creationId xmlns:a16="http://schemas.microsoft.com/office/drawing/2014/main" id="{FEB94A0C-732D-2C05-DFD0-E8860515432A}"/>
                  </a:ext>
                </a:extLst>
              </p:cNvPr>
              <p:cNvSpPr>
                <a:spLocks/>
              </p:cNvSpPr>
              <p:nvPr/>
            </p:nvSpPr>
            <p:spPr>
              <a:xfrm>
                <a:off x="3977213" y="2818706"/>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29" name="CasellaDiTesto 28">
                <a:extLst>
                  <a:ext uri="{FF2B5EF4-FFF2-40B4-BE49-F238E27FC236}">
                    <a16:creationId xmlns:a16="http://schemas.microsoft.com/office/drawing/2014/main" id="{800383A1-99AF-52EA-27A6-AC13B63B8BD2}"/>
                  </a:ext>
                </a:extLst>
              </p:cNvPr>
              <p:cNvSpPr txBox="1">
                <a:spLocks/>
              </p:cNvSpPr>
              <p:nvPr/>
            </p:nvSpPr>
            <p:spPr>
              <a:xfrm>
                <a:off x="4117725" y="2837465"/>
                <a:ext cx="901436"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Modulabili</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30" name="CasellaDiTesto 29">
                <a:extLst>
                  <a:ext uri="{FF2B5EF4-FFF2-40B4-BE49-F238E27FC236}">
                    <a16:creationId xmlns:a16="http://schemas.microsoft.com/office/drawing/2014/main" id="{40C622C3-3A36-F2CF-3BC6-2A9FADA52873}"/>
                  </a:ext>
                </a:extLst>
              </p:cNvPr>
              <p:cNvSpPr txBox="1">
                <a:spLocks/>
              </p:cNvSpPr>
              <p:nvPr/>
            </p:nvSpPr>
            <p:spPr>
              <a:xfrm>
                <a:off x="4117724" y="3055038"/>
                <a:ext cx="2990814"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Si parte con costi contenuti e si cresce in base all'utilizzo.</a:t>
                </a:r>
                <a:endParaRPr lang="en-US" sz="900" dirty="0">
                  <a:solidFill>
                    <a:schemeClr val="tx1">
                      <a:lumMod val="75000"/>
                      <a:lumOff val="25000"/>
                    </a:schemeClr>
                  </a:solidFill>
                  <a:cs typeface="Poppins SemiBold" panose="00000700000000000000" pitchFamily="2" charset="0"/>
                </a:endParaRPr>
              </a:p>
            </p:txBody>
          </p:sp>
          <p:grpSp>
            <p:nvGrpSpPr>
              <p:cNvPr id="1055" name="Gruppo 1054">
                <a:extLst>
                  <a:ext uri="{FF2B5EF4-FFF2-40B4-BE49-F238E27FC236}">
                    <a16:creationId xmlns:a16="http://schemas.microsoft.com/office/drawing/2014/main" id="{F2A9A6A0-AE1C-E22C-6BF4-7BBD212EB07F}"/>
                  </a:ext>
                </a:extLst>
              </p:cNvPr>
              <p:cNvGrpSpPr>
                <a:grpSpLocks/>
              </p:cNvGrpSpPr>
              <p:nvPr/>
            </p:nvGrpSpPr>
            <p:grpSpPr>
              <a:xfrm>
                <a:off x="7574155" y="2818706"/>
                <a:ext cx="3324939" cy="644906"/>
                <a:chOff x="6976720" y="2759363"/>
                <a:chExt cx="3081680" cy="597724"/>
              </a:xfrm>
            </p:grpSpPr>
            <p:sp>
              <p:nvSpPr>
                <p:cNvPr id="31" name="Rettangolo con angoli arrotondati 30">
                  <a:extLst>
                    <a:ext uri="{FF2B5EF4-FFF2-40B4-BE49-F238E27FC236}">
                      <a16:creationId xmlns:a16="http://schemas.microsoft.com/office/drawing/2014/main" id="{7FBB49AC-E8EE-3266-8401-50726757EA6D}"/>
                    </a:ext>
                  </a:extLst>
                </p:cNvPr>
                <p:cNvSpPr>
                  <a:spLocks/>
                </p:cNvSpPr>
                <p:nvPr/>
              </p:nvSpPr>
              <p:spPr>
                <a:xfrm>
                  <a:off x="6976720" y="2759363"/>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32" name="CasellaDiTesto 31">
                  <a:extLst>
                    <a:ext uri="{FF2B5EF4-FFF2-40B4-BE49-F238E27FC236}">
                      <a16:creationId xmlns:a16="http://schemas.microsoft.com/office/drawing/2014/main" id="{903734F8-FECD-3C32-C681-C29DD2394935}"/>
                    </a:ext>
                  </a:extLst>
                </p:cNvPr>
                <p:cNvSpPr txBox="1">
                  <a:spLocks/>
                </p:cNvSpPr>
                <p:nvPr/>
              </p:nvSpPr>
              <p:spPr>
                <a:xfrm>
                  <a:off x="7109858" y="2785598"/>
                  <a:ext cx="833883"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Prevedibili</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33" name="CasellaDiTesto 32">
                  <a:extLst>
                    <a:ext uri="{FF2B5EF4-FFF2-40B4-BE49-F238E27FC236}">
                      <a16:creationId xmlns:a16="http://schemas.microsoft.com/office/drawing/2014/main" id="{5ABA7E74-C105-7888-9F38-3D8A44A8CF5D}"/>
                    </a:ext>
                  </a:extLst>
                </p:cNvPr>
                <p:cNvSpPr txBox="1">
                  <a:spLocks/>
                </p:cNvSpPr>
                <p:nvPr/>
              </p:nvSpPr>
              <p:spPr>
                <a:xfrm>
                  <a:off x="7109858" y="2978405"/>
                  <a:ext cx="2948542" cy="342311"/>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Costi più prevedibili, ma da valutare insieme a licenze, traffico e storage.</a:t>
                  </a:r>
                  <a:endParaRPr lang="en-US" sz="900" dirty="0">
                    <a:solidFill>
                      <a:schemeClr val="tx1">
                        <a:lumMod val="75000"/>
                        <a:lumOff val="25000"/>
                      </a:schemeClr>
                    </a:solidFill>
                    <a:cs typeface="Poppins SemiBold" panose="00000700000000000000" pitchFamily="2" charset="0"/>
                  </a:endParaRPr>
                </a:p>
              </p:txBody>
            </p:sp>
          </p:grpSp>
          <p:sp>
            <p:nvSpPr>
              <p:cNvPr id="34" name="Connettore 33">
                <a:extLst>
                  <a:ext uri="{FF2B5EF4-FFF2-40B4-BE49-F238E27FC236}">
                    <a16:creationId xmlns:a16="http://schemas.microsoft.com/office/drawing/2014/main" id="{BC875A17-417E-7243-6DBB-85904A7B84D9}"/>
                  </a:ext>
                </a:extLst>
              </p:cNvPr>
              <p:cNvSpPr>
                <a:spLocks/>
              </p:cNvSpPr>
              <p:nvPr/>
            </p:nvSpPr>
            <p:spPr>
              <a:xfrm>
                <a:off x="7228239" y="2937526"/>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54" name="Rettangolo con angoli arrotondati 153">
                <a:extLst>
                  <a:ext uri="{FF2B5EF4-FFF2-40B4-BE49-F238E27FC236}">
                    <a16:creationId xmlns:a16="http://schemas.microsoft.com/office/drawing/2014/main" id="{831B53C7-4E3F-F07C-07F9-31B43FE914AE}"/>
                  </a:ext>
                </a:extLst>
              </p:cNvPr>
              <p:cNvSpPr>
                <a:spLocks/>
              </p:cNvSpPr>
              <p:nvPr/>
            </p:nvSpPr>
            <p:spPr>
              <a:xfrm>
                <a:off x="1292906" y="3531100"/>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60" name="CasellaDiTesto 159">
                <a:extLst>
                  <a:ext uri="{FF2B5EF4-FFF2-40B4-BE49-F238E27FC236}">
                    <a16:creationId xmlns:a16="http://schemas.microsoft.com/office/drawing/2014/main" id="{9F656AEC-C980-9020-7927-F3AF15807659}"/>
                  </a:ext>
                </a:extLst>
              </p:cNvPr>
              <p:cNvSpPr txBox="1">
                <a:spLocks/>
              </p:cNvSpPr>
              <p:nvPr/>
            </p:nvSpPr>
            <p:spPr>
              <a:xfrm>
                <a:off x="2141941" y="3573027"/>
                <a:ext cx="109514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COMPLESSITA</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62" name="CasellaDiTesto 161">
                <a:extLst>
                  <a:ext uri="{FF2B5EF4-FFF2-40B4-BE49-F238E27FC236}">
                    <a16:creationId xmlns:a16="http://schemas.microsoft.com/office/drawing/2014/main" id="{9DEB145A-90CD-6C95-C70F-A361F65FAE68}"/>
                  </a:ext>
                </a:extLst>
              </p:cNvPr>
              <p:cNvSpPr txBox="1">
                <a:spLocks/>
              </p:cNvSpPr>
              <p:nvPr/>
            </p:nvSpPr>
            <p:spPr>
              <a:xfrm>
                <a:off x="2154174" y="3781054"/>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complesso da gestire ?</a:t>
                </a:r>
                <a:endParaRPr lang="en-US" sz="900" dirty="0">
                  <a:solidFill>
                    <a:schemeClr val="tx1">
                      <a:lumMod val="75000"/>
                      <a:lumOff val="25000"/>
                    </a:schemeClr>
                  </a:solidFill>
                  <a:cs typeface="Poppins SemiBold" panose="00000700000000000000" pitchFamily="2" charset="0"/>
                </a:endParaRPr>
              </a:p>
            </p:txBody>
          </p:sp>
          <p:pic>
            <p:nvPicPr>
              <p:cNvPr id="1036" name="Elemento grafico 1035">
                <a:extLst>
                  <a:ext uri="{FF2B5EF4-FFF2-40B4-BE49-F238E27FC236}">
                    <a16:creationId xmlns:a16="http://schemas.microsoft.com/office/drawing/2014/main" id="{398D7CC4-0BDE-A5C4-8B35-0C58F94E317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571037" y="3659345"/>
                <a:ext cx="388417" cy="388417"/>
              </a:xfrm>
              <a:prstGeom prst="rect">
                <a:avLst/>
              </a:prstGeom>
            </p:spPr>
          </p:pic>
          <p:sp>
            <p:nvSpPr>
              <p:cNvPr id="36" name="Rettangolo con angoli arrotondati 35">
                <a:extLst>
                  <a:ext uri="{FF2B5EF4-FFF2-40B4-BE49-F238E27FC236}">
                    <a16:creationId xmlns:a16="http://schemas.microsoft.com/office/drawing/2014/main" id="{3C43760B-ACB4-0DAA-A281-AA60B3C9BF4A}"/>
                  </a:ext>
                </a:extLst>
              </p:cNvPr>
              <p:cNvSpPr>
                <a:spLocks/>
              </p:cNvSpPr>
              <p:nvPr/>
            </p:nvSpPr>
            <p:spPr>
              <a:xfrm>
                <a:off x="3977213" y="3532589"/>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37" name="CasellaDiTesto 36">
                <a:extLst>
                  <a:ext uri="{FF2B5EF4-FFF2-40B4-BE49-F238E27FC236}">
                    <a16:creationId xmlns:a16="http://schemas.microsoft.com/office/drawing/2014/main" id="{373854F1-E481-96A0-4D55-E96C5BCC7109}"/>
                  </a:ext>
                </a:extLst>
              </p:cNvPr>
              <p:cNvSpPr txBox="1">
                <a:spLocks/>
              </p:cNvSpPr>
              <p:nvPr/>
            </p:nvSpPr>
            <p:spPr>
              <a:xfrm>
                <a:off x="4117724" y="3554656"/>
                <a:ext cx="892789"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Distribuita</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39" name="CasellaDiTesto 38">
                <a:extLst>
                  <a:ext uri="{FF2B5EF4-FFF2-40B4-BE49-F238E27FC236}">
                    <a16:creationId xmlns:a16="http://schemas.microsoft.com/office/drawing/2014/main" id="{D16F6D8B-AEE8-8C39-542F-52A95CBE9226}"/>
                  </a:ext>
                </a:extLst>
              </p:cNvPr>
              <p:cNvSpPr txBox="1">
                <a:spLocks/>
              </p:cNvSpPr>
              <p:nvPr/>
            </p:nvSpPr>
            <p:spPr>
              <a:xfrm>
                <a:off x="4117724" y="3768921"/>
                <a:ext cx="3029656" cy="249053"/>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Più componenti da integrare e governare.</a:t>
                </a:r>
                <a:endParaRPr lang="en-US" sz="900" dirty="0">
                  <a:solidFill>
                    <a:schemeClr val="tx1">
                      <a:lumMod val="75000"/>
                      <a:lumOff val="25000"/>
                    </a:schemeClr>
                  </a:solidFill>
                  <a:cs typeface="Poppins SemiBold" panose="00000700000000000000" pitchFamily="2" charset="0"/>
                </a:endParaRPr>
              </a:p>
            </p:txBody>
          </p:sp>
          <p:grpSp>
            <p:nvGrpSpPr>
              <p:cNvPr id="1056" name="Gruppo 1055">
                <a:extLst>
                  <a:ext uri="{FF2B5EF4-FFF2-40B4-BE49-F238E27FC236}">
                    <a16:creationId xmlns:a16="http://schemas.microsoft.com/office/drawing/2014/main" id="{241EDEF9-DEB5-7A57-151B-2420D941E89E}"/>
                  </a:ext>
                </a:extLst>
              </p:cNvPr>
              <p:cNvGrpSpPr>
                <a:grpSpLocks/>
              </p:cNvGrpSpPr>
              <p:nvPr/>
            </p:nvGrpSpPr>
            <p:grpSpPr>
              <a:xfrm>
                <a:off x="7574155" y="3532589"/>
                <a:ext cx="3316951" cy="644906"/>
                <a:chOff x="6976720" y="3544576"/>
                <a:chExt cx="3074276" cy="597724"/>
              </a:xfrm>
            </p:grpSpPr>
            <p:sp>
              <p:nvSpPr>
                <p:cNvPr id="41" name="Rettangolo con angoli arrotondati 40">
                  <a:extLst>
                    <a:ext uri="{FF2B5EF4-FFF2-40B4-BE49-F238E27FC236}">
                      <a16:creationId xmlns:a16="http://schemas.microsoft.com/office/drawing/2014/main" id="{B6936624-F238-8543-C220-EA543065D268}"/>
                    </a:ext>
                  </a:extLst>
                </p:cNvPr>
                <p:cNvSpPr>
                  <a:spLocks/>
                </p:cNvSpPr>
                <p:nvPr/>
              </p:nvSpPr>
              <p:spPr>
                <a:xfrm>
                  <a:off x="6976720" y="3544576"/>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42" name="CasellaDiTesto 41">
                  <a:extLst>
                    <a:ext uri="{FF2B5EF4-FFF2-40B4-BE49-F238E27FC236}">
                      <a16:creationId xmlns:a16="http://schemas.microsoft.com/office/drawing/2014/main" id="{84F92AC7-A3E5-FBD7-7353-CE4912C28727}"/>
                    </a:ext>
                  </a:extLst>
                </p:cNvPr>
                <p:cNvSpPr txBox="1">
                  <a:spLocks/>
                </p:cNvSpPr>
                <p:nvPr/>
              </p:nvSpPr>
              <p:spPr>
                <a:xfrm>
                  <a:off x="7109858" y="3570811"/>
                  <a:ext cx="1011815"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Centralizzata</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43" name="CasellaDiTesto 42">
                  <a:extLst>
                    <a:ext uri="{FF2B5EF4-FFF2-40B4-BE49-F238E27FC236}">
                      <a16:creationId xmlns:a16="http://schemas.microsoft.com/office/drawing/2014/main" id="{DFB0D196-9DF9-12EA-1849-9992B004BF02}"/>
                    </a:ext>
                  </a:extLst>
                </p:cNvPr>
                <p:cNvSpPr txBox="1">
                  <a:spLocks/>
                </p:cNvSpPr>
                <p:nvPr/>
              </p:nvSpPr>
              <p:spPr>
                <a:xfrm>
                  <a:off x="7109858" y="3763618"/>
                  <a:ext cx="2808000" cy="342311"/>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Un unico ecosistema riduce la complessità operativa.</a:t>
                  </a:r>
                  <a:endParaRPr lang="en-US" sz="900" dirty="0">
                    <a:solidFill>
                      <a:schemeClr val="tx1">
                        <a:lumMod val="75000"/>
                        <a:lumOff val="25000"/>
                      </a:schemeClr>
                    </a:solidFill>
                    <a:cs typeface="Poppins SemiBold" panose="00000700000000000000" pitchFamily="2" charset="0"/>
                  </a:endParaRPr>
                </a:p>
              </p:txBody>
            </p:sp>
          </p:grpSp>
          <p:sp>
            <p:nvSpPr>
              <p:cNvPr id="44" name="Connettore 43">
                <a:extLst>
                  <a:ext uri="{FF2B5EF4-FFF2-40B4-BE49-F238E27FC236}">
                    <a16:creationId xmlns:a16="http://schemas.microsoft.com/office/drawing/2014/main" id="{1E181B22-4930-85A8-F37C-EFAB11C34CAC}"/>
                  </a:ext>
                </a:extLst>
              </p:cNvPr>
              <p:cNvSpPr>
                <a:spLocks/>
              </p:cNvSpPr>
              <p:nvPr/>
            </p:nvSpPr>
            <p:spPr>
              <a:xfrm>
                <a:off x="7228239" y="3651409"/>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78" name="Rettangolo con angoli arrotondati 177">
                <a:extLst>
                  <a:ext uri="{FF2B5EF4-FFF2-40B4-BE49-F238E27FC236}">
                    <a16:creationId xmlns:a16="http://schemas.microsoft.com/office/drawing/2014/main" id="{F5E71310-B68B-A734-2DEC-F9213B837006}"/>
                  </a:ext>
                </a:extLst>
              </p:cNvPr>
              <p:cNvSpPr>
                <a:spLocks/>
              </p:cNvSpPr>
              <p:nvPr/>
            </p:nvSpPr>
            <p:spPr>
              <a:xfrm>
                <a:off x="1292906" y="4243494"/>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81" name="CasellaDiTesto 180">
                <a:extLst>
                  <a:ext uri="{FF2B5EF4-FFF2-40B4-BE49-F238E27FC236}">
                    <a16:creationId xmlns:a16="http://schemas.microsoft.com/office/drawing/2014/main" id="{97F2891D-EECB-FA05-64A9-BEF78A479E56}"/>
                  </a:ext>
                </a:extLst>
              </p:cNvPr>
              <p:cNvSpPr txBox="1">
                <a:spLocks/>
              </p:cNvSpPr>
              <p:nvPr/>
            </p:nvSpPr>
            <p:spPr>
              <a:xfrm>
                <a:off x="2141941" y="4285421"/>
                <a:ext cx="1038070"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FIT PROGETTI</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83" name="CasellaDiTesto 182">
                <a:extLst>
                  <a:ext uri="{FF2B5EF4-FFF2-40B4-BE49-F238E27FC236}">
                    <a16:creationId xmlns:a16="http://schemas.microsoft.com/office/drawing/2014/main" id="{2122DBD0-AB62-12EC-53AC-27211B095018}"/>
                  </a:ext>
                </a:extLst>
              </p:cNvPr>
              <p:cNvSpPr txBox="1">
                <a:spLocks/>
              </p:cNvSpPr>
              <p:nvPr/>
            </p:nvSpPr>
            <p:spPr>
              <a:xfrm>
                <a:off x="2154174" y="4493448"/>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Per quali progetti è più adatto?</a:t>
                </a:r>
                <a:endParaRPr lang="en-US" sz="900" dirty="0">
                  <a:solidFill>
                    <a:schemeClr val="tx1">
                      <a:lumMod val="75000"/>
                      <a:lumOff val="25000"/>
                    </a:schemeClr>
                  </a:solidFill>
                  <a:cs typeface="Poppins SemiBold" panose="00000700000000000000" pitchFamily="2" charset="0"/>
                </a:endParaRPr>
              </a:p>
            </p:txBody>
          </p:sp>
          <p:pic>
            <p:nvPicPr>
              <p:cNvPr id="1049" name="Elemento grafico 1048">
                <a:extLst>
                  <a:ext uri="{FF2B5EF4-FFF2-40B4-BE49-F238E27FC236}">
                    <a16:creationId xmlns:a16="http://schemas.microsoft.com/office/drawing/2014/main" id="{C622C412-7F98-8D95-FC35-D6B5431E083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571037" y="4371739"/>
                <a:ext cx="388417" cy="388417"/>
              </a:xfrm>
              <a:prstGeom prst="rect">
                <a:avLst/>
              </a:prstGeom>
            </p:spPr>
          </p:pic>
          <p:sp>
            <p:nvSpPr>
              <p:cNvPr id="46" name="Rettangolo con angoli arrotondati 45">
                <a:extLst>
                  <a:ext uri="{FF2B5EF4-FFF2-40B4-BE49-F238E27FC236}">
                    <a16:creationId xmlns:a16="http://schemas.microsoft.com/office/drawing/2014/main" id="{65A4BF43-DA4F-0031-5DD9-B40C6FACA26C}"/>
                  </a:ext>
                </a:extLst>
              </p:cNvPr>
              <p:cNvSpPr>
                <a:spLocks/>
              </p:cNvSpPr>
              <p:nvPr/>
            </p:nvSpPr>
            <p:spPr>
              <a:xfrm>
                <a:off x="3977213" y="4243494"/>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47" name="CasellaDiTesto 46">
                <a:extLst>
                  <a:ext uri="{FF2B5EF4-FFF2-40B4-BE49-F238E27FC236}">
                    <a16:creationId xmlns:a16="http://schemas.microsoft.com/office/drawing/2014/main" id="{A2DED2E1-E661-4F56-C341-C3656AE3EE91}"/>
                  </a:ext>
                </a:extLst>
              </p:cNvPr>
              <p:cNvSpPr txBox="1">
                <a:spLocks/>
              </p:cNvSpPr>
              <p:nvPr/>
            </p:nvSpPr>
            <p:spPr>
              <a:xfrm>
                <a:off x="4117724" y="4263364"/>
                <a:ext cx="728483"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Custom</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48" name="CasellaDiTesto 47">
                <a:extLst>
                  <a:ext uri="{FF2B5EF4-FFF2-40B4-BE49-F238E27FC236}">
                    <a16:creationId xmlns:a16="http://schemas.microsoft.com/office/drawing/2014/main" id="{B83E39E6-D9ED-98D1-E138-FC810D779617}"/>
                  </a:ext>
                </a:extLst>
              </p:cNvPr>
              <p:cNvSpPr txBox="1">
                <a:spLocks/>
              </p:cNvSpPr>
              <p:nvPr/>
            </p:nvSpPr>
            <p:spPr>
              <a:xfrm>
                <a:off x="4117724" y="4479826"/>
                <a:ext cx="3029656" cy="398486"/>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Ideale per pipeline complesse e casi altamente personalizzati.</a:t>
                </a:r>
                <a:endParaRPr lang="en-US" sz="900" dirty="0">
                  <a:solidFill>
                    <a:schemeClr val="tx1">
                      <a:lumMod val="75000"/>
                      <a:lumOff val="25000"/>
                    </a:schemeClr>
                  </a:solidFill>
                  <a:cs typeface="Poppins SemiBold" panose="00000700000000000000" pitchFamily="2" charset="0"/>
                </a:endParaRPr>
              </a:p>
            </p:txBody>
          </p:sp>
          <p:grpSp>
            <p:nvGrpSpPr>
              <p:cNvPr id="1057" name="Gruppo 1056">
                <a:extLst>
                  <a:ext uri="{FF2B5EF4-FFF2-40B4-BE49-F238E27FC236}">
                    <a16:creationId xmlns:a16="http://schemas.microsoft.com/office/drawing/2014/main" id="{709FF169-BC21-DFA0-8E42-064E0234363C}"/>
                  </a:ext>
                </a:extLst>
              </p:cNvPr>
              <p:cNvGrpSpPr>
                <a:grpSpLocks/>
              </p:cNvGrpSpPr>
              <p:nvPr/>
            </p:nvGrpSpPr>
            <p:grpSpPr>
              <a:xfrm>
                <a:off x="7574155" y="4243494"/>
                <a:ext cx="3316951" cy="644906"/>
                <a:chOff x="6976720" y="4327027"/>
                <a:chExt cx="3074276" cy="597724"/>
              </a:xfrm>
            </p:grpSpPr>
            <p:sp>
              <p:nvSpPr>
                <p:cNvPr id="49" name="Rettangolo con angoli arrotondati 48">
                  <a:extLst>
                    <a:ext uri="{FF2B5EF4-FFF2-40B4-BE49-F238E27FC236}">
                      <a16:creationId xmlns:a16="http://schemas.microsoft.com/office/drawing/2014/main" id="{5A7F4DD7-D8C0-5A86-7FB5-1A8E6E872267}"/>
                    </a:ext>
                  </a:extLst>
                </p:cNvPr>
                <p:cNvSpPr>
                  <a:spLocks/>
                </p:cNvSpPr>
                <p:nvPr/>
              </p:nvSpPr>
              <p:spPr>
                <a:xfrm>
                  <a:off x="6976720" y="4327027"/>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50" name="CasellaDiTesto 49">
                  <a:extLst>
                    <a:ext uri="{FF2B5EF4-FFF2-40B4-BE49-F238E27FC236}">
                      <a16:creationId xmlns:a16="http://schemas.microsoft.com/office/drawing/2014/main" id="{0DDB50FB-05F2-49C0-F233-26F9C7C4159A}"/>
                    </a:ext>
                  </a:extLst>
                </p:cNvPr>
                <p:cNvSpPr txBox="1">
                  <a:spLocks/>
                </p:cNvSpPr>
                <p:nvPr/>
              </p:nvSpPr>
              <p:spPr>
                <a:xfrm>
                  <a:off x="7109858" y="4353262"/>
                  <a:ext cx="681597"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Guidato</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51" name="CasellaDiTesto 50">
                  <a:extLst>
                    <a:ext uri="{FF2B5EF4-FFF2-40B4-BE49-F238E27FC236}">
                      <a16:creationId xmlns:a16="http://schemas.microsoft.com/office/drawing/2014/main" id="{31CC837A-9441-F12B-466D-DC719B64938B}"/>
                    </a:ext>
                  </a:extLst>
                </p:cNvPr>
                <p:cNvSpPr txBox="1">
                  <a:spLocks/>
                </p:cNvSpPr>
                <p:nvPr/>
              </p:nvSpPr>
              <p:spPr>
                <a:xfrm>
                  <a:off x="7109857" y="4546069"/>
                  <a:ext cx="2883691" cy="213944"/>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Ideale per </a:t>
                  </a:r>
                  <a:r>
                    <a:rPr lang="en-US" sz="900" noProof="0" dirty="0">
                      <a:solidFill>
                        <a:schemeClr val="tx1">
                          <a:lumMod val="75000"/>
                          <a:lumOff val="25000"/>
                        </a:schemeClr>
                      </a:solidFill>
                      <a:cs typeface="Poppins SemiBold" panose="00000700000000000000" pitchFamily="2" charset="0"/>
                    </a:rPr>
                    <a:t>analytics</a:t>
                  </a:r>
                  <a:r>
                    <a:rPr lang="it-IT" sz="900" dirty="0">
                      <a:solidFill>
                        <a:schemeClr val="tx1">
                          <a:lumMod val="75000"/>
                          <a:lumOff val="25000"/>
                        </a:schemeClr>
                      </a:solidFill>
                      <a:cs typeface="Poppins SemiBold" panose="00000700000000000000" pitchFamily="2" charset="0"/>
                    </a:rPr>
                    <a:t>, reporting e BI aziendale.</a:t>
                  </a:r>
                  <a:endParaRPr lang="en-US" sz="900" dirty="0">
                    <a:solidFill>
                      <a:schemeClr val="tx1">
                        <a:lumMod val="75000"/>
                        <a:lumOff val="25000"/>
                      </a:schemeClr>
                    </a:solidFill>
                    <a:cs typeface="Poppins SemiBold" panose="00000700000000000000" pitchFamily="2" charset="0"/>
                  </a:endParaRPr>
                </a:p>
              </p:txBody>
            </p:sp>
          </p:grpSp>
          <p:sp>
            <p:nvSpPr>
              <p:cNvPr id="52" name="Connettore 51">
                <a:extLst>
                  <a:ext uri="{FF2B5EF4-FFF2-40B4-BE49-F238E27FC236}">
                    <a16:creationId xmlns:a16="http://schemas.microsoft.com/office/drawing/2014/main" id="{73F3911B-94EE-AF6B-EDA8-D35F3F56064E}"/>
                  </a:ext>
                </a:extLst>
              </p:cNvPr>
              <p:cNvSpPr>
                <a:spLocks/>
              </p:cNvSpPr>
              <p:nvPr/>
            </p:nvSpPr>
            <p:spPr>
              <a:xfrm>
                <a:off x="7228239" y="4362314"/>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dirty="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53" name="Rettangolo con angoli arrotondati 52">
                <a:extLst>
                  <a:ext uri="{FF2B5EF4-FFF2-40B4-BE49-F238E27FC236}">
                    <a16:creationId xmlns:a16="http://schemas.microsoft.com/office/drawing/2014/main" id="{9A0FCDD4-2A40-97B1-5127-142D309EE3E9}"/>
                  </a:ext>
                </a:extLst>
              </p:cNvPr>
              <p:cNvSpPr>
                <a:spLocks/>
              </p:cNvSpPr>
              <p:nvPr/>
            </p:nvSpPr>
            <p:spPr>
              <a:xfrm>
                <a:off x="1292906" y="4955888"/>
                <a:ext cx="2899376" cy="644907"/>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54" name="CasellaDiTesto 53">
                <a:extLst>
                  <a:ext uri="{FF2B5EF4-FFF2-40B4-BE49-F238E27FC236}">
                    <a16:creationId xmlns:a16="http://schemas.microsoft.com/office/drawing/2014/main" id="{C2285B0F-940D-83DF-B16E-D7E4838D0CDA}"/>
                  </a:ext>
                </a:extLst>
              </p:cNvPr>
              <p:cNvSpPr txBox="1">
                <a:spLocks/>
              </p:cNvSpPr>
              <p:nvPr/>
            </p:nvSpPr>
            <p:spPr>
              <a:xfrm>
                <a:off x="2141941" y="4997816"/>
                <a:ext cx="155001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RESIDENZA DEL DATO</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55" name="CasellaDiTesto 54">
                <a:extLst>
                  <a:ext uri="{FF2B5EF4-FFF2-40B4-BE49-F238E27FC236}">
                    <a16:creationId xmlns:a16="http://schemas.microsoft.com/office/drawing/2014/main" id="{5C0688D7-DAB4-8061-B9FB-515338155A04}"/>
                  </a:ext>
                </a:extLst>
              </p:cNvPr>
              <p:cNvSpPr txBox="1">
                <a:spLocks/>
              </p:cNvSpPr>
              <p:nvPr/>
            </p:nvSpPr>
            <p:spPr>
              <a:xfrm>
                <a:off x="2154174" y="5205842"/>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Chi decide dove risiedono i dati?</a:t>
                </a:r>
                <a:endParaRPr lang="en-US" sz="900" dirty="0">
                  <a:solidFill>
                    <a:schemeClr val="tx1">
                      <a:lumMod val="75000"/>
                      <a:lumOff val="25000"/>
                    </a:schemeClr>
                  </a:solidFill>
                  <a:cs typeface="Poppins SemiBold" panose="00000700000000000000" pitchFamily="2" charset="0"/>
                </a:endParaRPr>
              </a:p>
            </p:txBody>
          </p:sp>
          <p:sp>
            <p:nvSpPr>
              <p:cNvPr id="58" name="Rettangolo con angoli arrotondati 57">
                <a:extLst>
                  <a:ext uri="{FF2B5EF4-FFF2-40B4-BE49-F238E27FC236}">
                    <a16:creationId xmlns:a16="http://schemas.microsoft.com/office/drawing/2014/main" id="{6DF9D74D-4AF4-1FD6-6B3A-036FA60EE7B4}"/>
                  </a:ext>
                </a:extLst>
              </p:cNvPr>
              <p:cNvSpPr>
                <a:spLocks/>
              </p:cNvSpPr>
              <p:nvPr/>
            </p:nvSpPr>
            <p:spPr>
              <a:xfrm>
                <a:off x="3977213" y="4955888"/>
                <a:ext cx="3316951" cy="644907"/>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59" name="CasellaDiTesto 58">
                <a:extLst>
                  <a:ext uri="{FF2B5EF4-FFF2-40B4-BE49-F238E27FC236}">
                    <a16:creationId xmlns:a16="http://schemas.microsoft.com/office/drawing/2014/main" id="{788980FE-0B04-298C-58B8-6288B8233EF0}"/>
                  </a:ext>
                </a:extLst>
              </p:cNvPr>
              <p:cNvSpPr txBox="1">
                <a:spLocks/>
              </p:cNvSpPr>
              <p:nvPr/>
            </p:nvSpPr>
            <p:spPr>
              <a:xfrm>
                <a:off x="4117724" y="4976421"/>
                <a:ext cx="958512" cy="257356"/>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Controllata</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60" name="CasellaDiTesto 59">
                <a:extLst>
                  <a:ext uri="{FF2B5EF4-FFF2-40B4-BE49-F238E27FC236}">
                    <a16:creationId xmlns:a16="http://schemas.microsoft.com/office/drawing/2014/main" id="{BD37AE1B-5058-DFEA-2E74-8F04D1754D6B}"/>
                  </a:ext>
                </a:extLst>
              </p:cNvPr>
              <p:cNvSpPr txBox="1">
                <a:spLocks/>
              </p:cNvSpPr>
              <p:nvPr/>
            </p:nvSpPr>
            <p:spPr>
              <a:xfrm>
                <a:off x="4117724" y="5192221"/>
                <a:ext cx="3029656"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Il cliente sceglie dove conservare e gestire i propri dati.</a:t>
                </a:r>
                <a:endParaRPr lang="en-US" sz="900" dirty="0">
                  <a:solidFill>
                    <a:schemeClr val="tx1">
                      <a:lumMod val="75000"/>
                      <a:lumOff val="25000"/>
                    </a:schemeClr>
                  </a:solidFill>
                  <a:cs typeface="Poppins SemiBold" panose="00000700000000000000" pitchFamily="2" charset="0"/>
                </a:endParaRPr>
              </a:p>
            </p:txBody>
          </p:sp>
          <p:grpSp>
            <p:nvGrpSpPr>
              <p:cNvPr id="1058" name="Gruppo 1057">
                <a:extLst>
                  <a:ext uri="{FF2B5EF4-FFF2-40B4-BE49-F238E27FC236}">
                    <a16:creationId xmlns:a16="http://schemas.microsoft.com/office/drawing/2014/main" id="{B1E0E601-01C2-6BAA-FA88-5364F8040FE1}"/>
                  </a:ext>
                </a:extLst>
              </p:cNvPr>
              <p:cNvGrpSpPr>
                <a:grpSpLocks/>
              </p:cNvGrpSpPr>
              <p:nvPr/>
            </p:nvGrpSpPr>
            <p:grpSpPr>
              <a:xfrm>
                <a:off x="7574155" y="4955888"/>
                <a:ext cx="3316951" cy="644907"/>
                <a:chOff x="6976720" y="5084717"/>
                <a:chExt cx="3074276" cy="597724"/>
              </a:xfrm>
            </p:grpSpPr>
            <p:sp>
              <p:nvSpPr>
                <p:cNvPr id="61" name="Rettangolo con angoli arrotondati 60">
                  <a:extLst>
                    <a:ext uri="{FF2B5EF4-FFF2-40B4-BE49-F238E27FC236}">
                      <a16:creationId xmlns:a16="http://schemas.microsoft.com/office/drawing/2014/main" id="{034D2D29-AA4A-D710-8399-FC3B10AF1684}"/>
                    </a:ext>
                  </a:extLst>
                </p:cNvPr>
                <p:cNvSpPr>
                  <a:spLocks/>
                </p:cNvSpPr>
                <p:nvPr/>
              </p:nvSpPr>
              <p:spPr>
                <a:xfrm>
                  <a:off x="6976720" y="5084717"/>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62" name="CasellaDiTesto 61">
                  <a:extLst>
                    <a:ext uri="{FF2B5EF4-FFF2-40B4-BE49-F238E27FC236}">
                      <a16:creationId xmlns:a16="http://schemas.microsoft.com/office/drawing/2014/main" id="{8E034DC2-642E-FF0B-A973-7B3BE9E079A0}"/>
                    </a:ext>
                  </a:extLst>
                </p:cNvPr>
                <p:cNvSpPr txBox="1">
                  <a:spLocks/>
                </p:cNvSpPr>
                <p:nvPr/>
              </p:nvSpPr>
              <p:spPr>
                <a:xfrm>
                  <a:off x="7109858" y="5110952"/>
                  <a:ext cx="909223"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Da valutare</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63" name="CasellaDiTesto 62">
                  <a:extLst>
                    <a:ext uri="{FF2B5EF4-FFF2-40B4-BE49-F238E27FC236}">
                      <a16:creationId xmlns:a16="http://schemas.microsoft.com/office/drawing/2014/main" id="{CDC7BE34-4570-8A31-E47A-234C3FCBA745}"/>
                    </a:ext>
                  </a:extLst>
                </p:cNvPr>
                <p:cNvSpPr txBox="1">
                  <a:spLocks/>
                </p:cNvSpPr>
                <p:nvPr/>
              </p:nvSpPr>
              <p:spPr>
                <a:xfrm>
                  <a:off x="7109858" y="5303759"/>
                  <a:ext cx="2808000" cy="342311"/>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La soluzione può richiedere che i dati risiedano nel cloud Qlik.</a:t>
                  </a:r>
                  <a:endParaRPr lang="en-US" sz="900" dirty="0">
                    <a:solidFill>
                      <a:schemeClr val="tx1">
                        <a:lumMod val="75000"/>
                        <a:lumOff val="25000"/>
                      </a:schemeClr>
                    </a:solidFill>
                    <a:cs typeface="Poppins SemiBold" panose="00000700000000000000" pitchFamily="2" charset="0"/>
                  </a:endParaRPr>
                </a:p>
              </p:txBody>
            </p:sp>
          </p:grpSp>
          <p:sp>
            <p:nvSpPr>
              <p:cNvPr id="64" name="Connettore 63">
                <a:extLst>
                  <a:ext uri="{FF2B5EF4-FFF2-40B4-BE49-F238E27FC236}">
                    <a16:creationId xmlns:a16="http://schemas.microsoft.com/office/drawing/2014/main" id="{67F6255F-DB77-C96D-F556-ADC7D8022EAA}"/>
                  </a:ext>
                </a:extLst>
              </p:cNvPr>
              <p:cNvSpPr>
                <a:spLocks/>
              </p:cNvSpPr>
              <p:nvPr/>
            </p:nvSpPr>
            <p:spPr>
              <a:xfrm>
                <a:off x="7228239" y="5074708"/>
                <a:ext cx="407268" cy="407268"/>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21" name="Rettangolo con angoli arrotondati 120">
                <a:extLst>
                  <a:ext uri="{FF2B5EF4-FFF2-40B4-BE49-F238E27FC236}">
                    <a16:creationId xmlns:a16="http://schemas.microsoft.com/office/drawing/2014/main" id="{C07D635B-2759-9323-081B-79DD5A35F541}"/>
                  </a:ext>
                </a:extLst>
              </p:cNvPr>
              <p:cNvSpPr>
                <a:spLocks/>
              </p:cNvSpPr>
              <p:nvPr/>
            </p:nvSpPr>
            <p:spPr>
              <a:xfrm>
                <a:off x="1292906" y="5664749"/>
                <a:ext cx="2899376" cy="644907"/>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22" name="CasellaDiTesto 121">
                <a:extLst>
                  <a:ext uri="{FF2B5EF4-FFF2-40B4-BE49-F238E27FC236}">
                    <a16:creationId xmlns:a16="http://schemas.microsoft.com/office/drawing/2014/main" id="{F1861244-A44F-3436-AD18-AD9FC857AF19}"/>
                  </a:ext>
                </a:extLst>
              </p:cNvPr>
              <p:cNvSpPr txBox="1">
                <a:spLocks/>
              </p:cNvSpPr>
              <p:nvPr/>
            </p:nvSpPr>
            <p:spPr>
              <a:xfrm>
                <a:off x="2141941" y="5706677"/>
                <a:ext cx="75961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LOCK-IN</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24" name="CasellaDiTesto 123">
                <a:extLst>
                  <a:ext uri="{FF2B5EF4-FFF2-40B4-BE49-F238E27FC236}">
                    <a16:creationId xmlns:a16="http://schemas.microsoft.com/office/drawing/2014/main" id="{E745AD5A-D300-15CF-F263-CCA39B208477}"/>
                  </a:ext>
                </a:extLst>
              </p:cNvPr>
              <p:cNvSpPr txBox="1">
                <a:spLocks/>
              </p:cNvSpPr>
              <p:nvPr/>
            </p:nvSpPr>
            <p:spPr>
              <a:xfrm>
                <a:off x="2154174" y="5914703"/>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facile sostituire la piattaforma?</a:t>
                </a:r>
                <a:endParaRPr lang="en-US" sz="900" dirty="0">
                  <a:solidFill>
                    <a:schemeClr val="tx1">
                      <a:lumMod val="75000"/>
                      <a:lumOff val="25000"/>
                    </a:schemeClr>
                  </a:solidFill>
                  <a:cs typeface="Poppins SemiBold" panose="00000700000000000000" pitchFamily="2" charset="0"/>
                </a:endParaRPr>
              </a:p>
            </p:txBody>
          </p:sp>
          <p:sp>
            <p:nvSpPr>
              <p:cNvPr id="126" name="Rettangolo con angoli arrotondati 125">
                <a:extLst>
                  <a:ext uri="{FF2B5EF4-FFF2-40B4-BE49-F238E27FC236}">
                    <a16:creationId xmlns:a16="http://schemas.microsoft.com/office/drawing/2014/main" id="{7C5A0D67-3E6B-D3B6-1BF6-D09E5C058142}"/>
                  </a:ext>
                </a:extLst>
              </p:cNvPr>
              <p:cNvSpPr>
                <a:spLocks/>
              </p:cNvSpPr>
              <p:nvPr/>
            </p:nvSpPr>
            <p:spPr>
              <a:xfrm>
                <a:off x="3977213" y="5664749"/>
                <a:ext cx="3316951" cy="644907"/>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025" name="CasellaDiTesto 1024">
                <a:extLst>
                  <a:ext uri="{FF2B5EF4-FFF2-40B4-BE49-F238E27FC236}">
                    <a16:creationId xmlns:a16="http://schemas.microsoft.com/office/drawing/2014/main" id="{C5DFBA45-6A3B-11A3-1973-2CAF54A549F1}"/>
                  </a:ext>
                </a:extLst>
              </p:cNvPr>
              <p:cNvSpPr txBox="1">
                <a:spLocks/>
              </p:cNvSpPr>
              <p:nvPr/>
            </p:nvSpPr>
            <p:spPr>
              <a:xfrm>
                <a:off x="4117724" y="5685282"/>
                <a:ext cx="744048" cy="257356"/>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Limitato</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1026" name="CasellaDiTesto 1025">
                <a:extLst>
                  <a:ext uri="{FF2B5EF4-FFF2-40B4-BE49-F238E27FC236}">
                    <a16:creationId xmlns:a16="http://schemas.microsoft.com/office/drawing/2014/main" id="{BDCD746F-AC55-1C11-23A6-2D5DEB6D9A12}"/>
                  </a:ext>
                </a:extLst>
              </p:cNvPr>
              <p:cNvSpPr txBox="1">
                <a:spLocks/>
              </p:cNvSpPr>
              <p:nvPr/>
            </p:nvSpPr>
            <p:spPr>
              <a:xfrm>
                <a:off x="4117724" y="5901082"/>
                <a:ext cx="3029656"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 componenti possono evolvere o essere sostituiti in modo indipendente.</a:t>
                </a:r>
                <a:endParaRPr lang="en-US" sz="900" dirty="0">
                  <a:solidFill>
                    <a:schemeClr val="tx1">
                      <a:lumMod val="75000"/>
                      <a:lumOff val="25000"/>
                    </a:schemeClr>
                  </a:solidFill>
                  <a:cs typeface="Poppins SemiBold" panose="00000700000000000000" pitchFamily="2" charset="0"/>
                </a:endParaRPr>
              </a:p>
            </p:txBody>
          </p:sp>
          <p:grpSp>
            <p:nvGrpSpPr>
              <p:cNvPr id="1059" name="Gruppo 1058">
                <a:extLst>
                  <a:ext uri="{FF2B5EF4-FFF2-40B4-BE49-F238E27FC236}">
                    <a16:creationId xmlns:a16="http://schemas.microsoft.com/office/drawing/2014/main" id="{D48A3908-23B6-29E1-DFC9-6896256E8A8D}"/>
                  </a:ext>
                </a:extLst>
              </p:cNvPr>
              <p:cNvGrpSpPr>
                <a:grpSpLocks/>
              </p:cNvGrpSpPr>
              <p:nvPr/>
            </p:nvGrpSpPr>
            <p:grpSpPr>
              <a:xfrm>
                <a:off x="7574155" y="5664749"/>
                <a:ext cx="3316951" cy="644907"/>
                <a:chOff x="6976720" y="5880877"/>
                <a:chExt cx="3074276" cy="597724"/>
              </a:xfrm>
            </p:grpSpPr>
            <p:sp>
              <p:nvSpPr>
                <p:cNvPr id="1028" name="Rettangolo con angoli arrotondati 1027">
                  <a:extLst>
                    <a:ext uri="{FF2B5EF4-FFF2-40B4-BE49-F238E27FC236}">
                      <a16:creationId xmlns:a16="http://schemas.microsoft.com/office/drawing/2014/main" id="{1CD7C74B-E675-D7E1-42DC-D20EB6B9D8A5}"/>
                    </a:ext>
                  </a:extLst>
                </p:cNvPr>
                <p:cNvSpPr>
                  <a:spLocks/>
                </p:cNvSpPr>
                <p:nvPr/>
              </p:nvSpPr>
              <p:spPr>
                <a:xfrm>
                  <a:off x="6976720" y="5880877"/>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030" name="CasellaDiTesto 1029">
                  <a:extLst>
                    <a:ext uri="{FF2B5EF4-FFF2-40B4-BE49-F238E27FC236}">
                      <a16:creationId xmlns:a16="http://schemas.microsoft.com/office/drawing/2014/main" id="{35F7F190-3F1D-7DCB-E0F4-6A824485BFE9}"/>
                    </a:ext>
                  </a:extLst>
                </p:cNvPr>
                <p:cNvSpPr txBox="1">
                  <a:spLocks/>
                </p:cNvSpPr>
                <p:nvPr/>
              </p:nvSpPr>
              <p:spPr>
                <a:xfrm>
                  <a:off x="7109858" y="5907112"/>
                  <a:ext cx="779381"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Maggiore</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1032" name="CasellaDiTesto 1031">
                  <a:extLst>
                    <a:ext uri="{FF2B5EF4-FFF2-40B4-BE49-F238E27FC236}">
                      <a16:creationId xmlns:a16="http://schemas.microsoft.com/office/drawing/2014/main" id="{E5313E74-CAEF-5F91-5430-AAB8C7DFC874}"/>
                    </a:ext>
                  </a:extLst>
                </p:cNvPr>
                <p:cNvSpPr txBox="1">
                  <a:spLocks/>
                </p:cNvSpPr>
                <p:nvPr/>
              </p:nvSpPr>
              <p:spPr>
                <a:xfrm>
                  <a:off x="7109858" y="6099919"/>
                  <a:ext cx="2808000"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L’integrazione della piattaforma aumenta la dipendenza dall’ecosistema Qlik.</a:t>
                  </a:r>
                  <a:endParaRPr lang="en-US" sz="900" dirty="0">
                    <a:solidFill>
                      <a:schemeClr val="tx1">
                        <a:lumMod val="75000"/>
                        <a:lumOff val="25000"/>
                      </a:schemeClr>
                    </a:solidFill>
                    <a:cs typeface="Poppins SemiBold" panose="00000700000000000000" pitchFamily="2" charset="0"/>
                  </a:endParaRPr>
                </a:p>
              </p:txBody>
            </p:sp>
          </p:grpSp>
          <p:sp>
            <p:nvSpPr>
              <p:cNvPr id="1033" name="Connettore 1032">
                <a:extLst>
                  <a:ext uri="{FF2B5EF4-FFF2-40B4-BE49-F238E27FC236}">
                    <a16:creationId xmlns:a16="http://schemas.microsoft.com/office/drawing/2014/main" id="{7135C988-69BE-2553-544F-7D295E570AC7}"/>
                  </a:ext>
                </a:extLst>
              </p:cNvPr>
              <p:cNvSpPr>
                <a:spLocks/>
              </p:cNvSpPr>
              <p:nvPr/>
            </p:nvSpPr>
            <p:spPr>
              <a:xfrm>
                <a:off x="7228239" y="5783569"/>
                <a:ext cx="407268" cy="407268"/>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nvGrpSpPr>
              <p:cNvPr id="152" name="Gruppo 151">
                <a:extLst>
                  <a:ext uri="{FF2B5EF4-FFF2-40B4-BE49-F238E27FC236}">
                    <a16:creationId xmlns:a16="http://schemas.microsoft.com/office/drawing/2014/main" id="{681AD43D-FA49-236C-83A7-2C1D3C760198}"/>
                  </a:ext>
                </a:extLst>
              </p:cNvPr>
              <p:cNvGrpSpPr>
                <a:grpSpLocks/>
              </p:cNvGrpSpPr>
              <p:nvPr/>
            </p:nvGrpSpPr>
            <p:grpSpPr>
              <a:xfrm>
                <a:off x="6370908" y="1445411"/>
                <a:ext cx="815577" cy="126000"/>
                <a:chOff x="6370908" y="1359094"/>
                <a:chExt cx="815577" cy="126000"/>
              </a:xfrm>
            </p:grpSpPr>
            <p:sp>
              <p:nvSpPr>
                <p:cNvPr id="147" name="Connettore 146">
                  <a:extLst>
                    <a:ext uri="{FF2B5EF4-FFF2-40B4-BE49-F238E27FC236}">
                      <a16:creationId xmlns:a16="http://schemas.microsoft.com/office/drawing/2014/main" id="{FF47B27B-4077-2384-4449-156ADBADA3AC}"/>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Connettore 147">
                  <a:extLst>
                    <a:ext uri="{FF2B5EF4-FFF2-40B4-BE49-F238E27FC236}">
                      <a16:creationId xmlns:a16="http://schemas.microsoft.com/office/drawing/2014/main" id="{A79354B6-3293-3225-0167-B75197E82932}"/>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Connettore 148">
                  <a:extLst>
                    <a:ext uri="{FF2B5EF4-FFF2-40B4-BE49-F238E27FC236}">
                      <a16:creationId xmlns:a16="http://schemas.microsoft.com/office/drawing/2014/main" id="{37F39699-964D-78BB-A7FA-F4C8ED5B419E}"/>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Connettore 149">
                  <a:extLst>
                    <a:ext uri="{FF2B5EF4-FFF2-40B4-BE49-F238E27FC236}">
                      <a16:creationId xmlns:a16="http://schemas.microsoft.com/office/drawing/2014/main" id="{FDB103B4-534B-0E09-CD47-7ACBA088765E}"/>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Connettore 150">
                  <a:extLst>
                    <a:ext uri="{FF2B5EF4-FFF2-40B4-BE49-F238E27FC236}">
                      <a16:creationId xmlns:a16="http://schemas.microsoft.com/office/drawing/2014/main" id="{17FC911A-F7E9-8DBF-703F-C54DC8A318DE}"/>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3" name="Gruppo 152">
                <a:extLst>
                  <a:ext uri="{FF2B5EF4-FFF2-40B4-BE49-F238E27FC236}">
                    <a16:creationId xmlns:a16="http://schemas.microsoft.com/office/drawing/2014/main" id="{05918265-15CC-C523-9955-C95453B57794}"/>
                  </a:ext>
                </a:extLst>
              </p:cNvPr>
              <p:cNvGrpSpPr>
                <a:grpSpLocks/>
              </p:cNvGrpSpPr>
              <p:nvPr/>
            </p:nvGrpSpPr>
            <p:grpSpPr>
              <a:xfrm>
                <a:off x="6370908" y="2157218"/>
                <a:ext cx="815577" cy="126000"/>
                <a:chOff x="6370908" y="1359094"/>
                <a:chExt cx="815577" cy="126000"/>
              </a:xfrm>
            </p:grpSpPr>
            <p:sp>
              <p:nvSpPr>
                <p:cNvPr id="155" name="Connettore 154">
                  <a:extLst>
                    <a:ext uri="{FF2B5EF4-FFF2-40B4-BE49-F238E27FC236}">
                      <a16:creationId xmlns:a16="http://schemas.microsoft.com/office/drawing/2014/main" id="{81FA329A-61C9-D615-D06C-1C8965FDEECE}"/>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Connettore 155">
                  <a:extLst>
                    <a:ext uri="{FF2B5EF4-FFF2-40B4-BE49-F238E27FC236}">
                      <a16:creationId xmlns:a16="http://schemas.microsoft.com/office/drawing/2014/main" id="{BFDB59DA-231E-BEE3-C849-955E35D21699}"/>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Connettore 156">
                  <a:extLst>
                    <a:ext uri="{FF2B5EF4-FFF2-40B4-BE49-F238E27FC236}">
                      <a16:creationId xmlns:a16="http://schemas.microsoft.com/office/drawing/2014/main" id="{09EEC50A-FF2B-8510-EFC7-F62E5EABEFC7}"/>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Connettore 157">
                  <a:extLst>
                    <a:ext uri="{FF2B5EF4-FFF2-40B4-BE49-F238E27FC236}">
                      <a16:creationId xmlns:a16="http://schemas.microsoft.com/office/drawing/2014/main" id="{C12E9004-B3CB-6A9F-9931-A460639CF73B}"/>
                    </a:ext>
                  </a:extLst>
                </p:cNvPr>
                <p:cNvSpPr>
                  <a:spLocks/>
                </p:cNvSpPr>
                <p:nvPr/>
              </p:nvSpPr>
              <p:spPr>
                <a:xfrm>
                  <a:off x="6888090"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Connettore 158">
                  <a:extLst>
                    <a:ext uri="{FF2B5EF4-FFF2-40B4-BE49-F238E27FC236}">
                      <a16:creationId xmlns:a16="http://schemas.microsoft.com/office/drawing/2014/main" id="{BD77B73D-9CDF-06B6-6721-23EDB1D3A8C8}"/>
                    </a:ext>
                  </a:extLst>
                </p:cNvPr>
                <p:cNvSpPr>
                  <a:spLocks/>
                </p:cNvSpPr>
                <p:nvPr/>
              </p:nvSpPr>
              <p:spPr>
                <a:xfrm>
                  <a:off x="7060485"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1" name="Gruppo 160">
                <a:extLst>
                  <a:ext uri="{FF2B5EF4-FFF2-40B4-BE49-F238E27FC236}">
                    <a16:creationId xmlns:a16="http://schemas.microsoft.com/office/drawing/2014/main" id="{EA9E84F5-1B13-D1EC-3A26-7EF45868AF5B}"/>
                  </a:ext>
                </a:extLst>
              </p:cNvPr>
              <p:cNvGrpSpPr>
                <a:grpSpLocks/>
              </p:cNvGrpSpPr>
              <p:nvPr/>
            </p:nvGrpSpPr>
            <p:grpSpPr>
              <a:xfrm>
                <a:off x="6370908" y="2869714"/>
                <a:ext cx="815577" cy="126000"/>
                <a:chOff x="6370908" y="1359094"/>
                <a:chExt cx="815577" cy="126000"/>
              </a:xfrm>
            </p:grpSpPr>
            <p:sp>
              <p:nvSpPr>
                <p:cNvPr id="163" name="Connettore 162">
                  <a:extLst>
                    <a:ext uri="{FF2B5EF4-FFF2-40B4-BE49-F238E27FC236}">
                      <a16:creationId xmlns:a16="http://schemas.microsoft.com/office/drawing/2014/main" id="{EA036480-1544-ABCC-F1FB-352870A00394}"/>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Connettore 163">
                  <a:extLst>
                    <a:ext uri="{FF2B5EF4-FFF2-40B4-BE49-F238E27FC236}">
                      <a16:creationId xmlns:a16="http://schemas.microsoft.com/office/drawing/2014/main" id="{300AE736-F138-1508-938C-6F11D6FC8DE8}"/>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Connettore 164">
                  <a:extLst>
                    <a:ext uri="{FF2B5EF4-FFF2-40B4-BE49-F238E27FC236}">
                      <a16:creationId xmlns:a16="http://schemas.microsoft.com/office/drawing/2014/main" id="{F58D4BED-2D16-051A-0BDB-D930F65421F9}"/>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Connettore 165">
                  <a:extLst>
                    <a:ext uri="{FF2B5EF4-FFF2-40B4-BE49-F238E27FC236}">
                      <a16:creationId xmlns:a16="http://schemas.microsoft.com/office/drawing/2014/main" id="{BDC43694-C973-315B-1C54-31017CD1DAA6}"/>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Connettore 166">
                  <a:extLst>
                    <a:ext uri="{FF2B5EF4-FFF2-40B4-BE49-F238E27FC236}">
                      <a16:creationId xmlns:a16="http://schemas.microsoft.com/office/drawing/2014/main" id="{DC6B1579-4CE3-850D-B2DA-0DC89CBA959A}"/>
                    </a:ext>
                  </a:extLst>
                </p:cNvPr>
                <p:cNvSpPr>
                  <a:spLocks/>
                </p:cNvSpPr>
                <p:nvPr/>
              </p:nvSpPr>
              <p:spPr>
                <a:xfrm>
                  <a:off x="7060485"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8" name="Gruppo 167">
                <a:extLst>
                  <a:ext uri="{FF2B5EF4-FFF2-40B4-BE49-F238E27FC236}">
                    <a16:creationId xmlns:a16="http://schemas.microsoft.com/office/drawing/2014/main" id="{A82A34F7-ED59-FA39-F5EE-F4F344859E1C}"/>
                  </a:ext>
                </a:extLst>
              </p:cNvPr>
              <p:cNvGrpSpPr>
                <a:grpSpLocks/>
              </p:cNvGrpSpPr>
              <p:nvPr/>
            </p:nvGrpSpPr>
            <p:grpSpPr>
              <a:xfrm>
                <a:off x="6370908" y="3579705"/>
                <a:ext cx="815577" cy="126000"/>
                <a:chOff x="6370908" y="1359094"/>
                <a:chExt cx="815577" cy="126000"/>
              </a:xfrm>
            </p:grpSpPr>
            <p:sp>
              <p:nvSpPr>
                <p:cNvPr id="169" name="Connettore 168">
                  <a:extLst>
                    <a:ext uri="{FF2B5EF4-FFF2-40B4-BE49-F238E27FC236}">
                      <a16:creationId xmlns:a16="http://schemas.microsoft.com/office/drawing/2014/main" id="{199385EB-EB50-B2D5-5E2D-D1EAC3EC88E3}"/>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Connettore 169">
                  <a:extLst>
                    <a:ext uri="{FF2B5EF4-FFF2-40B4-BE49-F238E27FC236}">
                      <a16:creationId xmlns:a16="http://schemas.microsoft.com/office/drawing/2014/main" id="{682EABB6-368F-C083-12F9-91F8E13CDF41}"/>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Connettore 170">
                  <a:extLst>
                    <a:ext uri="{FF2B5EF4-FFF2-40B4-BE49-F238E27FC236}">
                      <a16:creationId xmlns:a16="http://schemas.microsoft.com/office/drawing/2014/main" id="{511FDF46-2201-5675-2D2B-7D08B5DC2CF2}"/>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Connettore 171">
                  <a:extLst>
                    <a:ext uri="{FF2B5EF4-FFF2-40B4-BE49-F238E27FC236}">
                      <a16:creationId xmlns:a16="http://schemas.microsoft.com/office/drawing/2014/main" id="{3BEB39DC-9197-5822-9BB9-73A2A11FC821}"/>
                    </a:ext>
                  </a:extLst>
                </p:cNvPr>
                <p:cNvSpPr>
                  <a:spLocks/>
                </p:cNvSpPr>
                <p:nvPr/>
              </p:nvSpPr>
              <p:spPr>
                <a:xfrm>
                  <a:off x="6888090"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Connettore 172">
                  <a:extLst>
                    <a:ext uri="{FF2B5EF4-FFF2-40B4-BE49-F238E27FC236}">
                      <a16:creationId xmlns:a16="http://schemas.microsoft.com/office/drawing/2014/main" id="{62F68269-3FF7-8163-CFAD-3526BF434547}"/>
                    </a:ext>
                  </a:extLst>
                </p:cNvPr>
                <p:cNvSpPr>
                  <a:spLocks/>
                </p:cNvSpPr>
                <p:nvPr/>
              </p:nvSpPr>
              <p:spPr>
                <a:xfrm>
                  <a:off x="7060485"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4" name="Gruppo 173">
                <a:extLst>
                  <a:ext uri="{FF2B5EF4-FFF2-40B4-BE49-F238E27FC236}">
                    <a16:creationId xmlns:a16="http://schemas.microsoft.com/office/drawing/2014/main" id="{022BF7F3-E7C3-A7AE-067B-74D8A2D3E3D6}"/>
                  </a:ext>
                </a:extLst>
              </p:cNvPr>
              <p:cNvGrpSpPr>
                <a:grpSpLocks/>
              </p:cNvGrpSpPr>
              <p:nvPr/>
            </p:nvGrpSpPr>
            <p:grpSpPr>
              <a:xfrm>
                <a:off x="6370908" y="4293471"/>
                <a:ext cx="815577" cy="126000"/>
                <a:chOff x="6370908" y="1359094"/>
                <a:chExt cx="815577" cy="126000"/>
              </a:xfrm>
            </p:grpSpPr>
            <p:sp>
              <p:nvSpPr>
                <p:cNvPr id="175" name="Connettore 174">
                  <a:extLst>
                    <a:ext uri="{FF2B5EF4-FFF2-40B4-BE49-F238E27FC236}">
                      <a16:creationId xmlns:a16="http://schemas.microsoft.com/office/drawing/2014/main" id="{5A5A1B2F-6F04-7CE5-FC7F-A2B4C22A2C73}"/>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Connettore 175">
                  <a:extLst>
                    <a:ext uri="{FF2B5EF4-FFF2-40B4-BE49-F238E27FC236}">
                      <a16:creationId xmlns:a16="http://schemas.microsoft.com/office/drawing/2014/main" id="{B75EF390-3C04-DD1A-37D2-5FA00BCF633A}"/>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Connettore 176">
                  <a:extLst>
                    <a:ext uri="{FF2B5EF4-FFF2-40B4-BE49-F238E27FC236}">
                      <a16:creationId xmlns:a16="http://schemas.microsoft.com/office/drawing/2014/main" id="{F4700815-A3F4-7872-FDCC-4252EC9BE05F}"/>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Connettore 178">
                  <a:extLst>
                    <a:ext uri="{FF2B5EF4-FFF2-40B4-BE49-F238E27FC236}">
                      <a16:creationId xmlns:a16="http://schemas.microsoft.com/office/drawing/2014/main" id="{C24F8AE1-EDD2-BD85-809F-2E3794C40594}"/>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Connettore 179">
                  <a:extLst>
                    <a:ext uri="{FF2B5EF4-FFF2-40B4-BE49-F238E27FC236}">
                      <a16:creationId xmlns:a16="http://schemas.microsoft.com/office/drawing/2014/main" id="{B4EDFDEC-BD13-4CC3-3FAD-018EF1D76A3F}"/>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2" name="Gruppo 181">
                <a:extLst>
                  <a:ext uri="{FF2B5EF4-FFF2-40B4-BE49-F238E27FC236}">
                    <a16:creationId xmlns:a16="http://schemas.microsoft.com/office/drawing/2014/main" id="{78B991B8-4F18-BD0A-8ABC-2BC0F2912F8E}"/>
                  </a:ext>
                </a:extLst>
              </p:cNvPr>
              <p:cNvGrpSpPr>
                <a:grpSpLocks/>
              </p:cNvGrpSpPr>
              <p:nvPr/>
            </p:nvGrpSpPr>
            <p:grpSpPr>
              <a:xfrm>
                <a:off x="6370908" y="5009308"/>
                <a:ext cx="815577" cy="126000"/>
                <a:chOff x="6370908" y="1359094"/>
                <a:chExt cx="815577" cy="126000"/>
              </a:xfrm>
            </p:grpSpPr>
            <p:sp>
              <p:nvSpPr>
                <p:cNvPr id="184" name="Connettore 183">
                  <a:extLst>
                    <a:ext uri="{FF2B5EF4-FFF2-40B4-BE49-F238E27FC236}">
                      <a16:creationId xmlns:a16="http://schemas.microsoft.com/office/drawing/2014/main" id="{AF66514A-53A6-394B-FD4A-0BD95B4E295C}"/>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Connettore 184">
                  <a:extLst>
                    <a:ext uri="{FF2B5EF4-FFF2-40B4-BE49-F238E27FC236}">
                      <a16:creationId xmlns:a16="http://schemas.microsoft.com/office/drawing/2014/main" id="{ECE13526-FC68-24F0-1701-49474EAC1F32}"/>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Connettore 185">
                  <a:extLst>
                    <a:ext uri="{FF2B5EF4-FFF2-40B4-BE49-F238E27FC236}">
                      <a16:creationId xmlns:a16="http://schemas.microsoft.com/office/drawing/2014/main" id="{E486E9BA-2E7D-CA57-3940-0D0738119A54}"/>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Connettore 186">
                  <a:extLst>
                    <a:ext uri="{FF2B5EF4-FFF2-40B4-BE49-F238E27FC236}">
                      <a16:creationId xmlns:a16="http://schemas.microsoft.com/office/drawing/2014/main" id="{09479837-EF60-070F-F622-33226BFBB7D6}"/>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Connettore 187">
                  <a:extLst>
                    <a:ext uri="{FF2B5EF4-FFF2-40B4-BE49-F238E27FC236}">
                      <a16:creationId xmlns:a16="http://schemas.microsoft.com/office/drawing/2014/main" id="{AFA55768-D50E-F712-5837-7E1C88BC33CA}"/>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9" name="Gruppo 188">
                <a:extLst>
                  <a:ext uri="{FF2B5EF4-FFF2-40B4-BE49-F238E27FC236}">
                    <a16:creationId xmlns:a16="http://schemas.microsoft.com/office/drawing/2014/main" id="{614AB4FC-C5B8-1FEB-34E7-34D07CDF9F05}"/>
                  </a:ext>
                </a:extLst>
              </p:cNvPr>
              <p:cNvGrpSpPr>
                <a:grpSpLocks/>
              </p:cNvGrpSpPr>
              <p:nvPr/>
            </p:nvGrpSpPr>
            <p:grpSpPr>
              <a:xfrm>
                <a:off x="6370908" y="5720059"/>
                <a:ext cx="815577" cy="126000"/>
                <a:chOff x="6370908" y="1359094"/>
                <a:chExt cx="815577" cy="126000"/>
              </a:xfrm>
            </p:grpSpPr>
            <p:sp>
              <p:nvSpPr>
                <p:cNvPr id="190" name="Connettore 189">
                  <a:extLst>
                    <a:ext uri="{FF2B5EF4-FFF2-40B4-BE49-F238E27FC236}">
                      <a16:creationId xmlns:a16="http://schemas.microsoft.com/office/drawing/2014/main" id="{4541CB0E-80FD-F598-C665-DCE7FAE18D1D}"/>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Connettore 190">
                  <a:extLst>
                    <a:ext uri="{FF2B5EF4-FFF2-40B4-BE49-F238E27FC236}">
                      <a16:creationId xmlns:a16="http://schemas.microsoft.com/office/drawing/2014/main" id="{2B9DFC64-1A42-DAD5-27F1-DEBA6B842AF7}"/>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8" name="Connettore 1087">
                  <a:extLst>
                    <a:ext uri="{FF2B5EF4-FFF2-40B4-BE49-F238E27FC236}">
                      <a16:creationId xmlns:a16="http://schemas.microsoft.com/office/drawing/2014/main" id="{8093D396-16C8-4C26-094D-51E8D68C2180}"/>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9" name="Connettore 1088">
                  <a:extLst>
                    <a:ext uri="{FF2B5EF4-FFF2-40B4-BE49-F238E27FC236}">
                      <a16:creationId xmlns:a16="http://schemas.microsoft.com/office/drawing/2014/main" id="{C0FF5105-4BAB-260B-036F-8B53E9C96DC8}"/>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0" name="Connettore 1089">
                  <a:extLst>
                    <a:ext uri="{FF2B5EF4-FFF2-40B4-BE49-F238E27FC236}">
                      <a16:creationId xmlns:a16="http://schemas.microsoft.com/office/drawing/2014/main" id="{5922436D-1D69-D9CD-C03A-DD82FA346606}"/>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91" name="Gruppo 1090">
                <a:extLst>
                  <a:ext uri="{FF2B5EF4-FFF2-40B4-BE49-F238E27FC236}">
                    <a16:creationId xmlns:a16="http://schemas.microsoft.com/office/drawing/2014/main" id="{F2B04058-5210-B7C1-5E4D-361A31C31685}"/>
                  </a:ext>
                </a:extLst>
              </p:cNvPr>
              <p:cNvGrpSpPr>
                <a:grpSpLocks/>
              </p:cNvGrpSpPr>
              <p:nvPr/>
            </p:nvGrpSpPr>
            <p:grpSpPr>
              <a:xfrm>
                <a:off x="9975011" y="1445411"/>
                <a:ext cx="815577" cy="126000"/>
                <a:chOff x="6370908" y="1359094"/>
                <a:chExt cx="815577" cy="126000"/>
              </a:xfrm>
            </p:grpSpPr>
            <p:sp>
              <p:nvSpPr>
                <p:cNvPr id="1092" name="Connettore 1091">
                  <a:extLst>
                    <a:ext uri="{FF2B5EF4-FFF2-40B4-BE49-F238E27FC236}">
                      <a16:creationId xmlns:a16="http://schemas.microsoft.com/office/drawing/2014/main" id="{2608ED5B-CAEF-DA88-8689-62E3752D77D7}"/>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3" name="Connettore 1092">
                  <a:extLst>
                    <a:ext uri="{FF2B5EF4-FFF2-40B4-BE49-F238E27FC236}">
                      <a16:creationId xmlns:a16="http://schemas.microsoft.com/office/drawing/2014/main" id="{F567C87F-CE0E-554B-F75D-72562372D7D0}"/>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4" name="Connettore 1093">
                  <a:extLst>
                    <a:ext uri="{FF2B5EF4-FFF2-40B4-BE49-F238E27FC236}">
                      <a16:creationId xmlns:a16="http://schemas.microsoft.com/office/drawing/2014/main" id="{D20BDA92-0146-0957-8726-57BC5510E75B}"/>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5" name="Connettore 1094">
                  <a:extLst>
                    <a:ext uri="{FF2B5EF4-FFF2-40B4-BE49-F238E27FC236}">
                      <a16:creationId xmlns:a16="http://schemas.microsoft.com/office/drawing/2014/main" id="{A07CB324-8619-443F-3B9E-030736BE75E3}"/>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6" name="Connettore 1095">
                  <a:extLst>
                    <a:ext uri="{FF2B5EF4-FFF2-40B4-BE49-F238E27FC236}">
                      <a16:creationId xmlns:a16="http://schemas.microsoft.com/office/drawing/2014/main" id="{7CBD206B-C5FC-67E1-C869-C20280AF1276}"/>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97" name="Gruppo 1096">
                <a:extLst>
                  <a:ext uri="{FF2B5EF4-FFF2-40B4-BE49-F238E27FC236}">
                    <a16:creationId xmlns:a16="http://schemas.microsoft.com/office/drawing/2014/main" id="{08063EBD-699F-8BD6-4508-3306E90FD07C}"/>
                  </a:ext>
                </a:extLst>
              </p:cNvPr>
              <p:cNvGrpSpPr>
                <a:grpSpLocks/>
              </p:cNvGrpSpPr>
              <p:nvPr/>
            </p:nvGrpSpPr>
            <p:grpSpPr>
              <a:xfrm>
                <a:off x="9975011" y="2157192"/>
                <a:ext cx="815577" cy="126000"/>
                <a:chOff x="6370908" y="1359094"/>
                <a:chExt cx="815577" cy="126000"/>
              </a:xfrm>
            </p:grpSpPr>
            <p:sp>
              <p:nvSpPr>
                <p:cNvPr id="1098" name="Connettore 1097">
                  <a:extLst>
                    <a:ext uri="{FF2B5EF4-FFF2-40B4-BE49-F238E27FC236}">
                      <a16:creationId xmlns:a16="http://schemas.microsoft.com/office/drawing/2014/main" id="{4BA51AC7-7FA6-1A43-D472-59C529689043}"/>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9" name="Connettore 1098">
                  <a:extLst>
                    <a:ext uri="{FF2B5EF4-FFF2-40B4-BE49-F238E27FC236}">
                      <a16:creationId xmlns:a16="http://schemas.microsoft.com/office/drawing/2014/main" id="{ECF0D81D-47AD-8C99-49EF-8575C5B8E2FF}"/>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0" name="Connettore 1099">
                  <a:extLst>
                    <a:ext uri="{FF2B5EF4-FFF2-40B4-BE49-F238E27FC236}">
                      <a16:creationId xmlns:a16="http://schemas.microsoft.com/office/drawing/2014/main" id="{956E9911-B20A-170D-2672-D41D01B36C29}"/>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1" name="Connettore 1100">
                  <a:extLst>
                    <a:ext uri="{FF2B5EF4-FFF2-40B4-BE49-F238E27FC236}">
                      <a16:creationId xmlns:a16="http://schemas.microsoft.com/office/drawing/2014/main" id="{24C2C7A7-52BE-64B0-EBED-70603B732F5F}"/>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2" name="Connettore 1101">
                  <a:extLst>
                    <a:ext uri="{FF2B5EF4-FFF2-40B4-BE49-F238E27FC236}">
                      <a16:creationId xmlns:a16="http://schemas.microsoft.com/office/drawing/2014/main" id="{62A1C577-323A-D2F2-4873-20D50EBDD512}"/>
                    </a:ext>
                  </a:extLst>
                </p:cNvPr>
                <p:cNvSpPr>
                  <a:spLocks/>
                </p:cNvSpPr>
                <p:nvPr/>
              </p:nvSpPr>
              <p:spPr>
                <a:xfrm>
                  <a:off x="7060485"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03" name="Gruppo 1102">
                <a:extLst>
                  <a:ext uri="{FF2B5EF4-FFF2-40B4-BE49-F238E27FC236}">
                    <a16:creationId xmlns:a16="http://schemas.microsoft.com/office/drawing/2014/main" id="{C1F3CAF9-95B0-6ABC-8EE5-81534E18E084}"/>
                  </a:ext>
                </a:extLst>
              </p:cNvPr>
              <p:cNvGrpSpPr>
                <a:grpSpLocks/>
              </p:cNvGrpSpPr>
              <p:nvPr/>
            </p:nvGrpSpPr>
            <p:grpSpPr>
              <a:xfrm>
                <a:off x="9975011" y="2866495"/>
                <a:ext cx="815577" cy="126000"/>
                <a:chOff x="6370908" y="1359094"/>
                <a:chExt cx="815577" cy="126000"/>
              </a:xfrm>
            </p:grpSpPr>
            <p:sp>
              <p:nvSpPr>
                <p:cNvPr id="1104" name="Connettore 1103">
                  <a:extLst>
                    <a:ext uri="{FF2B5EF4-FFF2-40B4-BE49-F238E27FC236}">
                      <a16:creationId xmlns:a16="http://schemas.microsoft.com/office/drawing/2014/main" id="{D7724DEB-D6F5-1E69-B885-4484B57CE51B}"/>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5" name="Connettore 1104">
                  <a:extLst>
                    <a:ext uri="{FF2B5EF4-FFF2-40B4-BE49-F238E27FC236}">
                      <a16:creationId xmlns:a16="http://schemas.microsoft.com/office/drawing/2014/main" id="{E4CCD135-F88E-1E7E-A9CA-D79A4608FB19}"/>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6" name="Connettore 1105">
                  <a:extLst>
                    <a:ext uri="{FF2B5EF4-FFF2-40B4-BE49-F238E27FC236}">
                      <a16:creationId xmlns:a16="http://schemas.microsoft.com/office/drawing/2014/main" id="{B87DE2F9-635D-2602-37F0-4B8F075E064C}"/>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7" name="Connettore 1106">
                  <a:extLst>
                    <a:ext uri="{FF2B5EF4-FFF2-40B4-BE49-F238E27FC236}">
                      <a16:creationId xmlns:a16="http://schemas.microsoft.com/office/drawing/2014/main" id="{B8770533-42CB-6316-3AF9-FA7DFD8ED7EB}"/>
                    </a:ext>
                  </a:extLst>
                </p:cNvPr>
                <p:cNvSpPr>
                  <a:spLocks/>
                </p:cNvSpPr>
                <p:nvPr/>
              </p:nvSpPr>
              <p:spPr>
                <a:xfrm>
                  <a:off x="6888090"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8" name="Connettore 1107">
                  <a:extLst>
                    <a:ext uri="{FF2B5EF4-FFF2-40B4-BE49-F238E27FC236}">
                      <a16:creationId xmlns:a16="http://schemas.microsoft.com/office/drawing/2014/main" id="{731FCC8C-76CC-0AF3-53A5-9E4DAE217AE6}"/>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09" name="Gruppo 1108">
                <a:extLst>
                  <a:ext uri="{FF2B5EF4-FFF2-40B4-BE49-F238E27FC236}">
                    <a16:creationId xmlns:a16="http://schemas.microsoft.com/office/drawing/2014/main" id="{69C77D9A-F88A-9123-2B61-ECB5D9C107DA}"/>
                  </a:ext>
                </a:extLst>
              </p:cNvPr>
              <p:cNvGrpSpPr>
                <a:grpSpLocks/>
              </p:cNvGrpSpPr>
              <p:nvPr/>
            </p:nvGrpSpPr>
            <p:grpSpPr>
              <a:xfrm>
                <a:off x="9975011" y="3577236"/>
                <a:ext cx="815577" cy="126000"/>
                <a:chOff x="6370908" y="1359094"/>
                <a:chExt cx="815577" cy="126000"/>
              </a:xfrm>
            </p:grpSpPr>
            <p:sp>
              <p:nvSpPr>
                <p:cNvPr id="1110" name="Connettore 1109">
                  <a:extLst>
                    <a:ext uri="{FF2B5EF4-FFF2-40B4-BE49-F238E27FC236}">
                      <a16:creationId xmlns:a16="http://schemas.microsoft.com/office/drawing/2014/main" id="{62F4836A-CECE-9AB3-4DEA-C714F8867454}"/>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1" name="Connettore 1110">
                  <a:extLst>
                    <a:ext uri="{FF2B5EF4-FFF2-40B4-BE49-F238E27FC236}">
                      <a16:creationId xmlns:a16="http://schemas.microsoft.com/office/drawing/2014/main" id="{13DD332F-D09A-805F-4E4E-72EE9EDF1E19}"/>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2" name="Connettore 1111">
                  <a:extLst>
                    <a:ext uri="{FF2B5EF4-FFF2-40B4-BE49-F238E27FC236}">
                      <a16:creationId xmlns:a16="http://schemas.microsoft.com/office/drawing/2014/main" id="{8B749B2D-5163-9801-046E-BB65702C7D20}"/>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3" name="Connettore 1112">
                  <a:extLst>
                    <a:ext uri="{FF2B5EF4-FFF2-40B4-BE49-F238E27FC236}">
                      <a16:creationId xmlns:a16="http://schemas.microsoft.com/office/drawing/2014/main" id="{7616F2F3-9CD3-01B8-621C-22BC7E40395A}"/>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4" name="Connettore 1113">
                  <a:extLst>
                    <a:ext uri="{FF2B5EF4-FFF2-40B4-BE49-F238E27FC236}">
                      <a16:creationId xmlns:a16="http://schemas.microsoft.com/office/drawing/2014/main" id="{470591B6-43A0-7B11-5F0E-9273B573FC87}"/>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15" name="Gruppo 1114">
                <a:extLst>
                  <a:ext uri="{FF2B5EF4-FFF2-40B4-BE49-F238E27FC236}">
                    <a16:creationId xmlns:a16="http://schemas.microsoft.com/office/drawing/2014/main" id="{AFA60821-9413-F6B1-8FFB-5E3C6A0DD101}"/>
                  </a:ext>
                </a:extLst>
              </p:cNvPr>
              <p:cNvGrpSpPr>
                <a:grpSpLocks/>
              </p:cNvGrpSpPr>
              <p:nvPr/>
            </p:nvGrpSpPr>
            <p:grpSpPr>
              <a:xfrm>
                <a:off x="9975011" y="4285421"/>
                <a:ext cx="815577" cy="126000"/>
                <a:chOff x="6370908" y="1359094"/>
                <a:chExt cx="815577" cy="126000"/>
              </a:xfrm>
            </p:grpSpPr>
            <p:sp>
              <p:nvSpPr>
                <p:cNvPr id="1116" name="Connettore 1115">
                  <a:extLst>
                    <a:ext uri="{FF2B5EF4-FFF2-40B4-BE49-F238E27FC236}">
                      <a16:creationId xmlns:a16="http://schemas.microsoft.com/office/drawing/2014/main" id="{A54D6515-C115-DC25-77EB-74032FEDE2C6}"/>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7" name="Connettore 1116">
                  <a:extLst>
                    <a:ext uri="{FF2B5EF4-FFF2-40B4-BE49-F238E27FC236}">
                      <a16:creationId xmlns:a16="http://schemas.microsoft.com/office/drawing/2014/main" id="{E154962F-C0B1-85EE-2E85-0497511C10DF}"/>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8" name="Connettore 1117">
                  <a:extLst>
                    <a:ext uri="{FF2B5EF4-FFF2-40B4-BE49-F238E27FC236}">
                      <a16:creationId xmlns:a16="http://schemas.microsoft.com/office/drawing/2014/main" id="{87767B4D-BB14-B010-8568-94E63D8C23BC}"/>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9" name="Connettore 1118">
                  <a:extLst>
                    <a:ext uri="{FF2B5EF4-FFF2-40B4-BE49-F238E27FC236}">
                      <a16:creationId xmlns:a16="http://schemas.microsoft.com/office/drawing/2014/main" id="{B9236E15-99D7-9524-87C3-6E178CE09E66}"/>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0" name="Connettore 1119">
                  <a:extLst>
                    <a:ext uri="{FF2B5EF4-FFF2-40B4-BE49-F238E27FC236}">
                      <a16:creationId xmlns:a16="http://schemas.microsoft.com/office/drawing/2014/main" id="{1EDAD132-A2AB-28DD-0EA4-75956300E200}"/>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1" name="Gruppo 1120">
                <a:extLst>
                  <a:ext uri="{FF2B5EF4-FFF2-40B4-BE49-F238E27FC236}">
                    <a16:creationId xmlns:a16="http://schemas.microsoft.com/office/drawing/2014/main" id="{E5B3C70F-0A76-0E90-8FDA-6BD85EA99D76}"/>
                  </a:ext>
                </a:extLst>
              </p:cNvPr>
              <p:cNvGrpSpPr>
                <a:grpSpLocks/>
              </p:cNvGrpSpPr>
              <p:nvPr/>
            </p:nvGrpSpPr>
            <p:grpSpPr>
              <a:xfrm>
                <a:off x="9975011" y="5011708"/>
                <a:ext cx="815577" cy="126000"/>
                <a:chOff x="6370908" y="1359094"/>
                <a:chExt cx="815577" cy="126000"/>
              </a:xfrm>
            </p:grpSpPr>
            <p:sp>
              <p:nvSpPr>
                <p:cNvPr id="1122" name="Connettore 1121">
                  <a:extLst>
                    <a:ext uri="{FF2B5EF4-FFF2-40B4-BE49-F238E27FC236}">
                      <a16:creationId xmlns:a16="http://schemas.microsoft.com/office/drawing/2014/main" id="{69EE4C6A-2722-F39F-4C29-3A7792E0BE21}"/>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3" name="Connettore 1122">
                  <a:extLst>
                    <a:ext uri="{FF2B5EF4-FFF2-40B4-BE49-F238E27FC236}">
                      <a16:creationId xmlns:a16="http://schemas.microsoft.com/office/drawing/2014/main" id="{D4B68464-D2E8-B4A2-AD96-85F02796A9A0}"/>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4" name="Connettore 1123">
                  <a:extLst>
                    <a:ext uri="{FF2B5EF4-FFF2-40B4-BE49-F238E27FC236}">
                      <a16:creationId xmlns:a16="http://schemas.microsoft.com/office/drawing/2014/main" id="{3CF917D8-BA3D-A937-CCE6-F85FB376EA99}"/>
                    </a:ext>
                  </a:extLst>
                </p:cNvPr>
                <p:cNvSpPr>
                  <a:spLocks/>
                </p:cNvSpPr>
                <p:nvPr/>
              </p:nvSpPr>
              <p:spPr>
                <a:xfrm>
                  <a:off x="6715696"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5" name="Connettore 1124">
                  <a:extLst>
                    <a:ext uri="{FF2B5EF4-FFF2-40B4-BE49-F238E27FC236}">
                      <a16:creationId xmlns:a16="http://schemas.microsoft.com/office/drawing/2014/main" id="{A8CA00A6-3A7C-C9DC-630E-4B9348990CA4}"/>
                    </a:ext>
                  </a:extLst>
                </p:cNvPr>
                <p:cNvSpPr>
                  <a:spLocks/>
                </p:cNvSpPr>
                <p:nvPr/>
              </p:nvSpPr>
              <p:spPr>
                <a:xfrm>
                  <a:off x="6888090"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 name="Connettore 1125">
                  <a:extLst>
                    <a:ext uri="{FF2B5EF4-FFF2-40B4-BE49-F238E27FC236}">
                      <a16:creationId xmlns:a16="http://schemas.microsoft.com/office/drawing/2014/main" id="{CCB1617F-4E3D-6EA6-F2D5-65F002A9ABCE}"/>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7" name="Gruppo 1126">
                <a:extLst>
                  <a:ext uri="{FF2B5EF4-FFF2-40B4-BE49-F238E27FC236}">
                    <a16:creationId xmlns:a16="http://schemas.microsoft.com/office/drawing/2014/main" id="{C9BED1DE-562A-0E48-A601-EFB2C4413428}"/>
                  </a:ext>
                </a:extLst>
              </p:cNvPr>
              <p:cNvGrpSpPr>
                <a:grpSpLocks/>
              </p:cNvGrpSpPr>
              <p:nvPr/>
            </p:nvGrpSpPr>
            <p:grpSpPr>
              <a:xfrm>
                <a:off x="9975011" y="5715217"/>
                <a:ext cx="815577" cy="126000"/>
                <a:chOff x="6370908" y="1359094"/>
                <a:chExt cx="815577" cy="126000"/>
              </a:xfrm>
            </p:grpSpPr>
            <p:sp>
              <p:nvSpPr>
                <p:cNvPr id="1128" name="Connettore 1127">
                  <a:extLst>
                    <a:ext uri="{FF2B5EF4-FFF2-40B4-BE49-F238E27FC236}">
                      <a16:creationId xmlns:a16="http://schemas.microsoft.com/office/drawing/2014/main" id="{C20D8B1F-1212-881B-B149-1610AA0388A7}"/>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9" name="Connettore 1128">
                  <a:extLst>
                    <a:ext uri="{FF2B5EF4-FFF2-40B4-BE49-F238E27FC236}">
                      <a16:creationId xmlns:a16="http://schemas.microsoft.com/office/drawing/2014/main" id="{DA373BF9-64EC-AC16-F676-158BDFACF37F}"/>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0" name="Connettore 1129">
                  <a:extLst>
                    <a:ext uri="{FF2B5EF4-FFF2-40B4-BE49-F238E27FC236}">
                      <a16:creationId xmlns:a16="http://schemas.microsoft.com/office/drawing/2014/main" id="{70B93352-1AD5-2705-68F3-9FF6E12AF94B}"/>
                    </a:ext>
                  </a:extLst>
                </p:cNvPr>
                <p:cNvSpPr>
                  <a:spLocks/>
                </p:cNvSpPr>
                <p:nvPr/>
              </p:nvSpPr>
              <p:spPr>
                <a:xfrm>
                  <a:off x="6715696"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1" name="Connettore 1130">
                  <a:extLst>
                    <a:ext uri="{FF2B5EF4-FFF2-40B4-BE49-F238E27FC236}">
                      <a16:creationId xmlns:a16="http://schemas.microsoft.com/office/drawing/2014/main" id="{59861D1B-62A7-F6E4-F332-18653F643834}"/>
                    </a:ext>
                  </a:extLst>
                </p:cNvPr>
                <p:cNvSpPr>
                  <a:spLocks/>
                </p:cNvSpPr>
                <p:nvPr/>
              </p:nvSpPr>
              <p:spPr>
                <a:xfrm>
                  <a:off x="6888090"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2" name="Connettore 1131">
                  <a:extLst>
                    <a:ext uri="{FF2B5EF4-FFF2-40B4-BE49-F238E27FC236}">
                      <a16:creationId xmlns:a16="http://schemas.microsoft.com/office/drawing/2014/main" id="{23361642-9598-E431-B0C3-FE04C4DD87FA}"/>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34" name="Elemento grafico 1133">
                <a:extLst>
                  <a:ext uri="{FF2B5EF4-FFF2-40B4-BE49-F238E27FC236}">
                    <a16:creationId xmlns:a16="http://schemas.microsoft.com/office/drawing/2014/main" id="{FB7367EF-32A8-CEA3-441E-BF8C5730101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70845" y="5083941"/>
                <a:ext cx="388800" cy="388800"/>
              </a:xfrm>
              <a:prstGeom prst="rect">
                <a:avLst/>
              </a:prstGeom>
            </p:spPr>
          </p:pic>
          <p:pic>
            <p:nvPicPr>
              <p:cNvPr id="1136" name="Elemento grafico 1135">
                <a:extLst>
                  <a:ext uri="{FF2B5EF4-FFF2-40B4-BE49-F238E27FC236}">
                    <a16:creationId xmlns:a16="http://schemas.microsoft.com/office/drawing/2014/main" id="{C4DB3432-0A7B-3702-3C2D-82CF8F09C0C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570845" y="5792802"/>
                <a:ext cx="388800" cy="388800"/>
              </a:xfrm>
              <a:prstGeom prst="rect">
                <a:avLst/>
              </a:prstGeom>
            </p:spPr>
          </p:pic>
        </p:grpSp>
        <p:grpSp>
          <p:nvGrpSpPr>
            <p:cNvPr id="1172" name="Gruppo 1171">
              <a:extLst>
                <a:ext uri="{FF2B5EF4-FFF2-40B4-BE49-F238E27FC236}">
                  <a16:creationId xmlns:a16="http://schemas.microsoft.com/office/drawing/2014/main" id="{3D269AF7-08D7-D65E-F18F-D4197DA273D7}"/>
                </a:ext>
              </a:extLst>
            </p:cNvPr>
            <p:cNvGrpSpPr/>
            <p:nvPr/>
          </p:nvGrpSpPr>
          <p:grpSpPr>
            <a:xfrm>
              <a:off x="3495648" y="6420431"/>
              <a:ext cx="5200705" cy="311550"/>
              <a:chOff x="3462527" y="6223706"/>
              <a:chExt cx="5200705" cy="311550"/>
            </a:xfrm>
          </p:grpSpPr>
          <p:sp>
            <p:nvSpPr>
              <p:cNvPr id="1141" name="Rettangolo con angoli arrotondati 1140">
                <a:extLst>
                  <a:ext uri="{FF2B5EF4-FFF2-40B4-BE49-F238E27FC236}">
                    <a16:creationId xmlns:a16="http://schemas.microsoft.com/office/drawing/2014/main" id="{251DDAFF-F5D3-4A1F-C4DC-687E9019CE3A}"/>
                  </a:ext>
                </a:extLst>
              </p:cNvPr>
              <p:cNvSpPr/>
              <p:nvPr/>
            </p:nvSpPr>
            <p:spPr>
              <a:xfrm>
                <a:off x="3462527" y="6223706"/>
                <a:ext cx="5200705" cy="311550"/>
              </a:xfrm>
              <a:prstGeom prst="roundRect">
                <a:avLst/>
              </a:prstGeom>
              <a:solidFill>
                <a:srgbClr val="F1F1F1"/>
              </a:solidFill>
              <a:ln>
                <a:solidFill>
                  <a:srgbClr val="EFEF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71" name="Gruppo 1170">
                <a:extLst>
                  <a:ext uri="{FF2B5EF4-FFF2-40B4-BE49-F238E27FC236}">
                    <a16:creationId xmlns:a16="http://schemas.microsoft.com/office/drawing/2014/main" id="{D4A29F48-BB07-04D6-D949-EB24289C28D7}"/>
                  </a:ext>
                </a:extLst>
              </p:cNvPr>
              <p:cNvGrpSpPr/>
              <p:nvPr/>
            </p:nvGrpSpPr>
            <p:grpSpPr>
              <a:xfrm>
                <a:off x="3539041" y="6271759"/>
                <a:ext cx="5047676" cy="215444"/>
                <a:chOff x="3502028" y="6271759"/>
                <a:chExt cx="5047676" cy="215444"/>
              </a:xfrm>
            </p:grpSpPr>
            <p:sp>
              <p:nvSpPr>
                <p:cNvPr id="1142" name="CasellaDiTesto 1141">
                  <a:extLst>
                    <a:ext uri="{FF2B5EF4-FFF2-40B4-BE49-F238E27FC236}">
                      <a16:creationId xmlns:a16="http://schemas.microsoft.com/office/drawing/2014/main" id="{361839B8-5469-23A7-5E80-1500C55A2A32}"/>
                    </a:ext>
                  </a:extLst>
                </p:cNvPr>
                <p:cNvSpPr txBox="1"/>
                <p:nvPr/>
              </p:nvSpPr>
              <p:spPr>
                <a:xfrm>
                  <a:off x="3502028" y="6271759"/>
                  <a:ext cx="643766" cy="215444"/>
                </a:xfrm>
                <a:prstGeom prst="rect">
                  <a:avLst/>
                </a:prstGeom>
                <a:noFill/>
              </p:spPr>
              <p:txBody>
                <a:bodyPr wrap="none" rtlCol="0">
                  <a:spAutoFit/>
                </a:bodyPr>
                <a:lstStyle/>
                <a:p>
                  <a:r>
                    <a:rPr lang="it-IT" sz="800" b="1" spc="-10" dirty="0">
                      <a:solidFill>
                        <a:schemeClr val="tx1">
                          <a:lumMod val="75000"/>
                          <a:lumOff val="25000"/>
                        </a:schemeClr>
                      </a:solidFill>
                      <a:latin typeface="Poppins" panose="00000500000000000000" pitchFamily="2" charset="0"/>
                      <a:cs typeface="Poppins" panose="00000500000000000000" pitchFamily="2" charset="0"/>
                    </a:rPr>
                    <a:t>LEGENDA</a:t>
                  </a:r>
                  <a:endParaRPr lang="en-US" sz="900" b="1" spc="-10" dirty="0">
                    <a:solidFill>
                      <a:schemeClr val="tx1">
                        <a:lumMod val="75000"/>
                        <a:lumOff val="25000"/>
                      </a:schemeClr>
                    </a:solidFill>
                    <a:latin typeface="Poppins" panose="00000500000000000000" pitchFamily="2" charset="0"/>
                    <a:cs typeface="Poppins" panose="00000500000000000000" pitchFamily="2" charset="0"/>
                  </a:endParaRPr>
                </a:p>
              </p:txBody>
            </p:sp>
            <p:grpSp>
              <p:nvGrpSpPr>
                <p:cNvPr id="1170" name="Gruppo 1169">
                  <a:extLst>
                    <a:ext uri="{FF2B5EF4-FFF2-40B4-BE49-F238E27FC236}">
                      <a16:creationId xmlns:a16="http://schemas.microsoft.com/office/drawing/2014/main" id="{7B5AD6C5-89A3-A563-0EFC-BEA39B8DEBF0}"/>
                    </a:ext>
                  </a:extLst>
                </p:cNvPr>
                <p:cNvGrpSpPr/>
                <p:nvPr/>
              </p:nvGrpSpPr>
              <p:grpSpPr>
                <a:xfrm>
                  <a:off x="4297995" y="6271759"/>
                  <a:ext cx="4251709" cy="215444"/>
                  <a:chOff x="4297995" y="6271759"/>
                  <a:chExt cx="4251709" cy="215444"/>
                </a:xfrm>
              </p:grpSpPr>
              <p:grpSp>
                <p:nvGrpSpPr>
                  <p:cNvPr id="1150" name="Gruppo 1149">
                    <a:extLst>
                      <a:ext uri="{FF2B5EF4-FFF2-40B4-BE49-F238E27FC236}">
                        <a16:creationId xmlns:a16="http://schemas.microsoft.com/office/drawing/2014/main" id="{0ACF2669-F830-2E7A-EA64-8262B754E0BE}"/>
                      </a:ext>
                    </a:extLst>
                  </p:cNvPr>
                  <p:cNvGrpSpPr/>
                  <p:nvPr/>
                </p:nvGrpSpPr>
                <p:grpSpPr>
                  <a:xfrm>
                    <a:off x="4297995" y="6279454"/>
                    <a:ext cx="1255539" cy="200055"/>
                    <a:chOff x="4215927" y="6260698"/>
                    <a:chExt cx="1255539" cy="200055"/>
                  </a:xfrm>
                </p:grpSpPr>
                <p:grpSp>
                  <p:nvGrpSpPr>
                    <p:cNvPr id="1143" name="Gruppo 1142">
                      <a:extLst>
                        <a:ext uri="{FF2B5EF4-FFF2-40B4-BE49-F238E27FC236}">
                          <a16:creationId xmlns:a16="http://schemas.microsoft.com/office/drawing/2014/main" id="{BD71F980-8DB7-15CB-E9C4-0601961140B2}"/>
                        </a:ext>
                      </a:extLst>
                    </p:cNvPr>
                    <p:cNvGrpSpPr>
                      <a:grpSpLocks/>
                    </p:cNvGrpSpPr>
                    <p:nvPr/>
                  </p:nvGrpSpPr>
                  <p:grpSpPr>
                    <a:xfrm>
                      <a:off x="4215927" y="6315725"/>
                      <a:ext cx="562695" cy="90000"/>
                      <a:chOff x="6370908" y="1359094"/>
                      <a:chExt cx="562695" cy="90000"/>
                    </a:xfrm>
                    <a:solidFill>
                      <a:schemeClr val="tx1">
                        <a:lumMod val="65000"/>
                        <a:lumOff val="35000"/>
                      </a:schemeClr>
                    </a:solidFill>
                  </p:grpSpPr>
                  <p:sp>
                    <p:nvSpPr>
                      <p:cNvPr id="1144" name="Connettore 1143">
                        <a:extLst>
                          <a:ext uri="{FF2B5EF4-FFF2-40B4-BE49-F238E27FC236}">
                            <a16:creationId xmlns:a16="http://schemas.microsoft.com/office/drawing/2014/main" id="{781779E1-DC0F-DDC6-3E84-A70A9E6127F5}"/>
                          </a:ext>
                        </a:extLst>
                      </p:cNvPr>
                      <p:cNvSpPr>
                        <a:spLocks/>
                      </p:cNvSpPr>
                      <p:nvPr/>
                    </p:nvSpPr>
                    <p:spPr>
                      <a:xfrm>
                        <a:off x="6370908"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5" name="Connettore 1144">
                        <a:extLst>
                          <a:ext uri="{FF2B5EF4-FFF2-40B4-BE49-F238E27FC236}">
                            <a16:creationId xmlns:a16="http://schemas.microsoft.com/office/drawing/2014/main" id="{6C67FB38-D9B8-0613-8644-5D06052B9099}"/>
                          </a:ext>
                        </a:extLst>
                      </p:cNvPr>
                      <p:cNvSpPr>
                        <a:spLocks/>
                      </p:cNvSpPr>
                      <p:nvPr/>
                    </p:nvSpPr>
                    <p:spPr>
                      <a:xfrm>
                        <a:off x="6489082"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6" name="Connettore 1145">
                        <a:extLst>
                          <a:ext uri="{FF2B5EF4-FFF2-40B4-BE49-F238E27FC236}">
                            <a16:creationId xmlns:a16="http://schemas.microsoft.com/office/drawing/2014/main" id="{BDF01F4E-3722-564B-E647-3CA1B39D53A1}"/>
                          </a:ext>
                        </a:extLst>
                      </p:cNvPr>
                      <p:cNvSpPr>
                        <a:spLocks/>
                      </p:cNvSpPr>
                      <p:nvPr/>
                    </p:nvSpPr>
                    <p:spPr>
                      <a:xfrm>
                        <a:off x="6607256"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7" name="Connettore 1146">
                        <a:extLst>
                          <a:ext uri="{FF2B5EF4-FFF2-40B4-BE49-F238E27FC236}">
                            <a16:creationId xmlns:a16="http://schemas.microsoft.com/office/drawing/2014/main" id="{410E80B2-0910-0B16-B4AA-331839A089C9}"/>
                          </a:ext>
                        </a:extLst>
                      </p:cNvPr>
                      <p:cNvSpPr>
                        <a:spLocks/>
                      </p:cNvSpPr>
                      <p:nvPr/>
                    </p:nvSpPr>
                    <p:spPr>
                      <a:xfrm>
                        <a:off x="6725430"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8" name="Connettore 1147">
                        <a:extLst>
                          <a:ext uri="{FF2B5EF4-FFF2-40B4-BE49-F238E27FC236}">
                            <a16:creationId xmlns:a16="http://schemas.microsoft.com/office/drawing/2014/main" id="{CD9F889D-A6C4-5CEF-53C1-316305D10265}"/>
                          </a:ext>
                        </a:extLst>
                      </p:cNvPr>
                      <p:cNvSpPr>
                        <a:spLocks/>
                      </p:cNvSpPr>
                      <p:nvPr/>
                    </p:nvSpPr>
                    <p:spPr>
                      <a:xfrm>
                        <a:off x="6843603"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49" name="CasellaDiTesto 1148">
                      <a:extLst>
                        <a:ext uri="{FF2B5EF4-FFF2-40B4-BE49-F238E27FC236}">
                          <a16:creationId xmlns:a16="http://schemas.microsoft.com/office/drawing/2014/main" id="{4D806A52-5282-46BD-6673-881F5540C55C}"/>
                        </a:ext>
                      </a:extLst>
                    </p:cNvPr>
                    <p:cNvSpPr txBox="1"/>
                    <p:nvPr/>
                  </p:nvSpPr>
                  <p:spPr>
                    <a:xfrm>
                      <a:off x="4751466" y="6260698"/>
                      <a:ext cx="720000" cy="200055"/>
                    </a:xfrm>
                    <a:prstGeom prst="rect">
                      <a:avLst/>
                    </a:prstGeom>
                    <a:noFill/>
                  </p:spPr>
                  <p:txBody>
                    <a:bodyPr wrap="none" rtlCol="0">
                      <a:spAutoFit/>
                    </a:bodyPr>
                    <a:lstStyle/>
                    <a:p>
                      <a:r>
                        <a:rPr lang="it-IT" sz="700" b="1" spc="-10" dirty="0">
                          <a:solidFill>
                            <a:schemeClr val="tx1">
                              <a:lumMod val="75000"/>
                              <a:lumOff val="25000"/>
                            </a:schemeClr>
                          </a:solidFill>
                          <a:latin typeface="Poppins SemiBold" panose="00000700000000000000" pitchFamily="2" charset="0"/>
                          <a:cs typeface="Poppins SemiBold" panose="00000700000000000000" pitchFamily="2" charset="0"/>
                        </a:rPr>
                        <a:t>Più adatto</a:t>
                      </a:r>
                      <a:endParaRPr lang="en-US" sz="800" b="1" spc="-1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grpSp>
                <p:nvGrpSpPr>
                  <p:cNvPr id="1151" name="Gruppo 1150">
                    <a:extLst>
                      <a:ext uri="{FF2B5EF4-FFF2-40B4-BE49-F238E27FC236}">
                        <a16:creationId xmlns:a16="http://schemas.microsoft.com/office/drawing/2014/main" id="{45B9F5D9-117A-2A7F-C929-790695EC3BC2}"/>
                      </a:ext>
                    </a:extLst>
                  </p:cNvPr>
                  <p:cNvGrpSpPr/>
                  <p:nvPr/>
                </p:nvGrpSpPr>
                <p:grpSpPr>
                  <a:xfrm>
                    <a:off x="5796080" y="6279454"/>
                    <a:ext cx="1255540" cy="200055"/>
                    <a:chOff x="4215927" y="6260698"/>
                    <a:chExt cx="1255540" cy="200055"/>
                  </a:xfrm>
                </p:grpSpPr>
                <p:grpSp>
                  <p:nvGrpSpPr>
                    <p:cNvPr id="1152" name="Gruppo 1151">
                      <a:extLst>
                        <a:ext uri="{FF2B5EF4-FFF2-40B4-BE49-F238E27FC236}">
                          <a16:creationId xmlns:a16="http://schemas.microsoft.com/office/drawing/2014/main" id="{A4E73173-6ED9-56CD-EF2D-66453AD900F7}"/>
                        </a:ext>
                      </a:extLst>
                    </p:cNvPr>
                    <p:cNvGrpSpPr>
                      <a:grpSpLocks/>
                    </p:cNvGrpSpPr>
                    <p:nvPr/>
                  </p:nvGrpSpPr>
                  <p:grpSpPr>
                    <a:xfrm>
                      <a:off x="4215927" y="6315725"/>
                      <a:ext cx="562695" cy="90000"/>
                      <a:chOff x="6370908" y="1359094"/>
                      <a:chExt cx="562695" cy="90000"/>
                    </a:xfrm>
                    <a:solidFill>
                      <a:schemeClr val="tx1">
                        <a:lumMod val="65000"/>
                        <a:lumOff val="35000"/>
                      </a:schemeClr>
                    </a:solidFill>
                  </p:grpSpPr>
                  <p:sp>
                    <p:nvSpPr>
                      <p:cNvPr id="1154" name="Connettore 1153">
                        <a:extLst>
                          <a:ext uri="{FF2B5EF4-FFF2-40B4-BE49-F238E27FC236}">
                            <a16:creationId xmlns:a16="http://schemas.microsoft.com/office/drawing/2014/main" id="{071E2CC0-3611-A838-46D5-253B637D824E}"/>
                          </a:ext>
                        </a:extLst>
                      </p:cNvPr>
                      <p:cNvSpPr>
                        <a:spLocks/>
                      </p:cNvSpPr>
                      <p:nvPr/>
                    </p:nvSpPr>
                    <p:spPr>
                      <a:xfrm>
                        <a:off x="6370908"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5" name="Connettore 1154">
                        <a:extLst>
                          <a:ext uri="{FF2B5EF4-FFF2-40B4-BE49-F238E27FC236}">
                            <a16:creationId xmlns:a16="http://schemas.microsoft.com/office/drawing/2014/main" id="{88DBAEEB-4140-929B-E5E3-A694BAD4C44E}"/>
                          </a:ext>
                        </a:extLst>
                      </p:cNvPr>
                      <p:cNvSpPr>
                        <a:spLocks/>
                      </p:cNvSpPr>
                      <p:nvPr/>
                    </p:nvSpPr>
                    <p:spPr>
                      <a:xfrm>
                        <a:off x="6489082"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6" name="Connettore 1155">
                        <a:extLst>
                          <a:ext uri="{FF2B5EF4-FFF2-40B4-BE49-F238E27FC236}">
                            <a16:creationId xmlns:a16="http://schemas.microsoft.com/office/drawing/2014/main" id="{B87CB5FD-E9AD-6273-E9B4-15BDDB316B7A}"/>
                          </a:ext>
                        </a:extLst>
                      </p:cNvPr>
                      <p:cNvSpPr>
                        <a:spLocks/>
                      </p:cNvSpPr>
                      <p:nvPr/>
                    </p:nvSpPr>
                    <p:spPr>
                      <a:xfrm>
                        <a:off x="6607256"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7" name="Connettore 1156">
                        <a:extLst>
                          <a:ext uri="{FF2B5EF4-FFF2-40B4-BE49-F238E27FC236}">
                            <a16:creationId xmlns:a16="http://schemas.microsoft.com/office/drawing/2014/main" id="{5357993F-A7A3-B530-6110-A03E613DB8EE}"/>
                          </a:ext>
                        </a:extLst>
                      </p:cNvPr>
                      <p:cNvSpPr>
                        <a:spLocks/>
                      </p:cNvSpPr>
                      <p:nvPr/>
                    </p:nvSpPr>
                    <p:spPr>
                      <a:xfrm>
                        <a:off x="6725430"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8" name="Connettore 1157">
                        <a:extLst>
                          <a:ext uri="{FF2B5EF4-FFF2-40B4-BE49-F238E27FC236}">
                            <a16:creationId xmlns:a16="http://schemas.microsoft.com/office/drawing/2014/main" id="{06A20849-5652-E0B2-C36A-FE807226724E}"/>
                          </a:ext>
                        </a:extLst>
                      </p:cNvPr>
                      <p:cNvSpPr>
                        <a:spLocks/>
                      </p:cNvSpPr>
                      <p:nvPr/>
                    </p:nvSpPr>
                    <p:spPr>
                      <a:xfrm>
                        <a:off x="6843603"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53" name="CasellaDiTesto 1152">
                      <a:extLst>
                        <a:ext uri="{FF2B5EF4-FFF2-40B4-BE49-F238E27FC236}">
                          <a16:creationId xmlns:a16="http://schemas.microsoft.com/office/drawing/2014/main" id="{9FC9ADFD-417A-3086-968C-80212FCD732D}"/>
                        </a:ext>
                      </a:extLst>
                    </p:cNvPr>
                    <p:cNvSpPr txBox="1"/>
                    <p:nvPr/>
                  </p:nvSpPr>
                  <p:spPr>
                    <a:xfrm>
                      <a:off x="4751467" y="6260698"/>
                      <a:ext cx="720000" cy="200055"/>
                    </a:xfrm>
                    <a:prstGeom prst="rect">
                      <a:avLst/>
                    </a:prstGeom>
                    <a:noFill/>
                  </p:spPr>
                  <p:txBody>
                    <a:bodyPr wrap="none" rtlCol="0">
                      <a:spAutoFit/>
                    </a:bodyPr>
                    <a:lstStyle/>
                    <a:p>
                      <a:r>
                        <a:rPr lang="it-IT" sz="700" b="1" spc="-10" dirty="0">
                          <a:solidFill>
                            <a:schemeClr val="tx1">
                              <a:lumMod val="75000"/>
                              <a:lumOff val="25000"/>
                            </a:schemeClr>
                          </a:solidFill>
                          <a:latin typeface="Poppins SemiBold" panose="00000700000000000000" pitchFamily="2" charset="0"/>
                          <a:cs typeface="Poppins SemiBold" panose="00000700000000000000" pitchFamily="2" charset="0"/>
                        </a:rPr>
                        <a:t>Adeguato</a:t>
                      </a:r>
                      <a:endParaRPr lang="en-US" sz="800" b="1" spc="-1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grpSp>
                <p:nvGrpSpPr>
                  <p:cNvPr id="1159" name="Gruppo 1158">
                    <a:extLst>
                      <a:ext uri="{FF2B5EF4-FFF2-40B4-BE49-F238E27FC236}">
                        <a16:creationId xmlns:a16="http://schemas.microsoft.com/office/drawing/2014/main" id="{672343EF-76EA-E809-7BCA-374309616640}"/>
                      </a:ext>
                    </a:extLst>
                  </p:cNvPr>
                  <p:cNvGrpSpPr/>
                  <p:nvPr/>
                </p:nvGrpSpPr>
                <p:grpSpPr>
                  <a:xfrm>
                    <a:off x="7294164" y="6279454"/>
                    <a:ext cx="1255540" cy="200055"/>
                    <a:chOff x="4215927" y="6260698"/>
                    <a:chExt cx="1255540" cy="200055"/>
                  </a:xfrm>
                </p:grpSpPr>
                <p:grpSp>
                  <p:nvGrpSpPr>
                    <p:cNvPr id="1160" name="Gruppo 1159">
                      <a:extLst>
                        <a:ext uri="{FF2B5EF4-FFF2-40B4-BE49-F238E27FC236}">
                          <a16:creationId xmlns:a16="http://schemas.microsoft.com/office/drawing/2014/main" id="{41104B7B-C96B-1AC9-7314-C6274F54A016}"/>
                        </a:ext>
                      </a:extLst>
                    </p:cNvPr>
                    <p:cNvGrpSpPr>
                      <a:grpSpLocks/>
                    </p:cNvGrpSpPr>
                    <p:nvPr/>
                  </p:nvGrpSpPr>
                  <p:grpSpPr>
                    <a:xfrm>
                      <a:off x="4215927" y="6315725"/>
                      <a:ext cx="562695" cy="90000"/>
                      <a:chOff x="6370908" y="1359094"/>
                      <a:chExt cx="562695" cy="90000"/>
                    </a:xfrm>
                    <a:solidFill>
                      <a:schemeClr val="tx1">
                        <a:lumMod val="65000"/>
                        <a:lumOff val="35000"/>
                      </a:schemeClr>
                    </a:solidFill>
                  </p:grpSpPr>
                  <p:sp>
                    <p:nvSpPr>
                      <p:cNvPr id="1162" name="Connettore 1161">
                        <a:extLst>
                          <a:ext uri="{FF2B5EF4-FFF2-40B4-BE49-F238E27FC236}">
                            <a16:creationId xmlns:a16="http://schemas.microsoft.com/office/drawing/2014/main" id="{A6C4202C-63FA-313A-50B0-470BC33E3B41}"/>
                          </a:ext>
                        </a:extLst>
                      </p:cNvPr>
                      <p:cNvSpPr>
                        <a:spLocks/>
                      </p:cNvSpPr>
                      <p:nvPr/>
                    </p:nvSpPr>
                    <p:spPr>
                      <a:xfrm>
                        <a:off x="6370908"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3" name="Connettore 1162">
                        <a:extLst>
                          <a:ext uri="{FF2B5EF4-FFF2-40B4-BE49-F238E27FC236}">
                            <a16:creationId xmlns:a16="http://schemas.microsoft.com/office/drawing/2014/main" id="{B5DE0FFA-4B1E-3874-5CEB-00E3C9A9D3A5}"/>
                          </a:ext>
                        </a:extLst>
                      </p:cNvPr>
                      <p:cNvSpPr>
                        <a:spLocks/>
                      </p:cNvSpPr>
                      <p:nvPr/>
                    </p:nvSpPr>
                    <p:spPr>
                      <a:xfrm>
                        <a:off x="6489082"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4" name="Connettore 1163">
                        <a:extLst>
                          <a:ext uri="{FF2B5EF4-FFF2-40B4-BE49-F238E27FC236}">
                            <a16:creationId xmlns:a16="http://schemas.microsoft.com/office/drawing/2014/main" id="{AF23662E-A098-7B84-634A-D6E3EF9F1438}"/>
                          </a:ext>
                        </a:extLst>
                      </p:cNvPr>
                      <p:cNvSpPr>
                        <a:spLocks/>
                      </p:cNvSpPr>
                      <p:nvPr/>
                    </p:nvSpPr>
                    <p:spPr>
                      <a:xfrm>
                        <a:off x="6607256"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5" name="Connettore 1164">
                        <a:extLst>
                          <a:ext uri="{FF2B5EF4-FFF2-40B4-BE49-F238E27FC236}">
                            <a16:creationId xmlns:a16="http://schemas.microsoft.com/office/drawing/2014/main" id="{3B6A6585-558F-C3B1-126E-231DA444A048}"/>
                          </a:ext>
                        </a:extLst>
                      </p:cNvPr>
                      <p:cNvSpPr>
                        <a:spLocks/>
                      </p:cNvSpPr>
                      <p:nvPr/>
                    </p:nvSpPr>
                    <p:spPr>
                      <a:xfrm>
                        <a:off x="6725430"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6" name="Connettore 1165">
                        <a:extLst>
                          <a:ext uri="{FF2B5EF4-FFF2-40B4-BE49-F238E27FC236}">
                            <a16:creationId xmlns:a16="http://schemas.microsoft.com/office/drawing/2014/main" id="{B8770CB2-5FAD-08CB-5C47-B161FA8EDD3E}"/>
                          </a:ext>
                        </a:extLst>
                      </p:cNvPr>
                      <p:cNvSpPr>
                        <a:spLocks/>
                      </p:cNvSpPr>
                      <p:nvPr/>
                    </p:nvSpPr>
                    <p:spPr>
                      <a:xfrm>
                        <a:off x="6843603"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61" name="CasellaDiTesto 1160">
                      <a:extLst>
                        <a:ext uri="{FF2B5EF4-FFF2-40B4-BE49-F238E27FC236}">
                          <a16:creationId xmlns:a16="http://schemas.microsoft.com/office/drawing/2014/main" id="{90896091-E307-EF5B-4BFA-EC423F02BA33}"/>
                        </a:ext>
                      </a:extLst>
                    </p:cNvPr>
                    <p:cNvSpPr txBox="1"/>
                    <p:nvPr/>
                  </p:nvSpPr>
                  <p:spPr>
                    <a:xfrm>
                      <a:off x="4751467" y="6260698"/>
                      <a:ext cx="720000" cy="200055"/>
                    </a:xfrm>
                    <a:prstGeom prst="rect">
                      <a:avLst/>
                    </a:prstGeom>
                    <a:noFill/>
                  </p:spPr>
                  <p:txBody>
                    <a:bodyPr wrap="none" rtlCol="0">
                      <a:spAutoFit/>
                    </a:bodyPr>
                    <a:lstStyle/>
                    <a:p>
                      <a:r>
                        <a:rPr lang="it-IT" sz="700" b="1" spc="-10" dirty="0">
                          <a:solidFill>
                            <a:schemeClr val="tx1">
                              <a:lumMod val="75000"/>
                              <a:lumOff val="25000"/>
                            </a:schemeClr>
                          </a:solidFill>
                          <a:latin typeface="Poppins SemiBold" panose="00000700000000000000" pitchFamily="2" charset="0"/>
                          <a:cs typeface="Poppins SemiBold" panose="00000700000000000000" pitchFamily="2" charset="0"/>
                        </a:rPr>
                        <a:t>Meno adatto</a:t>
                      </a:r>
                      <a:endParaRPr lang="en-US" sz="800" b="1" spc="-1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cxnSp>
                <p:nvCxnSpPr>
                  <p:cNvPr id="1168" name="Connettore diritto 1167">
                    <a:extLst>
                      <a:ext uri="{FF2B5EF4-FFF2-40B4-BE49-F238E27FC236}">
                        <a16:creationId xmlns:a16="http://schemas.microsoft.com/office/drawing/2014/main" id="{A632C2BF-66BC-1D7F-8FCA-8A66C2EFE092}"/>
                      </a:ext>
                    </a:extLst>
                  </p:cNvPr>
                  <p:cNvCxnSpPr/>
                  <p:nvPr/>
                </p:nvCxnSpPr>
                <p:spPr>
                  <a:xfrm>
                    <a:off x="5674807" y="6271759"/>
                    <a:ext cx="0" cy="215444"/>
                  </a:xfrm>
                  <a:prstGeom prst="line">
                    <a:avLst/>
                  </a:prstGeom>
                  <a:ln w="635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69" name="Connettore diritto 1168">
                    <a:extLst>
                      <a:ext uri="{FF2B5EF4-FFF2-40B4-BE49-F238E27FC236}">
                        <a16:creationId xmlns:a16="http://schemas.microsoft.com/office/drawing/2014/main" id="{E2C98BF8-05EF-4DD9-D3F7-46900F027888}"/>
                      </a:ext>
                    </a:extLst>
                  </p:cNvPr>
                  <p:cNvCxnSpPr/>
                  <p:nvPr/>
                </p:nvCxnSpPr>
                <p:spPr>
                  <a:xfrm>
                    <a:off x="7172893" y="6271759"/>
                    <a:ext cx="0" cy="215444"/>
                  </a:xfrm>
                  <a:prstGeom prst="line">
                    <a:avLst/>
                  </a:prstGeom>
                  <a:ln w="635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grpSp>
      </p:grpSp>
      <p:grpSp>
        <p:nvGrpSpPr>
          <p:cNvPr id="77" name="Gruppo 76">
            <a:extLst>
              <a:ext uri="{FF2B5EF4-FFF2-40B4-BE49-F238E27FC236}">
                <a16:creationId xmlns:a16="http://schemas.microsoft.com/office/drawing/2014/main" id="{691A7402-0F9F-7307-6A06-66B0BEF1E58C}"/>
              </a:ext>
            </a:extLst>
          </p:cNvPr>
          <p:cNvGrpSpPr/>
          <p:nvPr/>
        </p:nvGrpSpPr>
        <p:grpSpPr>
          <a:xfrm>
            <a:off x="8967395" y="370238"/>
            <a:ext cx="2816133" cy="406706"/>
            <a:chOff x="6734403" y="623243"/>
            <a:chExt cx="2816133" cy="406706"/>
          </a:xfrm>
        </p:grpSpPr>
        <p:sp>
          <p:nvSpPr>
            <p:cNvPr id="78" name="Line">
              <a:extLst>
                <a:ext uri="{FF2B5EF4-FFF2-40B4-BE49-F238E27FC236}">
                  <a16:creationId xmlns:a16="http://schemas.microsoft.com/office/drawing/2014/main" id="{9E14278C-EAC6-AC63-0C93-C5ED1D6662BE}"/>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sng"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79" name="Gruppo 78">
              <a:extLst>
                <a:ext uri="{FF2B5EF4-FFF2-40B4-BE49-F238E27FC236}">
                  <a16:creationId xmlns:a16="http://schemas.microsoft.com/office/drawing/2014/main" id="{38980AAE-8AAE-EE95-FCE4-3BE37AB8AF13}"/>
                </a:ext>
              </a:extLst>
            </p:cNvPr>
            <p:cNvGrpSpPr/>
            <p:nvPr/>
          </p:nvGrpSpPr>
          <p:grpSpPr>
            <a:xfrm>
              <a:off x="6734403" y="623243"/>
              <a:ext cx="2816133" cy="406706"/>
              <a:chOff x="6734403" y="623243"/>
              <a:chExt cx="2816133" cy="406706"/>
            </a:xfrm>
          </p:grpSpPr>
          <p:grpSp>
            <p:nvGrpSpPr>
              <p:cNvPr id="80" name="Gruppo 79">
                <a:extLst>
                  <a:ext uri="{FF2B5EF4-FFF2-40B4-BE49-F238E27FC236}">
                    <a16:creationId xmlns:a16="http://schemas.microsoft.com/office/drawing/2014/main" id="{C4EEA309-CEA9-D90D-B9A2-4B488F9A2138}"/>
                  </a:ext>
                </a:extLst>
              </p:cNvPr>
              <p:cNvGrpSpPr/>
              <p:nvPr/>
            </p:nvGrpSpPr>
            <p:grpSpPr>
              <a:xfrm>
                <a:off x="6734403" y="623243"/>
                <a:ext cx="576000" cy="406706"/>
                <a:chOff x="6734403" y="623243"/>
                <a:chExt cx="576000" cy="406706"/>
              </a:xfrm>
            </p:grpSpPr>
            <p:pic>
              <p:nvPicPr>
                <p:cNvPr id="95" name="Elemento grafico 94">
                  <a:extLst>
                    <a:ext uri="{FF2B5EF4-FFF2-40B4-BE49-F238E27FC236}">
                      <a16:creationId xmlns:a16="http://schemas.microsoft.com/office/drawing/2014/main" id="{961D83EF-DCB5-C220-7B0B-5D6A96E09E1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908103" y="801349"/>
                  <a:ext cx="228600" cy="228600"/>
                </a:xfrm>
                <a:prstGeom prst="rect">
                  <a:avLst/>
                </a:prstGeom>
              </p:spPr>
            </p:pic>
            <p:sp>
              <p:nvSpPr>
                <p:cNvPr id="96" name="CasellaDiTesto 95">
                  <a:extLst>
                    <a:ext uri="{FF2B5EF4-FFF2-40B4-BE49-F238E27FC236}">
                      <a16:creationId xmlns:a16="http://schemas.microsoft.com/office/drawing/2014/main" id="{FDC3C1C2-6314-8730-5E57-5E2C93BD7E07}"/>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1" name="Gruppo 80">
                <a:extLst>
                  <a:ext uri="{FF2B5EF4-FFF2-40B4-BE49-F238E27FC236}">
                    <a16:creationId xmlns:a16="http://schemas.microsoft.com/office/drawing/2014/main" id="{63F9C7E0-E2B2-2CDE-F752-6145AFA75134}"/>
                  </a:ext>
                </a:extLst>
              </p:cNvPr>
              <p:cNvGrpSpPr/>
              <p:nvPr/>
            </p:nvGrpSpPr>
            <p:grpSpPr>
              <a:xfrm>
                <a:off x="7277910" y="623243"/>
                <a:ext cx="576000" cy="406706"/>
                <a:chOff x="7291884" y="623243"/>
                <a:chExt cx="576000" cy="406706"/>
              </a:xfrm>
            </p:grpSpPr>
            <p:pic>
              <p:nvPicPr>
                <p:cNvPr id="93" name="Elemento grafico 92">
                  <a:extLst>
                    <a:ext uri="{FF2B5EF4-FFF2-40B4-BE49-F238E27FC236}">
                      <a16:creationId xmlns:a16="http://schemas.microsoft.com/office/drawing/2014/main" id="{885A4128-E4F9-2F40-2346-330F948A978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465584" y="801349"/>
                  <a:ext cx="228600" cy="228600"/>
                </a:xfrm>
                <a:prstGeom prst="rect">
                  <a:avLst/>
                </a:prstGeom>
              </p:spPr>
            </p:pic>
            <p:sp>
              <p:nvSpPr>
                <p:cNvPr id="94" name="CasellaDiTesto 93">
                  <a:extLst>
                    <a:ext uri="{FF2B5EF4-FFF2-40B4-BE49-F238E27FC236}">
                      <a16:creationId xmlns:a16="http://schemas.microsoft.com/office/drawing/2014/main" id="{53213DF8-E809-3291-CF86-E2AA76117EBD}"/>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3" name="Gruppo 82">
                <a:extLst>
                  <a:ext uri="{FF2B5EF4-FFF2-40B4-BE49-F238E27FC236}">
                    <a16:creationId xmlns:a16="http://schemas.microsoft.com/office/drawing/2014/main" id="{8389CF26-D7B9-2A1F-CA6A-BF45666CA322}"/>
                  </a:ext>
                </a:extLst>
              </p:cNvPr>
              <p:cNvGrpSpPr/>
              <p:nvPr/>
            </p:nvGrpSpPr>
            <p:grpSpPr>
              <a:xfrm>
                <a:off x="7743611" y="623243"/>
                <a:ext cx="731612" cy="406706"/>
                <a:chOff x="7777971" y="623243"/>
                <a:chExt cx="731612" cy="406706"/>
              </a:xfrm>
            </p:grpSpPr>
            <p:pic>
              <p:nvPicPr>
                <p:cNvPr id="90" name="Elemento grafico 89">
                  <a:extLst>
                    <a:ext uri="{FF2B5EF4-FFF2-40B4-BE49-F238E27FC236}">
                      <a16:creationId xmlns:a16="http://schemas.microsoft.com/office/drawing/2014/main" id="{BF4FF6C4-D2AE-3929-7EA7-6053FEA3AAE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029477" y="801349"/>
                  <a:ext cx="228600" cy="228600"/>
                </a:xfrm>
                <a:prstGeom prst="rect">
                  <a:avLst/>
                </a:prstGeom>
              </p:spPr>
            </p:pic>
            <p:sp>
              <p:nvSpPr>
                <p:cNvPr id="92" name="CasellaDiTesto 91">
                  <a:extLst>
                    <a:ext uri="{FF2B5EF4-FFF2-40B4-BE49-F238E27FC236}">
                      <a16:creationId xmlns:a16="http://schemas.microsoft.com/office/drawing/2014/main" id="{4B3AA104-8378-BDE4-6F4A-7E8DF251E116}"/>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4" name="Gruppo 83">
                <a:extLst>
                  <a:ext uri="{FF2B5EF4-FFF2-40B4-BE49-F238E27FC236}">
                    <a16:creationId xmlns:a16="http://schemas.microsoft.com/office/drawing/2014/main" id="{5BB1505F-B24C-F804-9A10-516B8BFF703A}"/>
                  </a:ext>
                </a:extLst>
              </p:cNvPr>
              <p:cNvGrpSpPr/>
              <p:nvPr/>
            </p:nvGrpSpPr>
            <p:grpSpPr>
              <a:xfrm>
                <a:off x="8401893" y="623243"/>
                <a:ext cx="502061" cy="406706"/>
                <a:chOff x="8613413" y="623243"/>
                <a:chExt cx="502061" cy="406706"/>
              </a:xfrm>
            </p:grpSpPr>
            <p:pic>
              <p:nvPicPr>
                <p:cNvPr id="88" name="Elemento grafico 87">
                  <a:extLst>
                    <a:ext uri="{FF2B5EF4-FFF2-40B4-BE49-F238E27FC236}">
                      <a16:creationId xmlns:a16="http://schemas.microsoft.com/office/drawing/2014/main" id="{1D484670-3022-F132-454A-6352A290CE1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750144" y="801349"/>
                  <a:ext cx="228600" cy="228600"/>
                </a:xfrm>
                <a:prstGeom prst="rect">
                  <a:avLst/>
                </a:prstGeom>
              </p:spPr>
            </p:pic>
            <p:sp>
              <p:nvSpPr>
                <p:cNvPr id="89" name="CasellaDiTesto 88">
                  <a:extLst>
                    <a:ext uri="{FF2B5EF4-FFF2-40B4-BE49-F238E27FC236}">
                      <a16:creationId xmlns:a16="http://schemas.microsoft.com/office/drawing/2014/main" id="{621EFF9F-333C-9FD0-B017-5069D60E2D80}"/>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5" name="Gruppo 84">
                <a:extLst>
                  <a:ext uri="{FF2B5EF4-FFF2-40B4-BE49-F238E27FC236}">
                    <a16:creationId xmlns:a16="http://schemas.microsoft.com/office/drawing/2014/main" id="{3EA8089D-592B-78E9-E6EE-ED68171DEA86}"/>
                  </a:ext>
                </a:extLst>
              </p:cNvPr>
              <p:cNvGrpSpPr/>
              <p:nvPr/>
            </p:nvGrpSpPr>
            <p:grpSpPr>
              <a:xfrm>
                <a:off x="8842329" y="623243"/>
                <a:ext cx="708207" cy="406706"/>
                <a:chOff x="9001458" y="623243"/>
                <a:chExt cx="708207" cy="406706"/>
              </a:xfrm>
            </p:grpSpPr>
            <p:pic>
              <p:nvPicPr>
                <p:cNvPr id="86" name="Elemento grafico 85">
                  <a:extLst>
                    <a:ext uri="{FF2B5EF4-FFF2-40B4-BE49-F238E27FC236}">
                      <a16:creationId xmlns:a16="http://schemas.microsoft.com/office/drawing/2014/main" id="{0FAA3EE3-A2E5-59AD-59A1-C6F84DB69BE7}"/>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241261" y="801349"/>
                  <a:ext cx="228600" cy="228600"/>
                </a:xfrm>
                <a:prstGeom prst="rect">
                  <a:avLst/>
                </a:prstGeom>
              </p:spPr>
            </p:pic>
            <p:sp>
              <p:nvSpPr>
                <p:cNvPr id="87" name="CasellaDiTesto 86">
                  <a:extLst>
                    <a:ext uri="{FF2B5EF4-FFF2-40B4-BE49-F238E27FC236}">
                      <a16:creationId xmlns:a16="http://schemas.microsoft.com/office/drawing/2014/main" id="{2D97F224-6CE9-24D6-FB46-9E9EDCC87F54}"/>
                    </a:ext>
                  </a:extLst>
                </p:cNvPr>
                <p:cNvSpPr txBox="1"/>
                <p:nvPr/>
              </p:nvSpPr>
              <p:spPr>
                <a:xfrm>
                  <a:off x="9001458" y="623243"/>
                  <a:ext cx="708207"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DECISIONE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5917157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21143-4252-8C8B-DE63-C83F9C30CBD7}"/>
            </a:ext>
          </a:extLst>
        </p:cNvPr>
        <p:cNvGrpSpPr/>
        <p:nvPr/>
      </p:nvGrpSpPr>
      <p:grpSpPr>
        <a:xfrm>
          <a:off x="0" y="0"/>
          <a:ext cx="0" cy="0"/>
          <a:chOff x="0" y="0"/>
          <a:chExt cx="0" cy="0"/>
        </a:xfrm>
      </p:grpSpPr>
      <p:pic>
        <p:nvPicPr>
          <p:cNvPr id="5" name="Immagine 7">
            <a:extLst>
              <a:ext uri="{FF2B5EF4-FFF2-40B4-BE49-F238E27FC236}">
                <a16:creationId xmlns:a16="http://schemas.microsoft.com/office/drawing/2014/main" id="{C684DD54-18DF-0C44-B60A-89A9D8C54CFC}"/>
              </a:ext>
            </a:extLst>
          </p:cNvPr>
          <p:cNvPicPr>
            <a:picLocks noChangeAspect="1"/>
          </p:cNvPicPr>
          <p:nvPr/>
        </p:nvPicPr>
        <p:blipFill>
          <a:blip r:embed="rId2" cstate="email">
            <a:lum bright="70000" contrast="-70000"/>
            <a:extLst>
              <a:ext uri="{28A0092B-C50C-407E-A947-70E740481C1C}">
                <a14:useLocalDpi xmlns:a14="http://schemas.microsoft.com/office/drawing/2010/main"/>
              </a:ext>
            </a:extLst>
          </a:blip>
          <a:stretch>
            <a:fillRect/>
          </a:stretch>
        </p:blipFill>
        <p:spPr>
          <a:xfrm>
            <a:off x="238259" y="295023"/>
            <a:ext cx="619126" cy="206375"/>
          </a:xfrm>
          <a:prstGeom prst="rect">
            <a:avLst/>
          </a:prstGeom>
        </p:spPr>
      </p:pic>
      <p:sp>
        <p:nvSpPr>
          <p:cNvPr id="6" name="Line">
            <a:extLst>
              <a:ext uri="{FF2B5EF4-FFF2-40B4-BE49-F238E27FC236}">
                <a16:creationId xmlns:a16="http://schemas.microsoft.com/office/drawing/2014/main" id="{A26A1DAC-BE30-31A7-295D-60F38717A75F}"/>
              </a:ext>
            </a:extLst>
          </p:cNvPr>
          <p:cNvSpPr/>
          <p:nvPr/>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sz="1600" b="0" i="0" u="none" strike="noStrike" kern="1200" cap="none" spc="0" normalizeH="0" baseline="0" noProof="0">
              <a:ln>
                <a:noFill/>
              </a:ln>
              <a:solidFill>
                <a:srgbClr val="FFFFFF"/>
              </a:solidFill>
              <a:effectLst/>
              <a:uLnTx/>
              <a:uFillTx/>
              <a:latin typeface="Calibri" panose="020F0502020204030204"/>
              <a:ea typeface="+mn-ea"/>
              <a:cs typeface="+mn-cs"/>
              <a:sym typeface="Helvetica Neue Medium"/>
            </a:endParaRPr>
          </a:p>
        </p:txBody>
      </p:sp>
      <p:sp>
        <p:nvSpPr>
          <p:cNvPr id="4" name="Graphic">
            <a:extLst>
              <a:ext uri="{FF2B5EF4-FFF2-40B4-BE49-F238E27FC236}">
                <a16:creationId xmlns:a16="http://schemas.microsoft.com/office/drawing/2014/main" id="{0CAE960B-AE91-AC95-E2B7-BDA628A24895}"/>
              </a:ext>
            </a:extLst>
          </p:cNvPr>
          <p:cNvSpPr txBox="1"/>
          <p:nvPr/>
        </p:nvSpPr>
        <p:spPr>
          <a:xfrm>
            <a:off x="4006622" y="3283714"/>
            <a:ext cx="7340155" cy="55399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lgn="l">
              <a:defRPr sz="20000" b="0">
                <a:solidFill>
                  <a:srgbClr val="2C2E3C"/>
                </a:solidFill>
                <a:latin typeface="Roboto Black"/>
                <a:ea typeface="Roboto Black"/>
                <a:cs typeface="Roboto Black"/>
                <a:sym typeface="Roboto Black"/>
              </a:defRPr>
            </a:lvl1pPr>
          </a:lstStyle>
          <a:p>
            <a:pPr marL="0" marR="0" lvl="0" indent="0" algn="r" defTabSz="911342" rtl="0" eaLnBrk="1" fontAlgn="auto" latinLnBrk="0" hangingPunct="1">
              <a:lnSpc>
                <a:spcPct val="100000"/>
              </a:lnSpc>
              <a:spcBef>
                <a:spcPts val="0"/>
              </a:spcBef>
              <a:spcAft>
                <a:spcPts val="0"/>
              </a:spcAft>
              <a:buClrTx/>
              <a:buSzTx/>
              <a:buFontTx/>
              <a:buNone/>
              <a:tabLst/>
              <a:defRPr/>
            </a:pPr>
            <a:r>
              <a:rPr lang="it-IT" sz="3600" b="1" dirty="0">
                <a:solidFill>
                  <a:prstClr val="white"/>
                </a:solidFill>
                <a:latin typeface="Poppins" pitchFamily="2" charset="77"/>
                <a:cs typeface="Poppins" pitchFamily="2" charset="77"/>
              </a:rPr>
              <a:t>Appendice tecnica</a:t>
            </a:r>
            <a:endParaRPr kumimoji="0" lang="it-IT" sz="3600" b="1" i="0" u="none" strike="noStrike" kern="1200" cap="none" spc="0" normalizeH="0" baseline="0" noProof="0" dirty="0">
              <a:ln>
                <a:noFill/>
              </a:ln>
              <a:solidFill>
                <a:prstClr val="white"/>
              </a:solidFill>
              <a:effectLst/>
              <a:uLnTx/>
              <a:uFillTx/>
              <a:latin typeface="Poppins" pitchFamily="2" charset="77"/>
              <a:ea typeface="Roboto Black"/>
              <a:cs typeface="Poppins" pitchFamily="2" charset="77"/>
              <a:sym typeface="Roboto Black"/>
            </a:endParaRPr>
          </a:p>
        </p:txBody>
      </p:sp>
      <p:pic>
        <p:nvPicPr>
          <p:cNvPr id="2" name="Picture 13">
            <a:extLst>
              <a:ext uri="{FF2B5EF4-FFF2-40B4-BE49-F238E27FC236}">
                <a16:creationId xmlns:a16="http://schemas.microsoft.com/office/drawing/2014/main" id="{D4CBD155-7D48-BE03-2025-EACEFC99AB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7730" y="2364059"/>
            <a:ext cx="3384443" cy="767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4757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C1DC0-9FDB-22AC-1E1C-EDEC8EE1FC5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D89951B-CA73-8611-0552-0DCAB149BFEA}"/>
              </a:ext>
            </a:extLst>
          </p:cNvPr>
          <p:cNvSpPr>
            <a:spLocks noGrp="1"/>
          </p:cNvSpPr>
          <p:nvPr>
            <p:ph type="title"/>
          </p:nvPr>
        </p:nvSpPr>
        <p:spPr/>
        <p:txBody>
          <a:bodyPr/>
          <a:lstStyle/>
          <a:p>
            <a:r>
              <a:rPr lang="it-IT" dirty="0"/>
              <a:t>Data pipeline | </a:t>
            </a:r>
            <a:r>
              <a:rPr lang="it-IT" dirty="0">
                <a:solidFill>
                  <a:schemeClr val="tx1"/>
                </a:solidFill>
                <a:ea typeface="+mn-ea"/>
                <a:cs typeface="+mn-cs"/>
              </a:rPr>
              <a:t>Implementazione AWS</a:t>
            </a:r>
          </a:p>
        </p:txBody>
      </p:sp>
      <p:grpSp>
        <p:nvGrpSpPr>
          <p:cNvPr id="10" name="Gruppo 9">
            <a:extLst>
              <a:ext uri="{FF2B5EF4-FFF2-40B4-BE49-F238E27FC236}">
                <a16:creationId xmlns:a16="http://schemas.microsoft.com/office/drawing/2014/main" id="{6B0C4D50-1609-F380-8AC0-55490DA01B2B}"/>
              </a:ext>
            </a:extLst>
          </p:cNvPr>
          <p:cNvGrpSpPr/>
          <p:nvPr/>
        </p:nvGrpSpPr>
        <p:grpSpPr>
          <a:xfrm>
            <a:off x="486996" y="1266408"/>
            <a:ext cx="11218008" cy="4325185"/>
            <a:chOff x="515493" y="1358576"/>
            <a:chExt cx="11218008" cy="4325185"/>
          </a:xfrm>
        </p:grpSpPr>
        <p:grpSp>
          <p:nvGrpSpPr>
            <p:cNvPr id="23" name="Gruppo 22">
              <a:extLst>
                <a:ext uri="{FF2B5EF4-FFF2-40B4-BE49-F238E27FC236}">
                  <a16:creationId xmlns:a16="http://schemas.microsoft.com/office/drawing/2014/main" id="{F8334698-ABE8-45C5-2831-1ED480282EF6}"/>
                </a:ext>
              </a:extLst>
            </p:cNvPr>
            <p:cNvGrpSpPr/>
            <p:nvPr/>
          </p:nvGrpSpPr>
          <p:grpSpPr>
            <a:xfrm>
              <a:off x="9343441" y="1358576"/>
              <a:ext cx="2390060" cy="3354933"/>
              <a:chOff x="9343441" y="898133"/>
              <a:chExt cx="2390060" cy="3354933"/>
            </a:xfrm>
          </p:grpSpPr>
          <p:sp>
            <p:nvSpPr>
              <p:cNvPr id="12" name="Rettangolo con angoli arrotondati 11">
                <a:extLst>
                  <a:ext uri="{FF2B5EF4-FFF2-40B4-BE49-F238E27FC236}">
                    <a16:creationId xmlns:a16="http://schemas.microsoft.com/office/drawing/2014/main" id="{5422EAA1-2A5F-70EA-66A6-B9343AD04246}"/>
                  </a:ext>
                </a:extLst>
              </p:cNvPr>
              <p:cNvSpPr/>
              <p:nvPr/>
            </p:nvSpPr>
            <p:spPr>
              <a:xfrm>
                <a:off x="9343441" y="898133"/>
                <a:ext cx="2390060" cy="3354933"/>
              </a:xfrm>
              <a:prstGeom prst="roundRect">
                <a:avLst>
                  <a:gd name="adj" fmla="val 3362"/>
                </a:avLst>
              </a:prstGeom>
              <a:solidFill>
                <a:srgbClr val="F6F9FC"/>
              </a:solidFill>
              <a:ln w="9525">
                <a:solidFill>
                  <a:srgbClr val="CDDF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asellaDiTesto 12">
                <a:extLst>
                  <a:ext uri="{FF2B5EF4-FFF2-40B4-BE49-F238E27FC236}">
                    <a16:creationId xmlns:a16="http://schemas.microsoft.com/office/drawing/2014/main" id="{D3294E71-3CC5-5F51-08D6-83FC7192454A}"/>
                  </a:ext>
                </a:extLst>
              </p:cNvPr>
              <p:cNvSpPr txBox="1"/>
              <p:nvPr/>
            </p:nvSpPr>
            <p:spPr>
              <a:xfrm>
                <a:off x="9530471" y="998804"/>
                <a:ext cx="2015999" cy="226591"/>
              </a:xfrm>
              <a:prstGeom prst="rect">
                <a:avLst/>
              </a:prstGeom>
              <a:noFill/>
            </p:spPr>
            <p:txBody>
              <a:bodyPr wrap="square" lIns="36000" tIns="36000" rIns="36000" bIns="36000" rtlCol="0" anchor="ctr">
                <a:spAutoFit/>
              </a:bodyPr>
              <a:lstStyle/>
              <a:p>
                <a:pPr algn="just"/>
                <a:r>
                  <a:rPr lang="en-US" sz="1000" b="1" dirty="0">
                    <a:solidFill>
                      <a:srgbClr val="10387E"/>
                    </a:solidFill>
                  </a:rPr>
                  <a:t>PERCHÉ QUESTO APPROCCIO</a:t>
                </a:r>
              </a:p>
            </p:txBody>
          </p:sp>
          <p:grpSp>
            <p:nvGrpSpPr>
              <p:cNvPr id="3" name="Gruppo 2">
                <a:extLst>
                  <a:ext uri="{FF2B5EF4-FFF2-40B4-BE49-F238E27FC236}">
                    <a16:creationId xmlns:a16="http://schemas.microsoft.com/office/drawing/2014/main" id="{CF676CF6-D994-5EA0-737B-B44E72CFBD81}"/>
                  </a:ext>
                </a:extLst>
              </p:cNvPr>
              <p:cNvGrpSpPr/>
              <p:nvPr/>
            </p:nvGrpSpPr>
            <p:grpSpPr>
              <a:xfrm>
                <a:off x="9505567" y="1482787"/>
                <a:ext cx="2040903" cy="354884"/>
                <a:chOff x="9505567" y="1504191"/>
                <a:chExt cx="2040903" cy="354884"/>
              </a:xfrm>
            </p:grpSpPr>
            <p:grpSp>
              <p:nvGrpSpPr>
                <p:cNvPr id="46" name="Gruppo 45">
                  <a:extLst>
                    <a:ext uri="{FF2B5EF4-FFF2-40B4-BE49-F238E27FC236}">
                      <a16:creationId xmlns:a16="http://schemas.microsoft.com/office/drawing/2014/main" id="{C055AEA5-D9CC-E84F-BB72-ECA43DE51A67}"/>
                    </a:ext>
                  </a:extLst>
                </p:cNvPr>
                <p:cNvGrpSpPr>
                  <a:grpSpLocks/>
                </p:cNvGrpSpPr>
                <p:nvPr/>
              </p:nvGrpSpPr>
              <p:grpSpPr>
                <a:xfrm>
                  <a:off x="9505567" y="1504191"/>
                  <a:ext cx="354884" cy="354884"/>
                  <a:chOff x="6879490" y="4314168"/>
                  <a:chExt cx="354884" cy="354884"/>
                </a:xfrm>
              </p:grpSpPr>
              <p:sp>
                <p:nvSpPr>
                  <p:cNvPr id="42" name="Ovale 41">
                    <a:extLst>
                      <a:ext uri="{FF2B5EF4-FFF2-40B4-BE49-F238E27FC236}">
                        <a16:creationId xmlns:a16="http://schemas.microsoft.com/office/drawing/2014/main" id="{F1DB4377-F740-E3A3-6102-531E5A59495A}"/>
                      </a:ext>
                    </a:extLst>
                  </p:cNvPr>
                  <p:cNvSpPr>
                    <a:spLocks/>
                  </p:cNvSpPr>
                  <p:nvPr/>
                </p:nvSpPr>
                <p:spPr>
                  <a:xfrm>
                    <a:off x="6879490" y="4314168"/>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5" name="Elemento grafico 44">
                    <a:extLst>
                      <a:ext uri="{FF2B5EF4-FFF2-40B4-BE49-F238E27FC236}">
                        <a16:creationId xmlns:a16="http://schemas.microsoft.com/office/drawing/2014/main" id="{9D2A2BD6-DE20-CB78-1391-3E7241B1E4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42632" y="4377310"/>
                    <a:ext cx="228600" cy="228600"/>
                  </a:xfrm>
                  <a:prstGeom prst="rect">
                    <a:avLst/>
                  </a:prstGeom>
                </p:spPr>
              </p:pic>
            </p:grpSp>
            <p:sp>
              <p:nvSpPr>
                <p:cNvPr id="47" name="CasellaDiTesto 46">
                  <a:extLst>
                    <a:ext uri="{FF2B5EF4-FFF2-40B4-BE49-F238E27FC236}">
                      <a16:creationId xmlns:a16="http://schemas.microsoft.com/office/drawing/2014/main" id="{7CB9A1A3-E5F1-3382-4EBF-03DAD547A1C7}"/>
                    </a:ext>
                  </a:extLst>
                </p:cNvPr>
                <p:cNvSpPr txBox="1"/>
                <p:nvPr/>
              </p:nvSpPr>
              <p:spPr>
                <a:xfrm>
                  <a:off x="9923593" y="1512356"/>
                  <a:ext cx="1622877" cy="338554"/>
                </a:xfrm>
                <a:prstGeom prst="rect">
                  <a:avLst/>
                </a:prstGeom>
                <a:noFill/>
              </p:spPr>
              <p:txBody>
                <a:bodyPr wrap="square" rtlCol="0">
                  <a:spAutoFit/>
                </a:bodyPr>
                <a:lstStyle/>
                <a:p>
                  <a:r>
                    <a:rPr lang="it-IT" sz="800" dirty="0"/>
                    <a:t>Separa chiaramente le responsabilità</a:t>
                  </a:r>
                  <a:endParaRPr lang="en-US" sz="800" dirty="0"/>
                </a:p>
              </p:txBody>
            </p:sp>
          </p:grpSp>
          <p:grpSp>
            <p:nvGrpSpPr>
              <p:cNvPr id="7" name="Gruppo 6">
                <a:extLst>
                  <a:ext uri="{FF2B5EF4-FFF2-40B4-BE49-F238E27FC236}">
                    <a16:creationId xmlns:a16="http://schemas.microsoft.com/office/drawing/2014/main" id="{E3C3508E-2D15-CA96-2BED-E11D02A5425E}"/>
                  </a:ext>
                </a:extLst>
              </p:cNvPr>
              <p:cNvGrpSpPr/>
              <p:nvPr/>
            </p:nvGrpSpPr>
            <p:grpSpPr>
              <a:xfrm>
                <a:off x="9505567" y="2026055"/>
                <a:ext cx="2040902" cy="354884"/>
                <a:chOff x="9505567" y="2006174"/>
                <a:chExt cx="2040902" cy="354884"/>
              </a:xfrm>
            </p:grpSpPr>
            <p:grpSp>
              <p:nvGrpSpPr>
                <p:cNvPr id="20" name="Gruppo 19">
                  <a:extLst>
                    <a:ext uri="{FF2B5EF4-FFF2-40B4-BE49-F238E27FC236}">
                      <a16:creationId xmlns:a16="http://schemas.microsoft.com/office/drawing/2014/main" id="{2BA91B33-5835-6625-60B7-0F4B5EDDFE08}"/>
                    </a:ext>
                  </a:extLst>
                </p:cNvPr>
                <p:cNvGrpSpPr>
                  <a:grpSpLocks/>
                </p:cNvGrpSpPr>
                <p:nvPr/>
              </p:nvGrpSpPr>
              <p:grpSpPr>
                <a:xfrm>
                  <a:off x="9505567" y="2006174"/>
                  <a:ext cx="354884" cy="354884"/>
                  <a:chOff x="6874615" y="4706700"/>
                  <a:chExt cx="354884" cy="354884"/>
                </a:xfrm>
              </p:grpSpPr>
              <p:sp>
                <p:nvSpPr>
                  <p:cNvPr id="14" name="Ovale 13">
                    <a:extLst>
                      <a:ext uri="{FF2B5EF4-FFF2-40B4-BE49-F238E27FC236}">
                        <a16:creationId xmlns:a16="http://schemas.microsoft.com/office/drawing/2014/main" id="{0021684F-6428-62E2-1D4F-B297CD92E6F4}"/>
                      </a:ext>
                    </a:extLst>
                  </p:cNvPr>
                  <p:cNvSpPr>
                    <a:spLocks/>
                  </p:cNvSpPr>
                  <p:nvPr/>
                </p:nvSpPr>
                <p:spPr>
                  <a:xfrm>
                    <a:off x="6874615" y="4706700"/>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 name="Gruppo 18">
                    <a:extLst>
                      <a:ext uri="{FF2B5EF4-FFF2-40B4-BE49-F238E27FC236}">
                        <a16:creationId xmlns:a16="http://schemas.microsoft.com/office/drawing/2014/main" id="{F12F8D99-3090-6F82-ACB5-69C146A9EFB3}"/>
                      </a:ext>
                    </a:extLst>
                  </p:cNvPr>
                  <p:cNvGrpSpPr>
                    <a:grpSpLocks/>
                  </p:cNvGrpSpPr>
                  <p:nvPr/>
                </p:nvGrpSpPr>
                <p:grpSpPr>
                  <a:xfrm>
                    <a:off x="6964308" y="4786662"/>
                    <a:ext cx="175500" cy="194981"/>
                    <a:chOff x="5040164" y="3199740"/>
                    <a:chExt cx="175500" cy="194981"/>
                  </a:xfrm>
                </p:grpSpPr>
                <p:sp>
                  <p:nvSpPr>
                    <p:cNvPr id="16" name="Figura a mano libera: forma 15">
                      <a:extLst>
                        <a:ext uri="{FF2B5EF4-FFF2-40B4-BE49-F238E27FC236}">
                          <a16:creationId xmlns:a16="http://schemas.microsoft.com/office/drawing/2014/main" id="{6FF127B3-646E-759B-FA57-DAF44E543E4B}"/>
                        </a:ext>
                      </a:extLst>
                    </p:cNvPr>
                    <p:cNvSpPr>
                      <a:spLocks/>
                    </p:cNvSpPr>
                    <p:nvPr/>
                  </p:nvSpPr>
                  <p:spPr>
                    <a:xfrm>
                      <a:off x="5040164" y="3199740"/>
                      <a:ext cx="175500" cy="194960"/>
                    </a:xfrm>
                    <a:custGeom>
                      <a:avLst/>
                      <a:gdLst>
                        <a:gd name="csX0" fmla="*/ 175500 w 175500"/>
                        <a:gd name="csY0" fmla="*/ 58480 h 194960"/>
                        <a:gd name="csX1" fmla="*/ 165750 w 175500"/>
                        <a:gd name="csY1" fmla="*/ 41613 h 194960"/>
                        <a:gd name="csX2" fmla="*/ 97500 w 175500"/>
                        <a:gd name="csY2" fmla="*/ 2613 h 194960"/>
                        <a:gd name="csX3" fmla="*/ 78000 w 175500"/>
                        <a:gd name="csY3" fmla="*/ 2613 h 194960"/>
                        <a:gd name="csX4" fmla="*/ 9750 w 175500"/>
                        <a:gd name="csY4" fmla="*/ 41613 h 194960"/>
                        <a:gd name="csX5" fmla="*/ 0 w 175500"/>
                        <a:gd name="csY5" fmla="*/ 58480 h 194960"/>
                        <a:gd name="csX6" fmla="*/ 0 w 175500"/>
                        <a:gd name="csY6" fmla="*/ 136480 h 194960"/>
                        <a:gd name="csX7" fmla="*/ 9750 w 175500"/>
                        <a:gd name="csY7" fmla="*/ 153348 h 194960"/>
                        <a:gd name="csX8" fmla="*/ 78000 w 175500"/>
                        <a:gd name="csY8" fmla="*/ 192348 h 194960"/>
                        <a:gd name="csX9" fmla="*/ 97500 w 175500"/>
                        <a:gd name="csY9" fmla="*/ 192348 h 194960"/>
                        <a:gd name="csX10" fmla="*/ 165750 w 175500"/>
                        <a:gd name="csY10" fmla="*/ 153348 h 194960"/>
                        <a:gd name="csX11" fmla="*/ 175500 w 175500"/>
                        <a:gd name="csY11" fmla="*/ 136480 h 194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75500" h="194960">
                          <a:moveTo>
                            <a:pt x="175500" y="58480"/>
                          </a:moveTo>
                          <a:cubicBezTo>
                            <a:pt x="175493" y="51520"/>
                            <a:pt x="171777" y="45092"/>
                            <a:pt x="165750" y="41613"/>
                          </a:cubicBezTo>
                          <a:lnTo>
                            <a:pt x="97500" y="2613"/>
                          </a:lnTo>
                          <a:cubicBezTo>
                            <a:pt x="91467" y="-871"/>
                            <a:pt x="84033" y="-871"/>
                            <a:pt x="78000" y="2613"/>
                          </a:cubicBezTo>
                          <a:lnTo>
                            <a:pt x="9750" y="41613"/>
                          </a:lnTo>
                          <a:cubicBezTo>
                            <a:pt x="3723" y="45092"/>
                            <a:pt x="7" y="51520"/>
                            <a:pt x="0" y="58480"/>
                          </a:cubicBezTo>
                          <a:lnTo>
                            <a:pt x="0" y="136480"/>
                          </a:lnTo>
                          <a:cubicBezTo>
                            <a:pt x="7" y="143440"/>
                            <a:pt x="3723" y="149868"/>
                            <a:pt x="9750" y="153348"/>
                          </a:cubicBezTo>
                          <a:lnTo>
                            <a:pt x="78000" y="192348"/>
                          </a:lnTo>
                          <a:cubicBezTo>
                            <a:pt x="84033" y="195831"/>
                            <a:pt x="91467" y="195831"/>
                            <a:pt x="97500" y="192348"/>
                          </a:cubicBezTo>
                          <a:lnTo>
                            <a:pt x="165750" y="153348"/>
                          </a:lnTo>
                          <a:cubicBezTo>
                            <a:pt x="171777" y="149868"/>
                            <a:pt x="175493" y="143440"/>
                            <a:pt x="175500" y="136480"/>
                          </a:cubicBezTo>
                          <a:close/>
                        </a:path>
                      </a:pathLst>
                    </a:custGeom>
                    <a:noFill/>
                    <a:ln w="19050" cap="rnd">
                      <a:solidFill>
                        <a:srgbClr val="1F5AAD"/>
                      </a:solidFill>
                      <a:prstDash val="solid"/>
                      <a:round/>
                    </a:ln>
                  </p:spPr>
                  <p:txBody>
                    <a:bodyPr/>
                    <a:lstStyle/>
                    <a:p>
                      <a:endParaRPr lang="en-US"/>
                    </a:p>
                  </p:txBody>
                </p:sp>
                <p:sp>
                  <p:nvSpPr>
                    <p:cNvPr id="17" name="Figura a mano libera: forma 16">
                      <a:extLst>
                        <a:ext uri="{FF2B5EF4-FFF2-40B4-BE49-F238E27FC236}">
                          <a16:creationId xmlns:a16="http://schemas.microsoft.com/office/drawing/2014/main" id="{8909A0CB-5EF1-B541-E9B4-005F1AE7D26C}"/>
                        </a:ext>
                      </a:extLst>
                    </p:cNvPr>
                    <p:cNvSpPr>
                      <a:spLocks/>
                    </p:cNvSpPr>
                    <p:nvPr/>
                  </p:nvSpPr>
                  <p:spPr>
                    <a:xfrm>
                      <a:off x="5043088" y="3248471"/>
                      <a:ext cx="169650" cy="48750"/>
                    </a:xfrm>
                    <a:custGeom>
                      <a:avLst/>
                      <a:gdLst>
                        <a:gd name="csX0" fmla="*/ 0 w 169650"/>
                        <a:gd name="csY0" fmla="*/ 0 h 48750"/>
                        <a:gd name="csX1" fmla="*/ 84825 w 169650"/>
                        <a:gd name="csY1" fmla="*/ 48750 h 48750"/>
                        <a:gd name="csX2" fmla="*/ 169650 w 169650"/>
                        <a:gd name="csY2" fmla="*/ 0 h 48750"/>
                      </a:gdLst>
                      <a:ahLst/>
                      <a:cxnLst>
                        <a:cxn ang="0">
                          <a:pos x="csX0" y="csY0"/>
                        </a:cxn>
                        <a:cxn ang="0">
                          <a:pos x="csX1" y="csY1"/>
                        </a:cxn>
                        <a:cxn ang="0">
                          <a:pos x="csX2" y="csY2"/>
                        </a:cxn>
                      </a:cxnLst>
                      <a:rect l="l" t="t" r="r" b="b"/>
                      <a:pathLst>
                        <a:path w="169650" h="48750">
                          <a:moveTo>
                            <a:pt x="0" y="0"/>
                          </a:moveTo>
                          <a:lnTo>
                            <a:pt x="84825" y="48750"/>
                          </a:lnTo>
                          <a:lnTo>
                            <a:pt x="169650" y="0"/>
                          </a:lnTo>
                        </a:path>
                      </a:pathLst>
                    </a:custGeom>
                    <a:noFill/>
                    <a:ln w="19050" cap="rnd">
                      <a:solidFill>
                        <a:srgbClr val="1F5AAD"/>
                      </a:solidFill>
                      <a:prstDash val="solid"/>
                      <a:round/>
                    </a:ln>
                  </p:spPr>
                  <p:txBody>
                    <a:bodyPr/>
                    <a:lstStyle/>
                    <a:p>
                      <a:endParaRPr lang="en-US"/>
                    </a:p>
                  </p:txBody>
                </p:sp>
                <p:sp>
                  <p:nvSpPr>
                    <p:cNvPr id="18" name="Figura a mano libera: forma 17">
                      <a:extLst>
                        <a:ext uri="{FF2B5EF4-FFF2-40B4-BE49-F238E27FC236}">
                          <a16:creationId xmlns:a16="http://schemas.microsoft.com/office/drawing/2014/main" id="{6DCE2F7A-9CB2-2F99-D398-7280BDF6A371}"/>
                        </a:ext>
                      </a:extLst>
                    </p:cNvPr>
                    <p:cNvSpPr>
                      <a:spLocks/>
                    </p:cNvSpPr>
                    <p:nvPr/>
                  </p:nvSpPr>
                  <p:spPr>
                    <a:xfrm>
                      <a:off x="5127914" y="3297221"/>
                      <a:ext cx="9750" cy="97500"/>
                    </a:xfrm>
                    <a:custGeom>
                      <a:avLst/>
                      <a:gdLst>
                        <a:gd name="csX0" fmla="*/ 0 w 9750"/>
                        <a:gd name="csY0" fmla="*/ 97500 h 97500"/>
                        <a:gd name="csX1" fmla="*/ 0 w 9750"/>
                        <a:gd name="csY1" fmla="*/ 0 h 97500"/>
                      </a:gdLst>
                      <a:ahLst/>
                      <a:cxnLst>
                        <a:cxn ang="0">
                          <a:pos x="csX0" y="csY0"/>
                        </a:cxn>
                        <a:cxn ang="0">
                          <a:pos x="csX1" y="csY1"/>
                        </a:cxn>
                      </a:cxnLst>
                      <a:rect l="l" t="t" r="r" b="b"/>
                      <a:pathLst>
                        <a:path w="9750" h="97500">
                          <a:moveTo>
                            <a:pt x="0" y="97500"/>
                          </a:moveTo>
                          <a:lnTo>
                            <a:pt x="0" y="0"/>
                          </a:lnTo>
                        </a:path>
                      </a:pathLst>
                    </a:custGeom>
                    <a:noFill/>
                    <a:ln w="19050" cap="rnd">
                      <a:solidFill>
                        <a:srgbClr val="1F5AAD"/>
                      </a:solidFill>
                      <a:prstDash val="solid"/>
                      <a:round/>
                    </a:ln>
                  </p:spPr>
                  <p:txBody>
                    <a:bodyPr/>
                    <a:lstStyle/>
                    <a:p>
                      <a:endParaRPr lang="en-US"/>
                    </a:p>
                  </p:txBody>
                </p:sp>
              </p:grpSp>
            </p:grpSp>
            <p:sp>
              <p:nvSpPr>
                <p:cNvPr id="48" name="CasellaDiTesto 47">
                  <a:extLst>
                    <a:ext uri="{FF2B5EF4-FFF2-40B4-BE49-F238E27FC236}">
                      <a16:creationId xmlns:a16="http://schemas.microsoft.com/office/drawing/2014/main" id="{33F599CB-2EA1-5A19-1B6D-E56BA5587033}"/>
                    </a:ext>
                  </a:extLst>
                </p:cNvPr>
                <p:cNvSpPr txBox="1"/>
                <p:nvPr/>
              </p:nvSpPr>
              <p:spPr>
                <a:xfrm>
                  <a:off x="9923592" y="2012581"/>
                  <a:ext cx="1622877" cy="338554"/>
                </a:xfrm>
                <a:prstGeom prst="rect">
                  <a:avLst/>
                </a:prstGeom>
                <a:noFill/>
              </p:spPr>
              <p:txBody>
                <a:bodyPr wrap="square" rtlCol="0">
                  <a:spAutoFit/>
                </a:bodyPr>
                <a:lstStyle/>
                <a:p>
                  <a:r>
                    <a:rPr lang="it-IT" sz="800" dirty="0"/>
                    <a:t>Strumenti </a:t>
                  </a:r>
                  <a:r>
                    <a:rPr lang="en-US" sz="800" noProof="0" dirty="0"/>
                    <a:t>best-of-breed </a:t>
                  </a:r>
                  <a:r>
                    <a:rPr lang="it-IT" sz="800" dirty="0"/>
                    <a:t>e indipendenti</a:t>
                  </a:r>
                  <a:endParaRPr lang="en-US" sz="800" dirty="0"/>
                </a:p>
              </p:txBody>
            </p:sp>
          </p:grpSp>
          <p:grpSp>
            <p:nvGrpSpPr>
              <p:cNvPr id="11" name="Gruppo 10">
                <a:extLst>
                  <a:ext uri="{FF2B5EF4-FFF2-40B4-BE49-F238E27FC236}">
                    <a16:creationId xmlns:a16="http://schemas.microsoft.com/office/drawing/2014/main" id="{7ECF404F-63DD-45F3-F2D8-B175F8E5EB97}"/>
                  </a:ext>
                </a:extLst>
              </p:cNvPr>
              <p:cNvGrpSpPr/>
              <p:nvPr/>
            </p:nvGrpSpPr>
            <p:grpSpPr>
              <a:xfrm>
                <a:off x="9505567" y="2569323"/>
                <a:ext cx="2040901" cy="354884"/>
                <a:chOff x="9505567" y="2508157"/>
                <a:chExt cx="2040901" cy="354884"/>
              </a:xfrm>
            </p:grpSpPr>
            <p:sp>
              <p:nvSpPr>
                <p:cNvPr id="22" name="Ovale 21">
                  <a:extLst>
                    <a:ext uri="{FF2B5EF4-FFF2-40B4-BE49-F238E27FC236}">
                      <a16:creationId xmlns:a16="http://schemas.microsoft.com/office/drawing/2014/main" id="{DB98330F-4E20-C217-29C2-A541CCB0EBFB}"/>
                    </a:ext>
                  </a:extLst>
                </p:cNvPr>
                <p:cNvSpPr>
                  <a:spLocks/>
                </p:cNvSpPr>
                <p:nvPr/>
              </p:nvSpPr>
              <p:spPr>
                <a:xfrm>
                  <a:off x="9505567" y="2508157"/>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Elemento grafico 28">
                  <a:extLst>
                    <a:ext uri="{FF2B5EF4-FFF2-40B4-BE49-F238E27FC236}">
                      <a16:creationId xmlns:a16="http://schemas.microsoft.com/office/drawing/2014/main" id="{AD83418C-C71B-68BE-5AFA-E9FA71220B6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568709" y="2567420"/>
                  <a:ext cx="228600" cy="228600"/>
                </a:xfrm>
                <a:prstGeom prst="rect">
                  <a:avLst/>
                </a:prstGeom>
              </p:spPr>
            </p:pic>
            <p:sp>
              <p:nvSpPr>
                <p:cNvPr id="49" name="CasellaDiTesto 48">
                  <a:extLst>
                    <a:ext uri="{FF2B5EF4-FFF2-40B4-BE49-F238E27FC236}">
                      <a16:creationId xmlns:a16="http://schemas.microsoft.com/office/drawing/2014/main" id="{A1BA4FA4-BAA6-5930-A8F7-30108BDD2319}"/>
                    </a:ext>
                  </a:extLst>
                </p:cNvPr>
                <p:cNvSpPr txBox="1"/>
                <p:nvPr/>
              </p:nvSpPr>
              <p:spPr>
                <a:xfrm>
                  <a:off x="9923591" y="2516322"/>
                  <a:ext cx="1622877" cy="338554"/>
                </a:xfrm>
                <a:prstGeom prst="rect">
                  <a:avLst/>
                </a:prstGeom>
                <a:noFill/>
              </p:spPr>
              <p:txBody>
                <a:bodyPr wrap="square" rtlCol="0">
                  <a:spAutoFit/>
                </a:bodyPr>
                <a:lstStyle/>
                <a:p>
                  <a:r>
                    <a:rPr lang="it-IT" sz="800" dirty="0"/>
                    <a:t>Qualità e controlli in ogni fase</a:t>
                  </a:r>
                  <a:endParaRPr lang="en-US" sz="800" dirty="0"/>
                </a:p>
              </p:txBody>
            </p:sp>
          </p:grpSp>
          <p:grpSp>
            <p:nvGrpSpPr>
              <p:cNvPr id="15" name="Gruppo 14">
                <a:extLst>
                  <a:ext uri="{FF2B5EF4-FFF2-40B4-BE49-F238E27FC236}">
                    <a16:creationId xmlns:a16="http://schemas.microsoft.com/office/drawing/2014/main" id="{B0112408-1302-711C-7230-514B3B99F079}"/>
                  </a:ext>
                </a:extLst>
              </p:cNvPr>
              <p:cNvGrpSpPr/>
              <p:nvPr/>
            </p:nvGrpSpPr>
            <p:grpSpPr>
              <a:xfrm>
                <a:off x="9505567" y="3112591"/>
                <a:ext cx="2040901" cy="354884"/>
                <a:chOff x="9505567" y="3010140"/>
                <a:chExt cx="2040901" cy="354884"/>
              </a:xfrm>
            </p:grpSpPr>
            <p:sp>
              <p:nvSpPr>
                <p:cNvPr id="32" name="Ovale 31">
                  <a:extLst>
                    <a:ext uri="{FF2B5EF4-FFF2-40B4-BE49-F238E27FC236}">
                      <a16:creationId xmlns:a16="http://schemas.microsoft.com/office/drawing/2014/main" id="{6EA59C5C-EE91-FA44-0F37-36CEF3670E5D}"/>
                    </a:ext>
                  </a:extLst>
                </p:cNvPr>
                <p:cNvSpPr>
                  <a:spLocks/>
                </p:cNvSpPr>
                <p:nvPr/>
              </p:nvSpPr>
              <p:spPr>
                <a:xfrm>
                  <a:off x="9505567" y="3010140"/>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Elemento grafico 37">
                  <a:extLst>
                    <a:ext uri="{FF2B5EF4-FFF2-40B4-BE49-F238E27FC236}">
                      <a16:creationId xmlns:a16="http://schemas.microsoft.com/office/drawing/2014/main" id="{F15532D0-3E7D-FC72-3BB0-0B33F370386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68709" y="3071343"/>
                  <a:ext cx="228600" cy="228600"/>
                </a:xfrm>
                <a:prstGeom prst="rect">
                  <a:avLst/>
                </a:prstGeom>
              </p:spPr>
            </p:pic>
            <p:sp>
              <p:nvSpPr>
                <p:cNvPr id="50" name="CasellaDiTesto 49">
                  <a:extLst>
                    <a:ext uri="{FF2B5EF4-FFF2-40B4-BE49-F238E27FC236}">
                      <a16:creationId xmlns:a16="http://schemas.microsoft.com/office/drawing/2014/main" id="{B4AC1984-0038-96C1-B7F0-EE4F190E7390}"/>
                    </a:ext>
                  </a:extLst>
                </p:cNvPr>
                <p:cNvSpPr txBox="1"/>
                <p:nvPr/>
              </p:nvSpPr>
              <p:spPr>
                <a:xfrm>
                  <a:off x="9923591" y="3018305"/>
                  <a:ext cx="1622877" cy="338554"/>
                </a:xfrm>
                <a:prstGeom prst="rect">
                  <a:avLst/>
                </a:prstGeom>
                <a:noFill/>
              </p:spPr>
              <p:txBody>
                <a:bodyPr wrap="square" rtlCol="0">
                  <a:spAutoFit/>
                </a:bodyPr>
                <a:lstStyle/>
                <a:p>
                  <a:r>
                    <a:rPr lang="it-IT" sz="800" dirty="0"/>
                    <a:t>Componenti riusabili e componibili</a:t>
                  </a:r>
                  <a:endParaRPr lang="en-US" sz="800" dirty="0"/>
                </a:p>
              </p:txBody>
            </p:sp>
          </p:grpSp>
          <p:grpSp>
            <p:nvGrpSpPr>
              <p:cNvPr id="21" name="Gruppo 20">
                <a:extLst>
                  <a:ext uri="{FF2B5EF4-FFF2-40B4-BE49-F238E27FC236}">
                    <a16:creationId xmlns:a16="http://schemas.microsoft.com/office/drawing/2014/main" id="{61110B5D-AC67-786A-56E0-D3A6A559F17E}"/>
                  </a:ext>
                </a:extLst>
              </p:cNvPr>
              <p:cNvGrpSpPr/>
              <p:nvPr/>
            </p:nvGrpSpPr>
            <p:grpSpPr>
              <a:xfrm>
                <a:off x="9505567" y="3655861"/>
                <a:ext cx="2040901" cy="354884"/>
                <a:chOff x="9505567" y="3512124"/>
                <a:chExt cx="2040901" cy="354884"/>
              </a:xfrm>
            </p:grpSpPr>
            <p:sp>
              <p:nvSpPr>
                <p:cNvPr id="35" name="Ovale 34">
                  <a:extLst>
                    <a:ext uri="{FF2B5EF4-FFF2-40B4-BE49-F238E27FC236}">
                      <a16:creationId xmlns:a16="http://schemas.microsoft.com/office/drawing/2014/main" id="{664A3B4A-92C8-753B-B3D4-6BD461E6FE7C}"/>
                    </a:ext>
                  </a:extLst>
                </p:cNvPr>
                <p:cNvSpPr>
                  <a:spLocks/>
                </p:cNvSpPr>
                <p:nvPr/>
              </p:nvSpPr>
              <p:spPr>
                <a:xfrm>
                  <a:off x="9505567" y="3512124"/>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0" name="Elemento grafico 39">
                  <a:extLst>
                    <a:ext uri="{FF2B5EF4-FFF2-40B4-BE49-F238E27FC236}">
                      <a16:creationId xmlns:a16="http://schemas.microsoft.com/office/drawing/2014/main" id="{585D0369-E351-A603-418A-9811CF0A874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568709" y="3575266"/>
                  <a:ext cx="228600" cy="228600"/>
                </a:xfrm>
                <a:prstGeom prst="rect">
                  <a:avLst/>
                </a:prstGeom>
              </p:spPr>
            </p:pic>
            <p:sp>
              <p:nvSpPr>
                <p:cNvPr id="51" name="CasellaDiTesto 50">
                  <a:extLst>
                    <a:ext uri="{FF2B5EF4-FFF2-40B4-BE49-F238E27FC236}">
                      <a16:creationId xmlns:a16="http://schemas.microsoft.com/office/drawing/2014/main" id="{D03FF6DD-CD3E-2BFC-68F8-F6BF3CB7F5CB}"/>
                    </a:ext>
                  </a:extLst>
                </p:cNvPr>
                <p:cNvSpPr txBox="1"/>
                <p:nvPr/>
              </p:nvSpPr>
              <p:spPr>
                <a:xfrm>
                  <a:off x="9923591" y="3512668"/>
                  <a:ext cx="1622877" cy="338554"/>
                </a:xfrm>
                <a:prstGeom prst="rect">
                  <a:avLst/>
                </a:prstGeom>
                <a:noFill/>
              </p:spPr>
              <p:txBody>
                <a:bodyPr wrap="square" rtlCol="0">
                  <a:spAutoFit/>
                </a:bodyPr>
                <a:lstStyle/>
                <a:p>
                  <a:r>
                    <a:rPr lang="it-IT" sz="800" dirty="0"/>
                    <a:t>Scalabilità e costi ottimizzabili</a:t>
                  </a:r>
                  <a:endParaRPr lang="en-US" sz="800" dirty="0"/>
                </a:p>
              </p:txBody>
            </p:sp>
          </p:grpSp>
        </p:grpSp>
        <p:grpSp>
          <p:nvGrpSpPr>
            <p:cNvPr id="1134" name="Gruppo 1133">
              <a:extLst>
                <a:ext uri="{FF2B5EF4-FFF2-40B4-BE49-F238E27FC236}">
                  <a16:creationId xmlns:a16="http://schemas.microsoft.com/office/drawing/2014/main" id="{007D3204-9B26-5A90-8172-430A77E4C9C2}"/>
                </a:ext>
              </a:extLst>
            </p:cNvPr>
            <p:cNvGrpSpPr/>
            <p:nvPr/>
          </p:nvGrpSpPr>
          <p:grpSpPr>
            <a:xfrm>
              <a:off x="515493" y="1358576"/>
              <a:ext cx="8652256" cy="3362001"/>
              <a:chOff x="515493" y="815009"/>
              <a:chExt cx="8652256" cy="3362001"/>
            </a:xfrm>
          </p:grpSpPr>
          <p:grpSp>
            <p:nvGrpSpPr>
              <p:cNvPr id="1089" name="Gruppo 1088">
                <a:extLst>
                  <a:ext uri="{FF2B5EF4-FFF2-40B4-BE49-F238E27FC236}">
                    <a16:creationId xmlns:a16="http://schemas.microsoft.com/office/drawing/2014/main" id="{37207F60-A1F0-6466-64C9-F0F10DC1F39D}"/>
                  </a:ext>
                </a:extLst>
              </p:cNvPr>
              <p:cNvGrpSpPr/>
              <p:nvPr/>
            </p:nvGrpSpPr>
            <p:grpSpPr>
              <a:xfrm>
                <a:off x="5645499" y="815010"/>
                <a:ext cx="1765553" cy="3362000"/>
                <a:chOff x="5644895" y="1958692"/>
                <a:chExt cx="1765553" cy="3362000"/>
              </a:xfrm>
            </p:grpSpPr>
            <p:sp>
              <p:nvSpPr>
                <p:cNvPr id="8" name="Freccia a gallone 7">
                  <a:extLst>
                    <a:ext uri="{FF2B5EF4-FFF2-40B4-BE49-F238E27FC236}">
                      <a16:creationId xmlns:a16="http://schemas.microsoft.com/office/drawing/2014/main" id="{588D2E45-7280-934E-3F15-DE6F80D1117B}"/>
                    </a:ext>
                  </a:extLst>
                </p:cNvPr>
                <p:cNvSpPr>
                  <a:spLocks/>
                </p:cNvSpPr>
                <p:nvPr/>
              </p:nvSpPr>
              <p:spPr>
                <a:xfrm>
                  <a:off x="5644895" y="1958692"/>
                  <a:ext cx="1765553" cy="439615"/>
                </a:xfrm>
                <a:prstGeom prst="chevron">
                  <a:avLst>
                    <a:gd name="adj" fmla="val 27813"/>
                  </a:avLst>
                </a:prstGeom>
                <a:solidFill>
                  <a:srgbClr val="DBEC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4. STORAGE</a:t>
                  </a:r>
                  <a:endParaRPr lang="en-US" sz="900" b="1" dirty="0">
                    <a:solidFill>
                      <a:srgbClr val="054939"/>
                    </a:solidFill>
                  </a:endParaRPr>
                </a:p>
              </p:txBody>
            </p:sp>
            <p:grpSp>
              <p:nvGrpSpPr>
                <p:cNvPr id="1082" name="Gruppo 1081">
                  <a:extLst>
                    <a:ext uri="{FF2B5EF4-FFF2-40B4-BE49-F238E27FC236}">
                      <a16:creationId xmlns:a16="http://schemas.microsoft.com/office/drawing/2014/main" id="{D7EE943C-22EF-9155-0A3C-E865208B2A4A}"/>
                    </a:ext>
                  </a:extLst>
                </p:cNvPr>
                <p:cNvGrpSpPr>
                  <a:grpSpLocks/>
                </p:cNvGrpSpPr>
                <p:nvPr/>
              </p:nvGrpSpPr>
              <p:grpSpPr>
                <a:xfrm>
                  <a:off x="5653296" y="2547012"/>
                  <a:ext cx="1635125" cy="2773680"/>
                  <a:chOff x="5653296" y="2547012"/>
                  <a:chExt cx="1635125" cy="2773680"/>
                </a:xfrm>
              </p:grpSpPr>
              <p:sp>
                <p:nvSpPr>
                  <p:cNvPr id="171" name="Rettangolo con angoli arrotondati 170">
                    <a:extLst>
                      <a:ext uri="{FF2B5EF4-FFF2-40B4-BE49-F238E27FC236}">
                        <a16:creationId xmlns:a16="http://schemas.microsoft.com/office/drawing/2014/main" id="{EA8FB70F-A567-570A-E2F4-06C78159F156}"/>
                      </a:ext>
                    </a:extLst>
                  </p:cNvPr>
                  <p:cNvSpPr>
                    <a:spLocks/>
                  </p:cNvSpPr>
                  <p:nvPr/>
                </p:nvSpPr>
                <p:spPr>
                  <a:xfrm>
                    <a:off x="5653296" y="2547012"/>
                    <a:ext cx="1635125" cy="2773680"/>
                  </a:xfrm>
                  <a:prstGeom prst="roundRect">
                    <a:avLst>
                      <a:gd name="adj" fmla="val 2558"/>
                    </a:avLst>
                  </a:prstGeom>
                  <a:noFill/>
                  <a:ln>
                    <a:solidFill>
                      <a:srgbClr val="DBEC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Aws S3 icon - Free Download PNG &amp; SVG | Streamline">
                    <a:extLst>
                      <a:ext uri="{FF2B5EF4-FFF2-40B4-BE49-F238E27FC236}">
                        <a16:creationId xmlns:a16="http://schemas.microsoft.com/office/drawing/2014/main" id="{5C51AAFA-1D7A-5DD3-B688-E8BD1C494D0F}"/>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5790458" y="3158960"/>
                    <a:ext cx="216000" cy="216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ws Rds icon - Free Download PNG &amp; SVG | Streamline">
                    <a:extLst>
                      <a:ext uri="{FF2B5EF4-FFF2-40B4-BE49-F238E27FC236}">
                        <a16:creationId xmlns:a16="http://schemas.microsoft.com/office/drawing/2014/main" id="{92E091E6-06CC-8DD6-639B-37B62C78A616}"/>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5790458" y="3647182"/>
                    <a:ext cx="216000" cy="216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treamlining Data Processing: Using AWS Glue ETL for Weekly Uploads | i4B  Case Study">
                    <a:extLst>
                      <a:ext uri="{FF2B5EF4-FFF2-40B4-BE49-F238E27FC236}">
                        <a16:creationId xmlns:a16="http://schemas.microsoft.com/office/drawing/2014/main" id="{5B79B801-C32D-6B00-D5F6-1A39ECA2549A}"/>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5780173" y="4135404"/>
                    <a:ext cx="236571" cy="252000"/>
                  </a:xfrm>
                  <a:prstGeom prst="rect">
                    <a:avLst/>
                  </a:prstGeom>
                  <a:noFill/>
                  <a:extLst>
                    <a:ext uri="{909E8E84-426E-40DD-AFC4-6F175D3DCCD1}">
                      <a14:hiddenFill xmlns:a14="http://schemas.microsoft.com/office/drawing/2010/main">
                        <a:solidFill>
                          <a:srgbClr val="FFFFFF"/>
                        </a:solidFill>
                      </a14:hiddenFill>
                    </a:ext>
                  </a:extLst>
                </p:spPr>
              </p:pic>
              <p:cxnSp>
                <p:nvCxnSpPr>
                  <p:cNvPr id="172" name="Connettore diritto 171">
                    <a:extLst>
                      <a:ext uri="{FF2B5EF4-FFF2-40B4-BE49-F238E27FC236}">
                        <a16:creationId xmlns:a16="http://schemas.microsoft.com/office/drawing/2014/main" id="{73DFE62F-913E-8569-F2B5-CD7BF9725CC6}"/>
                      </a:ext>
                    </a:extLst>
                  </p:cNvPr>
                  <p:cNvCxnSpPr>
                    <a:cxnSpLocks/>
                  </p:cNvCxnSpPr>
                  <p:nvPr/>
                </p:nvCxnSpPr>
                <p:spPr>
                  <a:xfrm>
                    <a:off x="5735980" y="4579750"/>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sp>
                <p:nvSpPr>
                  <p:cNvPr id="173" name="CasellaDiTesto 172">
                    <a:extLst>
                      <a:ext uri="{FF2B5EF4-FFF2-40B4-BE49-F238E27FC236}">
                        <a16:creationId xmlns:a16="http://schemas.microsoft.com/office/drawing/2014/main" id="{ABC136AA-B7A0-CAFA-70B3-202781365DCB}"/>
                      </a:ext>
                    </a:extLst>
                  </p:cNvPr>
                  <p:cNvSpPr txBox="1">
                    <a:spLocks/>
                  </p:cNvSpPr>
                  <p:nvPr/>
                </p:nvSpPr>
                <p:spPr>
                  <a:xfrm>
                    <a:off x="5724292" y="4709355"/>
                    <a:ext cx="1493132" cy="504000"/>
                  </a:xfrm>
                  <a:prstGeom prst="rect">
                    <a:avLst/>
                  </a:prstGeom>
                  <a:noFill/>
                </p:spPr>
                <p:txBody>
                  <a:bodyPr wrap="square" rtlCol="0" anchor="ctr">
                    <a:noAutofit/>
                  </a:bodyPr>
                  <a:lstStyle/>
                  <a:p>
                    <a:pPr algn="ctr"/>
                    <a:r>
                      <a:rPr lang="it-IT" sz="850" dirty="0">
                        <a:solidFill>
                          <a:srgbClr val="0B7F7A"/>
                        </a:solidFill>
                      </a:rPr>
                      <a:t>Storage scalabile, sicuro e controllato</a:t>
                    </a:r>
                  </a:p>
                </p:txBody>
              </p:sp>
              <p:sp>
                <p:nvSpPr>
                  <p:cNvPr id="174" name="CasellaDiTesto 173">
                    <a:extLst>
                      <a:ext uri="{FF2B5EF4-FFF2-40B4-BE49-F238E27FC236}">
                        <a16:creationId xmlns:a16="http://schemas.microsoft.com/office/drawing/2014/main" id="{C63B633F-107D-8E37-AC39-8014CC0AD9C4}"/>
                      </a:ext>
                    </a:extLst>
                  </p:cNvPr>
                  <p:cNvSpPr txBox="1">
                    <a:spLocks/>
                  </p:cNvSpPr>
                  <p:nvPr/>
                </p:nvSpPr>
                <p:spPr>
                  <a:xfrm>
                    <a:off x="6107272" y="3110190"/>
                    <a:ext cx="1162593" cy="418952"/>
                  </a:xfrm>
                  <a:prstGeom prst="rect">
                    <a:avLst/>
                  </a:prstGeom>
                  <a:noFill/>
                </p:spPr>
                <p:txBody>
                  <a:bodyPr wrap="square" lIns="36000" tIns="36000" rIns="36000" bIns="36000" rtlCol="0">
                    <a:spAutoFit/>
                  </a:bodyPr>
                  <a:lstStyle/>
                  <a:p>
                    <a:r>
                      <a:rPr lang="it-IT" sz="850" dirty="0">
                        <a:solidFill>
                          <a:srgbClr val="0B7F7A"/>
                        </a:solidFill>
                      </a:rPr>
                      <a:t>Amazon S3</a:t>
                    </a:r>
                  </a:p>
                  <a:p>
                    <a:r>
                      <a:rPr lang="en-US" sz="650" noProof="0" dirty="0">
                        <a:solidFill>
                          <a:srgbClr val="0B7F7A"/>
                        </a:solidFill>
                      </a:rPr>
                      <a:t>Raw / Staging</a:t>
                    </a:r>
                    <a:br>
                      <a:rPr lang="it-IT" sz="650" dirty="0">
                        <a:solidFill>
                          <a:srgbClr val="0B7F7A"/>
                        </a:solidFill>
                      </a:rPr>
                    </a:br>
                    <a:r>
                      <a:rPr lang="it-IT" sz="650" dirty="0">
                        <a:solidFill>
                          <a:srgbClr val="0B7F7A"/>
                        </a:solidFill>
                      </a:rPr>
                      <a:t>Parquet - CSV</a:t>
                    </a:r>
                    <a:endParaRPr lang="en-US" sz="650" dirty="0">
                      <a:solidFill>
                        <a:srgbClr val="0B7F7A"/>
                      </a:solidFill>
                    </a:endParaRPr>
                  </a:p>
                </p:txBody>
              </p:sp>
              <p:sp>
                <p:nvSpPr>
                  <p:cNvPr id="175" name="CasellaDiTesto 174">
                    <a:extLst>
                      <a:ext uri="{FF2B5EF4-FFF2-40B4-BE49-F238E27FC236}">
                        <a16:creationId xmlns:a16="http://schemas.microsoft.com/office/drawing/2014/main" id="{4C913043-E097-6C8B-5D81-DF47DAFBE454}"/>
                      </a:ext>
                    </a:extLst>
                  </p:cNvPr>
                  <p:cNvSpPr txBox="1">
                    <a:spLocks/>
                  </p:cNvSpPr>
                  <p:nvPr/>
                </p:nvSpPr>
                <p:spPr>
                  <a:xfrm>
                    <a:off x="6096000" y="3593021"/>
                    <a:ext cx="1162593" cy="418952"/>
                  </a:xfrm>
                  <a:prstGeom prst="rect">
                    <a:avLst/>
                  </a:prstGeom>
                  <a:noFill/>
                </p:spPr>
                <p:txBody>
                  <a:bodyPr wrap="square" lIns="36000" tIns="36000" rIns="36000" bIns="36000" rtlCol="0">
                    <a:spAutoFit/>
                  </a:bodyPr>
                  <a:lstStyle/>
                  <a:p>
                    <a:r>
                      <a:rPr lang="it-IT" sz="850" dirty="0">
                        <a:solidFill>
                          <a:srgbClr val="0B7F7A"/>
                        </a:solidFill>
                      </a:rPr>
                      <a:t>Amazon RDS</a:t>
                    </a:r>
                  </a:p>
                  <a:p>
                    <a:r>
                      <a:rPr lang="it-IT" sz="650" dirty="0">
                        <a:solidFill>
                          <a:srgbClr val="0B7F7A"/>
                        </a:solidFill>
                      </a:rPr>
                      <a:t>Data </a:t>
                    </a:r>
                    <a:r>
                      <a:rPr lang="en-US" sz="650" dirty="0">
                        <a:solidFill>
                          <a:srgbClr val="0B7F7A"/>
                        </a:solidFill>
                      </a:rPr>
                      <a:t>Warehouse</a:t>
                    </a:r>
                    <a:br>
                      <a:rPr lang="it-IT" sz="650" dirty="0">
                        <a:solidFill>
                          <a:srgbClr val="0B7F7A"/>
                        </a:solidFill>
                      </a:rPr>
                    </a:br>
                    <a:r>
                      <a:rPr lang="it-IT" sz="650" dirty="0">
                        <a:solidFill>
                          <a:srgbClr val="0B7F7A"/>
                        </a:solidFill>
                      </a:rPr>
                      <a:t>Data Mart</a:t>
                    </a:r>
                    <a:endParaRPr lang="en-US" sz="650" dirty="0">
                      <a:solidFill>
                        <a:srgbClr val="0B7F7A"/>
                      </a:solidFill>
                    </a:endParaRPr>
                  </a:p>
                </p:txBody>
              </p:sp>
              <p:sp>
                <p:nvSpPr>
                  <p:cNvPr id="176" name="CasellaDiTesto 175">
                    <a:extLst>
                      <a:ext uri="{FF2B5EF4-FFF2-40B4-BE49-F238E27FC236}">
                        <a16:creationId xmlns:a16="http://schemas.microsoft.com/office/drawing/2014/main" id="{C446A4A8-4937-8CC5-B976-0215F0CAE5DC}"/>
                      </a:ext>
                    </a:extLst>
                  </p:cNvPr>
                  <p:cNvSpPr txBox="1">
                    <a:spLocks/>
                  </p:cNvSpPr>
                  <p:nvPr/>
                </p:nvSpPr>
                <p:spPr>
                  <a:xfrm>
                    <a:off x="6079884" y="4104718"/>
                    <a:ext cx="1162593" cy="311230"/>
                  </a:xfrm>
                  <a:prstGeom prst="rect">
                    <a:avLst/>
                  </a:prstGeom>
                  <a:noFill/>
                </p:spPr>
                <p:txBody>
                  <a:bodyPr wrap="square" lIns="36000" tIns="36000" rIns="36000" bIns="36000" rtlCol="0">
                    <a:spAutoFit/>
                  </a:bodyPr>
                  <a:lstStyle/>
                  <a:p>
                    <a:r>
                      <a:rPr lang="it-IT" sz="850" dirty="0">
                        <a:solidFill>
                          <a:srgbClr val="0B7F7A"/>
                        </a:solidFill>
                      </a:rPr>
                      <a:t>AWS Glue Data</a:t>
                    </a:r>
                  </a:p>
                  <a:p>
                    <a:r>
                      <a:rPr lang="it-IT" sz="650" dirty="0">
                        <a:solidFill>
                          <a:srgbClr val="0B7F7A"/>
                        </a:solidFill>
                      </a:rPr>
                      <a:t>Catalogo e Metadati</a:t>
                    </a:r>
                    <a:endParaRPr lang="en-US" sz="650" dirty="0">
                      <a:solidFill>
                        <a:srgbClr val="0B7F7A"/>
                      </a:solidFill>
                    </a:endParaRPr>
                  </a:p>
                </p:txBody>
              </p:sp>
              <p:pic>
                <p:nvPicPr>
                  <p:cNvPr id="181" name="Immagine 180">
                    <a:extLst>
                      <a:ext uri="{FF2B5EF4-FFF2-40B4-BE49-F238E27FC236}">
                        <a16:creationId xmlns:a16="http://schemas.microsoft.com/office/drawing/2014/main" id="{7F8302AF-DF1C-1DD7-BE99-26632CE6CB3B}"/>
                      </a:ext>
                    </a:extLst>
                  </p:cNvPr>
                  <p:cNvPicPr>
                    <a:picLocks noChangeAspect="1"/>
                  </p:cNvPicPr>
                  <p:nvPr/>
                </p:nvPicPr>
                <p:blipFill>
                  <a:blip r:embed="rId11"/>
                  <a:srcRect t="22519" b="16473"/>
                  <a:stretch>
                    <a:fillRect/>
                  </a:stretch>
                </p:blipFill>
                <p:spPr>
                  <a:xfrm>
                    <a:off x="6273992" y="2646584"/>
                    <a:ext cx="417111" cy="254470"/>
                  </a:xfrm>
                  <a:prstGeom prst="rect">
                    <a:avLst/>
                  </a:prstGeom>
                </p:spPr>
              </p:pic>
            </p:grpSp>
          </p:grpSp>
          <p:grpSp>
            <p:nvGrpSpPr>
              <p:cNvPr id="1090" name="Gruppo 1089">
                <a:extLst>
                  <a:ext uri="{FF2B5EF4-FFF2-40B4-BE49-F238E27FC236}">
                    <a16:creationId xmlns:a16="http://schemas.microsoft.com/office/drawing/2014/main" id="{D56F2FD6-B6F9-6199-0185-9CB4174978FD}"/>
                  </a:ext>
                </a:extLst>
              </p:cNvPr>
              <p:cNvGrpSpPr/>
              <p:nvPr/>
            </p:nvGrpSpPr>
            <p:grpSpPr>
              <a:xfrm>
                <a:off x="7369428" y="815010"/>
                <a:ext cx="1798321" cy="3362000"/>
                <a:chOff x="7369428" y="1958692"/>
                <a:chExt cx="1798321" cy="3362000"/>
              </a:xfrm>
            </p:grpSpPr>
            <p:sp>
              <p:nvSpPr>
                <p:cNvPr id="9" name="Freccia a gallone 8">
                  <a:extLst>
                    <a:ext uri="{FF2B5EF4-FFF2-40B4-BE49-F238E27FC236}">
                      <a16:creationId xmlns:a16="http://schemas.microsoft.com/office/drawing/2014/main" id="{A1730866-BF66-6E54-3EE7-19D1DFA21D3C}"/>
                    </a:ext>
                  </a:extLst>
                </p:cNvPr>
                <p:cNvSpPr>
                  <a:spLocks/>
                </p:cNvSpPr>
                <p:nvPr/>
              </p:nvSpPr>
              <p:spPr>
                <a:xfrm>
                  <a:off x="7369428" y="1958692"/>
                  <a:ext cx="1798321" cy="439615"/>
                </a:xfrm>
                <a:prstGeom prst="chevron">
                  <a:avLst>
                    <a:gd name="adj" fmla="val 27813"/>
                  </a:avLst>
                </a:prstGeom>
                <a:solidFill>
                  <a:srgbClr val="DFE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5. PRESENTAZIONE</a:t>
                  </a:r>
                  <a:endParaRPr lang="en-US" sz="900" b="1" dirty="0">
                    <a:solidFill>
                      <a:srgbClr val="054939"/>
                    </a:solidFill>
                  </a:endParaRPr>
                </a:p>
              </p:txBody>
            </p:sp>
            <p:grpSp>
              <p:nvGrpSpPr>
                <p:cNvPr id="1083" name="Gruppo 1082">
                  <a:extLst>
                    <a:ext uri="{FF2B5EF4-FFF2-40B4-BE49-F238E27FC236}">
                      <a16:creationId xmlns:a16="http://schemas.microsoft.com/office/drawing/2014/main" id="{93B26D7A-EC34-BBC1-CD00-EE6BB5AB2D5A}"/>
                    </a:ext>
                  </a:extLst>
                </p:cNvPr>
                <p:cNvGrpSpPr>
                  <a:grpSpLocks/>
                </p:cNvGrpSpPr>
                <p:nvPr/>
              </p:nvGrpSpPr>
              <p:grpSpPr>
                <a:xfrm>
                  <a:off x="7372456" y="2547012"/>
                  <a:ext cx="1669945" cy="2773680"/>
                  <a:chOff x="7372456" y="2547012"/>
                  <a:chExt cx="1669945" cy="2773680"/>
                </a:xfrm>
              </p:grpSpPr>
              <p:sp>
                <p:nvSpPr>
                  <p:cNvPr id="185" name="Rettangolo con angoli arrotondati 184">
                    <a:extLst>
                      <a:ext uri="{FF2B5EF4-FFF2-40B4-BE49-F238E27FC236}">
                        <a16:creationId xmlns:a16="http://schemas.microsoft.com/office/drawing/2014/main" id="{71EE678B-F017-F54F-2C63-4F3313271F56}"/>
                      </a:ext>
                    </a:extLst>
                  </p:cNvPr>
                  <p:cNvSpPr>
                    <a:spLocks/>
                  </p:cNvSpPr>
                  <p:nvPr/>
                </p:nvSpPr>
                <p:spPr>
                  <a:xfrm>
                    <a:off x="7385495" y="2547012"/>
                    <a:ext cx="1656906" cy="2773680"/>
                  </a:xfrm>
                  <a:prstGeom prst="roundRect">
                    <a:avLst>
                      <a:gd name="adj" fmla="val 2989"/>
                    </a:avLst>
                  </a:prstGeom>
                  <a:noFill/>
                  <a:ln>
                    <a:solidFill>
                      <a:srgbClr val="DFEF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0" name="Immagine 189">
                    <a:extLst>
                      <a:ext uri="{FF2B5EF4-FFF2-40B4-BE49-F238E27FC236}">
                        <a16:creationId xmlns:a16="http://schemas.microsoft.com/office/drawing/2014/main" id="{6457AD2F-27B2-1CC7-0561-7DDADDA97867}"/>
                      </a:ext>
                    </a:extLst>
                  </p:cNvPr>
                  <p:cNvPicPr>
                    <a:picLocks noChangeAspect="1"/>
                  </p:cNvPicPr>
                  <p:nvPr/>
                </p:nvPicPr>
                <p:blipFill>
                  <a:blip r:embed="rId12"/>
                  <a:stretch>
                    <a:fillRect/>
                  </a:stretch>
                </p:blipFill>
                <p:spPr>
                  <a:xfrm>
                    <a:off x="7505485" y="4243404"/>
                    <a:ext cx="144000" cy="144000"/>
                  </a:xfrm>
                  <a:prstGeom prst="rect">
                    <a:avLst/>
                  </a:prstGeom>
                </p:spPr>
              </p:pic>
              <p:pic>
                <p:nvPicPr>
                  <p:cNvPr id="1024" name="Immagine 1023">
                    <a:extLst>
                      <a:ext uri="{FF2B5EF4-FFF2-40B4-BE49-F238E27FC236}">
                        <a16:creationId xmlns:a16="http://schemas.microsoft.com/office/drawing/2014/main" id="{2CC75806-3039-2936-5BE7-48861941DD46}"/>
                      </a:ext>
                    </a:extLst>
                  </p:cNvPr>
                  <p:cNvPicPr>
                    <a:picLocks noChangeAspect="1"/>
                  </p:cNvPicPr>
                  <p:nvPr/>
                </p:nvPicPr>
                <p:blipFill>
                  <a:blip r:embed="rId13"/>
                  <a:stretch>
                    <a:fillRect/>
                  </a:stretch>
                </p:blipFill>
                <p:spPr>
                  <a:xfrm>
                    <a:off x="7505485" y="3518608"/>
                    <a:ext cx="144000" cy="144000"/>
                  </a:xfrm>
                  <a:prstGeom prst="rect">
                    <a:avLst/>
                  </a:prstGeom>
                </p:spPr>
              </p:pic>
              <p:pic>
                <p:nvPicPr>
                  <p:cNvPr id="1033" name="Immagine 1032">
                    <a:extLst>
                      <a:ext uri="{FF2B5EF4-FFF2-40B4-BE49-F238E27FC236}">
                        <a16:creationId xmlns:a16="http://schemas.microsoft.com/office/drawing/2014/main" id="{A5CC17CA-49E9-5A18-A4B2-71CD0D1D2FF9}"/>
                      </a:ext>
                    </a:extLst>
                  </p:cNvPr>
                  <p:cNvPicPr>
                    <a:picLocks noChangeAspect="1"/>
                  </p:cNvPicPr>
                  <p:nvPr/>
                </p:nvPicPr>
                <p:blipFill>
                  <a:blip r:embed="rId14"/>
                  <a:stretch>
                    <a:fillRect/>
                  </a:stretch>
                </p:blipFill>
                <p:spPr>
                  <a:xfrm>
                    <a:off x="7505485" y="3881006"/>
                    <a:ext cx="144000" cy="144000"/>
                  </a:xfrm>
                  <a:prstGeom prst="rect">
                    <a:avLst/>
                  </a:prstGeom>
                </p:spPr>
              </p:pic>
              <p:pic>
                <p:nvPicPr>
                  <p:cNvPr id="1037" name="Elemento grafico 1036">
                    <a:extLst>
                      <a:ext uri="{FF2B5EF4-FFF2-40B4-BE49-F238E27FC236}">
                        <a16:creationId xmlns:a16="http://schemas.microsoft.com/office/drawing/2014/main" id="{541001F2-D1DA-F2E4-7CE7-49386C1D3345}"/>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505485" y="3156210"/>
                    <a:ext cx="144000" cy="144000"/>
                  </a:xfrm>
                  <a:prstGeom prst="rect">
                    <a:avLst/>
                  </a:prstGeom>
                </p:spPr>
              </p:pic>
              <p:sp>
                <p:nvSpPr>
                  <p:cNvPr id="1038" name="CasellaDiTesto 1037">
                    <a:extLst>
                      <a:ext uri="{FF2B5EF4-FFF2-40B4-BE49-F238E27FC236}">
                        <a16:creationId xmlns:a16="http://schemas.microsoft.com/office/drawing/2014/main" id="{8AAB38A9-2805-AE2D-C83F-198BB44E4184}"/>
                      </a:ext>
                    </a:extLst>
                  </p:cNvPr>
                  <p:cNvSpPr txBox="1">
                    <a:spLocks/>
                  </p:cNvSpPr>
                  <p:nvPr/>
                </p:nvSpPr>
                <p:spPr>
                  <a:xfrm>
                    <a:off x="7372456" y="4709355"/>
                    <a:ext cx="1656906" cy="504000"/>
                  </a:xfrm>
                  <a:prstGeom prst="rect">
                    <a:avLst/>
                  </a:prstGeom>
                  <a:noFill/>
                </p:spPr>
                <p:txBody>
                  <a:bodyPr wrap="square" rtlCol="0" anchor="ctr" anchorCtr="0">
                    <a:noAutofit/>
                  </a:bodyPr>
                  <a:lstStyle/>
                  <a:p>
                    <a:pPr algn="ctr"/>
                    <a:r>
                      <a:rPr lang="it-IT" sz="850" dirty="0">
                        <a:solidFill>
                          <a:srgbClr val="0B7F7A"/>
                        </a:solidFill>
                      </a:rPr>
                      <a:t>Espone output già controllati e certificati</a:t>
                    </a:r>
                  </a:p>
                </p:txBody>
              </p:sp>
              <p:sp>
                <p:nvSpPr>
                  <p:cNvPr id="1039" name="CasellaDiTesto 1038">
                    <a:extLst>
                      <a:ext uri="{FF2B5EF4-FFF2-40B4-BE49-F238E27FC236}">
                        <a16:creationId xmlns:a16="http://schemas.microsoft.com/office/drawing/2014/main" id="{47E7B5CA-23A2-818A-FD92-092136E9F8E7}"/>
                      </a:ext>
                    </a:extLst>
                  </p:cNvPr>
                  <p:cNvSpPr txBox="1">
                    <a:spLocks/>
                  </p:cNvSpPr>
                  <p:nvPr/>
                </p:nvSpPr>
                <p:spPr>
                  <a:xfrm>
                    <a:off x="7764646" y="3120613"/>
                    <a:ext cx="1162593" cy="203508"/>
                  </a:xfrm>
                  <a:prstGeom prst="rect">
                    <a:avLst/>
                  </a:prstGeom>
                  <a:noFill/>
                </p:spPr>
                <p:txBody>
                  <a:bodyPr wrap="square" lIns="36000" tIns="36000" rIns="36000" bIns="36000" rtlCol="0">
                    <a:spAutoFit/>
                  </a:bodyPr>
                  <a:lstStyle/>
                  <a:p>
                    <a:r>
                      <a:rPr lang="it-IT" sz="850" dirty="0">
                        <a:solidFill>
                          <a:srgbClr val="0B7F7A"/>
                        </a:solidFill>
                      </a:rPr>
                      <a:t>Dashboard</a:t>
                    </a:r>
                    <a:endParaRPr lang="en-US" sz="850" dirty="0">
                      <a:solidFill>
                        <a:srgbClr val="0B7F7A"/>
                      </a:solidFill>
                    </a:endParaRPr>
                  </a:p>
                </p:txBody>
              </p:sp>
              <p:sp>
                <p:nvSpPr>
                  <p:cNvPr id="1040" name="CasellaDiTesto 1039">
                    <a:extLst>
                      <a:ext uri="{FF2B5EF4-FFF2-40B4-BE49-F238E27FC236}">
                        <a16:creationId xmlns:a16="http://schemas.microsoft.com/office/drawing/2014/main" id="{ABC86E6B-29F4-C4B6-BC53-C6A6A24FCB93}"/>
                      </a:ext>
                    </a:extLst>
                  </p:cNvPr>
                  <p:cNvSpPr txBox="1">
                    <a:spLocks/>
                  </p:cNvSpPr>
                  <p:nvPr/>
                </p:nvSpPr>
                <p:spPr>
                  <a:xfrm>
                    <a:off x="7764646" y="3488854"/>
                    <a:ext cx="1162593" cy="203508"/>
                  </a:xfrm>
                  <a:prstGeom prst="rect">
                    <a:avLst/>
                  </a:prstGeom>
                  <a:noFill/>
                </p:spPr>
                <p:txBody>
                  <a:bodyPr wrap="square" lIns="36000" tIns="36000" rIns="36000" bIns="36000" rtlCol="0">
                    <a:spAutoFit/>
                  </a:bodyPr>
                  <a:lstStyle/>
                  <a:p>
                    <a:r>
                      <a:rPr lang="it-IT" sz="850" dirty="0">
                        <a:solidFill>
                          <a:srgbClr val="0B7F7A"/>
                        </a:solidFill>
                      </a:rPr>
                      <a:t>Query ad hoc</a:t>
                    </a:r>
                    <a:endParaRPr lang="en-US" sz="850" dirty="0">
                      <a:solidFill>
                        <a:srgbClr val="0B7F7A"/>
                      </a:solidFill>
                    </a:endParaRPr>
                  </a:p>
                </p:txBody>
              </p:sp>
              <p:sp>
                <p:nvSpPr>
                  <p:cNvPr id="1041" name="CasellaDiTesto 1040">
                    <a:extLst>
                      <a:ext uri="{FF2B5EF4-FFF2-40B4-BE49-F238E27FC236}">
                        <a16:creationId xmlns:a16="http://schemas.microsoft.com/office/drawing/2014/main" id="{0D6A4535-EB80-FBD3-142B-02E2F7CCB911}"/>
                      </a:ext>
                    </a:extLst>
                  </p:cNvPr>
                  <p:cNvSpPr txBox="1">
                    <a:spLocks/>
                  </p:cNvSpPr>
                  <p:nvPr/>
                </p:nvSpPr>
                <p:spPr>
                  <a:xfrm>
                    <a:off x="7764646" y="3844986"/>
                    <a:ext cx="1162593" cy="203508"/>
                  </a:xfrm>
                  <a:prstGeom prst="rect">
                    <a:avLst/>
                  </a:prstGeom>
                  <a:noFill/>
                </p:spPr>
                <p:txBody>
                  <a:bodyPr wrap="square" lIns="36000" tIns="36000" rIns="36000" bIns="36000" rtlCol="0">
                    <a:spAutoFit/>
                  </a:bodyPr>
                  <a:lstStyle/>
                  <a:p>
                    <a:r>
                      <a:rPr lang="it-IT" sz="850" dirty="0">
                        <a:solidFill>
                          <a:srgbClr val="0B7F7A"/>
                        </a:solidFill>
                      </a:rPr>
                      <a:t>Export</a:t>
                    </a:r>
                    <a:endParaRPr lang="en-US" sz="850" dirty="0">
                      <a:solidFill>
                        <a:srgbClr val="0B7F7A"/>
                      </a:solidFill>
                    </a:endParaRPr>
                  </a:p>
                </p:txBody>
              </p:sp>
              <p:sp>
                <p:nvSpPr>
                  <p:cNvPr id="1042" name="CasellaDiTesto 1041">
                    <a:extLst>
                      <a:ext uri="{FF2B5EF4-FFF2-40B4-BE49-F238E27FC236}">
                        <a16:creationId xmlns:a16="http://schemas.microsoft.com/office/drawing/2014/main" id="{47391678-75E0-4C96-645C-84F825F4D7EF}"/>
                      </a:ext>
                    </a:extLst>
                  </p:cNvPr>
                  <p:cNvSpPr txBox="1">
                    <a:spLocks/>
                  </p:cNvSpPr>
                  <p:nvPr/>
                </p:nvSpPr>
                <p:spPr>
                  <a:xfrm>
                    <a:off x="7764646" y="4206813"/>
                    <a:ext cx="1162593" cy="203508"/>
                  </a:xfrm>
                  <a:prstGeom prst="rect">
                    <a:avLst/>
                  </a:prstGeom>
                  <a:noFill/>
                </p:spPr>
                <p:txBody>
                  <a:bodyPr wrap="square" lIns="36000" tIns="36000" rIns="36000" bIns="36000" rtlCol="0">
                    <a:spAutoFit/>
                  </a:bodyPr>
                  <a:lstStyle/>
                  <a:p>
                    <a:r>
                      <a:rPr lang="it-IT" sz="850" dirty="0">
                        <a:solidFill>
                          <a:srgbClr val="0B7F7A"/>
                        </a:solidFill>
                      </a:rPr>
                      <a:t>Report</a:t>
                    </a:r>
                    <a:endParaRPr lang="en-US" sz="850" dirty="0">
                      <a:solidFill>
                        <a:srgbClr val="0B7F7A"/>
                      </a:solidFill>
                    </a:endParaRPr>
                  </a:p>
                </p:txBody>
              </p:sp>
              <p:pic>
                <p:nvPicPr>
                  <p:cNvPr id="1043" name="Picture 12" descr="Metabase full logo transparent PNG - StickPNG">
                    <a:extLst>
                      <a:ext uri="{FF2B5EF4-FFF2-40B4-BE49-F238E27FC236}">
                        <a16:creationId xmlns:a16="http://schemas.microsoft.com/office/drawing/2014/main" id="{78CD9A0D-56B9-E9DF-C02E-32B25B84C408}"/>
                      </a:ext>
                    </a:extLst>
                  </p:cNvPr>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a:off x="7899454" y="2608108"/>
                    <a:ext cx="628988" cy="328941"/>
                  </a:xfrm>
                  <a:prstGeom prst="rect">
                    <a:avLst/>
                  </a:prstGeom>
                  <a:noFill/>
                  <a:extLst>
                    <a:ext uri="{909E8E84-426E-40DD-AFC4-6F175D3DCCD1}">
                      <a14:hiddenFill xmlns:a14="http://schemas.microsoft.com/office/drawing/2010/main">
                        <a:solidFill>
                          <a:srgbClr val="FFFFFF"/>
                        </a:solidFill>
                      </a14:hiddenFill>
                    </a:ext>
                  </a:extLst>
                </p:spPr>
              </p:pic>
              <p:cxnSp>
                <p:nvCxnSpPr>
                  <p:cNvPr id="1065" name="Connettore diritto 1064">
                    <a:extLst>
                      <a:ext uri="{FF2B5EF4-FFF2-40B4-BE49-F238E27FC236}">
                        <a16:creationId xmlns:a16="http://schemas.microsoft.com/office/drawing/2014/main" id="{722397D7-2B2B-8A06-84E5-65D368763761}"/>
                      </a:ext>
                    </a:extLst>
                  </p:cNvPr>
                  <p:cNvCxnSpPr>
                    <a:cxnSpLocks/>
                  </p:cNvCxnSpPr>
                  <p:nvPr/>
                </p:nvCxnSpPr>
                <p:spPr>
                  <a:xfrm>
                    <a:off x="7467381" y="4579750"/>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grpSp>
          </p:grpSp>
          <p:grpSp>
            <p:nvGrpSpPr>
              <p:cNvPr id="1088" name="Gruppo 1087">
                <a:extLst>
                  <a:ext uri="{FF2B5EF4-FFF2-40B4-BE49-F238E27FC236}">
                    <a16:creationId xmlns:a16="http://schemas.microsoft.com/office/drawing/2014/main" id="{2D348C75-8942-53CD-42A2-26E1BA3E629C}"/>
                  </a:ext>
                </a:extLst>
              </p:cNvPr>
              <p:cNvGrpSpPr/>
              <p:nvPr/>
            </p:nvGrpSpPr>
            <p:grpSpPr>
              <a:xfrm>
                <a:off x="3723605" y="815010"/>
                <a:ext cx="1963517" cy="3362000"/>
                <a:chOff x="3717954" y="1958692"/>
                <a:chExt cx="1963517" cy="3362000"/>
              </a:xfrm>
            </p:grpSpPr>
            <p:sp>
              <p:nvSpPr>
                <p:cNvPr id="6" name="Freccia a gallone 5">
                  <a:extLst>
                    <a:ext uri="{FF2B5EF4-FFF2-40B4-BE49-F238E27FC236}">
                      <a16:creationId xmlns:a16="http://schemas.microsoft.com/office/drawing/2014/main" id="{F3E07242-5B7E-9C04-4462-62C78D54708B}"/>
                    </a:ext>
                  </a:extLst>
                </p:cNvPr>
                <p:cNvSpPr>
                  <a:spLocks/>
                </p:cNvSpPr>
                <p:nvPr/>
              </p:nvSpPr>
              <p:spPr>
                <a:xfrm>
                  <a:off x="3717954" y="1958692"/>
                  <a:ext cx="1963517" cy="439615"/>
                </a:xfrm>
                <a:prstGeom prst="chevron">
                  <a:avLst>
                    <a:gd name="adj" fmla="val 27813"/>
                  </a:avLst>
                </a:prstGeom>
                <a:solidFill>
                  <a:srgbClr val="DDE9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10387E"/>
                      </a:solidFill>
                    </a:rPr>
                    <a:t>3. TRASFORMAZIONI</a:t>
                  </a:r>
                </a:p>
              </p:txBody>
            </p:sp>
            <p:grpSp>
              <p:nvGrpSpPr>
                <p:cNvPr id="1081" name="Gruppo 1080">
                  <a:extLst>
                    <a:ext uri="{FF2B5EF4-FFF2-40B4-BE49-F238E27FC236}">
                      <a16:creationId xmlns:a16="http://schemas.microsoft.com/office/drawing/2014/main" id="{0589C9ED-DAE9-8416-5649-5E3C7F601818}"/>
                    </a:ext>
                  </a:extLst>
                </p:cNvPr>
                <p:cNvGrpSpPr>
                  <a:grpSpLocks/>
                </p:cNvGrpSpPr>
                <p:nvPr/>
              </p:nvGrpSpPr>
              <p:grpSpPr>
                <a:xfrm>
                  <a:off x="3761232" y="2547012"/>
                  <a:ext cx="1798479" cy="2773680"/>
                  <a:chOff x="3761232" y="2547012"/>
                  <a:chExt cx="1798479" cy="2773680"/>
                </a:xfrm>
              </p:grpSpPr>
              <p:sp>
                <p:nvSpPr>
                  <p:cNvPr id="143" name="Rettangolo con angoli arrotondati 142">
                    <a:extLst>
                      <a:ext uri="{FF2B5EF4-FFF2-40B4-BE49-F238E27FC236}">
                        <a16:creationId xmlns:a16="http://schemas.microsoft.com/office/drawing/2014/main" id="{B68E43B0-CAD0-0717-1097-889445D642A8}"/>
                      </a:ext>
                    </a:extLst>
                  </p:cNvPr>
                  <p:cNvSpPr>
                    <a:spLocks/>
                  </p:cNvSpPr>
                  <p:nvPr/>
                </p:nvSpPr>
                <p:spPr>
                  <a:xfrm>
                    <a:off x="3761232" y="2547012"/>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CasellaDiTesto 143">
                    <a:extLst>
                      <a:ext uri="{FF2B5EF4-FFF2-40B4-BE49-F238E27FC236}">
                        <a16:creationId xmlns:a16="http://schemas.microsoft.com/office/drawing/2014/main" id="{E891D616-53C8-7EC9-A40E-30FCB74572FA}"/>
                      </a:ext>
                    </a:extLst>
                  </p:cNvPr>
                  <p:cNvSpPr txBox="1">
                    <a:spLocks/>
                  </p:cNvSpPr>
                  <p:nvPr/>
                </p:nvSpPr>
                <p:spPr>
                  <a:xfrm>
                    <a:off x="4298681" y="3139237"/>
                    <a:ext cx="1162593" cy="203508"/>
                  </a:xfrm>
                  <a:prstGeom prst="rect">
                    <a:avLst/>
                  </a:prstGeom>
                  <a:noFill/>
                </p:spPr>
                <p:txBody>
                  <a:bodyPr wrap="square" lIns="36000" tIns="36000" rIns="36000" bIns="36000" rtlCol="0">
                    <a:spAutoFit/>
                  </a:bodyPr>
                  <a:lstStyle/>
                  <a:p>
                    <a:r>
                      <a:rPr lang="it-IT" sz="850" dirty="0">
                        <a:solidFill>
                          <a:srgbClr val="1660AE"/>
                        </a:solidFill>
                      </a:rPr>
                      <a:t>Modellazione SQL</a:t>
                    </a:r>
                    <a:endParaRPr lang="en-US" sz="850" dirty="0">
                      <a:solidFill>
                        <a:srgbClr val="1660AE"/>
                      </a:solidFill>
                    </a:endParaRPr>
                  </a:p>
                </p:txBody>
              </p:sp>
              <p:sp>
                <p:nvSpPr>
                  <p:cNvPr id="145" name="CasellaDiTesto 144">
                    <a:extLst>
                      <a:ext uri="{FF2B5EF4-FFF2-40B4-BE49-F238E27FC236}">
                        <a16:creationId xmlns:a16="http://schemas.microsoft.com/office/drawing/2014/main" id="{A8CEACA1-7EB1-CED6-8D60-45912101824F}"/>
                      </a:ext>
                    </a:extLst>
                  </p:cNvPr>
                  <p:cNvSpPr txBox="1">
                    <a:spLocks/>
                  </p:cNvSpPr>
                  <p:nvPr/>
                </p:nvSpPr>
                <p:spPr>
                  <a:xfrm>
                    <a:off x="4298681" y="3405852"/>
                    <a:ext cx="1162593" cy="203508"/>
                  </a:xfrm>
                  <a:prstGeom prst="rect">
                    <a:avLst/>
                  </a:prstGeom>
                  <a:noFill/>
                </p:spPr>
                <p:txBody>
                  <a:bodyPr wrap="square" lIns="36000" tIns="36000" rIns="36000" bIns="36000" rtlCol="0">
                    <a:spAutoFit/>
                  </a:bodyPr>
                  <a:lstStyle/>
                  <a:p>
                    <a:r>
                      <a:rPr lang="it-IT" sz="850" dirty="0">
                        <a:solidFill>
                          <a:srgbClr val="1660AE"/>
                        </a:solidFill>
                      </a:rPr>
                      <a:t>Test automatici</a:t>
                    </a:r>
                    <a:endParaRPr lang="en-US" sz="850" dirty="0">
                      <a:solidFill>
                        <a:srgbClr val="1660AE"/>
                      </a:solidFill>
                    </a:endParaRPr>
                  </a:p>
                </p:txBody>
              </p:sp>
              <p:sp>
                <p:nvSpPr>
                  <p:cNvPr id="146" name="CasellaDiTesto 145">
                    <a:extLst>
                      <a:ext uri="{FF2B5EF4-FFF2-40B4-BE49-F238E27FC236}">
                        <a16:creationId xmlns:a16="http://schemas.microsoft.com/office/drawing/2014/main" id="{79A08AC3-5C95-62B6-342F-6AF60450F497}"/>
                      </a:ext>
                    </a:extLst>
                  </p:cNvPr>
                  <p:cNvSpPr txBox="1">
                    <a:spLocks/>
                  </p:cNvSpPr>
                  <p:nvPr/>
                </p:nvSpPr>
                <p:spPr>
                  <a:xfrm>
                    <a:off x="4298681" y="3683877"/>
                    <a:ext cx="1162593" cy="203508"/>
                  </a:xfrm>
                  <a:prstGeom prst="rect">
                    <a:avLst/>
                  </a:prstGeom>
                  <a:noFill/>
                </p:spPr>
                <p:txBody>
                  <a:bodyPr wrap="square" lIns="36000" tIns="36000" rIns="36000" bIns="36000" rtlCol="0">
                    <a:spAutoFit/>
                  </a:bodyPr>
                  <a:lstStyle/>
                  <a:p>
                    <a:r>
                      <a:rPr lang="it-IT" sz="850" dirty="0">
                        <a:solidFill>
                          <a:srgbClr val="1660AE"/>
                        </a:solidFill>
                      </a:rPr>
                      <a:t>Regole di business</a:t>
                    </a:r>
                    <a:endParaRPr lang="en-US" sz="850" dirty="0">
                      <a:solidFill>
                        <a:srgbClr val="1660AE"/>
                      </a:solidFill>
                    </a:endParaRPr>
                  </a:p>
                </p:txBody>
              </p:sp>
              <p:sp>
                <p:nvSpPr>
                  <p:cNvPr id="147" name="CasellaDiTesto 146">
                    <a:extLst>
                      <a:ext uri="{FF2B5EF4-FFF2-40B4-BE49-F238E27FC236}">
                        <a16:creationId xmlns:a16="http://schemas.microsoft.com/office/drawing/2014/main" id="{D2330712-B657-F255-B012-5C43967CD782}"/>
                      </a:ext>
                    </a:extLst>
                  </p:cNvPr>
                  <p:cNvSpPr txBox="1">
                    <a:spLocks/>
                  </p:cNvSpPr>
                  <p:nvPr/>
                </p:nvSpPr>
                <p:spPr>
                  <a:xfrm>
                    <a:off x="4298681" y="4217184"/>
                    <a:ext cx="1162593" cy="203508"/>
                  </a:xfrm>
                  <a:prstGeom prst="rect">
                    <a:avLst/>
                  </a:prstGeom>
                  <a:noFill/>
                </p:spPr>
                <p:txBody>
                  <a:bodyPr wrap="square" lIns="36000" tIns="36000" rIns="36000" bIns="36000" rtlCol="0">
                    <a:spAutoFit/>
                  </a:bodyPr>
                  <a:lstStyle/>
                  <a:p>
                    <a:r>
                      <a:rPr lang="it-IT" sz="850" dirty="0">
                        <a:solidFill>
                          <a:srgbClr val="1660AE"/>
                        </a:solidFill>
                      </a:rPr>
                      <a:t>Documentazione</a:t>
                    </a:r>
                    <a:endParaRPr lang="en-US" sz="850" dirty="0">
                      <a:solidFill>
                        <a:srgbClr val="1660AE"/>
                      </a:solidFill>
                    </a:endParaRPr>
                  </a:p>
                </p:txBody>
              </p:sp>
              <p:cxnSp>
                <p:nvCxnSpPr>
                  <p:cNvPr id="148" name="Connettore diritto 147">
                    <a:extLst>
                      <a:ext uri="{FF2B5EF4-FFF2-40B4-BE49-F238E27FC236}">
                        <a16:creationId xmlns:a16="http://schemas.microsoft.com/office/drawing/2014/main" id="{1B7526AC-D229-8169-C99E-06A083197663}"/>
                      </a:ext>
                    </a:extLst>
                  </p:cNvPr>
                  <p:cNvCxnSpPr>
                    <a:cxnSpLocks/>
                  </p:cNvCxnSpPr>
                  <p:nvPr/>
                </p:nvCxnSpPr>
                <p:spPr>
                  <a:xfrm>
                    <a:off x="3913904" y="4579750"/>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50" name="CasellaDiTesto 149">
                    <a:extLst>
                      <a:ext uri="{FF2B5EF4-FFF2-40B4-BE49-F238E27FC236}">
                        <a16:creationId xmlns:a16="http://schemas.microsoft.com/office/drawing/2014/main" id="{CB5633C7-37A4-943F-CCDE-66718FC0F4BF}"/>
                      </a:ext>
                    </a:extLst>
                  </p:cNvPr>
                  <p:cNvSpPr txBox="1">
                    <a:spLocks/>
                  </p:cNvSpPr>
                  <p:nvPr/>
                </p:nvSpPr>
                <p:spPr>
                  <a:xfrm>
                    <a:off x="4298681" y="3946740"/>
                    <a:ext cx="1162593" cy="203508"/>
                  </a:xfrm>
                  <a:prstGeom prst="rect">
                    <a:avLst/>
                  </a:prstGeom>
                  <a:noFill/>
                </p:spPr>
                <p:txBody>
                  <a:bodyPr wrap="square" lIns="36000" tIns="36000" rIns="36000" bIns="36000" rtlCol="0">
                    <a:spAutoFit/>
                  </a:bodyPr>
                  <a:lstStyle/>
                  <a:p>
                    <a:r>
                      <a:rPr lang="it-IT" sz="850" dirty="0">
                        <a:solidFill>
                          <a:srgbClr val="1660AE"/>
                        </a:solidFill>
                      </a:rPr>
                      <a:t>Modelli riutilizzabili</a:t>
                    </a:r>
                    <a:endParaRPr lang="en-US" sz="850" dirty="0">
                      <a:solidFill>
                        <a:srgbClr val="1660AE"/>
                      </a:solidFill>
                    </a:endParaRPr>
                  </a:p>
                </p:txBody>
              </p:sp>
              <p:pic>
                <p:nvPicPr>
                  <p:cNvPr id="158" name="Immagine 157">
                    <a:extLst>
                      <a:ext uri="{FF2B5EF4-FFF2-40B4-BE49-F238E27FC236}">
                        <a16:creationId xmlns:a16="http://schemas.microsoft.com/office/drawing/2014/main" id="{1E7E98F1-9CE2-AA34-6F33-27C0B3227AD8}"/>
                      </a:ext>
                    </a:extLst>
                  </p:cNvPr>
                  <p:cNvPicPr>
                    <a:picLocks noChangeAspect="1"/>
                  </p:cNvPicPr>
                  <p:nvPr/>
                </p:nvPicPr>
                <p:blipFill>
                  <a:blip r:embed="rId17"/>
                  <a:srcRect l="10473"/>
                  <a:stretch>
                    <a:fillRect/>
                  </a:stretch>
                </p:blipFill>
                <p:spPr>
                  <a:xfrm>
                    <a:off x="4301395" y="2598499"/>
                    <a:ext cx="718152" cy="339601"/>
                  </a:xfrm>
                  <a:prstGeom prst="rect">
                    <a:avLst/>
                  </a:prstGeom>
                </p:spPr>
              </p:pic>
              <p:pic>
                <p:nvPicPr>
                  <p:cNvPr id="162" name="Immagine 161">
                    <a:extLst>
                      <a:ext uri="{FF2B5EF4-FFF2-40B4-BE49-F238E27FC236}">
                        <a16:creationId xmlns:a16="http://schemas.microsoft.com/office/drawing/2014/main" id="{E7B3C097-27A9-A6BA-A058-F824156A5794}"/>
                      </a:ext>
                    </a:extLst>
                  </p:cNvPr>
                  <p:cNvPicPr>
                    <a:picLocks noChangeAspect="1"/>
                  </p:cNvPicPr>
                  <p:nvPr/>
                </p:nvPicPr>
                <p:blipFill>
                  <a:blip r:embed="rId18"/>
                  <a:stretch>
                    <a:fillRect/>
                  </a:stretch>
                </p:blipFill>
                <p:spPr>
                  <a:xfrm>
                    <a:off x="3862303" y="3158960"/>
                    <a:ext cx="144000" cy="144000"/>
                  </a:xfrm>
                  <a:prstGeom prst="rect">
                    <a:avLst/>
                  </a:prstGeom>
                </p:spPr>
              </p:pic>
              <p:pic>
                <p:nvPicPr>
                  <p:cNvPr id="164" name="Immagine 163">
                    <a:extLst>
                      <a:ext uri="{FF2B5EF4-FFF2-40B4-BE49-F238E27FC236}">
                        <a16:creationId xmlns:a16="http://schemas.microsoft.com/office/drawing/2014/main" id="{7FD32B61-95DF-F57A-C755-4EB61F8FE034}"/>
                      </a:ext>
                    </a:extLst>
                  </p:cNvPr>
                  <p:cNvPicPr>
                    <a:picLocks noChangeAspect="1"/>
                  </p:cNvPicPr>
                  <p:nvPr/>
                </p:nvPicPr>
                <p:blipFill>
                  <a:blip r:embed="rId19"/>
                  <a:stretch>
                    <a:fillRect/>
                  </a:stretch>
                </p:blipFill>
                <p:spPr>
                  <a:xfrm>
                    <a:off x="3862303" y="3476888"/>
                    <a:ext cx="144000" cy="144000"/>
                  </a:xfrm>
                  <a:prstGeom prst="rect">
                    <a:avLst/>
                  </a:prstGeom>
                </p:spPr>
              </p:pic>
              <p:pic>
                <p:nvPicPr>
                  <p:cNvPr id="166" name="Immagine 165">
                    <a:extLst>
                      <a:ext uri="{FF2B5EF4-FFF2-40B4-BE49-F238E27FC236}">
                        <a16:creationId xmlns:a16="http://schemas.microsoft.com/office/drawing/2014/main" id="{E8C3D186-86E4-FA72-DFAE-23DF5B9FC34E}"/>
                      </a:ext>
                    </a:extLst>
                  </p:cNvPr>
                  <p:cNvPicPr>
                    <a:picLocks noChangeAspect="1"/>
                  </p:cNvPicPr>
                  <p:nvPr/>
                </p:nvPicPr>
                <p:blipFill>
                  <a:blip r:embed="rId20"/>
                  <a:stretch>
                    <a:fillRect/>
                  </a:stretch>
                </p:blipFill>
                <p:spPr>
                  <a:xfrm>
                    <a:off x="3862303" y="3710377"/>
                    <a:ext cx="144000" cy="144000"/>
                  </a:xfrm>
                  <a:prstGeom prst="rect">
                    <a:avLst/>
                  </a:prstGeom>
                </p:spPr>
              </p:pic>
              <p:pic>
                <p:nvPicPr>
                  <p:cNvPr id="168" name="Immagine 167">
                    <a:extLst>
                      <a:ext uri="{FF2B5EF4-FFF2-40B4-BE49-F238E27FC236}">
                        <a16:creationId xmlns:a16="http://schemas.microsoft.com/office/drawing/2014/main" id="{1A7DEEF3-F43F-4A9D-2EA8-EC419F42F8AC}"/>
                      </a:ext>
                    </a:extLst>
                  </p:cNvPr>
                  <p:cNvPicPr>
                    <a:picLocks noChangeAspect="1"/>
                  </p:cNvPicPr>
                  <p:nvPr/>
                </p:nvPicPr>
                <p:blipFill>
                  <a:blip r:embed="rId21"/>
                  <a:stretch>
                    <a:fillRect/>
                  </a:stretch>
                </p:blipFill>
                <p:spPr>
                  <a:xfrm>
                    <a:off x="3862303" y="3976494"/>
                    <a:ext cx="144000" cy="144000"/>
                  </a:xfrm>
                  <a:prstGeom prst="rect">
                    <a:avLst/>
                  </a:prstGeom>
                </p:spPr>
              </p:pic>
              <p:pic>
                <p:nvPicPr>
                  <p:cNvPr id="170" name="Immagine 169">
                    <a:extLst>
                      <a:ext uri="{FF2B5EF4-FFF2-40B4-BE49-F238E27FC236}">
                        <a16:creationId xmlns:a16="http://schemas.microsoft.com/office/drawing/2014/main" id="{864E6BD5-71E4-048F-E00F-E8B2248DFFF4}"/>
                      </a:ext>
                    </a:extLst>
                  </p:cNvPr>
                  <p:cNvPicPr>
                    <a:picLocks noChangeAspect="1"/>
                  </p:cNvPicPr>
                  <p:nvPr/>
                </p:nvPicPr>
                <p:blipFill>
                  <a:blip r:embed="rId22"/>
                  <a:stretch>
                    <a:fillRect/>
                  </a:stretch>
                </p:blipFill>
                <p:spPr>
                  <a:xfrm>
                    <a:off x="3862303" y="4243404"/>
                    <a:ext cx="144000" cy="144000"/>
                  </a:xfrm>
                  <a:prstGeom prst="rect">
                    <a:avLst/>
                  </a:prstGeom>
                </p:spPr>
              </p:pic>
              <p:sp>
                <p:nvSpPr>
                  <p:cNvPr id="1066" name="CasellaDiTesto 1065">
                    <a:extLst>
                      <a:ext uri="{FF2B5EF4-FFF2-40B4-BE49-F238E27FC236}">
                        <a16:creationId xmlns:a16="http://schemas.microsoft.com/office/drawing/2014/main" id="{02799F10-272D-CCEF-F153-7B9F03968A64}"/>
                      </a:ext>
                    </a:extLst>
                  </p:cNvPr>
                  <p:cNvSpPr txBox="1">
                    <a:spLocks/>
                  </p:cNvSpPr>
                  <p:nvPr/>
                </p:nvSpPr>
                <p:spPr>
                  <a:xfrm>
                    <a:off x="3849212" y="4690835"/>
                    <a:ext cx="1622519" cy="504000"/>
                  </a:xfrm>
                  <a:prstGeom prst="rect">
                    <a:avLst/>
                  </a:prstGeom>
                  <a:noFill/>
                </p:spPr>
                <p:txBody>
                  <a:bodyPr wrap="square" rtlCol="0" anchor="ctr">
                    <a:noAutofit/>
                  </a:bodyPr>
                  <a:lstStyle/>
                  <a:p>
                    <a:pPr algn="ctr"/>
                    <a:r>
                      <a:rPr lang="it-IT" sz="850" dirty="0">
                        <a:solidFill>
                          <a:srgbClr val="1660AE"/>
                        </a:solidFill>
                      </a:rPr>
                      <a:t>Applica le regole di business e produce dati affidabili e coerenti</a:t>
                    </a:r>
                  </a:p>
                </p:txBody>
              </p:sp>
            </p:grpSp>
          </p:grpSp>
          <p:grpSp>
            <p:nvGrpSpPr>
              <p:cNvPr id="1087" name="Gruppo 1086">
                <a:extLst>
                  <a:ext uri="{FF2B5EF4-FFF2-40B4-BE49-F238E27FC236}">
                    <a16:creationId xmlns:a16="http://schemas.microsoft.com/office/drawing/2014/main" id="{619402FD-4DDE-D531-B700-2F9396C34109}"/>
                  </a:ext>
                </a:extLst>
              </p:cNvPr>
              <p:cNvGrpSpPr/>
              <p:nvPr/>
            </p:nvGrpSpPr>
            <p:grpSpPr>
              <a:xfrm>
                <a:off x="1854380" y="815010"/>
                <a:ext cx="1910848" cy="3354932"/>
                <a:chOff x="1850384" y="1958692"/>
                <a:chExt cx="1910848" cy="3354932"/>
              </a:xfrm>
            </p:grpSpPr>
            <p:sp>
              <p:nvSpPr>
                <p:cNvPr id="4" name="Freccia a gallone 3">
                  <a:extLst>
                    <a:ext uri="{FF2B5EF4-FFF2-40B4-BE49-F238E27FC236}">
                      <a16:creationId xmlns:a16="http://schemas.microsoft.com/office/drawing/2014/main" id="{4D573CF1-C925-2075-7808-2D5886A788C3}"/>
                    </a:ext>
                  </a:extLst>
                </p:cNvPr>
                <p:cNvSpPr>
                  <a:spLocks/>
                </p:cNvSpPr>
                <p:nvPr/>
              </p:nvSpPr>
              <p:spPr>
                <a:xfrm>
                  <a:off x="1850384" y="1958692"/>
                  <a:ext cx="1910848" cy="439615"/>
                </a:xfrm>
                <a:prstGeom prst="chevron">
                  <a:avLst>
                    <a:gd name="adj" fmla="val 27813"/>
                  </a:avLst>
                </a:prstGeom>
                <a:solidFill>
                  <a:srgbClr val="E1ED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10387E"/>
                      </a:solidFill>
                    </a:rPr>
                    <a:t>2. ORCHESTRAZIONE</a:t>
                  </a:r>
                  <a:endParaRPr lang="en-US" sz="1000" dirty="0">
                    <a:solidFill>
                      <a:srgbClr val="10387E"/>
                    </a:solidFill>
                  </a:endParaRPr>
                </a:p>
              </p:txBody>
            </p:sp>
            <p:grpSp>
              <p:nvGrpSpPr>
                <p:cNvPr id="1080" name="Gruppo 1079">
                  <a:extLst>
                    <a:ext uri="{FF2B5EF4-FFF2-40B4-BE49-F238E27FC236}">
                      <a16:creationId xmlns:a16="http://schemas.microsoft.com/office/drawing/2014/main" id="{DF75B512-CD33-2070-76E3-BE385175E144}"/>
                    </a:ext>
                  </a:extLst>
                </p:cNvPr>
                <p:cNvGrpSpPr>
                  <a:grpSpLocks/>
                </p:cNvGrpSpPr>
                <p:nvPr/>
              </p:nvGrpSpPr>
              <p:grpSpPr>
                <a:xfrm>
                  <a:off x="1858885" y="2539944"/>
                  <a:ext cx="1798479" cy="2773680"/>
                  <a:chOff x="1858885" y="2539944"/>
                  <a:chExt cx="1798479" cy="2773680"/>
                </a:xfrm>
              </p:grpSpPr>
              <p:sp>
                <p:nvSpPr>
                  <p:cNvPr id="109" name="Rettangolo con angoli arrotondati 108">
                    <a:extLst>
                      <a:ext uri="{FF2B5EF4-FFF2-40B4-BE49-F238E27FC236}">
                        <a16:creationId xmlns:a16="http://schemas.microsoft.com/office/drawing/2014/main" id="{BE29C8D8-BC78-E828-2765-3DAC36718DA0}"/>
                      </a:ext>
                    </a:extLst>
                  </p:cNvPr>
                  <p:cNvSpPr>
                    <a:spLocks/>
                  </p:cNvSpPr>
                  <p:nvPr/>
                </p:nvSpPr>
                <p:spPr>
                  <a:xfrm>
                    <a:off x="1858885" y="2539944"/>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CasellaDiTesto 113">
                    <a:extLst>
                      <a:ext uri="{FF2B5EF4-FFF2-40B4-BE49-F238E27FC236}">
                        <a16:creationId xmlns:a16="http://schemas.microsoft.com/office/drawing/2014/main" id="{0920AED5-F2B6-19A6-6F2A-047E167C370C}"/>
                      </a:ext>
                    </a:extLst>
                  </p:cNvPr>
                  <p:cNvSpPr txBox="1">
                    <a:spLocks/>
                  </p:cNvSpPr>
                  <p:nvPr/>
                </p:nvSpPr>
                <p:spPr>
                  <a:xfrm>
                    <a:off x="2396334" y="3128031"/>
                    <a:ext cx="1162593" cy="203508"/>
                  </a:xfrm>
                  <a:prstGeom prst="rect">
                    <a:avLst/>
                  </a:prstGeom>
                  <a:noFill/>
                </p:spPr>
                <p:txBody>
                  <a:bodyPr wrap="square" lIns="36000" tIns="36000" rIns="36000" bIns="36000" rtlCol="0">
                    <a:spAutoFit/>
                  </a:bodyPr>
                  <a:lstStyle/>
                  <a:p>
                    <a:r>
                      <a:rPr lang="it-IT" sz="850" dirty="0">
                        <a:solidFill>
                          <a:srgbClr val="1660AE"/>
                        </a:solidFill>
                      </a:rPr>
                      <a:t>Orchestrazione Job</a:t>
                    </a:r>
                    <a:endParaRPr lang="en-US" sz="850" dirty="0">
                      <a:solidFill>
                        <a:srgbClr val="1660AE"/>
                      </a:solidFill>
                    </a:endParaRPr>
                  </a:p>
                </p:txBody>
              </p:sp>
              <p:sp>
                <p:nvSpPr>
                  <p:cNvPr id="115" name="CasellaDiTesto 114">
                    <a:extLst>
                      <a:ext uri="{FF2B5EF4-FFF2-40B4-BE49-F238E27FC236}">
                        <a16:creationId xmlns:a16="http://schemas.microsoft.com/office/drawing/2014/main" id="{B7291DC5-4D33-FAF4-FD82-375FD7300B8D}"/>
                      </a:ext>
                    </a:extLst>
                  </p:cNvPr>
                  <p:cNvSpPr txBox="1">
                    <a:spLocks/>
                  </p:cNvSpPr>
                  <p:nvPr/>
                </p:nvSpPr>
                <p:spPr>
                  <a:xfrm>
                    <a:off x="2396334" y="3396561"/>
                    <a:ext cx="1162593" cy="203508"/>
                  </a:xfrm>
                  <a:prstGeom prst="rect">
                    <a:avLst/>
                  </a:prstGeom>
                  <a:noFill/>
                </p:spPr>
                <p:txBody>
                  <a:bodyPr wrap="square" lIns="36000" tIns="36000" rIns="36000" bIns="36000" rtlCol="0">
                    <a:spAutoFit/>
                  </a:bodyPr>
                  <a:lstStyle/>
                  <a:p>
                    <a:r>
                      <a:rPr lang="it-IT" sz="850" dirty="0">
                        <a:solidFill>
                          <a:srgbClr val="1660AE"/>
                        </a:solidFill>
                      </a:rPr>
                      <a:t>Schedulazione</a:t>
                    </a:r>
                    <a:endParaRPr lang="en-US" sz="850" dirty="0">
                      <a:solidFill>
                        <a:srgbClr val="1660AE"/>
                      </a:solidFill>
                    </a:endParaRPr>
                  </a:p>
                </p:txBody>
              </p:sp>
              <p:sp>
                <p:nvSpPr>
                  <p:cNvPr id="116" name="CasellaDiTesto 115">
                    <a:extLst>
                      <a:ext uri="{FF2B5EF4-FFF2-40B4-BE49-F238E27FC236}">
                        <a16:creationId xmlns:a16="http://schemas.microsoft.com/office/drawing/2014/main" id="{22B03C84-4946-D951-356E-BEEA1DB4F6F4}"/>
                      </a:ext>
                    </a:extLst>
                  </p:cNvPr>
                  <p:cNvSpPr txBox="1">
                    <a:spLocks/>
                  </p:cNvSpPr>
                  <p:nvPr/>
                </p:nvSpPr>
                <p:spPr>
                  <a:xfrm>
                    <a:off x="2396334" y="3670795"/>
                    <a:ext cx="1162593" cy="203508"/>
                  </a:xfrm>
                  <a:prstGeom prst="rect">
                    <a:avLst/>
                  </a:prstGeom>
                  <a:noFill/>
                </p:spPr>
                <p:txBody>
                  <a:bodyPr wrap="square" lIns="36000" tIns="36000" rIns="36000" bIns="36000" rtlCol="0">
                    <a:spAutoFit/>
                  </a:bodyPr>
                  <a:lstStyle/>
                  <a:p>
                    <a:r>
                      <a:rPr lang="it-IT" sz="850" dirty="0">
                        <a:solidFill>
                          <a:srgbClr val="1660AE"/>
                        </a:solidFill>
                      </a:rPr>
                      <a:t>Dipendenze</a:t>
                    </a:r>
                    <a:endParaRPr lang="en-US" sz="850" dirty="0">
                      <a:solidFill>
                        <a:srgbClr val="1660AE"/>
                      </a:solidFill>
                    </a:endParaRPr>
                  </a:p>
                </p:txBody>
              </p:sp>
              <p:sp>
                <p:nvSpPr>
                  <p:cNvPr id="117" name="CasellaDiTesto 116">
                    <a:extLst>
                      <a:ext uri="{FF2B5EF4-FFF2-40B4-BE49-F238E27FC236}">
                        <a16:creationId xmlns:a16="http://schemas.microsoft.com/office/drawing/2014/main" id="{E24AE7E6-3620-C99E-C24E-E71F0C46AFD6}"/>
                      </a:ext>
                    </a:extLst>
                  </p:cNvPr>
                  <p:cNvSpPr txBox="1">
                    <a:spLocks/>
                  </p:cNvSpPr>
                  <p:nvPr/>
                </p:nvSpPr>
                <p:spPr>
                  <a:xfrm>
                    <a:off x="2396334" y="4207893"/>
                    <a:ext cx="1162593" cy="203508"/>
                  </a:xfrm>
                  <a:prstGeom prst="rect">
                    <a:avLst/>
                  </a:prstGeom>
                  <a:noFill/>
                </p:spPr>
                <p:txBody>
                  <a:bodyPr wrap="square" lIns="36000" tIns="36000" rIns="36000" bIns="36000" rtlCol="0">
                    <a:spAutoFit/>
                  </a:bodyPr>
                  <a:lstStyle/>
                  <a:p>
                    <a:r>
                      <a:rPr lang="en-US" sz="850" noProof="0" dirty="0">
                        <a:solidFill>
                          <a:srgbClr val="1660AE"/>
                        </a:solidFill>
                      </a:rPr>
                      <a:t>Retry</a:t>
                    </a:r>
                    <a:r>
                      <a:rPr lang="it-IT" sz="850" dirty="0">
                        <a:solidFill>
                          <a:srgbClr val="1660AE"/>
                        </a:solidFill>
                      </a:rPr>
                      <a:t>  &amp; alert</a:t>
                    </a:r>
                    <a:endParaRPr lang="en-US" sz="850" dirty="0">
                      <a:solidFill>
                        <a:srgbClr val="1660AE"/>
                      </a:solidFill>
                    </a:endParaRPr>
                  </a:p>
                </p:txBody>
              </p:sp>
              <p:sp>
                <p:nvSpPr>
                  <p:cNvPr id="138" name="CasellaDiTesto 137">
                    <a:extLst>
                      <a:ext uri="{FF2B5EF4-FFF2-40B4-BE49-F238E27FC236}">
                        <a16:creationId xmlns:a16="http://schemas.microsoft.com/office/drawing/2014/main" id="{219E5FD2-35CF-3CE0-B2DC-5BB13817297E}"/>
                      </a:ext>
                    </a:extLst>
                  </p:cNvPr>
                  <p:cNvSpPr txBox="1">
                    <a:spLocks/>
                  </p:cNvSpPr>
                  <p:nvPr/>
                </p:nvSpPr>
                <p:spPr>
                  <a:xfrm>
                    <a:off x="2396334" y="3937449"/>
                    <a:ext cx="1162593" cy="203508"/>
                  </a:xfrm>
                  <a:prstGeom prst="rect">
                    <a:avLst/>
                  </a:prstGeom>
                  <a:noFill/>
                </p:spPr>
                <p:txBody>
                  <a:bodyPr wrap="square" lIns="36000" tIns="36000" rIns="36000" bIns="36000" rtlCol="0">
                    <a:spAutoFit/>
                  </a:bodyPr>
                  <a:lstStyle/>
                  <a:p>
                    <a:r>
                      <a:rPr lang="it-IT" sz="850" dirty="0">
                        <a:solidFill>
                          <a:srgbClr val="1660AE"/>
                        </a:solidFill>
                      </a:rPr>
                      <a:t>Monitoraggio</a:t>
                    </a:r>
                    <a:endParaRPr lang="en-US" sz="850" dirty="0">
                      <a:solidFill>
                        <a:srgbClr val="1660AE"/>
                      </a:solidFill>
                    </a:endParaRPr>
                  </a:p>
                </p:txBody>
              </p:sp>
              <p:pic>
                <p:nvPicPr>
                  <p:cNvPr id="121" name="Immagine 120">
                    <a:extLst>
                      <a:ext uri="{FF2B5EF4-FFF2-40B4-BE49-F238E27FC236}">
                        <a16:creationId xmlns:a16="http://schemas.microsoft.com/office/drawing/2014/main" id="{EA17E55B-A285-8AAF-EB1B-540B67B40B4D}"/>
                      </a:ext>
                    </a:extLst>
                  </p:cNvPr>
                  <p:cNvPicPr>
                    <a:picLocks noChangeAspect="1"/>
                  </p:cNvPicPr>
                  <p:nvPr/>
                </p:nvPicPr>
                <p:blipFill>
                  <a:blip r:embed="rId23"/>
                  <a:stretch>
                    <a:fillRect/>
                  </a:stretch>
                </p:blipFill>
                <p:spPr>
                  <a:xfrm>
                    <a:off x="1953956" y="3157785"/>
                    <a:ext cx="144000" cy="144000"/>
                  </a:xfrm>
                  <a:prstGeom prst="rect">
                    <a:avLst/>
                  </a:prstGeom>
                </p:spPr>
              </p:pic>
              <p:pic>
                <p:nvPicPr>
                  <p:cNvPr id="123" name="Immagine 122">
                    <a:extLst>
                      <a:ext uri="{FF2B5EF4-FFF2-40B4-BE49-F238E27FC236}">
                        <a16:creationId xmlns:a16="http://schemas.microsoft.com/office/drawing/2014/main" id="{655EE59F-3693-9F55-C4A5-39653690A6EF}"/>
                      </a:ext>
                    </a:extLst>
                  </p:cNvPr>
                  <p:cNvPicPr>
                    <a:picLocks noChangeAspect="1"/>
                  </p:cNvPicPr>
                  <p:nvPr/>
                </p:nvPicPr>
                <p:blipFill>
                  <a:blip r:embed="rId24"/>
                  <a:stretch>
                    <a:fillRect/>
                  </a:stretch>
                </p:blipFill>
                <p:spPr>
                  <a:xfrm>
                    <a:off x="1953956" y="3426315"/>
                    <a:ext cx="144000" cy="144000"/>
                  </a:xfrm>
                  <a:prstGeom prst="rect">
                    <a:avLst/>
                  </a:prstGeom>
                </p:spPr>
              </p:pic>
              <p:pic>
                <p:nvPicPr>
                  <p:cNvPr id="125" name="Immagine 124">
                    <a:extLst>
                      <a:ext uri="{FF2B5EF4-FFF2-40B4-BE49-F238E27FC236}">
                        <a16:creationId xmlns:a16="http://schemas.microsoft.com/office/drawing/2014/main" id="{A1C1A801-E4C4-FE60-2A9F-71E201C575BB}"/>
                      </a:ext>
                    </a:extLst>
                  </p:cNvPr>
                  <p:cNvPicPr>
                    <a:picLocks noChangeAspect="1"/>
                  </p:cNvPicPr>
                  <p:nvPr/>
                </p:nvPicPr>
                <p:blipFill>
                  <a:blip r:embed="rId21"/>
                  <a:stretch>
                    <a:fillRect/>
                  </a:stretch>
                </p:blipFill>
                <p:spPr>
                  <a:xfrm>
                    <a:off x="1953956" y="3700549"/>
                    <a:ext cx="144000" cy="144000"/>
                  </a:xfrm>
                  <a:prstGeom prst="rect">
                    <a:avLst/>
                  </a:prstGeom>
                </p:spPr>
              </p:pic>
              <p:pic>
                <p:nvPicPr>
                  <p:cNvPr id="127" name="Immagine 126">
                    <a:extLst>
                      <a:ext uri="{FF2B5EF4-FFF2-40B4-BE49-F238E27FC236}">
                        <a16:creationId xmlns:a16="http://schemas.microsoft.com/office/drawing/2014/main" id="{2CA11030-E376-0F62-9C54-D675DB34EE54}"/>
                      </a:ext>
                    </a:extLst>
                  </p:cNvPr>
                  <p:cNvPicPr>
                    <a:picLocks noChangeAspect="1"/>
                  </p:cNvPicPr>
                  <p:nvPr/>
                </p:nvPicPr>
                <p:blipFill>
                  <a:blip r:embed="rId25"/>
                  <a:stretch>
                    <a:fillRect/>
                  </a:stretch>
                </p:blipFill>
                <p:spPr>
                  <a:xfrm>
                    <a:off x="1953956" y="3967203"/>
                    <a:ext cx="144000" cy="144000"/>
                  </a:xfrm>
                  <a:prstGeom prst="rect">
                    <a:avLst/>
                  </a:prstGeom>
                </p:spPr>
              </p:pic>
              <p:pic>
                <p:nvPicPr>
                  <p:cNvPr id="129" name="Immagine 128">
                    <a:extLst>
                      <a:ext uri="{FF2B5EF4-FFF2-40B4-BE49-F238E27FC236}">
                        <a16:creationId xmlns:a16="http://schemas.microsoft.com/office/drawing/2014/main" id="{002CBC53-5C20-AB90-8719-34D3B79AA6A8}"/>
                      </a:ext>
                    </a:extLst>
                  </p:cNvPr>
                  <p:cNvPicPr>
                    <a:picLocks noChangeAspect="1"/>
                  </p:cNvPicPr>
                  <p:nvPr/>
                </p:nvPicPr>
                <p:blipFill>
                  <a:blip r:embed="rId26"/>
                  <a:stretch>
                    <a:fillRect/>
                  </a:stretch>
                </p:blipFill>
                <p:spPr>
                  <a:xfrm>
                    <a:off x="1953956" y="4237647"/>
                    <a:ext cx="144000" cy="144000"/>
                  </a:xfrm>
                  <a:prstGeom prst="rect">
                    <a:avLst/>
                  </a:prstGeom>
                </p:spPr>
              </p:pic>
              <p:pic>
                <p:nvPicPr>
                  <p:cNvPr id="140" name="Immagine 139">
                    <a:extLst>
                      <a:ext uri="{FF2B5EF4-FFF2-40B4-BE49-F238E27FC236}">
                        <a16:creationId xmlns:a16="http://schemas.microsoft.com/office/drawing/2014/main" id="{AD2CF034-3440-BFF2-D535-B5E1030375E5}"/>
                      </a:ext>
                    </a:extLst>
                  </p:cNvPr>
                  <p:cNvPicPr>
                    <a:picLocks noChangeAspect="1"/>
                  </p:cNvPicPr>
                  <p:nvPr/>
                </p:nvPicPr>
                <p:blipFill>
                  <a:blip r:embed="rId27"/>
                  <a:stretch>
                    <a:fillRect/>
                  </a:stretch>
                </p:blipFill>
                <p:spPr>
                  <a:xfrm>
                    <a:off x="2127938" y="2627891"/>
                    <a:ext cx="1260372" cy="334786"/>
                  </a:xfrm>
                  <a:prstGeom prst="rect">
                    <a:avLst/>
                  </a:prstGeom>
                </p:spPr>
              </p:pic>
              <p:cxnSp>
                <p:nvCxnSpPr>
                  <p:cNvPr id="1062" name="Connettore diritto 1061">
                    <a:extLst>
                      <a:ext uri="{FF2B5EF4-FFF2-40B4-BE49-F238E27FC236}">
                        <a16:creationId xmlns:a16="http://schemas.microsoft.com/office/drawing/2014/main" id="{3049E1D8-D4A7-B316-9D3F-ECCADF90D5A1}"/>
                      </a:ext>
                    </a:extLst>
                  </p:cNvPr>
                  <p:cNvCxnSpPr>
                    <a:cxnSpLocks/>
                  </p:cNvCxnSpPr>
                  <p:nvPr/>
                </p:nvCxnSpPr>
                <p:spPr>
                  <a:xfrm>
                    <a:off x="2036814" y="4577975"/>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067" name="CasellaDiTesto 1066">
                    <a:extLst>
                      <a:ext uri="{FF2B5EF4-FFF2-40B4-BE49-F238E27FC236}">
                        <a16:creationId xmlns:a16="http://schemas.microsoft.com/office/drawing/2014/main" id="{97C4DDC7-841F-5713-1ADC-DB327F00F1F5}"/>
                      </a:ext>
                    </a:extLst>
                  </p:cNvPr>
                  <p:cNvSpPr txBox="1">
                    <a:spLocks/>
                  </p:cNvSpPr>
                  <p:nvPr/>
                </p:nvSpPr>
                <p:spPr>
                  <a:xfrm>
                    <a:off x="1889484" y="4672315"/>
                    <a:ext cx="1753866" cy="504000"/>
                  </a:xfrm>
                  <a:prstGeom prst="rect">
                    <a:avLst/>
                  </a:prstGeom>
                  <a:noFill/>
                </p:spPr>
                <p:txBody>
                  <a:bodyPr wrap="square" rtlCol="0" anchor="ctr">
                    <a:noAutofit/>
                  </a:bodyPr>
                  <a:lstStyle/>
                  <a:p>
                    <a:pPr algn="ctr"/>
                    <a:r>
                      <a:rPr lang="it-IT" sz="850" dirty="0">
                        <a:solidFill>
                          <a:srgbClr val="1660AE"/>
                        </a:solidFill>
                      </a:rPr>
                      <a:t>Coordina workflow,</a:t>
                    </a:r>
                  </a:p>
                  <a:p>
                    <a:pPr algn="ctr"/>
                    <a:r>
                      <a:rPr lang="it-IT" sz="850" dirty="0">
                        <a:solidFill>
                          <a:srgbClr val="1660AE"/>
                        </a:solidFill>
                      </a:rPr>
                      <a:t>dipendenze e controlli.</a:t>
                    </a:r>
                  </a:p>
                </p:txBody>
              </p:sp>
            </p:grpSp>
          </p:grpSp>
          <p:grpSp>
            <p:nvGrpSpPr>
              <p:cNvPr id="1086" name="Gruppo 1085">
                <a:extLst>
                  <a:ext uri="{FF2B5EF4-FFF2-40B4-BE49-F238E27FC236}">
                    <a16:creationId xmlns:a16="http://schemas.microsoft.com/office/drawing/2014/main" id="{1F58CCFB-10DB-F033-B30A-3895AFCBBED2}"/>
                  </a:ext>
                </a:extLst>
              </p:cNvPr>
              <p:cNvGrpSpPr/>
              <p:nvPr/>
            </p:nvGrpSpPr>
            <p:grpSpPr>
              <a:xfrm>
                <a:off x="515493" y="815009"/>
                <a:ext cx="1380510" cy="3354933"/>
                <a:chOff x="533634" y="1958691"/>
                <a:chExt cx="1380510" cy="3354933"/>
              </a:xfrm>
            </p:grpSpPr>
            <p:sp>
              <p:nvSpPr>
                <p:cNvPr id="2" name="Freccia a pentagono 1">
                  <a:extLst>
                    <a:ext uri="{FF2B5EF4-FFF2-40B4-BE49-F238E27FC236}">
                      <a16:creationId xmlns:a16="http://schemas.microsoft.com/office/drawing/2014/main" id="{B02D9694-3A58-11A3-F10C-48EA2A31C34E}"/>
                    </a:ext>
                  </a:extLst>
                </p:cNvPr>
                <p:cNvSpPr>
                  <a:spLocks/>
                </p:cNvSpPr>
                <p:nvPr/>
              </p:nvSpPr>
              <p:spPr>
                <a:xfrm>
                  <a:off x="533634" y="1958691"/>
                  <a:ext cx="1380510" cy="439616"/>
                </a:xfrm>
                <a:prstGeom prst="homePlate">
                  <a:avLst>
                    <a:gd name="adj" fmla="val 30587"/>
                  </a:avLst>
                </a:prstGeom>
                <a:solidFill>
                  <a:srgbClr val="E0F1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1. FONTI</a:t>
                  </a:r>
                  <a:endParaRPr lang="en-US" sz="1100" b="1" dirty="0">
                    <a:solidFill>
                      <a:srgbClr val="054939"/>
                    </a:solidFill>
                  </a:endParaRPr>
                </a:p>
              </p:txBody>
            </p:sp>
            <p:grpSp>
              <p:nvGrpSpPr>
                <p:cNvPr id="1079" name="Gruppo 1078">
                  <a:extLst>
                    <a:ext uri="{FF2B5EF4-FFF2-40B4-BE49-F238E27FC236}">
                      <a16:creationId xmlns:a16="http://schemas.microsoft.com/office/drawing/2014/main" id="{7A813BCD-069D-865F-DFD8-F51F2313305A}"/>
                    </a:ext>
                  </a:extLst>
                </p:cNvPr>
                <p:cNvGrpSpPr>
                  <a:grpSpLocks/>
                </p:cNvGrpSpPr>
                <p:nvPr/>
              </p:nvGrpSpPr>
              <p:grpSpPr>
                <a:xfrm>
                  <a:off x="533634" y="2539944"/>
                  <a:ext cx="1257066" cy="2773680"/>
                  <a:chOff x="533634" y="2539944"/>
                  <a:chExt cx="1257066" cy="2773680"/>
                </a:xfrm>
              </p:grpSpPr>
              <p:sp>
                <p:nvSpPr>
                  <p:cNvPr id="64" name="Rettangolo con angoli arrotondati 63">
                    <a:extLst>
                      <a:ext uri="{FF2B5EF4-FFF2-40B4-BE49-F238E27FC236}">
                        <a16:creationId xmlns:a16="http://schemas.microsoft.com/office/drawing/2014/main" id="{FEC0873F-559F-BA42-441B-9AE4F8942EBD}"/>
                      </a:ext>
                    </a:extLst>
                  </p:cNvPr>
                  <p:cNvSpPr>
                    <a:spLocks/>
                  </p:cNvSpPr>
                  <p:nvPr/>
                </p:nvSpPr>
                <p:spPr>
                  <a:xfrm>
                    <a:off x="533634" y="2539944"/>
                    <a:ext cx="1257066" cy="2773680"/>
                  </a:xfrm>
                  <a:prstGeom prst="roundRect">
                    <a:avLst>
                      <a:gd name="adj" fmla="val 4544"/>
                    </a:avLst>
                  </a:prstGeom>
                  <a:noFill/>
                  <a:ln>
                    <a:solidFill>
                      <a:srgbClr val="B1E1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 name="Immagine 80">
                    <a:extLst>
                      <a:ext uri="{FF2B5EF4-FFF2-40B4-BE49-F238E27FC236}">
                        <a16:creationId xmlns:a16="http://schemas.microsoft.com/office/drawing/2014/main" id="{592587A3-6F24-D585-12F0-4BB85A654904}"/>
                      </a:ext>
                    </a:extLst>
                  </p:cNvPr>
                  <p:cNvPicPr>
                    <a:picLocks noChangeAspect="1"/>
                  </p:cNvPicPr>
                  <p:nvPr/>
                </p:nvPicPr>
                <p:blipFill>
                  <a:blip r:embed="rId14"/>
                  <a:stretch>
                    <a:fillRect/>
                  </a:stretch>
                </p:blipFill>
                <p:spPr>
                  <a:xfrm>
                    <a:off x="648358" y="2793049"/>
                    <a:ext cx="144000" cy="144000"/>
                  </a:xfrm>
                  <a:prstGeom prst="rect">
                    <a:avLst/>
                  </a:prstGeom>
                </p:spPr>
              </p:pic>
              <p:pic>
                <p:nvPicPr>
                  <p:cNvPr id="89" name="Immagine 88">
                    <a:extLst>
                      <a:ext uri="{FF2B5EF4-FFF2-40B4-BE49-F238E27FC236}">
                        <a16:creationId xmlns:a16="http://schemas.microsoft.com/office/drawing/2014/main" id="{2BF3A32D-7EC0-AF7A-41EC-1E0C221F26F4}"/>
                      </a:ext>
                    </a:extLst>
                  </p:cNvPr>
                  <p:cNvPicPr>
                    <a:picLocks noChangeAspect="1"/>
                  </p:cNvPicPr>
                  <p:nvPr/>
                </p:nvPicPr>
                <p:blipFill>
                  <a:blip r:embed="rId28"/>
                  <a:stretch>
                    <a:fillRect/>
                  </a:stretch>
                </p:blipFill>
                <p:spPr>
                  <a:xfrm>
                    <a:off x="648358" y="3739795"/>
                    <a:ext cx="144000" cy="144000"/>
                  </a:xfrm>
                  <a:prstGeom prst="rect">
                    <a:avLst/>
                  </a:prstGeom>
                </p:spPr>
              </p:pic>
              <p:pic>
                <p:nvPicPr>
                  <p:cNvPr id="93" name="Immagine 92">
                    <a:extLst>
                      <a:ext uri="{FF2B5EF4-FFF2-40B4-BE49-F238E27FC236}">
                        <a16:creationId xmlns:a16="http://schemas.microsoft.com/office/drawing/2014/main" id="{4657CF9A-E77B-3CA4-E910-E77F289E6DB7}"/>
                      </a:ext>
                    </a:extLst>
                  </p:cNvPr>
                  <p:cNvPicPr>
                    <a:picLocks noChangeAspect="1"/>
                  </p:cNvPicPr>
                  <p:nvPr/>
                </p:nvPicPr>
                <p:blipFill>
                  <a:blip r:embed="rId29"/>
                  <a:stretch>
                    <a:fillRect/>
                  </a:stretch>
                </p:blipFill>
                <p:spPr>
                  <a:xfrm>
                    <a:off x="648358" y="3275609"/>
                    <a:ext cx="144000" cy="144000"/>
                  </a:xfrm>
                  <a:prstGeom prst="rect">
                    <a:avLst/>
                  </a:prstGeom>
                </p:spPr>
              </p:pic>
              <p:pic>
                <p:nvPicPr>
                  <p:cNvPr id="97" name="Immagine 96">
                    <a:extLst>
                      <a:ext uri="{FF2B5EF4-FFF2-40B4-BE49-F238E27FC236}">
                        <a16:creationId xmlns:a16="http://schemas.microsoft.com/office/drawing/2014/main" id="{1C8C0B12-9821-A50A-B760-E645FF711873}"/>
                      </a:ext>
                    </a:extLst>
                  </p:cNvPr>
                  <p:cNvPicPr>
                    <a:picLocks noChangeAspect="1"/>
                  </p:cNvPicPr>
                  <p:nvPr/>
                </p:nvPicPr>
                <p:blipFill>
                  <a:blip r:embed="rId30"/>
                  <a:stretch>
                    <a:fillRect/>
                  </a:stretch>
                </p:blipFill>
                <p:spPr>
                  <a:xfrm>
                    <a:off x="648358" y="4232933"/>
                    <a:ext cx="144000" cy="144000"/>
                  </a:xfrm>
                  <a:prstGeom prst="rect">
                    <a:avLst/>
                  </a:prstGeom>
                </p:spPr>
              </p:pic>
              <p:sp>
                <p:nvSpPr>
                  <p:cNvPr id="98" name="CasellaDiTesto 97">
                    <a:extLst>
                      <a:ext uri="{FF2B5EF4-FFF2-40B4-BE49-F238E27FC236}">
                        <a16:creationId xmlns:a16="http://schemas.microsoft.com/office/drawing/2014/main" id="{0534D3F6-4CFC-2D29-5B74-4E5747AF67B5}"/>
                      </a:ext>
                    </a:extLst>
                  </p:cNvPr>
                  <p:cNvSpPr txBox="1">
                    <a:spLocks/>
                  </p:cNvSpPr>
                  <p:nvPr/>
                </p:nvSpPr>
                <p:spPr>
                  <a:xfrm>
                    <a:off x="909290" y="2763295"/>
                    <a:ext cx="812607" cy="203508"/>
                  </a:xfrm>
                  <a:prstGeom prst="rect">
                    <a:avLst/>
                  </a:prstGeom>
                  <a:noFill/>
                </p:spPr>
                <p:txBody>
                  <a:bodyPr wrap="square" lIns="36000" tIns="36000" rIns="36000" bIns="36000" rtlCol="0">
                    <a:spAutoFit/>
                  </a:bodyPr>
                  <a:lstStyle/>
                  <a:p>
                    <a:r>
                      <a:rPr lang="it-IT" sz="850" dirty="0">
                        <a:solidFill>
                          <a:srgbClr val="0B7F7A"/>
                        </a:solidFill>
                      </a:rPr>
                      <a:t>File</a:t>
                    </a:r>
                    <a:endParaRPr lang="en-US" sz="850" dirty="0">
                      <a:solidFill>
                        <a:srgbClr val="0B7F7A"/>
                      </a:solidFill>
                    </a:endParaRPr>
                  </a:p>
                </p:txBody>
              </p:sp>
              <p:sp>
                <p:nvSpPr>
                  <p:cNvPr id="99" name="CasellaDiTesto 98">
                    <a:extLst>
                      <a:ext uri="{FF2B5EF4-FFF2-40B4-BE49-F238E27FC236}">
                        <a16:creationId xmlns:a16="http://schemas.microsoft.com/office/drawing/2014/main" id="{6045F008-C104-2E1E-ABE7-F51FD6B6834F}"/>
                      </a:ext>
                    </a:extLst>
                  </p:cNvPr>
                  <p:cNvSpPr txBox="1">
                    <a:spLocks/>
                  </p:cNvSpPr>
                  <p:nvPr/>
                </p:nvSpPr>
                <p:spPr>
                  <a:xfrm>
                    <a:off x="909290" y="3247797"/>
                    <a:ext cx="812607" cy="203508"/>
                  </a:xfrm>
                  <a:prstGeom prst="rect">
                    <a:avLst/>
                  </a:prstGeom>
                  <a:noFill/>
                </p:spPr>
                <p:txBody>
                  <a:bodyPr wrap="square" lIns="36000" tIns="36000" rIns="36000" bIns="36000" rtlCol="0">
                    <a:spAutoFit/>
                  </a:bodyPr>
                  <a:lstStyle/>
                  <a:p>
                    <a:r>
                      <a:rPr lang="it-IT" sz="850" dirty="0">
                        <a:solidFill>
                          <a:srgbClr val="0B7F7A"/>
                        </a:solidFill>
                      </a:rPr>
                      <a:t>API</a:t>
                    </a:r>
                    <a:endParaRPr lang="en-US" sz="850" dirty="0">
                      <a:solidFill>
                        <a:srgbClr val="0B7F7A"/>
                      </a:solidFill>
                    </a:endParaRPr>
                  </a:p>
                </p:txBody>
              </p:sp>
              <p:sp>
                <p:nvSpPr>
                  <p:cNvPr id="100" name="CasellaDiTesto 99">
                    <a:extLst>
                      <a:ext uri="{FF2B5EF4-FFF2-40B4-BE49-F238E27FC236}">
                        <a16:creationId xmlns:a16="http://schemas.microsoft.com/office/drawing/2014/main" id="{9BE670A0-80AE-7A6E-2784-E94D40536C37}"/>
                      </a:ext>
                    </a:extLst>
                  </p:cNvPr>
                  <p:cNvSpPr txBox="1">
                    <a:spLocks/>
                  </p:cNvSpPr>
                  <p:nvPr/>
                </p:nvSpPr>
                <p:spPr>
                  <a:xfrm>
                    <a:off x="909290" y="3710041"/>
                    <a:ext cx="812607" cy="203508"/>
                  </a:xfrm>
                  <a:prstGeom prst="rect">
                    <a:avLst/>
                  </a:prstGeom>
                  <a:noFill/>
                </p:spPr>
                <p:txBody>
                  <a:bodyPr wrap="square" lIns="36000" tIns="36000" rIns="36000" bIns="36000" rtlCol="0">
                    <a:spAutoFit/>
                  </a:bodyPr>
                  <a:lstStyle/>
                  <a:p>
                    <a:r>
                      <a:rPr lang="it-IT" sz="850" dirty="0">
                        <a:solidFill>
                          <a:srgbClr val="0B7F7A"/>
                        </a:solidFill>
                      </a:rPr>
                      <a:t>Database</a:t>
                    </a:r>
                    <a:endParaRPr lang="en-US" sz="850" dirty="0">
                      <a:solidFill>
                        <a:srgbClr val="0B7F7A"/>
                      </a:solidFill>
                    </a:endParaRPr>
                  </a:p>
                </p:txBody>
              </p:sp>
              <p:sp>
                <p:nvSpPr>
                  <p:cNvPr id="101" name="CasellaDiTesto 100">
                    <a:extLst>
                      <a:ext uri="{FF2B5EF4-FFF2-40B4-BE49-F238E27FC236}">
                        <a16:creationId xmlns:a16="http://schemas.microsoft.com/office/drawing/2014/main" id="{D340D699-D13B-0E34-87A7-FEFCC64FA4F5}"/>
                      </a:ext>
                    </a:extLst>
                  </p:cNvPr>
                  <p:cNvSpPr txBox="1">
                    <a:spLocks/>
                  </p:cNvSpPr>
                  <p:nvPr/>
                </p:nvSpPr>
                <p:spPr>
                  <a:xfrm>
                    <a:off x="909290" y="4205121"/>
                    <a:ext cx="812607" cy="203508"/>
                  </a:xfrm>
                  <a:prstGeom prst="rect">
                    <a:avLst/>
                  </a:prstGeom>
                  <a:noFill/>
                </p:spPr>
                <p:txBody>
                  <a:bodyPr wrap="square" lIns="36000" tIns="36000" rIns="36000" bIns="36000" rtlCol="0">
                    <a:spAutoFit/>
                  </a:bodyPr>
                  <a:lstStyle/>
                  <a:p>
                    <a:r>
                      <a:rPr lang="it-IT" sz="850" dirty="0">
                        <a:solidFill>
                          <a:srgbClr val="0B7F7A"/>
                        </a:solidFill>
                      </a:rPr>
                      <a:t>Sistemi client</a:t>
                    </a:r>
                    <a:endParaRPr lang="en-US" sz="850" dirty="0">
                      <a:solidFill>
                        <a:srgbClr val="0B7F7A"/>
                      </a:solidFill>
                    </a:endParaRPr>
                  </a:p>
                </p:txBody>
              </p:sp>
              <p:cxnSp>
                <p:nvCxnSpPr>
                  <p:cNvPr id="1063" name="Connettore diritto 1062">
                    <a:extLst>
                      <a:ext uri="{FF2B5EF4-FFF2-40B4-BE49-F238E27FC236}">
                        <a16:creationId xmlns:a16="http://schemas.microsoft.com/office/drawing/2014/main" id="{09E86AC7-E25D-1F19-E16B-ED8E83B11FB0}"/>
                      </a:ext>
                    </a:extLst>
                  </p:cNvPr>
                  <p:cNvCxnSpPr>
                    <a:cxnSpLocks/>
                  </p:cNvCxnSpPr>
                  <p:nvPr/>
                </p:nvCxnSpPr>
                <p:spPr>
                  <a:xfrm>
                    <a:off x="648358" y="4576200"/>
                    <a:ext cx="1004500" cy="0"/>
                  </a:xfrm>
                  <a:prstGeom prst="line">
                    <a:avLst/>
                  </a:prstGeom>
                  <a:ln>
                    <a:solidFill>
                      <a:srgbClr val="B1E1DF"/>
                    </a:solidFill>
                  </a:ln>
                </p:spPr>
                <p:style>
                  <a:lnRef idx="1">
                    <a:schemeClr val="accent1"/>
                  </a:lnRef>
                  <a:fillRef idx="0">
                    <a:schemeClr val="accent1"/>
                  </a:fillRef>
                  <a:effectRef idx="0">
                    <a:schemeClr val="accent1"/>
                  </a:effectRef>
                  <a:fontRef idx="minor">
                    <a:schemeClr val="tx1"/>
                  </a:fontRef>
                </p:style>
              </p:cxnSp>
              <p:sp>
                <p:nvSpPr>
                  <p:cNvPr id="1068" name="CasellaDiTesto 1067">
                    <a:extLst>
                      <a:ext uri="{FF2B5EF4-FFF2-40B4-BE49-F238E27FC236}">
                        <a16:creationId xmlns:a16="http://schemas.microsoft.com/office/drawing/2014/main" id="{3B4C508B-F2A0-C85B-B71C-337CE4301E36}"/>
                      </a:ext>
                    </a:extLst>
                  </p:cNvPr>
                  <p:cNvSpPr txBox="1">
                    <a:spLocks/>
                  </p:cNvSpPr>
                  <p:nvPr/>
                </p:nvSpPr>
                <p:spPr>
                  <a:xfrm>
                    <a:off x="600681" y="4650150"/>
                    <a:ext cx="1122973" cy="504000"/>
                  </a:xfrm>
                  <a:prstGeom prst="rect">
                    <a:avLst/>
                  </a:prstGeom>
                  <a:noFill/>
                </p:spPr>
                <p:txBody>
                  <a:bodyPr wrap="square" rtlCol="0" anchor="ctr">
                    <a:noAutofit/>
                  </a:bodyPr>
                  <a:lstStyle/>
                  <a:p>
                    <a:pPr algn="ctr"/>
                    <a:r>
                      <a:rPr lang="it-IT" sz="850" dirty="0">
                        <a:solidFill>
                          <a:srgbClr val="0B7F7A"/>
                        </a:solidFill>
                      </a:rPr>
                      <a:t>Dati grezzi da sistemi interni ed esterni</a:t>
                    </a:r>
                  </a:p>
                </p:txBody>
              </p:sp>
            </p:grpSp>
          </p:grpSp>
        </p:grpSp>
        <p:grpSp>
          <p:nvGrpSpPr>
            <p:cNvPr id="1133" name="Gruppo 1132">
              <a:extLst>
                <a:ext uri="{FF2B5EF4-FFF2-40B4-BE49-F238E27FC236}">
                  <a16:creationId xmlns:a16="http://schemas.microsoft.com/office/drawing/2014/main" id="{0FF3052C-4429-9B4D-00E5-768814B31B9D}"/>
                </a:ext>
              </a:extLst>
            </p:cNvPr>
            <p:cNvGrpSpPr/>
            <p:nvPr/>
          </p:nvGrpSpPr>
          <p:grpSpPr>
            <a:xfrm>
              <a:off x="515493" y="5048606"/>
              <a:ext cx="8526908" cy="635155"/>
              <a:chOff x="515493" y="4232512"/>
              <a:chExt cx="8526908" cy="635155"/>
            </a:xfrm>
          </p:grpSpPr>
          <p:sp>
            <p:nvSpPr>
              <p:cNvPr id="1044" name="Rettangolo con angoli arrotondati 1043">
                <a:extLst>
                  <a:ext uri="{FF2B5EF4-FFF2-40B4-BE49-F238E27FC236}">
                    <a16:creationId xmlns:a16="http://schemas.microsoft.com/office/drawing/2014/main" id="{B31328D6-4787-C059-D832-B3D1B4A86A23}"/>
                  </a:ext>
                </a:extLst>
              </p:cNvPr>
              <p:cNvSpPr/>
              <p:nvPr/>
            </p:nvSpPr>
            <p:spPr>
              <a:xfrm>
                <a:off x="515493" y="4232512"/>
                <a:ext cx="8526908" cy="635155"/>
              </a:xfrm>
              <a:prstGeom prst="roundRect">
                <a:avLst>
                  <a:gd name="adj" fmla="val 6990"/>
                </a:avLst>
              </a:prstGeom>
              <a:solidFill>
                <a:srgbClr val="F8FCFD"/>
              </a:solidFill>
              <a:ln>
                <a:solidFill>
                  <a:srgbClr val="9BDB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00" name="Gruppo 1099">
                <a:extLst>
                  <a:ext uri="{FF2B5EF4-FFF2-40B4-BE49-F238E27FC236}">
                    <a16:creationId xmlns:a16="http://schemas.microsoft.com/office/drawing/2014/main" id="{BEC0D423-47C9-936D-5C3E-E66737C83EA6}"/>
                  </a:ext>
                </a:extLst>
              </p:cNvPr>
              <p:cNvGrpSpPr/>
              <p:nvPr/>
            </p:nvGrpSpPr>
            <p:grpSpPr>
              <a:xfrm>
                <a:off x="769814" y="4406089"/>
                <a:ext cx="8018266" cy="288000"/>
                <a:chOff x="685851" y="5641363"/>
                <a:chExt cx="8018266" cy="288000"/>
              </a:xfrm>
            </p:grpSpPr>
            <p:grpSp>
              <p:nvGrpSpPr>
                <p:cNvPr id="1094" name="Gruppo 1093">
                  <a:extLst>
                    <a:ext uri="{FF2B5EF4-FFF2-40B4-BE49-F238E27FC236}">
                      <a16:creationId xmlns:a16="http://schemas.microsoft.com/office/drawing/2014/main" id="{7F05561A-DB2D-36A3-883A-3ADE58833063}"/>
                    </a:ext>
                  </a:extLst>
                </p:cNvPr>
                <p:cNvGrpSpPr/>
                <p:nvPr/>
              </p:nvGrpSpPr>
              <p:grpSpPr>
                <a:xfrm>
                  <a:off x="685851" y="5641363"/>
                  <a:ext cx="999301" cy="288000"/>
                  <a:chOff x="685851" y="5641363"/>
                  <a:chExt cx="999301" cy="288000"/>
                </a:xfrm>
              </p:grpSpPr>
              <p:pic>
                <p:nvPicPr>
                  <p:cNvPr id="1046" name="Immagine 1045">
                    <a:extLst>
                      <a:ext uri="{FF2B5EF4-FFF2-40B4-BE49-F238E27FC236}">
                        <a16:creationId xmlns:a16="http://schemas.microsoft.com/office/drawing/2014/main" id="{121681C1-9EF4-05B1-D24D-D722C943DB09}"/>
                      </a:ext>
                    </a:extLst>
                  </p:cNvPr>
                  <p:cNvPicPr>
                    <a:picLocks noChangeAspect="1"/>
                  </p:cNvPicPr>
                  <p:nvPr/>
                </p:nvPicPr>
                <p:blipFill>
                  <a:blip r:embed="rId31"/>
                  <a:stretch>
                    <a:fillRect/>
                  </a:stretch>
                </p:blipFill>
                <p:spPr>
                  <a:xfrm>
                    <a:off x="685851" y="5641363"/>
                    <a:ext cx="288000" cy="288000"/>
                  </a:xfrm>
                  <a:prstGeom prst="rect">
                    <a:avLst/>
                  </a:prstGeom>
                </p:spPr>
              </p:pic>
              <p:sp>
                <p:nvSpPr>
                  <p:cNvPr id="1057" name="CasellaDiTesto 1056">
                    <a:extLst>
                      <a:ext uri="{FF2B5EF4-FFF2-40B4-BE49-F238E27FC236}">
                        <a16:creationId xmlns:a16="http://schemas.microsoft.com/office/drawing/2014/main" id="{047CEA46-12A5-AF45-A790-F1CF594BCFFE}"/>
                      </a:ext>
                    </a:extLst>
                  </p:cNvPr>
                  <p:cNvSpPr txBox="1">
                    <a:spLocks/>
                  </p:cNvSpPr>
                  <p:nvPr/>
                </p:nvSpPr>
                <p:spPr>
                  <a:xfrm>
                    <a:off x="1006514" y="5683609"/>
                    <a:ext cx="678638" cy="203508"/>
                  </a:xfrm>
                  <a:prstGeom prst="rect">
                    <a:avLst/>
                  </a:prstGeom>
                  <a:noFill/>
                </p:spPr>
                <p:txBody>
                  <a:bodyPr wrap="none" lIns="36000" tIns="36000" rIns="36000" bIns="36000" rtlCol="0">
                    <a:spAutoFit/>
                  </a:bodyPr>
                  <a:lstStyle/>
                  <a:p>
                    <a:r>
                      <a:rPr lang="it-IT" sz="850" dirty="0">
                        <a:solidFill>
                          <a:srgbClr val="0B7F7A"/>
                        </a:solidFill>
                      </a:rPr>
                      <a:t>Run History</a:t>
                    </a:r>
                    <a:endParaRPr lang="en-US" sz="850" dirty="0">
                      <a:solidFill>
                        <a:srgbClr val="0B7F7A"/>
                      </a:solidFill>
                    </a:endParaRPr>
                  </a:p>
                </p:txBody>
              </p:sp>
            </p:grpSp>
            <p:grpSp>
              <p:nvGrpSpPr>
                <p:cNvPr id="1095" name="Gruppo 1094">
                  <a:extLst>
                    <a:ext uri="{FF2B5EF4-FFF2-40B4-BE49-F238E27FC236}">
                      <a16:creationId xmlns:a16="http://schemas.microsoft.com/office/drawing/2014/main" id="{5BF0E234-DEC4-4F2E-42BA-CF14994F0E76}"/>
                    </a:ext>
                  </a:extLst>
                </p:cNvPr>
                <p:cNvGrpSpPr/>
                <p:nvPr/>
              </p:nvGrpSpPr>
              <p:grpSpPr>
                <a:xfrm>
                  <a:off x="2018339" y="5641363"/>
                  <a:ext cx="1040979" cy="288000"/>
                  <a:chOff x="2055130" y="5641363"/>
                  <a:chExt cx="1040979" cy="288000"/>
                </a:xfrm>
              </p:grpSpPr>
              <p:pic>
                <p:nvPicPr>
                  <p:cNvPr id="1048" name="Immagine 1047">
                    <a:extLst>
                      <a:ext uri="{FF2B5EF4-FFF2-40B4-BE49-F238E27FC236}">
                        <a16:creationId xmlns:a16="http://schemas.microsoft.com/office/drawing/2014/main" id="{D220D137-21A3-FFAB-7428-A5E58BEA219F}"/>
                      </a:ext>
                    </a:extLst>
                  </p:cNvPr>
                  <p:cNvPicPr>
                    <a:picLocks noChangeAspect="1"/>
                  </p:cNvPicPr>
                  <p:nvPr/>
                </p:nvPicPr>
                <p:blipFill>
                  <a:blip r:embed="rId32"/>
                  <a:stretch>
                    <a:fillRect/>
                  </a:stretch>
                </p:blipFill>
                <p:spPr>
                  <a:xfrm>
                    <a:off x="2055130" y="5641363"/>
                    <a:ext cx="288000" cy="288000"/>
                  </a:xfrm>
                  <a:prstGeom prst="rect">
                    <a:avLst/>
                  </a:prstGeom>
                </p:spPr>
              </p:pic>
              <p:sp>
                <p:nvSpPr>
                  <p:cNvPr id="1058" name="CasellaDiTesto 1057">
                    <a:extLst>
                      <a:ext uri="{FF2B5EF4-FFF2-40B4-BE49-F238E27FC236}">
                        <a16:creationId xmlns:a16="http://schemas.microsoft.com/office/drawing/2014/main" id="{7445E155-9E99-F8A2-98CF-E2B6E13A4902}"/>
                      </a:ext>
                    </a:extLst>
                  </p:cNvPr>
                  <p:cNvSpPr txBox="1">
                    <a:spLocks/>
                  </p:cNvSpPr>
                  <p:nvPr/>
                </p:nvSpPr>
                <p:spPr>
                  <a:xfrm>
                    <a:off x="2375793" y="5683609"/>
                    <a:ext cx="720316" cy="203508"/>
                  </a:xfrm>
                  <a:prstGeom prst="rect">
                    <a:avLst/>
                  </a:prstGeom>
                  <a:noFill/>
                </p:spPr>
                <p:txBody>
                  <a:bodyPr wrap="none" lIns="36000" tIns="36000" rIns="36000" bIns="36000" rtlCol="0">
                    <a:spAutoFit/>
                  </a:bodyPr>
                  <a:lstStyle/>
                  <a:p>
                    <a:r>
                      <a:rPr lang="it-IT" sz="850" dirty="0">
                        <a:solidFill>
                          <a:srgbClr val="0B7F7A"/>
                        </a:solidFill>
                      </a:rPr>
                      <a:t>Asset check</a:t>
                    </a:r>
                    <a:endParaRPr lang="en-US" sz="850" dirty="0">
                      <a:solidFill>
                        <a:srgbClr val="0B7F7A"/>
                      </a:solidFill>
                    </a:endParaRPr>
                  </a:p>
                </p:txBody>
              </p:sp>
            </p:grpSp>
            <p:grpSp>
              <p:nvGrpSpPr>
                <p:cNvPr id="1096" name="Gruppo 1095">
                  <a:extLst>
                    <a:ext uri="{FF2B5EF4-FFF2-40B4-BE49-F238E27FC236}">
                      <a16:creationId xmlns:a16="http://schemas.microsoft.com/office/drawing/2014/main" id="{EF8C1B6B-D6F9-F3A4-0E22-C06278E897DE}"/>
                    </a:ext>
                  </a:extLst>
                </p:cNvPr>
                <p:cNvGrpSpPr/>
                <p:nvPr/>
              </p:nvGrpSpPr>
              <p:grpSpPr>
                <a:xfrm>
                  <a:off x="3392505" y="5641363"/>
                  <a:ext cx="1007317" cy="288000"/>
                  <a:chOff x="3424410" y="5641363"/>
                  <a:chExt cx="1007317" cy="288000"/>
                </a:xfrm>
              </p:grpSpPr>
              <p:pic>
                <p:nvPicPr>
                  <p:cNvPr id="1050" name="Immagine 1049">
                    <a:extLst>
                      <a:ext uri="{FF2B5EF4-FFF2-40B4-BE49-F238E27FC236}">
                        <a16:creationId xmlns:a16="http://schemas.microsoft.com/office/drawing/2014/main" id="{111F054D-38CD-C123-8885-81982B19D7D9}"/>
                      </a:ext>
                    </a:extLst>
                  </p:cNvPr>
                  <p:cNvPicPr>
                    <a:picLocks noChangeAspect="1"/>
                  </p:cNvPicPr>
                  <p:nvPr/>
                </p:nvPicPr>
                <p:blipFill>
                  <a:blip r:embed="rId33"/>
                  <a:stretch>
                    <a:fillRect/>
                  </a:stretch>
                </p:blipFill>
                <p:spPr>
                  <a:xfrm>
                    <a:off x="3424410" y="5641363"/>
                    <a:ext cx="288000" cy="288000"/>
                  </a:xfrm>
                  <a:prstGeom prst="rect">
                    <a:avLst/>
                  </a:prstGeom>
                </p:spPr>
              </p:pic>
              <p:sp>
                <p:nvSpPr>
                  <p:cNvPr id="1059" name="CasellaDiTesto 1058">
                    <a:extLst>
                      <a:ext uri="{FF2B5EF4-FFF2-40B4-BE49-F238E27FC236}">
                        <a16:creationId xmlns:a16="http://schemas.microsoft.com/office/drawing/2014/main" id="{04F33A2A-D155-7FC6-4B0A-C31F868C17A3}"/>
                      </a:ext>
                    </a:extLst>
                  </p:cNvPr>
                  <p:cNvSpPr txBox="1">
                    <a:spLocks/>
                  </p:cNvSpPr>
                  <p:nvPr/>
                </p:nvSpPr>
                <p:spPr>
                  <a:xfrm>
                    <a:off x="3745073" y="5683609"/>
                    <a:ext cx="686654" cy="203508"/>
                  </a:xfrm>
                  <a:prstGeom prst="rect">
                    <a:avLst/>
                  </a:prstGeom>
                  <a:noFill/>
                </p:spPr>
                <p:txBody>
                  <a:bodyPr wrap="none" lIns="36000" tIns="36000" rIns="36000" bIns="36000" rtlCol="0">
                    <a:spAutoFit/>
                  </a:bodyPr>
                  <a:lstStyle/>
                  <a:p>
                    <a:r>
                      <a:rPr lang="it-IT" sz="850" dirty="0">
                        <a:solidFill>
                          <a:srgbClr val="0B7F7A"/>
                        </a:solidFill>
                      </a:rPr>
                      <a:t>Log &amp; Audit</a:t>
                    </a:r>
                    <a:endParaRPr lang="en-US" sz="850" dirty="0">
                      <a:solidFill>
                        <a:srgbClr val="0B7F7A"/>
                      </a:solidFill>
                    </a:endParaRPr>
                  </a:p>
                </p:txBody>
              </p:sp>
            </p:grpSp>
            <p:grpSp>
              <p:nvGrpSpPr>
                <p:cNvPr id="1097" name="Gruppo 1096">
                  <a:extLst>
                    <a:ext uri="{FF2B5EF4-FFF2-40B4-BE49-F238E27FC236}">
                      <a16:creationId xmlns:a16="http://schemas.microsoft.com/office/drawing/2014/main" id="{BB8518C4-DD9C-C692-8143-DF64B37692F4}"/>
                    </a:ext>
                  </a:extLst>
                </p:cNvPr>
                <p:cNvGrpSpPr/>
                <p:nvPr/>
              </p:nvGrpSpPr>
              <p:grpSpPr>
                <a:xfrm>
                  <a:off x="4733009" y="5641363"/>
                  <a:ext cx="1339798" cy="288000"/>
                  <a:chOff x="4793689" y="5641363"/>
                  <a:chExt cx="1339798" cy="288000"/>
                </a:xfrm>
              </p:grpSpPr>
              <p:pic>
                <p:nvPicPr>
                  <p:cNvPr id="1052" name="Immagine 1051">
                    <a:extLst>
                      <a:ext uri="{FF2B5EF4-FFF2-40B4-BE49-F238E27FC236}">
                        <a16:creationId xmlns:a16="http://schemas.microsoft.com/office/drawing/2014/main" id="{4D29B046-5CDC-22B6-5139-822EF2D4EA0E}"/>
                      </a:ext>
                    </a:extLst>
                  </p:cNvPr>
                  <p:cNvPicPr>
                    <a:picLocks noChangeAspect="1"/>
                  </p:cNvPicPr>
                  <p:nvPr/>
                </p:nvPicPr>
                <p:blipFill>
                  <a:blip r:embed="rId34"/>
                  <a:stretch>
                    <a:fillRect/>
                  </a:stretch>
                </p:blipFill>
                <p:spPr>
                  <a:xfrm>
                    <a:off x="4793689" y="5641363"/>
                    <a:ext cx="288000" cy="288000"/>
                  </a:xfrm>
                  <a:prstGeom prst="rect">
                    <a:avLst/>
                  </a:prstGeom>
                </p:spPr>
              </p:pic>
              <p:sp>
                <p:nvSpPr>
                  <p:cNvPr id="1060" name="CasellaDiTesto 1059">
                    <a:extLst>
                      <a:ext uri="{FF2B5EF4-FFF2-40B4-BE49-F238E27FC236}">
                        <a16:creationId xmlns:a16="http://schemas.microsoft.com/office/drawing/2014/main" id="{BA77E48C-7EFE-CE09-FCBF-84A9688A83A9}"/>
                      </a:ext>
                    </a:extLst>
                  </p:cNvPr>
                  <p:cNvSpPr txBox="1">
                    <a:spLocks/>
                  </p:cNvSpPr>
                  <p:nvPr/>
                </p:nvSpPr>
                <p:spPr>
                  <a:xfrm>
                    <a:off x="5114352" y="5682763"/>
                    <a:ext cx="1019135" cy="205200"/>
                  </a:xfrm>
                  <a:prstGeom prst="rect">
                    <a:avLst/>
                  </a:prstGeom>
                  <a:noFill/>
                </p:spPr>
                <p:txBody>
                  <a:bodyPr wrap="none" lIns="36000" tIns="36000" rIns="36000" bIns="36000" rtlCol="0">
                    <a:spAutoFit/>
                  </a:bodyPr>
                  <a:lstStyle/>
                  <a:p>
                    <a:r>
                      <a:rPr lang="it-IT" sz="850" dirty="0">
                        <a:solidFill>
                          <a:srgbClr val="0B7F7A"/>
                        </a:solidFill>
                      </a:rPr>
                      <a:t>Anomalie &amp; alert</a:t>
                    </a:r>
                    <a:endParaRPr lang="en-US" sz="850" dirty="0">
                      <a:solidFill>
                        <a:srgbClr val="0B7F7A"/>
                      </a:solidFill>
                    </a:endParaRPr>
                  </a:p>
                </p:txBody>
              </p:sp>
            </p:grpSp>
            <p:grpSp>
              <p:nvGrpSpPr>
                <p:cNvPr id="1098" name="Gruppo 1097">
                  <a:extLst>
                    <a:ext uri="{FF2B5EF4-FFF2-40B4-BE49-F238E27FC236}">
                      <a16:creationId xmlns:a16="http://schemas.microsoft.com/office/drawing/2014/main" id="{AC84E6B3-22BB-B4DC-D04C-A56BF90EC11A}"/>
                    </a:ext>
                  </a:extLst>
                </p:cNvPr>
                <p:cNvGrpSpPr/>
                <p:nvPr/>
              </p:nvGrpSpPr>
              <p:grpSpPr>
                <a:xfrm>
                  <a:off x="6405994" y="5641363"/>
                  <a:ext cx="1093879" cy="288000"/>
                  <a:chOff x="6162968" y="5641363"/>
                  <a:chExt cx="1093879" cy="288000"/>
                </a:xfrm>
              </p:grpSpPr>
              <p:pic>
                <p:nvPicPr>
                  <p:cNvPr id="1054" name="Immagine 1053">
                    <a:extLst>
                      <a:ext uri="{FF2B5EF4-FFF2-40B4-BE49-F238E27FC236}">
                        <a16:creationId xmlns:a16="http://schemas.microsoft.com/office/drawing/2014/main" id="{B60FAE77-57A9-7A24-8824-85B64FB06902}"/>
                      </a:ext>
                    </a:extLst>
                  </p:cNvPr>
                  <p:cNvPicPr>
                    <a:picLocks noChangeAspect="1"/>
                  </p:cNvPicPr>
                  <p:nvPr/>
                </p:nvPicPr>
                <p:blipFill>
                  <a:blip r:embed="rId35"/>
                  <a:stretch>
                    <a:fillRect/>
                  </a:stretch>
                </p:blipFill>
                <p:spPr>
                  <a:xfrm>
                    <a:off x="6162968" y="5641363"/>
                    <a:ext cx="288000" cy="288000"/>
                  </a:xfrm>
                  <a:prstGeom prst="rect">
                    <a:avLst/>
                  </a:prstGeom>
                </p:spPr>
              </p:pic>
              <p:sp>
                <p:nvSpPr>
                  <p:cNvPr id="1061" name="CasellaDiTesto 1060">
                    <a:extLst>
                      <a:ext uri="{FF2B5EF4-FFF2-40B4-BE49-F238E27FC236}">
                        <a16:creationId xmlns:a16="http://schemas.microsoft.com/office/drawing/2014/main" id="{830868FE-23AB-E376-60EE-716C02B2DDA7}"/>
                      </a:ext>
                    </a:extLst>
                  </p:cNvPr>
                  <p:cNvSpPr txBox="1">
                    <a:spLocks/>
                  </p:cNvSpPr>
                  <p:nvPr/>
                </p:nvSpPr>
                <p:spPr>
                  <a:xfrm>
                    <a:off x="6483631" y="5683609"/>
                    <a:ext cx="773216" cy="203508"/>
                  </a:xfrm>
                  <a:prstGeom prst="rect">
                    <a:avLst/>
                  </a:prstGeom>
                  <a:noFill/>
                </p:spPr>
                <p:txBody>
                  <a:bodyPr wrap="none" lIns="36000" tIns="36000" rIns="36000" bIns="36000" rtlCol="0">
                    <a:spAutoFit/>
                  </a:bodyPr>
                  <a:lstStyle/>
                  <a:p>
                    <a:r>
                      <a:rPr lang="it-IT" sz="850" dirty="0">
                        <a:solidFill>
                          <a:srgbClr val="0B7F7A"/>
                        </a:solidFill>
                      </a:rPr>
                      <a:t>Data </a:t>
                    </a:r>
                    <a:r>
                      <a:rPr lang="en-US" sz="850" noProof="0" dirty="0">
                        <a:solidFill>
                          <a:srgbClr val="0B7F7A"/>
                        </a:solidFill>
                      </a:rPr>
                      <a:t>lineage</a:t>
                    </a:r>
                    <a:endParaRPr lang="en-US" sz="850" dirty="0">
                      <a:solidFill>
                        <a:srgbClr val="0B7F7A"/>
                      </a:solidFill>
                    </a:endParaRPr>
                  </a:p>
                </p:txBody>
              </p:sp>
            </p:grpSp>
            <p:grpSp>
              <p:nvGrpSpPr>
                <p:cNvPr id="1099" name="Gruppo 1098">
                  <a:extLst>
                    <a:ext uri="{FF2B5EF4-FFF2-40B4-BE49-F238E27FC236}">
                      <a16:creationId xmlns:a16="http://schemas.microsoft.com/office/drawing/2014/main" id="{90A0CA54-07C3-882C-888E-147ED2FFDDDA}"/>
                    </a:ext>
                  </a:extLst>
                </p:cNvPr>
                <p:cNvGrpSpPr/>
                <p:nvPr/>
              </p:nvGrpSpPr>
              <p:grpSpPr>
                <a:xfrm>
                  <a:off x="7833059" y="5641363"/>
                  <a:ext cx="871058" cy="288000"/>
                  <a:chOff x="7532249" y="5641363"/>
                  <a:chExt cx="871058" cy="288000"/>
                </a:xfrm>
              </p:grpSpPr>
              <p:pic>
                <p:nvPicPr>
                  <p:cNvPr id="1056" name="Immagine 1055">
                    <a:extLst>
                      <a:ext uri="{FF2B5EF4-FFF2-40B4-BE49-F238E27FC236}">
                        <a16:creationId xmlns:a16="http://schemas.microsoft.com/office/drawing/2014/main" id="{E42E03C9-3B01-8600-32AD-998FF3E81218}"/>
                      </a:ext>
                    </a:extLst>
                  </p:cNvPr>
                  <p:cNvPicPr>
                    <a:picLocks noChangeAspect="1"/>
                  </p:cNvPicPr>
                  <p:nvPr/>
                </p:nvPicPr>
                <p:blipFill>
                  <a:blip r:embed="rId36"/>
                  <a:stretch>
                    <a:fillRect/>
                  </a:stretch>
                </p:blipFill>
                <p:spPr>
                  <a:xfrm>
                    <a:off x="7532249" y="5641363"/>
                    <a:ext cx="288000" cy="288000"/>
                  </a:xfrm>
                  <a:prstGeom prst="rect">
                    <a:avLst/>
                  </a:prstGeom>
                </p:spPr>
              </p:pic>
              <p:sp>
                <p:nvSpPr>
                  <p:cNvPr id="1069" name="CasellaDiTesto 1068">
                    <a:extLst>
                      <a:ext uri="{FF2B5EF4-FFF2-40B4-BE49-F238E27FC236}">
                        <a16:creationId xmlns:a16="http://schemas.microsoft.com/office/drawing/2014/main" id="{9949907A-E7E6-1FCD-73DE-25993040DF87}"/>
                      </a:ext>
                    </a:extLst>
                  </p:cNvPr>
                  <p:cNvSpPr txBox="1">
                    <a:spLocks/>
                  </p:cNvSpPr>
                  <p:nvPr/>
                </p:nvSpPr>
                <p:spPr>
                  <a:xfrm>
                    <a:off x="7852909" y="5683609"/>
                    <a:ext cx="550398" cy="203508"/>
                  </a:xfrm>
                  <a:prstGeom prst="rect">
                    <a:avLst/>
                  </a:prstGeom>
                  <a:noFill/>
                </p:spPr>
                <p:txBody>
                  <a:bodyPr wrap="none" lIns="36000" tIns="36000" rIns="36000" bIns="36000" rtlCol="0">
                    <a:spAutoFit/>
                  </a:bodyPr>
                  <a:lstStyle/>
                  <a:p>
                    <a:r>
                      <a:rPr lang="en-US" sz="850" noProof="0" dirty="0">
                        <a:solidFill>
                          <a:srgbClr val="0B7F7A"/>
                        </a:solidFill>
                      </a:rPr>
                      <a:t>Runbook</a:t>
                    </a:r>
                  </a:p>
                </p:txBody>
              </p:sp>
            </p:grpSp>
          </p:grpSp>
        </p:grpSp>
        <p:cxnSp>
          <p:nvCxnSpPr>
            <p:cNvPr id="1143" name="Connettore diritto 1142">
              <a:extLst>
                <a:ext uri="{FF2B5EF4-FFF2-40B4-BE49-F238E27FC236}">
                  <a16:creationId xmlns:a16="http://schemas.microsoft.com/office/drawing/2014/main" id="{2F8EE2BB-A66D-51CD-1C77-ADB68A5D5DB2}"/>
                </a:ext>
              </a:extLst>
            </p:cNvPr>
            <p:cNvCxnSpPr>
              <a:stCxn id="64" idx="2"/>
            </p:cNvCxnSpPr>
            <p:nvPr/>
          </p:nvCxnSpPr>
          <p:spPr>
            <a:xfrm flipH="1">
              <a:off x="1136073" y="4713509"/>
              <a:ext cx="0" cy="335097"/>
            </a:xfrm>
            <a:prstGeom prst="line">
              <a:avLst/>
            </a:prstGeom>
            <a:ln>
              <a:solidFill>
                <a:srgbClr val="B1E1DF"/>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145" name="Connettore diritto 1144">
              <a:extLst>
                <a:ext uri="{FF2B5EF4-FFF2-40B4-BE49-F238E27FC236}">
                  <a16:creationId xmlns:a16="http://schemas.microsoft.com/office/drawing/2014/main" id="{5DAF667F-A4EB-0724-F593-179C83550833}"/>
                </a:ext>
              </a:extLst>
            </p:cNvPr>
            <p:cNvCxnSpPr>
              <a:stCxn id="109" idx="2"/>
            </p:cNvCxnSpPr>
            <p:nvPr/>
          </p:nvCxnSpPr>
          <p:spPr>
            <a:xfrm flipH="1">
              <a:off x="2752436" y="4713509"/>
              <a:ext cx="0" cy="335097"/>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148" name="Connettore diritto 1147">
              <a:extLst>
                <a:ext uri="{FF2B5EF4-FFF2-40B4-BE49-F238E27FC236}">
                  <a16:creationId xmlns:a16="http://schemas.microsoft.com/office/drawing/2014/main" id="{10073830-3EDE-150E-C0D3-84D1CFE6A34A}"/>
                </a:ext>
              </a:extLst>
            </p:cNvPr>
            <p:cNvCxnSpPr>
              <a:stCxn id="143" idx="2"/>
            </p:cNvCxnSpPr>
            <p:nvPr/>
          </p:nvCxnSpPr>
          <p:spPr>
            <a:xfrm flipH="1">
              <a:off x="4664364" y="4720577"/>
              <a:ext cx="0" cy="352103"/>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1137" name="CasellaDiTesto 1136">
              <a:extLst>
                <a:ext uri="{FF2B5EF4-FFF2-40B4-BE49-F238E27FC236}">
                  <a16:creationId xmlns:a16="http://schemas.microsoft.com/office/drawing/2014/main" id="{F8E6BAD4-1B2C-4B07-7183-E7F07D8B895D}"/>
                </a:ext>
              </a:extLst>
            </p:cNvPr>
            <p:cNvSpPr txBox="1"/>
            <p:nvPr/>
          </p:nvSpPr>
          <p:spPr>
            <a:xfrm>
              <a:off x="3737562" y="4967815"/>
              <a:ext cx="2082771" cy="161583"/>
            </a:xfrm>
            <a:prstGeom prst="rect">
              <a:avLst/>
            </a:prstGeom>
            <a:solidFill>
              <a:schemeClr val="bg1"/>
            </a:solidFill>
          </p:spPr>
          <p:txBody>
            <a:bodyPr wrap="none" lIns="90000" tIns="0" bIns="0" rtlCol="0" anchor="ctr" anchorCtr="0">
              <a:spAutoFit/>
            </a:bodyPr>
            <a:lstStyle/>
            <a:p>
              <a:pPr algn="ctr"/>
              <a:r>
                <a:rPr lang="it-IT" sz="1050" b="1" dirty="0">
                  <a:solidFill>
                    <a:srgbClr val="0B7F7A"/>
                  </a:solidFill>
                </a:rPr>
                <a:t>GOVERNANCE TRASVERSALE</a:t>
              </a:r>
              <a:endParaRPr lang="en-US" sz="1050" b="1" dirty="0">
                <a:solidFill>
                  <a:srgbClr val="0B7F7A"/>
                </a:solidFill>
              </a:endParaRPr>
            </a:p>
          </p:txBody>
        </p:sp>
        <p:cxnSp>
          <p:nvCxnSpPr>
            <p:cNvPr id="1150" name="Connettore diritto 1149">
              <a:extLst>
                <a:ext uri="{FF2B5EF4-FFF2-40B4-BE49-F238E27FC236}">
                  <a16:creationId xmlns:a16="http://schemas.microsoft.com/office/drawing/2014/main" id="{C2F3E377-81A9-4E87-9BED-4CE2C18E128F}"/>
                </a:ext>
              </a:extLst>
            </p:cNvPr>
            <p:cNvCxnSpPr>
              <a:stCxn id="171" idx="2"/>
            </p:cNvCxnSpPr>
            <p:nvPr/>
          </p:nvCxnSpPr>
          <p:spPr>
            <a:xfrm flipH="1">
              <a:off x="6465455" y="4720577"/>
              <a:ext cx="6008"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152" name="Connettore diritto 1151">
              <a:extLst>
                <a:ext uri="{FF2B5EF4-FFF2-40B4-BE49-F238E27FC236}">
                  <a16:creationId xmlns:a16="http://schemas.microsoft.com/office/drawing/2014/main" id="{039F6BE6-5A81-476A-CD92-6DBF6550974C}"/>
                </a:ext>
              </a:extLst>
            </p:cNvPr>
            <p:cNvCxnSpPr>
              <a:stCxn id="185" idx="2"/>
            </p:cNvCxnSpPr>
            <p:nvPr/>
          </p:nvCxnSpPr>
          <p:spPr>
            <a:xfrm flipH="1">
              <a:off x="8211127" y="4720577"/>
              <a:ext cx="2821"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961468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88BBC-FB3E-389B-4185-BF2EB5F006E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5BFDFFF-38D6-9045-54E1-8FE0684323EC}"/>
              </a:ext>
            </a:extLst>
          </p:cNvPr>
          <p:cNvSpPr>
            <a:spLocks noGrp="1"/>
          </p:cNvSpPr>
          <p:nvPr>
            <p:ph type="title"/>
          </p:nvPr>
        </p:nvSpPr>
        <p:spPr>
          <a:xfrm>
            <a:off x="1692000" y="180000"/>
            <a:ext cx="9613900" cy="343940"/>
          </a:xfrm>
        </p:spPr>
        <p:txBody>
          <a:bodyPr/>
          <a:lstStyle/>
          <a:p>
            <a:r>
              <a:rPr lang="it-IT" dirty="0"/>
              <a:t>Data pipeline | </a:t>
            </a:r>
            <a:r>
              <a:rPr lang="it-IT" dirty="0">
                <a:solidFill>
                  <a:schemeClr val="tx1"/>
                </a:solidFill>
                <a:ea typeface="+mn-ea"/>
                <a:cs typeface="+mn-cs"/>
              </a:rPr>
              <a:t>Implementazione Qlik</a:t>
            </a:r>
          </a:p>
        </p:txBody>
      </p:sp>
      <p:grpSp>
        <p:nvGrpSpPr>
          <p:cNvPr id="3" name="Gruppo 2">
            <a:extLst>
              <a:ext uri="{FF2B5EF4-FFF2-40B4-BE49-F238E27FC236}">
                <a16:creationId xmlns:a16="http://schemas.microsoft.com/office/drawing/2014/main" id="{6791798C-0B22-1479-5A52-B8F745DFA197}"/>
              </a:ext>
            </a:extLst>
          </p:cNvPr>
          <p:cNvGrpSpPr/>
          <p:nvPr/>
        </p:nvGrpSpPr>
        <p:grpSpPr>
          <a:xfrm>
            <a:off x="487717" y="1266408"/>
            <a:ext cx="11216567" cy="4325185"/>
            <a:chOff x="515493" y="898133"/>
            <a:chExt cx="11216567" cy="4325185"/>
          </a:xfrm>
        </p:grpSpPr>
        <p:grpSp>
          <p:nvGrpSpPr>
            <p:cNvPr id="88" name="Gruppo 87">
              <a:extLst>
                <a:ext uri="{FF2B5EF4-FFF2-40B4-BE49-F238E27FC236}">
                  <a16:creationId xmlns:a16="http://schemas.microsoft.com/office/drawing/2014/main" id="{16E8670B-A941-13D0-7C67-2C3069CB2873}"/>
                </a:ext>
              </a:extLst>
            </p:cNvPr>
            <p:cNvGrpSpPr>
              <a:grpSpLocks/>
            </p:cNvGrpSpPr>
            <p:nvPr/>
          </p:nvGrpSpPr>
          <p:grpSpPr>
            <a:xfrm>
              <a:off x="515493" y="898133"/>
              <a:ext cx="8652256" cy="439616"/>
              <a:chOff x="515493" y="898133"/>
              <a:chExt cx="8652256" cy="439616"/>
            </a:xfrm>
          </p:grpSpPr>
          <p:sp>
            <p:nvSpPr>
              <p:cNvPr id="8" name="Freccia a gallone 7">
                <a:extLst>
                  <a:ext uri="{FF2B5EF4-FFF2-40B4-BE49-F238E27FC236}">
                    <a16:creationId xmlns:a16="http://schemas.microsoft.com/office/drawing/2014/main" id="{C800B293-4E53-7E4E-61DE-328A86473E9E}"/>
                  </a:ext>
                </a:extLst>
              </p:cNvPr>
              <p:cNvSpPr>
                <a:spLocks/>
              </p:cNvSpPr>
              <p:nvPr/>
            </p:nvSpPr>
            <p:spPr>
              <a:xfrm>
                <a:off x="5645499" y="898134"/>
                <a:ext cx="1765553" cy="439615"/>
              </a:xfrm>
              <a:prstGeom prst="chevron">
                <a:avLst>
                  <a:gd name="adj" fmla="val 27813"/>
                </a:avLst>
              </a:prstGeom>
              <a:solidFill>
                <a:srgbClr val="DBEC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4. STORAGE</a:t>
                </a:r>
                <a:endParaRPr lang="en-US" sz="900" b="1" dirty="0">
                  <a:solidFill>
                    <a:srgbClr val="054939"/>
                  </a:solidFill>
                </a:endParaRPr>
              </a:p>
            </p:txBody>
          </p:sp>
          <p:sp>
            <p:nvSpPr>
              <p:cNvPr id="9" name="Freccia a gallone 8">
                <a:extLst>
                  <a:ext uri="{FF2B5EF4-FFF2-40B4-BE49-F238E27FC236}">
                    <a16:creationId xmlns:a16="http://schemas.microsoft.com/office/drawing/2014/main" id="{B535DB0B-EE80-C9CC-1D65-253F51C1E5E3}"/>
                  </a:ext>
                </a:extLst>
              </p:cNvPr>
              <p:cNvSpPr>
                <a:spLocks/>
              </p:cNvSpPr>
              <p:nvPr/>
            </p:nvSpPr>
            <p:spPr>
              <a:xfrm>
                <a:off x="7369428" y="898134"/>
                <a:ext cx="1798321" cy="439615"/>
              </a:xfrm>
              <a:prstGeom prst="chevron">
                <a:avLst>
                  <a:gd name="adj" fmla="val 27813"/>
                </a:avLst>
              </a:prstGeom>
              <a:solidFill>
                <a:srgbClr val="DFE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5. PRESENTAZIONE</a:t>
                </a:r>
                <a:endParaRPr lang="en-US" sz="900" b="1" dirty="0">
                  <a:solidFill>
                    <a:srgbClr val="054939"/>
                  </a:solidFill>
                </a:endParaRPr>
              </a:p>
            </p:txBody>
          </p:sp>
          <p:sp>
            <p:nvSpPr>
              <p:cNvPr id="6" name="Freccia a gallone 5">
                <a:extLst>
                  <a:ext uri="{FF2B5EF4-FFF2-40B4-BE49-F238E27FC236}">
                    <a16:creationId xmlns:a16="http://schemas.microsoft.com/office/drawing/2014/main" id="{6713C4D5-1CB4-8CC6-FDB3-D87D20AE0503}"/>
                  </a:ext>
                </a:extLst>
              </p:cNvPr>
              <p:cNvSpPr>
                <a:spLocks/>
              </p:cNvSpPr>
              <p:nvPr/>
            </p:nvSpPr>
            <p:spPr>
              <a:xfrm>
                <a:off x="3723605" y="898134"/>
                <a:ext cx="1963517" cy="439615"/>
              </a:xfrm>
              <a:prstGeom prst="chevron">
                <a:avLst>
                  <a:gd name="adj" fmla="val 27813"/>
                </a:avLst>
              </a:prstGeom>
              <a:solidFill>
                <a:srgbClr val="DDE9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10387E"/>
                    </a:solidFill>
                  </a:rPr>
                  <a:t>3. TRASFORMAZIONI</a:t>
                </a:r>
              </a:p>
            </p:txBody>
          </p:sp>
          <p:sp>
            <p:nvSpPr>
              <p:cNvPr id="4" name="Freccia a gallone 3">
                <a:extLst>
                  <a:ext uri="{FF2B5EF4-FFF2-40B4-BE49-F238E27FC236}">
                    <a16:creationId xmlns:a16="http://schemas.microsoft.com/office/drawing/2014/main" id="{C7279BA3-E91D-30BD-C6DD-A9C9A2385433}"/>
                  </a:ext>
                </a:extLst>
              </p:cNvPr>
              <p:cNvSpPr>
                <a:spLocks/>
              </p:cNvSpPr>
              <p:nvPr/>
            </p:nvSpPr>
            <p:spPr>
              <a:xfrm>
                <a:off x="1854380" y="898134"/>
                <a:ext cx="1910848" cy="439615"/>
              </a:xfrm>
              <a:prstGeom prst="chevron">
                <a:avLst>
                  <a:gd name="adj" fmla="val 27813"/>
                </a:avLst>
              </a:prstGeom>
              <a:solidFill>
                <a:srgbClr val="E1ED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10387E"/>
                    </a:solidFill>
                  </a:rPr>
                  <a:t>2. INGESTIONE</a:t>
                </a:r>
                <a:endParaRPr lang="en-US" sz="1000" dirty="0">
                  <a:solidFill>
                    <a:srgbClr val="10387E"/>
                  </a:solidFill>
                </a:endParaRPr>
              </a:p>
            </p:txBody>
          </p:sp>
          <p:sp>
            <p:nvSpPr>
              <p:cNvPr id="2" name="Freccia a pentagono 1">
                <a:extLst>
                  <a:ext uri="{FF2B5EF4-FFF2-40B4-BE49-F238E27FC236}">
                    <a16:creationId xmlns:a16="http://schemas.microsoft.com/office/drawing/2014/main" id="{167C4E7E-74D1-8AF3-6BF3-EB3F73061357}"/>
                  </a:ext>
                </a:extLst>
              </p:cNvPr>
              <p:cNvSpPr>
                <a:spLocks/>
              </p:cNvSpPr>
              <p:nvPr/>
            </p:nvSpPr>
            <p:spPr>
              <a:xfrm>
                <a:off x="515493" y="898133"/>
                <a:ext cx="1380510" cy="439616"/>
              </a:xfrm>
              <a:prstGeom prst="homePlate">
                <a:avLst>
                  <a:gd name="adj" fmla="val 30587"/>
                </a:avLst>
              </a:prstGeom>
              <a:solidFill>
                <a:srgbClr val="E0F1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1. FONTI</a:t>
                </a:r>
                <a:endParaRPr lang="en-US" sz="1100" b="1" dirty="0">
                  <a:solidFill>
                    <a:srgbClr val="054939"/>
                  </a:solidFill>
                </a:endParaRPr>
              </a:p>
            </p:txBody>
          </p:sp>
        </p:grpSp>
        <p:grpSp>
          <p:nvGrpSpPr>
            <p:cNvPr id="90" name="Gruppo 89">
              <a:extLst>
                <a:ext uri="{FF2B5EF4-FFF2-40B4-BE49-F238E27FC236}">
                  <a16:creationId xmlns:a16="http://schemas.microsoft.com/office/drawing/2014/main" id="{4E240107-9708-B902-9BA3-C87D71513D67}"/>
                </a:ext>
              </a:extLst>
            </p:cNvPr>
            <p:cNvGrpSpPr>
              <a:grpSpLocks/>
            </p:cNvGrpSpPr>
            <p:nvPr/>
          </p:nvGrpSpPr>
          <p:grpSpPr>
            <a:xfrm>
              <a:off x="515493" y="1479386"/>
              <a:ext cx="1257066" cy="3108777"/>
              <a:chOff x="515493" y="1479386"/>
              <a:chExt cx="1257066" cy="3108777"/>
            </a:xfrm>
          </p:grpSpPr>
          <p:grpSp>
            <p:nvGrpSpPr>
              <p:cNvPr id="1079" name="Gruppo 1078">
                <a:extLst>
                  <a:ext uri="{FF2B5EF4-FFF2-40B4-BE49-F238E27FC236}">
                    <a16:creationId xmlns:a16="http://schemas.microsoft.com/office/drawing/2014/main" id="{4679EAEE-65F8-BB49-FDF4-B3E7D9796D02}"/>
                  </a:ext>
                </a:extLst>
              </p:cNvPr>
              <p:cNvGrpSpPr>
                <a:grpSpLocks/>
              </p:cNvGrpSpPr>
              <p:nvPr/>
            </p:nvGrpSpPr>
            <p:grpSpPr>
              <a:xfrm>
                <a:off x="515493" y="1479386"/>
                <a:ext cx="1257066" cy="2773680"/>
                <a:chOff x="533634" y="2539944"/>
                <a:chExt cx="1257066" cy="2773680"/>
              </a:xfrm>
            </p:grpSpPr>
            <p:sp>
              <p:nvSpPr>
                <p:cNvPr id="64" name="Rettangolo con angoli arrotondati 63">
                  <a:extLst>
                    <a:ext uri="{FF2B5EF4-FFF2-40B4-BE49-F238E27FC236}">
                      <a16:creationId xmlns:a16="http://schemas.microsoft.com/office/drawing/2014/main" id="{4CCD624E-E658-B839-7D38-4A54423669E6}"/>
                    </a:ext>
                  </a:extLst>
                </p:cNvPr>
                <p:cNvSpPr>
                  <a:spLocks/>
                </p:cNvSpPr>
                <p:nvPr/>
              </p:nvSpPr>
              <p:spPr>
                <a:xfrm>
                  <a:off x="533634" y="2539944"/>
                  <a:ext cx="1257066" cy="2773680"/>
                </a:xfrm>
                <a:prstGeom prst="roundRect">
                  <a:avLst>
                    <a:gd name="adj" fmla="val 4544"/>
                  </a:avLst>
                </a:prstGeom>
                <a:noFill/>
                <a:ln>
                  <a:solidFill>
                    <a:srgbClr val="B1E1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 name="Immagine 80">
                  <a:extLst>
                    <a:ext uri="{FF2B5EF4-FFF2-40B4-BE49-F238E27FC236}">
                      <a16:creationId xmlns:a16="http://schemas.microsoft.com/office/drawing/2014/main" id="{CA5E0BC7-9B60-005A-535E-6776AA3EA7A2}"/>
                    </a:ext>
                  </a:extLst>
                </p:cNvPr>
                <p:cNvPicPr>
                  <a:picLocks noChangeAspect="1"/>
                </p:cNvPicPr>
                <p:nvPr/>
              </p:nvPicPr>
              <p:blipFill>
                <a:blip r:embed="rId4"/>
                <a:stretch>
                  <a:fillRect/>
                </a:stretch>
              </p:blipFill>
              <p:spPr>
                <a:xfrm>
                  <a:off x="648358" y="2793049"/>
                  <a:ext cx="144000" cy="144000"/>
                </a:xfrm>
                <a:prstGeom prst="rect">
                  <a:avLst/>
                </a:prstGeom>
              </p:spPr>
            </p:pic>
            <p:pic>
              <p:nvPicPr>
                <p:cNvPr id="89" name="Immagine 88">
                  <a:extLst>
                    <a:ext uri="{FF2B5EF4-FFF2-40B4-BE49-F238E27FC236}">
                      <a16:creationId xmlns:a16="http://schemas.microsoft.com/office/drawing/2014/main" id="{A42E8E59-1ACA-3354-238C-7806FFDDDD59}"/>
                    </a:ext>
                  </a:extLst>
                </p:cNvPr>
                <p:cNvPicPr>
                  <a:picLocks noChangeAspect="1"/>
                </p:cNvPicPr>
                <p:nvPr/>
              </p:nvPicPr>
              <p:blipFill>
                <a:blip r:embed="rId5"/>
                <a:stretch>
                  <a:fillRect/>
                </a:stretch>
              </p:blipFill>
              <p:spPr>
                <a:xfrm>
                  <a:off x="648358" y="3739795"/>
                  <a:ext cx="144000" cy="144000"/>
                </a:xfrm>
                <a:prstGeom prst="rect">
                  <a:avLst/>
                </a:prstGeom>
              </p:spPr>
            </p:pic>
            <p:pic>
              <p:nvPicPr>
                <p:cNvPr id="93" name="Immagine 92">
                  <a:extLst>
                    <a:ext uri="{FF2B5EF4-FFF2-40B4-BE49-F238E27FC236}">
                      <a16:creationId xmlns:a16="http://schemas.microsoft.com/office/drawing/2014/main" id="{2416E8E0-06B3-229F-87F6-B374C0C01F13}"/>
                    </a:ext>
                  </a:extLst>
                </p:cNvPr>
                <p:cNvPicPr>
                  <a:picLocks noChangeAspect="1"/>
                </p:cNvPicPr>
                <p:nvPr/>
              </p:nvPicPr>
              <p:blipFill>
                <a:blip r:embed="rId6"/>
                <a:stretch>
                  <a:fillRect/>
                </a:stretch>
              </p:blipFill>
              <p:spPr>
                <a:xfrm>
                  <a:off x="648358" y="3275609"/>
                  <a:ext cx="144000" cy="144000"/>
                </a:xfrm>
                <a:prstGeom prst="rect">
                  <a:avLst/>
                </a:prstGeom>
              </p:spPr>
            </p:pic>
            <p:pic>
              <p:nvPicPr>
                <p:cNvPr id="97" name="Immagine 96">
                  <a:extLst>
                    <a:ext uri="{FF2B5EF4-FFF2-40B4-BE49-F238E27FC236}">
                      <a16:creationId xmlns:a16="http://schemas.microsoft.com/office/drawing/2014/main" id="{6C2CE03C-806B-234E-DCEA-09112CC5C89C}"/>
                    </a:ext>
                  </a:extLst>
                </p:cNvPr>
                <p:cNvPicPr>
                  <a:picLocks noChangeAspect="1"/>
                </p:cNvPicPr>
                <p:nvPr/>
              </p:nvPicPr>
              <p:blipFill>
                <a:blip r:embed="rId7"/>
                <a:stretch>
                  <a:fillRect/>
                </a:stretch>
              </p:blipFill>
              <p:spPr>
                <a:xfrm>
                  <a:off x="648358" y="4232933"/>
                  <a:ext cx="144000" cy="144000"/>
                </a:xfrm>
                <a:prstGeom prst="rect">
                  <a:avLst/>
                </a:prstGeom>
              </p:spPr>
            </p:pic>
            <p:sp>
              <p:nvSpPr>
                <p:cNvPr id="98" name="CasellaDiTesto 97">
                  <a:extLst>
                    <a:ext uri="{FF2B5EF4-FFF2-40B4-BE49-F238E27FC236}">
                      <a16:creationId xmlns:a16="http://schemas.microsoft.com/office/drawing/2014/main" id="{53E7DF7A-35B6-9B91-2063-D5A5C836CD26}"/>
                    </a:ext>
                  </a:extLst>
                </p:cNvPr>
                <p:cNvSpPr txBox="1">
                  <a:spLocks/>
                </p:cNvSpPr>
                <p:nvPr/>
              </p:nvSpPr>
              <p:spPr>
                <a:xfrm>
                  <a:off x="909290" y="2763295"/>
                  <a:ext cx="812607" cy="203508"/>
                </a:xfrm>
                <a:prstGeom prst="rect">
                  <a:avLst/>
                </a:prstGeom>
                <a:noFill/>
              </p:spPr>
              <p:txBody>
                <a:bodyPr wrap="square" lIns="36000" tIns="36000" rIns="36000" bIns="36000" rtlCol="0">
                  <a:spAutoFit/>
                </a:bodyPr>
                <a:lstStyle/>
                <a:p>
                  <a:r>
                    <a:rPr lang="it-IT" sz="850" dirty="0">
                      <a:solidFill>
                        <a:srgbClr val="0B7F7A"/>
                      </a:solidFill>
                    </a:rPr>
                    <a:t>File</a:t>
                  </a:r>
                  <a:endParaRPr lang="en-US" sz="850" dirty="0">
                    <a:solidFill>
                      <a:srgbClr val="0B7F7A"/>
                    </a:solidFill>
                  </a:endParaRPr>
                </a:p>
              </p:txBody>
            </p:sp>
            <p:sp>
              <p:nvSpPr>
                <p:cNvPr id="99" name="CasellaDiTesto 98">
                  <a:extLst>
                    <a:ext uri="{FF2B5EF4-FFF2-40B4-BE49-F238E27FC236}">
                      <a16:creationId xmlns:a16="http://schemas.microsoft.com/office/drawing/2014/main" id="{B168A626-1B0D-E5DF-B01C-F25884FB040F}"/>
                    </a:ext>
                  </a:extLst>
                </p:cNvPr>
                <p:cNvSpPr txBox="1">
                  <a:spLocks/>
                </p:cNvSpPr>
                <p:nvPr/>
              </p:nvSpPr>
              <p:spPr>
                <a:xfrm>
                  <a:off x="909290" y="3247797"/>
                  <a:ext cx="812607" cy="203508"/>
                </a:xfrm>
                <a:prstGeom prst="rect">
                  <a:avLst/>
                </a:prstGeom>
                <a:noFill/>
              </p:spPr>
              <p:txBody>
                <a:bodyPr wrap="square" lIns="36000" tIns="36000" rIns="36000" bIns="36000" rtlCol="0">
                  <a:spAutoFit/>
                </a:bodyPr>
                <a:lstStyle/>
                <a:p>
                  <a:r>
                    <a:rPr lang="it-IT" sz="850" dirty="0">
                      <a:solidFill>
                        <a:srgbClr val="0B7F7A"/>
                      </a:solidFill>
                    </a:rPr>
                    <a:t>API</a:t>
                  </a:r>
                  <a:endParaRPr lang="en-US" sz="850" dirty="0">
                    <a:solidFill>
                      <a:srgbClr val="0B7F7A"/>
                    </a:solidFill>
                  </a:endParaRPr>
                </a:p>
              </p:txBody>
            </p:sp>
            <p:sp>
              <p:nvSpPr>
                <p:cNvPr id="100" name="CasellaDiTesto 99">
                  <a:extLst>
                    <a:ext uri="{FF2B5EF4-FFF2-40B4-BE49-F238E27FC236}">
                      <a16:creationId xmlns:a16="http://schemas.microsoft.com/office/drawing/2014/main" id="{334CF57B-EF12-F4D6-A5BF-5A768BC96AA9}"/>
                    </a:ext>
                  </a:extLst>
                </p:cNvPr>
                <p:cNvSpPr txBox="1">
                  <a:spLocks/>
                </p:cNvSpPr>
                <p:nvPr/>
              </p:nvSpPr>
              <p:spPr>
                <a:xfrm>
                  <a:off x="909290" y="3710041"/>
                  <a:ext cx="812607" cy="203508"/>
                </a:xfrm>
                <a:prstGeom prst="rect">
                  <a:avLst/>
                </a:prstGeom>
                <a:noFill/>
              </p:spPr>
              <p:txBody>
                <a:bodyPr wrap="square" lIns="36000" tIns="36000" rIns="36000" bIns="36000" rtlCol="0">
                  <a:spAutoFit/>
                </a:bodyPr>
                <a:lstStyle/>
                <a:p>
                  <a:r>
                    <a:rPr lang="it-IT" sz="850" dirty="0">
                      <a:solidFill>
                        <a:srgbClr val="0B7F7A"/>
                      </a:solidFill>
                    </a:rPr>
                    <a:t>Database</a:t>
                  </a:r>
                  <a:endParaRPr lang="en-US" sz="850" dirty="0">
                    <a:solidFill>
                      <a:srgbClr val="0B7F7A"/>
                    </a:solidFill>
                  </a:endParaRPr>
                </a:p>
              </p:txBody>
            </p:sp>
            <p:sp>
              <p:nvSpPr>
                <p:cNvPr id="101" name="CasellaDiTesto 100">
                  <a:extLst>
                    <a:ext uri="{FF2B5EF4-FFF2-40B4-BE49-F238E27FC236}">
                      <a16:creationId xmlns:a16="http://schemas.microsoft.com/office/drawing/2014/main" id="{7F063E35-C815-F43E-86EA-B9E800EB4764}"/>
                    </a:ext>
                  </a:extLst>
                </p:cNvPr>
                <p:cNvSpPr txBox="1">
                  <a:spLocks/>
                </p:cNvSpPr>
                <p:nvPr/>
              </p:nvSpPr>
              <p:spPr>
                <a:xfrm>
                  <a:off x="909290" y="4205121"/>
                  <a:ext cx="812607" cy="203508"/>
                </a:xfrm>
                <a:prstGeom prst="rect">
                  <a:avLst/>
                </a:prstGeom>
                <a:noFill/>
              </p:spPr>
              <p:txBody>
                <a:bodyPr wrap="square" lIns="36000" tIns="36000" rIns="36000" bIns="36000" rtlCol="0">
                  <a:spAutoFit/>
                </a:bodyPr>
                <a:lstStyle/>
                <a:p>
                  <a:r>
                    <a:rPr lang="it-IT" sz="850" dirty="0">
                      <a:solidFill>
                        <a:srgbClr val="0B7F7A"/>
                      </a:solidFill>
                    </a:rPr>
                    <a:t>Sistemi client</a:t>
                  </a:r>
                  <a:endParaRPr lang="en-US" sz="850" dirty="0">
                    <a:solidFill>
                      <a:srgbClr val="0B7F7A"/>
                    </a:solidFill>
                  </a:endParaRPr>
                </a:p>
              </p:txBody>
            </p:sp>
            <p:cxnSp>
              <p:nvCxnSpPr>
                <p:cNvPr id="1063" name="Connettore diritto 1062">
                  <a:extLst>
                    <a:ext uri="{FF2B5EF4-FFF2-40B4-BE49-F238E27FC236}">
                      <a16:creationId xmlns:a16="http://schemas.microsoft.com/office/drawing/2014/main" id="{E4903D51-F2A6-F446-A517-E9199BFBCDE3}"/>
                    </a:ext>
                  </a:extLst>
                </p:cNvPr>
                <p:cNvCxnSpPr>
                  <a:cxnSpLocks/>
                </p:cNvCxnSpPr>
                <p:nvPr/>
              </p:nvCxnSpPr>
              <p:spPr>
                <a:xfrm>
                  <a:off x="648358" y="4576200"/>
                  <a:ext cx="1004500" cy="0"/>
                </a:xfrm>
                <a:prstGeom prst="line">
                  <a:avLst/>
                </a:prstGeom>
                <a:ln>
                  <a:solidFill>
                    <a:srgbClr val="B1E1DF"/>
                  </a:solidFill>
                </a:ln>
              </p:spPr>
              <p:style>
                <a:lnRef idx="1">
                  <a:schemeClr val="accent1"/>
                </a:lnRef>
                <a:fillRef idx="0">
                  <a:schemeClr val="accent1"/>
                </a:fillRef>
                <a:effectRef idx="0">
                  <a:schemeClr val="accent1"/>
                </a:effectRef>
                <a:fontRef idx="minor">
                  <a:schemeClr val="tx1"/>
                </a:fontRef>
              </p:style>
            </p:cxnSp>
            <p:sp>
              <p:nvSpPr>
                <p:cNvPr id="1068" name="CasellaDiTesto 1067">
                  <a:extLst>
                    <a:ext uri="{FF2B5EF4-FFF2-40B4-BE49-F238E27FC236}">
                      <a16:creationId xmlns:a16="http://schemas.microsoft.com/office/drawing/2014/main" id="{A67FDDF3-0A94-F6CE-DFD3-924D0EF993FD}"/>
                    </a:ext>
                  </a:extLst>
                </p:cNvPr>
                <p:cNvSpPr txBox="1">
                  <a:spLocks/>
                </p:cNvSpPr>
                <p:nvPr/>
              </p:nvSpPr>
              <p:spPr>
                <a:xfrm>
                  <a:off x="600681" y="4650150"/>
                  <a:ext cx="1122973" cy="504000"/>
                </a:xfrm>
                <a:prstGeom prst="rect">
                  <a:avLst/>
                </a:prstGeom>
                <a:noFill/>
              </p:spPr>
              <p:txBody>
                <a:bodyPr wrap="square" rtlCol="0" anchor="ctr">
                  <a:noAutofit/>
                </a:bodyPr>
                <a:lstStyle/>
                <a:p>
                  <a:pPr algn="ctr"/>
                  <a:r>
                    <a:rPr lang="it-IT" sz="850" dirty="0">
                      <a:solidFill>
                        <a:srgbClr val="0B7F7A"/>
                      </a:solidFill>
                    </a:rPr>
                    <a:t>Dati grezzi da sistemi interni ed esterni</a:t>
                  </a:r>
                </a:p>
              </p:txBody>
            </p:sp>
          </p:grpSp>
          <p:cxnSp>
            <p:nvCxnSpPr>
              <p:cNvPr id="1143" name="Connettore diritto 1142">
                <a:extLst>
                  <a:ext uri="{FF2B5EF4-FFF2-40B4-BE49-F238E27FC236}">
                    <a16:creationId xmlns:a16="http://schemas.microsoft.com/office/drawing/2014/main" id="{58DB811D-333F-C496-AA5D-31349093A6B6}"/>
                  </a:ext>
                </a:extLst>
              </p:cNvPr>
              <p:cNvCxnSpPr>
                <a:cxnSpLocks/>
                <a:stCxn id="64" idx="2"/>
              </p:cNvCxnSpPr>
              <p:nvPr/>
            </p:nvCxnSpPr>
            <p:spPr>
              <a:xfrm flipH="1">
                <a:off x="1136073" y="4253066"/>
                <a:ext cx="0" cy="335097"/>
              </a:xfrm>
              <a:prstGeom prst="line">
                <a:avLst/>
              </a:prstGeom>
              <a:ln>
                <a:solidFill>
                  <a:srgbClr val="B1E1DF"/>
                </a:solidFill>
                <a:prstDash val="dash"/>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95" name="Gruppo 94">
              <a:extLst>
                <a:ext uri="{FF2B5EF4-FFF2-40B4-BE49-F238E27FC236}">
                  <a16:creationId xmlns:a16="http://schemas.microsoft.com/office/drawing/2014/main" id="{B2E76B23-0351-6331-8A22-2CAA1509F86A}"/>
                </a:ext>
              </a:extLst>
            </p:cNvPr>
            <p:cNvGrpSpPr>
              <a:grpSpLocks/>
            </p:cNvGrpSpPr>
            <p:nvPr/>
          </p:nvGrpSpPr>
          <p:grpSpPr>
            <a:xfrm>
              <a:off x="7372456" y="1486454"/>
              <a:ext cx="1669945" cy="3101709"/>
              <a:chOff x="7372456" y="1486454"/>
              <a:chExt cx="1669945" cy="3101709"/>
            </a:xfrm>
          </p:grpSpPr>
          <p:sp>
            <p:nvSpPr>
              <p:cNvPr id="185" name="Rettangolo con angoli arrotondati 184">
                <a:extLst>
                  <a:ext uri="{FF2B5EF4-FFF2-40B4-BE49-F238E27FC236}">
                    <a16:creationId xmlns:a16="http://schemas.microsoft.com/office/drawing/2014/main" id="{314A86E5-6C48-D1EB-231F-DAFDF614176B}"/>
                  </a:ext>
                </a:extLst>
              </p:cNvPr>
              <p:cNvSpPr>
                <a:spLocks/>
              </p:cNvSpPr>
              <p:nvPr/>
            </p:nvSpPr>
            <p:spPr>
              <a:xfrm>
                <a:off x="7385495" y="1486454"/>
                <a:ext cx="1656906" cy="2773680"/>
              </a:xfrm>
              <a:prstGeom prst="roundRect">
                <a:avLst>
                  <a:gd name="adj" fmla="val 2989"/>
                </a:avLst>
              </a:prstGeom>
              <a:noFill/>
              <a:ln>
                <a:solidFill>
                  <a:srgbClr val="DFEF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0" name="Immagine 189">
                <a:extLst>
                  <a:ext uri="{FF2B5EF4-FFF2-40B4-BE49-F238E27FC236}">
                    <a16:creationId xmlns:a16="http://schemas.microsoft.com/office/drawing/2014/main" id="{3048BBC4-8C24-F80B-CC0B-3054EDCBD553}"/>
                  </a:ext>
                </a:extLst>
              </p:cNvPr>
              <p:cNvPicPr>
                <a:picLocks noChangeAspect="1"/>
              </p:cNvPicPr>
              <p:nvPr/>
            </p:nvPicPr>
            <p:blipFill>
              <a:blip r:embed="rId8"/>
              <a:stretch>
                <a:fillRect/>
              </a:stretch>
            </p:blipFill>
            <p:spPr>
              <a:xfrm>
                <a:off x="7505485" y="2322377"/>
                <a:ext cx="144000" cy="144000"/>
              </a:xfrm>
              <a:prstGeom prst="rect">
                <a:avLst/>
              </a:prstGeom>
            </p:spPr>
          </p:pic>
          <p:pic>
            <p:nvPicPr>
              <p:cNvPr id="1033" name="Immagine 1032">
                <a:extLst>
                  <a:ext uri="{FF2B5EF4-FFF2-40B4-BE49-F238E27FC236}">
                    <a16:creationId xmlns:a16="http://schemas.microsoft.com/office/drawing/2014/main" id="{6E3A6E62-9D94-7535-F8CF-B76BB5AD9E99}"/>
                  </a:ext>
                </a:extLst>
              </p:cNvPr>
              <p:cNvPicPr>
                <a:picLocks noChangeAspect="1"/>
              </p:cNvPicPr>
              <p:nvPr/>
            </p:nvPicPr>
            <p:blipFill>
              <a:blip r:embed="rId4"/>
              <a:stretch>
                <a:fillRect/>
              </a:stretch>
            </p:blipFill>
            <p:spPr>
              <a:xfrm>
                <a:off x="7505485" y="3181906"/>
                <a:ext cx="144000" cy="144000"/>
              </a:xfrm>
              <a:prstGeom prst="rect">
                <a:avLst/>
              </a:prstGeom>
            </p:spPr>
          </p:pic>
          <p:pic>
            <p:nvPicPr>
              <p:cNvPr id="1037" name="Elemento grafico 1036">
                <a:extLst>
                  <a:ext uri="{FF2B5EF4-FFF2-40B4-BE49-F238E27FC236}">
                    <a16:creationId xmlns:a16="http://schemas.microsoft.com/office/drawing/2014/main" id="{5CA42C75-7151-8392-6163-63BFB028564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505485" y="2095652"/>
                <a:ext cx="144000" cy="144000"/>
              </a:xfrm>
              <a:prstGeom prst="rect">
                <a:avLst/>
              </a:prstGeom>
            </p:spPr>
          </p:pic>
          <p:sp>
            <p:nvSpPr>
              <p:cNvPr id="1038" name="CasellaDiTesto 1037">
                <a:extLst>
                  <a:ext uri="{FF2B5EF4-FFF2-40B4-BE49-F238E27FC236}">
                    <a16:creationId xmlns:a16="http://schemas.microsoft.com/office/drawing/2014/main" id="{45E68DDC-A04B-6B33-E369-842E629A27E3}"/>
                  </a:ext>
                </a:extLst>
              </p:cNvPr>
              <p:cNvSpPr txBox="1">
                <a:spLocks/>
              </p:cNvSpPr>
              <p:nvPr/>
            </p:nvSpPr>
            <p:spPr>
              <a:xfrm>
                <a:off x="7372456" y="3648797"/>
                <a:ext cx="1656906" cy="504000"/>
              </a:xfrm>
              <a:prstGeom prst="rect">
                <a:avLst/>
              </a:prstGeom>
              <a:noFill/>
            </p:spPr>
            <p:txBody>
              <a:bodyPr wrap="square" rtlCol="0" anchor="ctr" anchorCtr="0">
                <a:noAutofit/>
              </a:bodyPr>
              <a:lstStyle/>
              <a:p>
                <a:pPr algn="ctr"/>
                <a:r>
                  <a:rPr lang="it-IT" sz="850" dirty="0">
                    <a:solidFill>
                      <a:srgbClr val="0B7F7A"/>
                    </a:solidFill>
                  </a:rPr>
                  <a:t>Output immediato,</a:t>
                </a:r>
              </a:p>
              <a:p>
                <a:pPr algn="ctr"/>
                <a:r>
                  <a:rPr lang="it-IT" sz="850" dirty="0">
                    <a:solidFill>
                      <a:srgbClr val="0B7F7A"/>
                    </a:solidFill>
                  </a:rPr>
                  <a:t>interattivo e</a:t>
                </a:r>
              </a:p>
              <a:p>
                <a:pPr algn="ctr"/>
                <a:r>
                  <a:rPr lang="it-IT" sz="850" dirty="0">
                    <a:solidFill>
                      <a:srgbClr val="0B7F7A"/>
                    </a:solidFill>
                  </a:rPr>
                  <a:t>condivisibile</a:t>
                </a:r>
              </a:p>
            </p:txBody>
          </p:sp>
          <p:sp>
            <p:nvSpPr>
              <p:cNvPr id="1039" name="CasellaDiTesto 1038">
                <a:extLst>
                  <a:ext uri="{FF2B5EF4-FFF2-40B4-BE49-F238E27FC236}">
                    <a16:creationId xmlns:a16="http://schemas.microsoft.com/office/drawing/2014/main" id="{0CF54388-CBA4-4910-2518-7F3967BFC570}"/>
                  </a:ext>
                </a:extLst>
              </p:cNvPr>
              <p:cNvSpPr txBox="1">
                <a:spLocks/>
              </p:cNvSpPr>
              <p:nvPr/>
            </p:nvSpPr>
            <p:spPr>
              <a:xfrm>
                <a:off x="7764646" y="2060055"/>
                <a:ext cx="1162593" cy="203508"/>
              </a:xfrm>
              <a:prstGeom prst="rect">
                <a:avLst/>
              </a:prstGeom>
              <a:noFill/>
            </p:spPr>
            <p:txBody>
              <a:bodyPr wrap="square" lIns="36000" tIns="36000" rIns="36000" bIns="36000" rtlCol="0">
                <a:spAutoFit/>
              </a:bodyPr>
              <a:lstStyle/>
              <a:p>
                <a:r>
                  <a:rPr lang="it-IT" sz="850" dirty="0">
                    <a:solidFill>
                      <a:srgbClr val="0B7F7A"/>
                    </a:solidFill>
                  </a:rPr>
                  <a:t>Dashboard &amp; </a:t>
                </a:r>
                <a:r>
                  <a:rPr lang="it-IT" sz="850" b="1" dirty="0">
                    <a:solidFill>
                      <a:srgbClr val="0B7F7A"/>
                    </a:solidFill>
                  </a:rPr>
                  <a:t>App</a:t>
                </a:r>
                <a:endParaRPr lang="en-US" sz="850" b="1" dirty="0">
                  <a:solidFill>
                    <a:srgbClr val="0B7F7A"/>
                  </a:solidFill>
                </a:endParaRPr>
              </a:p>
            </p:txBody>
          </p:sp>
          <p:sp>
            <p:nvSpPr>
              <p:cNvPr id="1040" name="CasellaDiTesto 1039">
                <a:extLst>
                  <a:ext uri="{FF2B5EF4-FFF2-40B4-BE49-F238E27FC236}">
                    <a16:creationId xmlns:a16="http://schemas.microsoft.com/office/drawing/2014/main" id="{FF34BD0A-B86E-5FCD-7C42-BA44DCA33DDC}"/>
                  </a:ext>
                </a:extLst>
              </p:cNvPr>
              <p:cNvSpPr txBox="1">
                <a:spLocks/>
              </p:cNvSpPr>
              <p:nvPr/>
            </p:nvSpPr>
            <p:spPr>
              <a:xfrm>
                <a:off x="7764646" y="2603556"/>
                <a:ext cx="1195869" cy="203508"/>
              </a:xfrm>
              <a:prstGeom prst="rect">
                <a:avLst/>
              </a:prstGeom>
              <a:noFill/>
            </p:spPr>
            <p:txBody>
              <a:bodyPr wrap="square" lIns="36000" tIns="36000" rIns="36000" bIns="36000" rtlCol="0">
                <a:spAutoFit/>
              </a:bodyPr>
              <a:lstStyle/>
              <a:p>
                <a:r>
                  <a:rPr lang="it-IT" sz="850" b="1" dirty="0">
                    <a:solidFill>
                      <a:srgbClr val="0B7F7A"/>
                    </a:solidFill>
                  </a:rPr>
                  <a:t>Automazioni &amp; Alert</a:t>
                </a:r>
                <a:endParaRPr lang="en-US" sz="850" b="1" dirty="0">
                  <a:solidFill>
                    <a:srgbClr val="0B7F7A"/>
                  </a:solidFill>
                </a:endParaRPr>
              </a:p>
            </p:txBody>
          </p:sp>
          <p:sp>
            <p:nvSpPr>
              <p:cNvPr id="1041" name="CasellaDiTesto 1040">
                <a:extLst>
                  <a:ext uri="{FF2B5EF4-FFF2-40B4-BE49-F238E27FC236}">
                    <a16:creationId xmlns:a16="http://schemas.microsoft.com/office/drawing/2014/main" id="{FE4A8368-DBBA-46CA-2608-6C37E5E80E22}"/>
                  </a:ext>
                </a:extLst>
              </p:cNvPr>
              <p:cNvSpPr txBox="1">
                <a:spLocks/>
              </p:cNvSpPr>
              <p:nvPr/>
            </p:nvSpPr>
            <p:spPr>
              <a:xfrm>
                <a:off x="7764646" y="2853008"/>
                <a:ext cx="1162593" cy="203508"/>
              </a:xfrm>
              <a:prstGeom prst="rect">
                <a:avLst/>
              </a:prstGeom>
              <a:noFill/>
            </p:spPr>
            <p:txBody>
              <a:bodyPr wrap="square" lIns="36000" tIns="36000" rIns="36000" bIns="36000" rtlCol="0">
                <a:spAutoFit/>
              </a:bodyPr>
              <a:lstStyle/>
              <a:p>
                <a:r>
                  <a:rPr lang="it-IT" sz="850" dirty="0">
                    <a:solidFill>
                      <a:srgbClr val="0B7F7A"/>
                    </a:solidFill>
                  </a:rPr>
                  <a:t>Export &amp; </a:t>
                </a:r>
                <a:r>
                  <a:rPr lang="it-IT" sz="850" b="1" dirty="0">
                    <a:solidFill>
                      <a:srgbClr val="0B7F7A"/>
                    </a:solidFill>
                  </a:rPr>
                  <a:t>sharing</a:t>
                </a:r>
                <a:endParaRPr lang="en-US" sz="850" b="1" dirty="0">
                  <a:solidFill>
                    <a:srgbClr val="0B7F7A"/>
                  </a:solidFill>
                </a:endParaRPr>
              </a:p>
            </p:txBody>
          </p:sp>
          <p:sp>
            <p:nvSpPr>
              <p:cNvPr id="1042" name="CasellaDiTesto 1041">
                <a:extLst>
                  <a:ext uri="{FF2B5EF4-FFF2-40B4-BE49-F238E27FC236}">
                    <a16:creationId xmlns:a16="http://schemas.microsoft.com/office/drawing/2014/main" id="{70D7C27A-428C-6ABD-E9F5-A3751AC6A034}"/>
                  </a:ext>
                </a:extLst>
              </p:cNvPr>
              <p:cNvSpPr txBox="1">
                <a:spLocks/>
              </p:cNvSpPr>
              <p:nvPr/>
            </p:nvSpPr>
            <p:spPr>
              <a:xfrm>
                <a:off x="7764646" y="3146255"/>
                <a:ext cx="1162593" cy="203508"/>
              </a:xfrm>
              <a:prstGeom prst="rect">
                <a:avLst/>
              </a:prstGeom>
              <a:noFill/>
            </p:spPr>
            <p:txBody>
              <a:bodyPr wrap="square" lIns="36000" tIns="36000" rIns="36000" bIns="36000" rtlCol="0">
                <a:spAutoFit/>
              </a:bodyPr>
              <a:lstStyle/>
              <a:p>
                <a:r>
                  <a:rPr lang="it-IT" sz="850" dirty="0">
                    <a:solidFill>
                      <a:srgbClr val="0B7F7A"/>
                    </a:solidFill>
                  </a:rPr>
                  <a:t>Report</a:t>
                </a:r>
                <a:endParaRPr lang="en-US" sz="850" dirty="0">
                  <a:solidFill>
                    <a:srgbClr val="0B7F7A"/>
                  </a:solidFill>
                </a:endParaRPr>
              </a:p>
            </p:txBody>
          </p:sp>
          <p:cxnSp>
            <p:nvCxnSpPr>
              <p:cNvPr id="1065" name="Connettore diritto 1064">
                <a:extLst>
                  <a:ext uri="{FF2B5EF4-FFF2-40B4-BE49-F238E27FC236}">
                    <a16:creationId xmlns:a16="http://schemas.microsoft.com/office/drawing/2014/main" id="{5430BEB4-AA5E-7446-405E-A4C56734201E}"/>
                  </a:ext>
                </a:extLst>
              </p:cNvPr>
              <p:cNvCxnSpPr>
                <a:cxnSpLocks/>
              </p:cNvCxnSpPr>
              <p:nvPr/>
            </p:nvCxnSpPr>
            <p:spPr>
              <a:xfrm>
                <a:off x="7467381" y="3519192"/>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sp>
            <p:nvSpPr>
              <p:cNvPr id="66" name="CasellaDiTesto 65">
                <a:extLst>
                  <a:ext uri="{FF2B5EF4-FFF2-40B4-BE49-F238E27FC236}">
                    <a16:creationId xmlns:a16="http://schemas.microsoft.com/office/drawing/2014/main" id="{C97BF8A3-D962-FA3E-28C7-4939E425B5E3}"/>
                  </a:ext>
                </a:extLst>
              </p:cNvPr>
              <p:cNvSpPr txBox="1">
                <a:spLocks/>
              </p:cNvSpPr>
              <p:nvPr/>
            </p:nvSpPr>
            <p:spPr>
              <a:xfrm>
                <a:off x="7755096" y="2304004"/>
                <a:ext cx="1162593" cy="203508"/>
              </a:xfrm>
              <a:prstGeom prst="rect">
                <a:avLst/>
              </a:prstGeom>
              <a:noFill/>
            </p:spPr>
            <p:txBody>
              <a:bodyPr wrap="square" lIns="36000" tIns="36000" rIns="36000" bIns="36000" rtlCol="0">
                <a:spAutoFit/>
              </a:bodyPr>
              <a:lstStyle/>
              <a:p>
                <a:r>
                  <a:rPr lang="it-IT" sz="850" dirty="0">
                    <a:solidFill>
                      <a:srgbClr val="0B7F7A"/>
                    </a:solidFill>
                  </a:rPr>
                  <a:t>Analytics</a:t>
                </a:r>
                <a:endParaRPr lang="en-US" sz="850" dirty="0">
                  <a:solidFill>
                    <a:srgbClr val="0B7F7A"/>
                  </a:solidFill>
                </a:endParaRPr>
              </a:p>
            </p:txBody>
          </p:sp>
          <p:cxnSp>
            <p:nvCxnSpPr>
              <p:cNvPr id="1152" name="Connettore diritto 1151">
                <a:extLst>
                  <a:ext uri="{FF2B5EF4-FFF2-40B4-BE49-F238E27FC236}">
                    <a16:creationId xmlns:a16="http://schemas.microsoft.com/office/drawing/2014/main" id="{77A6A021-8172-7943-BBC6-2E7A878C0D6C}"/>
                  </a:ext>
                </a:extLst>
              </p:cNvPr>
              <p:cNvCxnSpPr>
                <a:cxnSpLocks/>
                <a:stCxn id="185" idx="2"/>
              </p:cNvCxnSpPr>
              <p:nvPr/>
            </p:nvCxnSpPr>
            <p:spPr>
              <a:xfrm flipH="1">
                <a:off x="8211127" y="4260134"/>
                <a:ext cx="2821"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0" name="Immagine 69">
                <a:extLst>
                  <a:ext uri="{FF2B5EF4-FFF2-40B4-BE49-F238E27FC236}">
                    <a16:creationId xmlns:a16="http://schemas.microsoft.com/office/drawing/2014/main" id="{665D9207-2B02-D9F8-F456-8AD768BB4638}"/>
                  </a:ext>
                </a:extLst>
              </p:cNvPr>
              <p:cNvPicPr>
                <a:picLocks noChangeAspect="1"/>
              </p:cNvPicPr>
              <p:nvPr/>
            </p:nvPicPr>
            <p:blipFill>
              <a:blip r:embed="rId10"/>
              <a:stretch>
                <a:fillRect/>
              </a:stretch>
            </p:blipFill>
            <p:spPr>
              <a:xfrm>
                <a:off x="7505485" y="2890956"/>
                <a:ext cx="144000" cy="144000"/>
              </a:xfrm>
              <a:prstGeom prst="rect">
                <a:avLst/>
              </a:prstGeom>
            </p:spPr>
          </p:pic>
          <p:pic>
            <p:nvPicPr>
              <p:cNvPr id="72" name="Immagine 71">
                <a:extLst>
                  <a:ext uri="{FF2B5EF4-FFF2-40B4-BE49-F238E27FC236}">
                    <a16:creationId xmlns:a16="http://schemas.microsoft.com/office/drawing/2014/main" id="{578AEC63-D291-934A-52ED-2C2CD3653CED}"/>
                  </a:ext>
                </a:extLst>
              </p:cNvPr>
              <p:cNvPicPr>
                <a:picLocks noChangeAspect="1"/>
              </p:cNvPicPr>
              <p:nvPr/>
            </p:nvPicPr>
            <p:blipFill>
              <a:blip r:embed="rId11"/>
              <a:stretch>
                <a:fillRect/>
              </a:stretch>
            </p:blipFill>
            <p:spPr>
              <a:xfrm>
                <a:off x="7505485" y="2618541"/>
                <a:ext cx="144000" cy="144000"/>
              </a:xfrm>
              <a:prstGeom prst="rect">
                <a:avLst/>
              </a:prstGeom>
            </p:spPr>
          </p:pic>
          <p:pic>
            <p:nvPicPr>
              <p:cNvPr id="80" name="Immagine 79">
                <a:extLst>
                  <a:ext uri="{FF2B5EF4-FFF2-40B4-BE49-F238E27FC236}">
                    <a16:creationId xmlns:a16="http://schemas.microsoft.com/office/drawing/2014/main" id="{E636B225-9BBB-89C4-C687-464AD58E8A30}"/>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7885942" y="1551490"/>
                <a:ext cx="663326" cy="271152"/>
              </a:xfrm>
              <a:prstGeom prst="rect">
                <a:avLst/>
              </a:prstGeom>
            </p:spPr>
          </p:pic>
        </p:grpSp>
        <p:grpSp>
          <p:nvGrpSpPr>
            <p:cNvPr id="94" name="Gruppo 93">
              <a:extLst>
                <a:ext uri="{FF2B5EF4-FFF2-40B4-BE49-F238E27FC236}">
                  <a16:creationId xmlns:a16="http://schemas.microsoft.com/office/drawing/2014/main" id="{8DA0F4FB-443A-211E-1828-E222E0F32F55}"/>
                </a:ext>
              </a:extLst>
            </p:cNvPr>
            <p:cNvGrpSpPr>
              <a:grpSpLocks/>
            </p:cNvGrpSpPr>
            <p:nvPr/>
          </p:nvGrpSpPr>
          <p:grpSpPr>
            <a:xfrm>
              <a:off x="5653900" y="1486454"/>
              <a:ext cx="1635125" cy="3101709"/>
              <a:chOff x="5653900" y="1486454"/>
              <a:chExt cx="1635125" cy="3101709"/>
            </a:xfrm>
          </p:grpSpPr>
          <p:sp>
            <p:nvSpPr>
              <p:cNvPr id="171" name="Rettangolo con angoli arrotondati 170">
                <a:extLst>
                  <a:ext uri="{FF2B5EF4-FFF2-40B4-BE49-F238E27FC236}">
                    <a16:creationId xmlns:a16="http://schemas.microsoft.com/office/drawing/2014/main" id="{044BA7EC-3520-4AE3-1936-B54C46E10CDC}"/>
                  </a:ext>
                </a:extLst>
              </p:cNvPr>
              <p:cNvSpPr>
                <a:spLocks/>
              </p:cNvSpPr>
              <p:nvPr/>
            </p:nvSpPr>
            <p:spPr>
              <a:xfrm>
                <a:off x="5653900" y="1486454"/>
                <a:ext cx="1635125" cy="2773680"/>
              </a:xfrm>
              <a:prstGeom prst="roundRect">
                <a:avLst>
                  <a:gd name="adj" fmla="val 2558"/>
                </a:avLst>
              </a:prstGeom>
              <a:noFill/>
              <a:ln>
                <a:solidFill>
                  <a:srgbClr val="DBEC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2" name="Connettore diritto 171">
                <a:extLst>
                  <a:ext uri="{FF2B5EF4-FFF2-40B4-BE49-F238E27FC236}">
                    <a16:creationId xmlns:a16="http://schemas.microsoft.com/office/drawing/2014/main" id="{6EE3778C-B6E2-DA79-75D1-58F47AE6653E}"/>
                  </a:ext>
                </a:extLst>
              </p:cNvPr>
              <p:cNvCxnSpPr>
                <a:cxnSpLocks/>
              </p:cNvCxnSpPr>
              <p:nvPr/>
            </p:nvCxnSpPr>
            <p:spPr>
              <a:xfrm>
                <a:off x="5736584" y="3519192"/>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sp>
            <p:nvSpPr>
              <p:cNvPr id="173" name="CasellaDiTesto 172">
                <a:extLst>
                  <a:ext uri="{FF2B5EF4-FFF2-40B4-BE49-F238E27FC236}">
                    <a16:creationId xmlns:a16="http://schemas.microsoft.com/office/drawing/2014/main" id="{528C7398-E45C-FB13-D9BF-529052A3ADED}"/>
                  </a:ext>
                </a:extLst>
              </p:cNvPr>
              <p:cNvSpPr txBox="1">
                <a:spLocks/>
              </p:cNvSpPr>
              <p:nvPr/>
            </p:nvSpPr>
            <p:spPr>
              <a:xfrm>
                <a:off x="5724896" y="3648797"/>
                <a:ext cx="1493132" cy="504000"/>
              </a:xfrm>
              <a:prstGeom prst="rect">
                <a:avLst/>
              </a:prstGeom>
              <a:noFill/>
            </p:spPr>
            <p:txBody>
              <a:bodyPr wrap="square" rtlCol="0" anchor="ctr">
                <a:noAutofit/>
              </a:bodyPr>
              <a:lstStyle/>
              <a:p>
                <a:pPr algn="ctr"/>
                <a:r>
                  <a:rPr lang="it-IT" sz="850" dirty="0">
                    <a:solidFill>
                      <a:srgbClr val="0B7F7A"/>
                    </a:solidFill>
                  </a:rPr>
                  <a:t>Storage e modellazione</a:t>
                </a:r>
              </a:p>
              <a:p>
                <a:pPr algn="ctr"/>
                <a:r>
                  <a:rPr lang="it-IT" sz="850" dirty="0">
                    <a:solidFill>
                      <a:srgbClr val="0B7F7A"/>
                    </a:solidFill>
                  </a:rPr>
                  <a:t>gestiti in cloud</a:t>
                </a:r>
              </a:p>
              <a:p>
                <a:pPr algn="ctr"/>
                <a:r>
                  <a:rPr lang="it-IT" sz="850" dirty="0">
                    <a:solidFill>
                      <a:srgbClr val="0B7F7A"/>
                    </a:solidFill>
                  </a:rPr>
                  <a:t>in modo nativo</a:t>
                </a:r>
              </a:p>
            </p:txBody>
          </p:sp>
          <p:sp>
            <p:nvSpPr>
              <p:cNvPr id="174" name="CasellaDiTesto 173">
                <a:extLst>
                  <a:ext uri="{FF2B5EF4-FFF2-40B4-BE49-F238E27FC236}">
                    <a16:creationId xmlns:a16="http://schemas.microsoft.com/office/drawing/2014/main" id="{0C1DF9CB-D5E1-1EDF-A4E9-6772C2EFC458}"/>
                  </a:ext>
                </a:extLst>
              </p:cNvPr>
              <p:cNvSpPr txBox="1">
                <a:spLocks/>
              </p:cNvSpPr>
              <p:nvPr/>
            </p:nvSpPr>
            <p:spPr>
              <a:xfrm>
                <a:off x="6015396" y="2049632"/>
                <a:ext cx="1162593" cy="303536"/>
              </a:xfrm>
              <a:prstGeom prst="rect">
                <a:avLst/>
              </a:prstGeom>
              <a:noFill/>
            </p:spPr>
            <p:txBody>
              <a:bodyPr wrap="square" lIns="36000" tIns="36000" rIns="36000" bIns="36000" rtlCol="0">
                <a:spAutoFit/>
              </a:bodyPr>
              <a:lstStyle/>
              <a:p>
                <a:r>
                  <a:rPr lang="en-US" sz="850" noProof="0" dirty="0" err="1">
                    <a:solidFill>
                      <a:srgbClr val="0B7F7A"/>
                    </a:solidFill>
                  </a:rPr>
                  <a:t>Datalake</a:t>
                </a:r>
                <a:r>
                  <a:rPr lang="it-IT" sz="850" dirty="0">
                    <a:solidFill>
                      <a:srgbClr val="0B7F7A"/>
                    </a:solidFill>
                  </a:rPr>
                  <a:t> / Storage</a:t>
                </a:r>
              </a:p>
              <a:p>
                <a:r>
                  <a:rPr lang="en-US" sz="650" noProof="0" dirty="0">
                    <a:solidFill>
                      <a:srgbClr val="0B7F7A"/>
                    </a:solidFill>
                  </a:rPr>
                  <a:t>Dati </a:t>
                </a:r>
                <a:r>
                  <a:rPr lang="it-IT" sz="650" noProof="0" dirty="0">
                    <a:solidFill>
                      <a:srgbClr val="0B7F7A"/>
                    </a:solidFill>
                  </a:rPr>
                  <a:t>grezzi</a:t>
                </a:r>
                <a:r>
                  <a:rPr lang="en-US" sz="650" noProof="0" dirty="0">
                    <a:solidFill>
                      <a:srgbClr val="0B7F7A"/>
                    </a:solidFill>
                  </a:rPr>
                  <a:t> e staging</a:t>
                </a:r>
                <a:endParaRPr lang="en-US" sz="650" dirty="0">
                  <a:solidFill>
                    <a:srgbClr val="0B7F7A"/>
                  </a:solidFill>
                </a:endParaRPr>
              </a:p>
            </p:txBody>
          </p:sp>
          <p:sp>
            <p:nvSpPr>
              <p:cNvPr id="175" name="CasellaDiTesto 174">
                <a:extLst>
                  <a:ext uri="{FF2B5EF4-FFF2-40B4-BE49-F238E27FC236}">
                    <a16:creationId xmlns:a16="http://schemas.microsoft.com/office/drawing/2014/main" id="{B571FE39-AF39-6A6D-4418-B9C06E784332}"/>
                  </a:ext>
                </a:extLst>
              </p:cNvPr>
              <p:cNvSpPr txBox="1">
                <a:spLocks/>
              </p:cNvSpPr>
              <p:nvPr/>
            </p:nvSpPr>
            <p:spPr>
              <a:xfrm>
                <a:off x="6015396" y="2532463"/>
                <a:ext cx="1243801" cy="303536"/>
              </a:xfrm>
              <a:prstGeom prst="rect">
                <a:avLst/>
              </a:prstGeom>
              <a:noFill/>
            </p:spPr>
            <p:txBody>
              <a:bodyPr wrap="square" lIns="36000" tIns="36000" rIns="36000" bIns="36000" rtlCol="0">
                <a:spAutoFit/>
              </a:bodyPr>
              <a:lstStyle/>
              <a:p>
                <a:r>
                  <a:rPr lang="it-IT" sz="850" dirty="0">
                    <a:solidFill>
                      <a:srgbClr val="0B7F7A"/>
                    </a:solidFill>
                  </a:rPr>
                  <a:t>Qlik Data </a:t>
                </a:r>
                <a:r>
                  <a:rPr lang="en-US" sz="850" noProof="0" dirty="0">
                    <a:solidFill>
                      <a:srgbClr val="0B7F7A"/>
                    </a:solidFill>
                  </a:rPr>
                  <a:t>Warehouse</a:t>
                </a:r>
                <a:endParaRPr lang="it-IT" sz="850" dirty="0">
                  <a:solidFill>
                    <a:srgbClr val="0B7F7A"/>
                  </a:solidFill>
                </a:endParaRPr>
              </a:p>
              <a:p>
                <a:r>
                  <a:rPr lang="it-IT" sz="650" dirty="0">
                    <a:solidFill>
                      <a:srgbClr val="0B7F7A"/>
                    </a:solidFill>
                  </a:rPr>
                  <a:t>Dati modellati e certificati</a:t>
                </a:r>
                <a:endParaRPr lang="en-US" sz="650" dirty="0">
                  <a:solidFill>
                    <a:srgbClr val="0B7F7A"/>
                  </a:solidFill>
                </a:endParaRPr>
              </a:p>
            </p:txBody>
          </p:sp>
          <p:sp>
            <p:nvSpPr>
              <p:cNvPr id="176" name="CasellaDiTesto 175">
                <a:extLst>
                  <a:ext uri="{FF2B5EF4-FFF2-40B4-BE49-F238E27FC236}">
                    <a16:creationId xmlns:a16="http://schemas.microsoft.com/office/drawing/2014/main" id="{416D6432-FC75-16E2-D5EA-E478908DA905}"/>
                  </a:ext>
                </a:extLst>
              </p:cNvPr>
              <p:cNvSpPr txBox="1">
                <a:spLocks/>
              </p:cNvSpPr>
              <p:nvPr/>
            </p:nvSpPr>
            <p:spPr>
              <a:xfrm>
                <a:off x="6080488" y="3044160"/>
                <a:ext cx="1162593" cy="311230"/>
              </a:xfrm>
              <a:prstGeom prst="rect">
                <a:avLst/>
              </a:prstGeom>
              <a:noFill/>
            </p:spPr>
            <p:txBody>
              <a:bodyPr wrap="square" lIns="36000" tIns="36000" rIns="36000" bIns="36000" rtlCol="0">
                <a:spAutoFit/>
              </a:bodyPr>
              <a:lstStyle/>
              <a:p>
                <a:r>
                  <a:rPr lang="it-IT" sz="850" dirty="0">
                    <a:solidFill>
                      <a:srgbClr val="0B7F7A"/>
                    </a:solidFill>
                  </a:rPr>
                  <a:t>AWS Glue Data</a:t>
                </a:r>
              </a:p>
              <a:p>
                <a:r>
                  <a:rPr lang="it-IT" sz="650" dirty="0">
                    <a:solidFill>
                      <a:srgbClr val="0B7F7A"/>
                    </a:solidFill>
                  </a:rPr>
                  <a:t>Catalogo e Metadati</a:t>
                </a:r>
                <a:endParaRPr lang="en-US" sz="650" dirty="0">
                  <a:solidFill>
                    <a:srgbClr val="0B7F7A"/>
                  </a:solidFill>
                </a:endParaRPr>
              </a:p>
            </p:txBody>
          </p:sp>
          <p:cxnSp>
            <p:nvCxnSpPr>
              <p:cNvPr id="1150" name="Connettore diritto 1149">
                <a:extLst>
                  <a:ext uri="{FF2B5EF4-FFF2-40B4-BE49-F238E27FC236}">
                    <a16:creationId xmlns:a16="http://schemas.microsoft.com/office/drawing/2014/main" id="{310A0F58-BF4D-D4FF-C6B2-2ABE643725E2}"/>
                  </a:ext>
                </a:extLst>
              </p:cNvPr>
              <p:cNvCxnSpPr>
                <a:cxnSpLocks/>
                <a:stCxn id="171" idx="2"/>
              </p:cNvCxnSpPr>
              <p:nvPr/>
            </p:nvCxnSpPr>
            <p:spPr>
              <a:xfrm flipH="1">
                <a:off x="6465455" y="4260134"/>
                <a:ext cx="6008"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9" name="Immagine 78">
                <a:extLst>
                  <a:ext uri="{FF2B5EF4-FFF2-40B4-BE49-F238E27FC236}">
                    <a16:creationId xmlns:a16="http://schemas.microsoft.com/office/drawing/2014/main" id="{55EA27B0-2802-316E-0DED-A38C3DBC2BFE}"/>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6151488" y="1551490"/>
                <a:ext cx="663326" cy="271152"/>
              </a:xfrm>
              <a:prstGeom prst="rect">
                <a:avLst/>
              </a:prstGeom>
            </p:spPr>
          </p:pic>
          <p:pic>
            <p:nvPicPr>
              <p:cNvPr id="83" name="Immagine 82">
                <a:extLst>
                  <a:ext uri="{FF2B5EF4-FFF2-40B4-BE49-F238E27FC236}">
                    <a16:creationId xmlns:a16="http://schemas.microsoft.com/office/drawing/2014/main" id="{AA42F37C-29D8-A52C-5D37-70D90C4A75E6}"/>
                  </a:ext>
                </a:extLst>
              </p:cNvPr>
              <p:cNvPicPr>
                <a:picLocks noChangeAspect="1"/>
              </p:cNvPicPr>
              <p:nvPr/>
            </p:nvPicPr>
            <p:blipFill>
              <a:blip r:embed="rId13"/>
              <a:stretch>
                <a:fillRect/>
              </a:stretch>
            </p:blipFill>
            <p:spPr>
              <a:xfrm>
                <a:off x="5753446" y="2126132"/>
                <a:ext cx="144000" cy="144000"/>
              </a:xfrm>
              <a:prstGeom prst="rect">
                <a:avLst/>
              </a:prstGeom>
            </p:spPr>
          </p:pic>
          <p:pic>
            <p:nvPicPr>
              <p:cNvPr id="85" name="Immagine 84">
                <a:extLst>
                  <a:ext uri="{FF2B5EF4-FFF2-40B4-BE49-F238E27FC236}">
                    <a16:creationId xmlns:a16="http://schemas.microsoft.com/office/drawing/2014/main" id="{763DD130-C4C6-558A-FD71-E1621AEFE7CC}"/>
                  </a:ext>
                </a:extLst>
              </p:cNvPr>
              <p:cNvPicPr>
                <a:picLocks noChangeAspect="1"/>
              </p:cNvPicPr>
              <p:nvPr/>
            </p:nvPicPr>
            <p:blipFill>
              <a:blip r:embed="rId14"/>
              <a:stretch>
                <a:fillRect/>
              </a:stretch>
            </p:blipFill>
            <p:spPr>
              <a:xfrm>
                <a:off x="5751406" y="2623539"/>
                <a:ext cx="144000" cy="144000"/>
              </a:xfrm>
              <a:prstGeom prst="rect">
                <a:avLst/>
              </a:prstGeom>
            </p:spPr>
          </p:pic>
          <p:pic>
            <p:nvPicPr>
              <p:cNvPr id="87" name="Immagine 86">
                <a:extLst>
                  <a:ext uri="{FF2B5EF4-FFF2-40B4-BE49-F238E27FC236}">
                    <a16:creationId xmlns:a16="http://schemas.microsoft.com/office/drawing/2014/main" id="{BEDCDA91-ACEA-A433-25DE-D17F5DF0E980}"/>
                  </a:ext>
                </a:extLst>
              </p:cNvPr>
              <p:cNvPicPr>
                <a:picLocks noChangeAspect="1"/>
              </p:cNvPicPr>
              <p:nvPr/>
            </p:nvPicPr>
            <p:blipFill>
              <a:blip r:embed="rId15"/>
              <a:stretch>
                <a:fillRect/>
              </a:stretch>
            </p:blipFill>
            <p:spPr>
              <a:xfrm>
                <a:off x="5759303" y="3120946"/>
                <a:ext cx="144000" cy="144000"/>
              </a:xfrm>
              <a:prstGeom prst="rect">
                <a:avLst/>
              </a:prstGeom>
            </p:spPr>
          </p:pic>
        </p:grpSp>
        <p:grpSp>
          <p:nvGrpSpPr>
            <p:cNvPr id="96" name="Gruppo 95">
              <a:extLst>
                <a:ext uri="{FF2B5EF4-FFF2-40B4-BE49-F238E27FC236}">
                  <a16:creationId xmlns:a16="http://schemas.microsoft.com/office/drawing/2014/main" id="{BD509E07-3C1E-F1F4-7D13-AA5F422753F0}"/>
                </a:ext>
              </a:extLst>
            </p:cNvPr>
            <p:cNvGrpSpPr>
              <a:grpSpLocks/>
            </p:cNvGrpSpPr>
            <p:nvPr/>
          </p:nvGrpSpPr>
          <p:grpSpPr>
            <a:xfrm>
              <a:off x="515493" y="4507372"/>
              <a:ext cx="8526908" cy="715946"/>
              <a:chOff x="515493" y="4507372"/>
              <a:chExt cx="8526908" cy="715946"/>
            </a:xfrm>
          </p:grpSpPr>
          <p:grpSp>
            <p:nvGrpSpPr>
              <p:cNvPr id="1133" name="Gruppo 1132">
                <a:extLst>
                  <a:ext uri="{FF2B5EF4-FFF2-40B4-BE49-F238E27FC236}">
                    <a16:creationId xmlns:a16="http://schemas.microsoft.com/office/drawing/2014/main" id="{3FD302F6-710E-7847-D0A4-9AD06986DD42}"/>
                  </a:ext>
                </a:extLst>
              </p:cNvPr>
              <p:cNvGrpSpPr>
                <a:grpSpLocks/>
              </p:cNvGrpSpPr>
              <p:nvPr/>
            </p:nvGrpSpPr>
            <p:grpSpPr>
              <a:xfrm>
                <a:off x="515493" y="4588163"/>
                <a:ext cx="8526908" cy="635155"/>
                <a:chOff x="515493" y="4232512"/>
                <a:chExt cx="8526908" cy="635155"/>
              </a:xfrm>
            </p:grpSpPr>
            <p:sp>
              <p:nvSpPr>
                <p:cNvPr id="1044" name="Rettangolo con angoli arrotondati 1043">
                  <a:extLst>
                    <a:ext uri="{FF2B5EF4-FFF2-40B4-BE49-F238E27FC236}">
                      <a16:creationId xmlns:a16="http://schemas.microsoft.com/office/drawing/2014/main" id="{D7B78EB7-155E-3B8D-E2A5-B94667751163}"/>
                    </a:ext>
                  </a:extLst>
                </p:cNvPr>
                <p:cNvSpPr>
                  <a:spLocks/>
                </p:cNvSpPr>
                <p:nvPr/>
              </p:nvSpPr>
              <p:spPr>
                <a:xfrm>
                  <a:off x="515493" y="4232512"/>
                  <a:ext cx="8526908" cy="635155"/>
                </a:xfrm>
                <a:prstGeom prst="roundRect">
                  <a:avLst>
                    <a:gd name="adj" fmla="val 6990"/>
                  </a:avLst>
                </a:prstGeom>
                <a:solidFill>
                  <a:srgbClr val="F8FCFD"/>
                </a:solidFill>
                <a:ln>
                  <a:solidFill>
                    <a:srgbClr val="9BDB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00" name="Gruppo 1099">
                  <a:extLst>
                    <a:ext uri="{FF2B5EF4-FFF2-40B4-BE49-F238E27FC236}">
                      <a16:creationId xmlns:a16="http://schemas.microsoft.com/office/drawing/2014/main" id="{B9CE2191-AF19-339A-B832-1DB67B5DD8F4}"/>
                    </a:ext>
                  </a:extLst>
                </p:cNvPr>
                <p:cNvGrpSpPr>
                  <a:grpSpLocks/>
                </p:cNvGrpSpPr>
                <p:nvPr/>
              </p:nvGrpSpPr>
              <p:grpSpPr>
                <a:xfrm>
                  <a:off x="769814" y="4383231"/>
                  <a:ext cx="8018266" cy="334313"/>
                  <a:chOff x="685851" y="5618505"/>
                  <a:chExt cx="8018266" cy="334313"/>
                </a:xfrm>
              </p:grpSpPr>
              <p:grpSp>
                <p:nvGrpSpPr>
                  <p:cNvPr id="1094" name="Gruppo 1093">
                    <a:extLst>
                      <a:ext uri="{FF2B5EF4-FFF2-40B4-BE49-F238E27FC236}">
                        <a16:creationId xmlns:a16="http://schemas.microsoft.com/office/drawing/2014/main" id="{52404C42-55D7-CBB3-628B-78F056F232FE}"/>
                      </a:ext>
                    </a:extLst>
                  </p:cNvPr>
                  <p:cNvGrpSpPr>
                    <a:grpSpLocks/>
                  </p:cNvGrpSpPr>
                  <p:nvPr/>
                </p:nvGrpSpPr>
                <p:grpSpPr>
                  <a:xfrm>
                    <a:off x="685851" y="5641363"/>
                    <a:ext cx="999301" cy="288000"/>
                    <a:chOff x="685851" y="5641363"/>
                    <a:chExt cx="999301" cy="288000"/>
                  </a:xfrm>
                </p:grpSpPr>
                <p:pic>
                  <p:nvPicPr>
                    <p:cNvPr id="1046" name="Immagine 1045">
                      <a:extLst>
                        <a:ext uri="{FF2B5EF4-FFF2-40B4-BE49-F238E27FC236}">
                          <a16:creationId xmlns:a16="http://schemas.microsoft.com/office/drawing/2014/main" id="{473DF79C-E3D4-7668-37D0-3494D6B2D4EE}"/>
                        </a:ext>
                      </a:extLst>
                    </p:cNvPr>
                    <p:cNvPicPr>
                      <a:picLocks noChangeAspect="1"/>
                    </p:cNvPicPr>
                    <p:nvPr/>
                  </p:nvPicPr>
                  <p:blipFill>
                    <a:blip r:embed="rId16"/>
                    <a:stretch>
                      <a:fillRect/>
                    </a:stretch>
                  </p:blipFill>
                  <p:spPr>
                    <a:xfrm>
                      <a:off x="685851" y="5641363"/>
                      <a:ext cx="288000" cy="288000"/>
                    </a:xfrm>
                    <a:prstGeom prst="rect">
                      <a:avLst/>
                    </a:prstGeom>
                  </p:spPr>
                </p:pic>
                <p:sp>
                  <p:nvSpPr>
                    <p:cNvPr id="1057" name="CasellaDiTesto 1056">
                      <a:extLst>
                        <a:ext uri="{FF2B5EF4-FFF2-40B4-BE49-F238E27FC236}">
                          <a16:creationId xmlns:a16="http://schemas.microsoft.com/office/drawing/2014/main" id="{1B4C2CA0-B67B-6882-03AD-3B210E2FD69C}"/>
                        </a:ext>
                      </a:extLst>
                    </p:cNvPr>
                    <p:cNvSpPr txBox="1">
                      <a:spLocks/>
                    </p:cNvSpPr>
                    <p:nvPr/>
                  </p:nvSpPr>
                  <p:spPr>
                    <a:xfrm>
                      <a:off x="1006514" y="5683609"/>
                      <a:ext cx="678638" cy="203508"/>
                    </a:xfrm>
                    <a:prstGeom prst="rect">
                      <a:avLst/>
                    </a:prstGeom>
                    <a:noFill/>
                  </p:spPr>
                  <p:txBody>
                    <a:bodyPr wrap="none" lIns="36000" tIns="36000" rIns="36000" bIns="36000" rtlCol="0">
                      <a:spAutoFit/>
                    </a:bodyPr>
                    <a:lstStyle/>
                    <a:p>
                      <a:r>
                        <a:rPr lang="it-IT" sz="850" dirty="0">
                          <a:solidFill>
                            <a:srgbClr val="0B7F7A"/>
                          </a:solidFill>
                        </a:rPr>
                        <a:t>Run History</a:t>
                      </a:r>
                      <a:endParaRPr lang="en-US" sz="850" dirty="0">
                        <a:solidFill>
                          <a:srgbClr val="0B7F7A"/>
                        </a:solidFill>
                      </a:endParaRPr>
                    </a:p>
                  </p:txBody>
                </p:sp>
              </p:grpSp>
              <p:grpSp>
                <p:nvGrpSpPr>
                  <p:cNvPr id="1095" name="Gruppo 1094">
                    <a:extLst>
                      <a:ext uri="{FF2B5EF4-FFF2-40B4-BE49-F238E27FC236}">
                        <a16:creationId xmlns:a16="http://schemas.microsoft.com/office/drawing/2014/main" id="{C5643DE6-DAE8-F8D6-9D0C-C90821E92561}"/>
                      </a:ext>
                    </a:extLst>
                  </p:cNvPr>
                  <p:cNvGrpSpPr>
                    <a:grpSpLocks/>
                  </p:cNvGrpSpPr>
                  <p:nvPr/>
                </p:nvGrpSpPr>
                <p:grpSpPr>
                  <a:xfrm>
                    <a:off x="2018339" y="5618505"/>
                    <a:ext cx="1060215" cy="334313"/>
                    <a:chOff x="2055130" y="5618505"/>
                    <a:chExt cx="1060215" cy="334313"/>
                  </a:xfrm>
                </p:grpSpPr>
                <p:pic>
                  <p:nvPicPr>
                    <p:cNvPr id="1048" name="Immagine 1047">
                      <a:extLst>
                        <a:ext uri="{FF2B5EF4-FFF2-40B4-BE49-F238E27FC236}">
                          <a16:creationId xmlns:a16="http://schemas.microsoft.com/office/drawing/2014/main" id="{9FC27178-8664-AC83-66B8-A6140DADA509}"/>
                        </a:ext>
                      </a:extLst>
                    </p:cNvPr>
                    <p:cNvPicPr>
                      <a:picLocks noChangeAspect="1"/>
                    </p:cNvPicPr>
                    <p:nvPr/>
                  </p:nvPicPr>
                  <p:blipFill>
                    <a:blip r:embed="rId17"/>
                    <a:stretch>
                      <a:fillRect/>
                    </a:stretch>
                  </p:blipFill>
                  <p:spPr>
                    <a:xfrm>
                      <a:off x="2055130" y="5641363"/>
                      <a:ext cx="288000" cy="288000"/>
                    </a:xfrm>
                    <a:prstGeom prst="rect">
                      <a:avLst/>
                    </a:prstGeom>
                  </p:spPr>
                </p:pic>
                <p:sp>
                  <p:nvSpPr>
                    <p:cNvPr id="1058" name="CasellaDiTesto 1057">
                      <a:extLst>
                        <a:ext uri="{FF2B5EF4-FFF2-40B4-BE49-F238E27FC236}">
                          <a16:creationId xmlns:a16="http://schemas.microsoft.com/office/drawing/2014/main" id="{455F16E3-AB6A-7F19-7F0D-97905498114B}"/>
                        </a:ext>
                      </a:extLst>
                    </p:cNvPr>
                    <p:cNvSpPr txBox="1">
                      <a:spLocks/>
                    </p:cNvSpPr>
                    <p:nvPr/>
                  </p:nvSpPr>
                  <p:spPr>
                    <a:xfrm>
                      <a:off x="2375793" y="5618505"/>
                      <a:ext cx="739552" cy="334313"/>
                    </a:xfrm>
                    <a:prstGeom prst="rect">
                      <a:avLst/>
                    </a:prstGeom>
                    <a:noFill/>
                  </p:spPr>
                  <p:txBody>
                    <a:bodyPr wrap="none" lIns="36000" tIns="36000" rIns="36000" bIns="36000" rtlCol="0">
                      <a:spAutoFit/>
                    </a:bodyPr>
                    <a:lstStyle/>
                    <a:p>
                      <a:r>
                        <a:rPr lang="it-IT" sz="850" dirty="0">
                          <a:solidFill>
                            <a:srgbClr val="0B7F7A"/>
                          </a:solidFill>
                        </a:rPr>
                        <a:t>Data </a:t>
                      </a:r>
                      <a:r>
                        <a:rPr lang="it-IT" sz="850" dirty="0" err="1">
                          <a:solidFill>
                            <a:srgbClr val="0B7F7A"/>
                          </a:solidFill>
                        </a:rPr>
                        <a:t>quality</a:t>
                      </a:r>
                      <a:br>
                        <a:rPr lang="it-IT" sz="850" dirty="0">
                          <a:solidFill>
                            <a:srgbClr val="0B7F7A"/>
                          </a:solidFill>
                        </a:rPr>
                      </a:br>
                      <a:r>
                        <a:rPr lang="it-IT" sz="850" dirty="0">
                          <a:solidFill>
                            <a:srgbClr val="0B7F7A"/>
                          </a:solidFill>
                        </a:rPr>
                        <a:t>monitoring</a:t>
                      </a:r>
                      <a:endParaRPr lang="en-US" sz="850" dirty="0">
                        <a:solidFill>
                          <a:srgbClr val="0B7F7A"/>
                        </a:solidFill>
                      </a:endParaRPr>
                    </a:p>
                  </p:txBody>
                </p:sp>
              </p:grpSp>
              <p:grpSp>
                <p:nvGrpSpPr>
                  <p:cNvPr id="1096" name="Gruppo 1095">
                    <a:extLst>
                      <a:ext uri="{FF2B5EF4-FFF2-40B4-BE49-F238E27FC236}">
                        <a16:creationId xmlns:a16="http://schemas.microsoft.com/office/drawing/2014/main" id="{3D7EA90F-3C78-EFA1-FE07-A8518E2C8D2A}"/>
                      </a:ext>
                    </a:extLst>
                  </p:cNvPr>
                  <p:cNvGrpSpPr>
                    <a:grpSpLocks/>
                  </p:cNvGrpSpPr>
                  <p:nvPr/>
                </p:nvGrpSpPr>
                <p:grpSpPr>
                  <a:xfrm>
                    <a:off x="3392505" y="5641363"/>
                    <a:ext cx="1007317" cy="288000"/>
                    <a:chOff x="3424410" y="5641363"/>
                    <a:chExt cx="1007317" cy="288000"/>
                  </a:xfrm>
                </p:grpSpPr>
                <p:pic>
                  <p:nvPicPr>
                    <p:cNvPr id="1050" name="Immagine 1049">
                      <a:extLst>
                        <a:ext uri="{FF2B5EF4-FFF2-40B4-BE49-F238E27FC236}">
                          <a16:creationId xmlns:a16="http://schemas.microsoft.com/office/drawing/2014/main" id="{A9090366-DE00-21BB-A070-3D04E1B328E1}"/>
                        </a:ext>
                      </a:extLst>
                    </p:cNvPr>
                    <p:cNvPicPr>
                      <a:picLocks noChangeAspect="1"/>
                    </p:cNvPicPr>
                    <p:nvPr/>
                  </p:nvPicPr>
                  <p:blipFill>
                    <a:blip r:embed="rId18"/>
                    <a:stretch>
                      <a:fillRect/>
                    </a:stretch>
                  </p:blipFill>
                  <p:spPr>
                    <a:xfrm>
                      <a:off x="3424410" y="5641363"/>
                      <a:ext cx="288000" cy="288000"/>
                    </a:xfrm>
                    <a:prstGeom prst="rect">
                      <a:avLst/>
                    </a:prstGeom>
                  </p:spPr>
                </p:pic>
                <p:sp>
                  <p:nvSpPr>
                    <p:cNvPr id="1059" name="CasellaDiTesto 1058">
                      <a:extLst>
                        <a:ext uri="{FF2B5EF4-FFF2-40B4-BE49-F238E27FC236}">
                          <a16:creationId xmlns:a16="http://schemas.microsoft.com/office/drawing/2014/main" id="{88DBF1B7-F6FE-2A96-6358-761940AD9A06}"/>
                        </a:ext>
                      </a:extLst>
                    </p:cNvPr>
                    <p:cNvSpPr txBox="1">
                      <a:spLocks/>
                    </p:cNvSpPr>
                    <p:nvPr/>
                  </p:nvSpPr>
                  <p:spPr>
                    <a:xfrm>
                      <a:off x="3745073" y="5683609"/>
                      <a:ext cx="686654" cy="203508"/>
                    </a:xfrm>
                    <a:prstGeom prst="rect">
                      <a:avLst/>
                    </a:prstGeom>
                    <a:noFill/>
                  </p:spPr>
                  <p:txBody>
                    <a:bodyPr wrap="none" lIns="36000" tIns="36000" rIns="36000" bIns="36000" rtlCol="0">
                      <a:spAutoFit/>
                    </a:bodyPr>
                    <a:lstStyle/>
                    <a:p>
                      <a:r>
                        <a:rPr lang="it-IT" sz="850" dirty="0">
                          <a:solidFill>
                            <a:srgbClr val="0B7F7A"/>
                          </a:solidFill>
                        </a:rPr>
                        <a:t>Log &amp; Audit</a:t>
                      </a:r>
                      <a:endParaRPr lang="en-US" sz="850" dirty="0">
                        <a:solidFill>
                          <a:srgbClr val="0B7F7A"/>
                        </a:solidFill>
                      </a:endParaRPr>
                    </a:p>
                  </p:txBody>
                </p:sp>
              </p:grpSp>
              <p:grpSp>
                <p:nvGrpSpPr>
                  <p:cNvPr id="1097" name="Gruppo 1096">
                    <a:extLst>
                      <a:ext uri="{FF2B5EF4-FFF2-40B4-BE49-F238E27FC236}">
                        <a16:creationId xmlns:a16="http://schemas.microsoft.com/office/drawing/2014/main" id="{D439B6F1-CEBF-626A-C47B-87E4EE8BB764}"/>
                      </a:ext>
                    </a:extLst>
                  </p:cNvPr>
                  <p:cNvGrpSpPr>
                    <a:grpSpLocks/>
                  </p:cNvGrpSpPr>
                  <p:nvPr/>
                </p:nvGrpSpPr>
                <p:grpSpPr>
                  <a:xfrm>
                    <a:off x="4733009" y="5641363"/>
                    <a:ext cx="1339798" cy="288000"/>
                    <a:chOff x="4793689" y="5641363"/>
                    <a:chExt cx="1339798" cy="288000"/>
                  </a:xfrm>
                </p:grpSpPr>
                <p:pic>
                  <p:nvPicPr>
                    <p:cNvPr id="1052" name="Immagine 1051">
                      <a:extLst>
                        <a:ext uri="{FF2B5EF4-FFF2-40B4-BE49-F238E27FC236}">
                          <a16:creationId xmlns:a16="http://schemas.microsoft.com/office/drawing/2014/main" id="{9FC55273-A9BC-4911-3A5D-CEAEAD00677B}"/>
                        </a:ext>
                      </a:extLst>
                    </p:cNvPr>
                    <p:cNvPicPr>
                      <a:picLocks noChangeAspect="1"/>
                    </p:cNvPicPr>
                    <p:nvPr/>
                  </p:nvPicPr>
                  <p:blipFill>
                    <a:blip r:embed="rId19"/>
                    <a:stretch>
                      <a:fillRect/>
                    </a:stretch>
                  </p:blipFill>
                  <p:spPr>
                    <a:xfrm>
                      <a:off x="4793689" y="5641363"/>
                      <a:ext cx="288000" cy="288000"/>
                    </a:xfrm>
                    <a:prstGeom prst="rect">
                      <a:avLst/>
                    </a:prstGeom>
                  </p:spPr>
                </p:pic>
                <p:sp>
                  <p:nvSpPr>
                    <p:cNvPr id="1060" name="CasellaDiTesto 1059">
                      <a:extLst>
                        <a:ext uri="{FF2B5EF4-FFF2-40B4-BE49-F238E27FC236}">
                          <a16:creationId xmlns:a16="http://schemas.microsoft.com/office/drawing/2014/main" id="{F1774E40-EF35-8FB5-4F96-2F31E7AACAB4}"/>
                        </a:ext>
                      </a:extLst>
                    </p:cNvPr>
                    <p:cNvSpPr txBox="1">
                      <a:spLocks/>
                    </p:cNvSpPr>
                    <p:nvPr/>
                  </p:nvSpPr>
                  <p:spPr>
                    <a:xfrm>
                      <a:off x="5114352" y="5682763"/>
                      <a:ext cx="1019135" cy="205200"/>
                    </a:xfrm>
                    <a:prstGeom prst="rect">
                      <a:avLst/>
                    </a:prstGeom>
                    <a:noFill/>
                  </p:spPr>
                  <p:txBody>
                    <a:bodyPr wrap="none" lIns="36000" tIns="36000" rIns="36000" bIns="36000" rtlCol="0">
                      <a:spAutoFit/>
                    </a:bodyPr>
                    <a:lstStyle/>
                    <a:p>
                      <a:r>
                        <a:rPr lang="it-IT" sz="850" dirty="0">
                          <a:solidFill>
                            <a:srgbClr val="0B7F7A"/>
                          </a:solidFill>
                        </a:rPr>
                        <a:t>Anomalie &amp; alert</a:t>
                      </a:r>
                      <a:endParaRPr lang="en-US" sz="850" dirty="0">
                        <a:solidFill>
                          <a:srgbClr val="0B7F7A"/>
                        </a:solidFill>
                      </a:endParaRPr>
                    </a:p>
                  </p:txBody>
                </p:sp>
              </p:grpSp>
              <p:grpSp>
                <p:nvGrpSpPr>
                  <p:cNvPr id="1098" name="Gruppo 1097">
                    <a:extLst>
                      <a:ext uri="{FF2B5EF4-FFF2-40B4-BE49-F238E27FC236}">
                        <a16:creationId xmlns:a16="http://schemas.microsoft.com/office/drawing/2014/main" id="{17ED2750-8E75-D7C7-4131-2B18ACD2A4DE}"/>
                      </a:ext>
                    </a:extLst>
                  </p:cNvPr>
                  <p:cNvGrpSpPr>
                    <a:grpSpLocks/>
                  </p:cNvGrpSpPr>
                  <p:nvPr/>
                </p:nvGrpSpPr>
                <p:grpSpPr>
                  <a:xfrm>
                    <a:off x="6405994" y="5641363"/>
                    <a:ext cx="1093879" cy="288000"/>
                    <a:chOff x="6162968" y="5641363"/>
                    <a:chExt cx="1093879" cy="288000"/>
                  </a:xfrm>
                </p:grpSpPr>
                <p:pic>
                  <p:nvPicPr>
                    <p:cNvPr id="1054" name="Immagine 1053">
                      <a:extLst>
                        <a:ext uri="{FF2B5EF4-FFF2-40B4-BE49-F238E27FC236}">
                          <a16:creationId xmlns:a16="http://schemas.microsoft.com/office/drawing/2014/main" id="{46392F4A-571F-68B8-C1AE-DB3B791F054A}"/>
                        </a:ext>
                      </a:extLst>
                    </p:cNvPr>
                    <p:cNvPicPr>
                      <a:picLocks noChangeAspect="1"/>
                    </p:cNvPicPr>
                    <p:nvPr/>
                  </p:nvPicPr>
                  <p:blipFill>
                    <a:blip r:embed="rId20"/>
                    <a:stretch>
                      <a:fillRect/>
                    </a:stretch>
                  </p:blipFill>
                  <p:spPr>
                    <a:xfrm>
                      <a:off x="6162968" y="5641363"/>
                      <a:ext cx="288000" cy="288000"/>
                    </a:xfrm>
                    <a:prstGeom prst="rect">
                      <a:avLst/>
                    </a:prstGeom>
                  </p:spPr>
                </p:pic>
                <p:sp>
                  <p:nvSpPr>
                    <p:cNvPr id="1061" name="CasellaDiTesto 1060">
                      <a:extLst>
                        <a:ext uri="{FF2B5EF4-FFF2-40B4-BE49-F238E27FC236}">
                          <a16:creationId xmlns:a16="http://schemas.microsoft.com/office/drawing/2014/main" id="{F2B384BB-AF1D-3E3B-463A-CC1BC0A490A4}"/>
                        </a:ext>
                      </a:extLst>
                    </p:cNvPr>
                    <p:cNvSpPr txBox="1">
                      <a:spLocks/>
                    </p:cNvSpPr>
                    <p:nvPr/>
                  </p:nvSpPr>
                  <p:spPr>
                    <a:xfrm>
                      <a:off x="6483631" y="5683609"/>
                      <a:ext cx="773216" cy="203508"/>
                    </a:xfrm>
                    <a:prstGeom prst="rect">
                      <a:avLst/>
                    </a:prstGeom>
                    <a:noFill/>
                  </p:spPr>
                  <p:txBody>
                    <a:bodyPr wrap="none" lIns="36000" tIns="36000" rIns="36000" bIns="36000" rtlCol="0">
                      <a:spAutoFit/>
                    </a:bodyPr>
                    <a:lstStyle/>
                    <a:p>
                      <a:r>
                        <a:rPr lang="it-IT" sz="850" dirty="0">
                          <a:solidFill>
                            <a:srgbClr val="0B7F7A"/>
                          </a:solidFill>
                        </a:rPr>
                        <a:t>Data </a:t>
                      </a:r>
                      <a:r>
                        <a:rPr lang="it-IT" sz="850" dirty="0" err="1">
                          <a:solidFill>
                            <a:srgbClr val="0B7F7A"/>
                          </a:solidFill>
                        </a:rPr>
                        <a:t>lineage</a:t>
                      </a:r>
                      <a:endParaRPr lang="en-US" sz="850" dirty="0">
                        <a:solidFill>
                          <a:srgbClr val="0B7F7A"/>
                        </a:solidFill>
                      </a:endParaRPr>
                    </a:p>
                  </p:txBody>
                </p:sp>
              </p:grpSp>
              <p:grpSp>
                <p:nvGrpSpPr>
                  <p:cNvPr id="1099" name="Gruppo 1098">
                    <a:extLst>
                      <a:ext uri="{FF2B5EF4-FFF2-40B4-BE49-F238E27FC236}">
                        <a16:creationId xmlns:a16="http://schemas.microsoft.com/office/drawing/2014/main" id="{39657E45-A0A7-5C01-47DE-ECE1E7F1ABFB}"/>
                      </a:ext>
                    </a:extLst>
                  </p:cNvPr>
                  <p:cNvGrpSpPr>
                    <a:grpSpLocks/>
                  </p:cNvGrpSpPr>
                  <p:nvPr/>
                </p:nvGrpSpPr>
                <p:grpSpPr>
                  <a:xfrm>
                    <a:off x="7833059" y="5641363"/>
                    <a:ext cx="871058" cy="288000"/>
                    <a:chOff x="7532249" y="5641363"/>
                    <a:chExt cx="871058" cy="288000"/>
                  </a:xfrm>
                </p:grpSpPr>
                <p:pic>
                  <p:nvPicPr>
                    <p:cNvPr id="1056" name="Immagine 1055">
                      <a:extLst>
                        <a:ext uri="{FF2B5EF4-FFF2-40B4-BE49-F238E27FC236}">
                          <a16:creationId xmlns:a16="http://schemas.microsoft.com/office/drawing/2014/main" id="{FE08BEF0-C23D-7389-BC77-0388FDB391CE}"/>
                        </a:ext>
                      </a:extLst>
                    </p:cNvPr>
                    <p:cNvPicPr>
                      <a:picLocks noChangeAspect="1"/>
                    </p:cNvPicPr>
                    <p:nvPr/>
                  </p:nvPicPr>
                  <p:blipFill>
                    <a:blip r:embed="rId21"/>
                    <a:stretch>
                      <a:fillRect/>
                    </a:stretch>
                  </p:blipFill>
                  <p:spPr>
                    <a:xfrm>
                      <a:off x="7532249" y="5641363"/>
                      <a:ext cx="288000" cy="288000"/>
                    </a:xfrm>
                    <a:prstGeom prst="rect">
                      <a:avLst/>
                    </a:prstGeom>
                  </p:spPr>
                </p:pic>
                <p:sp>
                  <p:nvSpPr>
                    <p:cNvPr id="1069" name="CasellaDiTesto 1068">
                      <a:extLst>
                        <a:ext uri="{FF2B5EF4-FFF2-40B4-BE49-F238E27FC236}">
                          <a16:creationId xmlns:a16="http://schemas.microsoft.com/office/drawing/2014/main" id="{CEF014B3-1A87-9EA2-41AC-0EBA4184CE25}"/>
                        </a:ext>
                      </a:extLst>
                    </p:cNvPr>
                    <p:cNvSpPr txBox="1">
                      <a:spLocks/>
                    </p:cNvSpPr>
                    <p:nvPr/>
                  </p:nvSpPr>
                  <p:spPr>
                    <a:xfrm>
                      <a:off x="7852909" y="5683609"/>
                      <a:ext cx="550398" cy="203508"/>
                    </a:xfrm>
                    <a:prstGeom prst="rect">
                      <a:avLst/>
                    </a:prstGeom>
                    <a:noFill/>
                  </p:spPr>
                  <p:txBody>
                    <a:bodyPr wrap="none" lIns="36000" tIns="36000" rIns="36000" bIns="36000" rtlCol="0">
                      <a:spAutoFit/>
                    </a:bodyPr>
                    <a:lstStyle/>
                    <a:p>
                      <a:r>
                        <a:rPr lang="it-IT" sz="850" dirty="0" err="1">
                          <a:solidFill>
                            <a:srgbClr val="0B7F7A"/>
                          </a:solidFill>
                        </a:rPr>
                        <a:t>Runbook</a:t>
                      </a:r>
                      <a:endParaRPr lang="en-US" sz="850" dirty="0">
                        <a:solidFill>
                          <a:srgbClr val="0B7F7A"/>
                        </a:solidFill>
                      </a:endParaRPr>
                    </a:p>
                  </p:txBody>
                </p:sp>
              </p:grpSp>
            </p:grpSp>
          </p:grpSp>
          <p:sp>
            <p:nvSpPr>
              <p:cNvPr id="1137" name="CasellaDiTesto 1136">
                <a:extLst>
                  <a:ext uri="{FF2B5EF4-FFF2-40B4-BE49-F238E27FC236}">
                    <a16:creationId xmlns:a16="http://schemas.microsoft.com/office/drawing/2014/main" id="{F570BF6D-34DE-D36C-B822-E0AFE4D13D06}"/>
                  </a:ext>
                </a:extLst>
              </p:cNvPr>
              <p:cNvSpPr txBox="1">
                <a:spLocks/>
              </p:cNvSpPr>
              <p:nvPr/>
            </p:nvSpPr>
            <p:spPr>
              <a:xfrm>
                <a:off x="3737562" y="4507372"/>
                <a:ext cx="2082771" cy="161583"/>
              </a:xfrm>
              <a:prstGeom prst="rect">
                <a:avLst/>
              </a:prstGeom>
              <a:solidFill>
                <a:schemeClr val="bg1"/>
              </a:solidFill>
            </p:spPr>
            <p:txBody>
              <a:bodyPr wrap="none" lIns="90000" tIns="0" bIns="0" rtlCol="0" anchor="ctr" anchorCtr="0">
                <a:spAutoFit/>
              </a:bodyPr>
              <a:lstStyle/>
              <a:p>
                <a:pPr algn="ctr"/>
                <a:r>
                  <a:rPr lang="it-IT" sz="1050" b="1" dirty="0">
                    <a:solidFill>
                      <a:srgbClr val="0B7F7A"/>
                    </a:solidFill>
                  </a:rPr>
                  <a:t>GOVERNANCE TRASVERSALE</a:t>
                </a:r>
                <a:endParaRPr lang="en-US" sz="1050" b="1" dirty="0">
                  <a:solidFill>
                    <a:srgbClr val="0B7F7A"/>
                  </a:solidFill>
                </a:endParaRPr>
              </a:p>
            </p:txBody>
          </p:sp>
        </p:grpSp>
        <p:grpSp>
          <p:nvGrpSpPr>
            <p:cNvPr id="136" name="Gruppo 135">
              <a:extLst>
                <a:ext uri="{FF2B5EF4-FFF2-40B4-BE49-F238E27FC236}">
                  <a16:creationId xmlns:a16="http://schemas.microsoft.com/office/drawing/2014/main" id="{6BB33AB7-3332-9646-06EF-376520939F0B}"/>
                </a:ext>
              </a:extLst>
            </p:cNvPr>
            <p:cNvGrpSpPr>
              <a:grpSpLocks/>
            </p:cNvGrpSpPr>
            <p:nvPr/>
          </p:nvGrpSpPr>
          <p:grpSpPr>
            <a:xfrm>
              <a:off x="1862881" y="1479386"/>
              <a:ext cx="1798479" cy="3108777"/>
              <a:chOff x="1862881" y="1479386"/>
              <a:chExt cx="1798479" cy="3108777"/>
            </a:xfrm>
          </p:grpSpPr>
          <p:sp>
            <p:nvSpPr>
              <p:cNvPr id="109" name="Rettangolo con angoli arrotondati 108">
                <a:extLst>
                  <a:ext uri="{FF2B5EF4-FFF2-40B4-BE49-F238E27FC236}">
                    <a16:creationId xmlns:a16="http://schemas.microsoft.com/office/drawing/2014/main" id="{30F672FA-08DE-BBC5-55AD-450A602FD7C9}"/>
                  </a:ext>
                </a:extLst>
              </p:cNvPr>
              <p:cNvSpPr>
                <a:spLocks/>
              </p:cNvSpPr>
              <p:nvPr/>
            </p:nvSpPr>
            <p:spPr>
              <a:xfrm>
                <a:off x="1862881" y="1479386"/>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CasellaDiTesto 113">
                <a:extLst>
                  <a:ext uri="{FF2B5EF4-FFF2-40B4-BE49-F238E27FC236}">
                    <a16:creationId xmlns:a16="http://schemas.microsoft.com/office/drawing/2014/main" id="{919B877F-09DD-38BD-50E1-0138D84BCCBA}"/>
                  </a:ext>
                </a:extLst>
              </p:cNvPr>
              <p:cNvSpPr txBox="1">
                <a:spLocks/>
              </p:cNvSpPr>
              <p:nvPr/>
            </p:nvSpPr>
            <p:spPr>
              <a:xfrm>
                <a:off x="2400330" y="2067473"/>
                <a:ext cx="1162593" cy="203508"/>
              </a:xfrm>
              <a:prstGeom prst="rect">
                <a:avLst/>
              </a:prstGeom>
              <a:noFill/>
            </p:spPr>
            <p:txBody>
              <a:bodyPr wrap="square" lIns="36000" tIns="36000" rIns="36000" bIns="36000" rtlCol="0">
                <a:spAutoFit/>
              </a:bodyPr>
              <a:lstStyle/>
              <a:p>
                <a:r>
                  <a:rPr lang="it-IT" sz="850" dirty="0">
                    <a:solidFill>
                      <a:srgbClr val="1660AE"/>
                    </a:solidFill>
                  </a:rPr>
                  <a:t>Acquisizione dati</a:t>
                </a:r>
                <a:endParaRPr lang="en-US" sz="850" dirty="0">
                  <a:solidFill>
                    <a:srgbClr val="1660AE"/>
                  </a:solidFill>
                </a:endParaRPr>
              </a:p>
            </p:txBody>
          </p:sp>
          <p:sp>
            <p:nvSpPr>
              <p:cNvPr id="115" name="CasellaDiTesto 114">
                <a:extLst>
                  <a:ext uri="{FF2B5EF4-FFF2-40B4-BE49-F238E27FC236}">
                    <a16:creationId xmlns:a16="http://schemas.microsoft.com/office/drawing/2014/main" id="{2125059E-6DFD-733C-D2C4-7FE3B3A593A5}"/>
                  </a:ext>
                </a:extLst>
              </p:cNvPr>
              <p:cNvSpPr txBox="1">
                <a:spLocks/>
              </p:cNvSpPr>
              <p:nvPr/>
            </p:nvSpPr>
            <p:spPr>
              <a:xfrm>
                <a:off x="2400330" y="2336003"/>
                <a:ext cx="1162593" cy="203508"/>
              </a:xfrm>
              <a:prstGeom prst="rect">
                <a:avLst/>
              </a:prstGeom>
              <a:noFill/>
            </p:spPr>
            <p:txBody>
              <a:bodyPr wrap="square" lIns="36000" tIns="36000" rIns="36000" bIns="36000" rtlCol="0">
                <a:spAutoFit/>
              </a:bodyPr>
              <a:lstStyle/>
              <a:p>
                <a:r>
                  <a:rPr lang="it-IT" sz="850" dirty="0">
                    <a:solidFill>
                      <a:srgbClr val="1660AE"/>
                    </a:solidFill>
                  </a:rPr>
                  <a:t>Integrazione</a:t>
                </a:r>
                <a:endParaRPr lang="en-US" sz="850" dirty="0">
                  <a:solidFill>
                    <a:srgbClr val="1660AE"/>
                  </a:solidFill>
                </a:endParaRPr>
              </a:p>
            </p:txBody>
          </p:sp>
          <p:sp>
            <p:nvSpPr>
              <p:cNvPr id="116" name="CasellaDiTesto 115">
                <a:extLst>
                  <a:ext uri="{FF2B5EF4-FFF2-40B4-BE49-F238E27FC236}">
                    <a16:creationId xmlns:a16="http://schemas.microsoft.com/office/drawing/2014/main" id="{5CE31F36-5D71-FDE9-C1B9-0DA444596395}"/>
                  </a:ext>
                </a:extLst>
              </p:cNvPr>
              <p:cNvSpPr txBox="1">
                <a:spLocks/>
              </p:cNvSpPr>
              <p:nvPr/>
            </p:nvSpPr>
            <p:spPr>
              <a:xfrm>
                <a:off x="2400330" y="2610237"/>
                <a:ext cx="1162593" cy="203508"/>
              </a:xfrm>
              <a:prstGeom prst="rect">
                <a:avLst/>
              </a:prstGeom>
              <a:noFill/>
            </p:spPr>
            <p:txBody>
              <a:bodyPr wrap="square" lIns="36000" tIns="36000" rIns="36000" bIns="36000" rtlCol="0">
                <a:spAutoFit/>
              </a:bodyPr>
              <a:lstStyle/>
              <a:p>
                <a:r>
                  <a:rPr lang="it-IT" sz="850" dirty="0">
                    <a:solidFill>
                      <a:srgbClr val="1660AE"/>
                    </a:solidFill>
                  </a:rPr>
                  <a:t>Dara </a:t>
                </a:r>
                <a:r>
                  <a:rPr lang="en-US" sz="850" noProof="0" dirty="0">
                    <a:solidFill>
                      <a:srgbClr val="1660AE"/>
                    </a:solidFill>
                  </a:rPr>
                  <a:t>quality</a:t>
                </a:r>
                <a:r>
                  <a:rPr lang="it-IT" sz="850" dirty="0">
                    <a:solidFill>
                      <a:srgbClr val="1660AE"/>
                    </a:solidFill>
                  </a:rPr>
                  <a:t> iniziale</a:t>
                </a:r>
                <a:endParaRPr lang="en-US" sz="850" dirty="0">
                  <a:solidFill>
                    <a:srgbClr val="1660AE"/>
                  </a:solidFill>
                </a:endParaRPr>
              </a:p>
            </p:txBody>
          </p:sp>
          <p:sp>
            <p:nvSpPr>
              <p:cNvPr id="117" name="CasellaDiTesto 116">
                <a:extLst>
                  <a:ext uri="{FF2B5EF4-FFF2-40B4-BE49-F238E27FC236}">
                    <a16:creationId xmlns:a16="http://schemas.microsoft.com/office/drawing/2014/main" id="{5804A1AC-CADA-9E62-B92E-90DAB364AC30}"/>
                  </a:ext>
                </a:extLst>
              </p:cNvPr>
              <p:cNvSpPr txBox="1">
                <a:spLocks/>
              </p:cNvSpPr>
              <p:nvPr/>
            </p:nvSpPr>
            <p:spPr>
              <a:xfrm>
                <a:off x="2400330" y="3147335"/>
                <a:ext cx="1162593" cy="203508"/>
              </a:xfrm>
              <a:prstGeom prst="rect">
                <a:avLst/>
              </a:prstGeom>
              <a:noFill/>
            </p:spPr>
            <p:txBody>
              <a:bodyPr wrap="square" lIns="36000" tIns="36000" rIns="36000" bIns="36000" rtlCol="0">
                <a:spAutoFit/>
              </a:bodyPr>
              <a:lstStyle/>
              <a:p>
                <a:r>
                  <a:rPr lang="it-IT" sz="850" dirty="0">
                    <a:solidFill>
                      <a:srgbClr val="1660AE"/>
                    </a:solidFill>
                  </a:rPr>
                  <a:t>Monitoraggio</a:t>
                </a:r>
                <a:endParaRPr lang="en-US" sz="850" dirty="0">
                  <a:solidFill>
                    <a:srgbClr val="1660AE"/>
                  </a:solidFill>
                </a:endParaRPr>
              </a:p>
            </p:txBody>
          </p:sp>
          <p:sp>
            <p:nvSpPr>
              <p:cNvPr id="138" name="CasellaDiTesto 137">
                <a:extLst>
                  <a:ext uri="{FF2B5EF4-FFF2-40B4-BE49-F238E27FC236}">
                    <a16:creationId xmlns:a16="http://schemas.microsoft.com/office/drawing/2014/main" id="{DB8EA2BE-BFBE-2429-6872-CB829948EB88}"/>
                  </a:ext>
                </a:extLst>
              </p:cNvPr>
              <p:cNvSpPr txBox="1">
                <a:spLocks/>
              </p:cNvSpPr>
              <p:nvPr/>
            </p:nvSpPr>
            <p:spPr>
              <a:xfrm>
                <a:off x="2400330" y="2876891"/>
                <a:ext cx="1162593" cy="203508"/>
              </a:xfrm>
              <a:prstGeom prst="rect">
                <a:avLst/>
              </a:prstGeom>
              <a:noFill/>
            </p:spPr>
            <p:txBody>
              <a:bodyPr wrap="square" lIns="36000" tIns="36000" rIns="36000" bIns="36000" rtlCol="0">
                <a:spAutoFit/>
              </a:bodyPr>
              <a:lstStyle/>
              <a:p>
                <a:r>
                  <a:rPr lang="it-IT" sz="850" dirty="0">
                    <a:solidFill>
                      <a:srgbClr val="1660AE"/>
                    </a:solidFill>
                  </a:rPr>
                  <a:t>Orchestrazione job</a:t>
                </a:r>
                <a:endParaRPr lang="en-US" sz="850" dirty="0">
                  <a:solidFill>
                    <a:srgbClr val="1660AE"/>
                  </a:solidFill>
                </a:endParaRPr>
              </a:p>
            </p:txBody>
          </p:sp>
          <p:cxnSp>
            <p:nvCxnSpPr>
              <p:cNvPr id="1062" name="Connettore diritto 1061">
                <a:extLst>
                  <a:ext uri="{FF2B5EF4-FFF2-40B4-BE49-F238E27FC236}">
                    <a16:creationId xmlns:a16="http://schemas.microsoft.com/office/drawing/2014/main" id="{2D267733-CED5-324D-FEB4-8F6C784874E2}"/>
                  </a:ext>
                </a:extLst>
              </p:cNvPr>
              <p:cNvCxnSpPr>
                <a:cxnSpLocks/>
              </p:cNvCxnSpPr>
              <p:nvPr/>
            </p:nvCxnSpPr>
            <p:spPr>
              <a:xfrm>
                <a:off x="2040810" y="3517417"/>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067" name="CasellaDiTesto 1066">
                <a:extLst>
                  <a:ext uri="{FF2B5EF4-FFF2-40B4-BE49-F238E27FC236}">
                    <a16:creationId xmlns:a16="http://schemas.microsoft.com/office/drawing/2014/main" id="{818A3C5A-4AC6-299A-CEB8-F3B1D6DC4C00}"/>
                  </a:ext>
                </a:extLst>
              </p:cNvPr>
              <p:cNvSpPr txBox="1">
                <a:spLocks/>
              </p:cNvSpPr>
              <p:nvPr/>
            </p:nvSpPr>
            <p:spPr>
              <a:xfrm>
                <a:off x="1893480" y="3611757"/>
                <a:ext cx="1753866" cy="504000"/>
              </a:xfrm>
              <a:prstGeom prst="rect">
                <a:avLst/>
              </a:prstGeom>
              <a:noFill/>
            </p:spPr>
            <p:txBody>
              <a:bodyPr wrap="square" rtlCol="0" anchor="ctr">
                <a:noAutofit/>
              </a:bodyPr>
              <a:lstStyle/>
              <a:p>
                <a:pPr algn="ctr"/>
                <a:r>
                  <a:rPr lang="it-IT" sz="850" dirty="0">
                    <a:solidFill>
                      <a:srgbClr val="1660AE"/>
                    </a:solidFill>
                  </a:rPr>
                  <a:t>Un unico strumento per</a:t>
                </a:r>
              </a:p>
              <a:p>
                <a:pPr algn="ctr"/>
                <a:r>
                  <a:rPr lang="it-IT" sz="850" dirty="0">
                    <a:solidFill>
                      <a:srgbClr val="1660AE"/>
                    </a:solidFill>
                  </a:rPr>
                  <a:t>integrare, validare e</a:t>
                </a:r>
              </a:p>
              <a:p>
                <a:pPr algn="ctr"/>
                <a:r>
                  <a:rPr lang="it-IT" sz="850" dirty="0">
                    <a:solidFill>
                      <a:srgbClr val="1660AE"/>
                    </a:solidFill>
                  </a:rPr>
                  <a:t>portare i dati nello </a:t>
                </a:r>
                <a:r>
                  <a:rPr lang="en-US" sz="850" noProof="0" dirty="0">
                    <a:solidFill>
                      <a:srgbClr val="1660AE"/>
                    </a:solidFill>
                  </a:rPr>
                  <a:t>staging</a:t>
                </a:r>
                <a:endParaRPr lang="it-IT" sz="850" dirty="0">
                  <a:solidFill>
                    <a:srgbClr val="1660AE"/>
                  </a:solidFill>
                </a:endParaRPr>
              </a:p>
            </p:txBody>
          </p:sp>
          <p:cxnSp>
            <p:nvCxnSpPr>
              <p:cNvPr id="1145" name="Connettore diritto 1144">
                <a:extLst>
                  <a:ext uri="{FF2B5EF4-FFF2-40B4-BE49-F238E27FC236}">
                    <a16:creationId xmlns:a16="http://schemas.microsoft.com/office/drawing/2014/main" id="{0F2C0A59-3437-6A1F-1E8B-59AD9519700B}"/>
                  </a:ext>
                </a:extLst>
              </p:cNvPr>
              <p:cNvCxnSpPr>
                <a:cxnSpLocks/>
                <a:stCxn id="109" idx="2"/>
              </p:cNvCxnSpPr>
              <p:nvPr/>
            </p:nvCxnSpPr>
            <p:spPr>
              <a:xfrm flipH="1">
                <a:off x="2752436" y="4253066"/>
                <a:ext cx="0" cy="335097"/>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7" name="Immagine 76">
                <a:extLst>
                  <a:ext uri="{FF2B5EF4-FFF2-40B4-BE49-F238E27FC236}">
                    <a16:creationId xmlns:a16="http://schemas.microsoft.com/office/drawing/2014/main" id="{795C03AE-93A3-F248-8920-DF250886E871}"/>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2438750" y="1551490"/>
                <a:ext cx="663326" cy="271152"/>
              </a:xfrm>
              <a:prstGeom prst="rect">
                <a:avLst/>
              </a:prstGeom>
            </p:spPr>
          </p:pic>
          <p:sp>
            <p:nvSpPr>
              <p:cNvPr id="103" name="CasellaDiTesto 102">
                <a:extLst>
                  <a:ext uri="{FF2B5EF4-FFF2-40B4-BE49-F238E27FC236}">
                    <a16:creationId xmlns:a16="http://schemas.microsoft.com/office/drawing/2014/main" id="{E48792D3-B1E9-36D3-1AE5-C2FF53F9C677}"/>
                  </a:ext>
                </a:extLst>
              </p:cNvPr>
              <p:cNvSpPr txBox="1">
                <a:spLocks/>
              </p:cNvSpPr>
              <p:nvPr/>
            </p:nvSpPr>
            <p:spPr>
              <a:xfrm>
                <a:off x="2446009" y="1772932"/>
                <a:ext cx="663964" cy="261610"/>
              </a:xfrm>
              <a:prstGeom prst="rect">
                <a:avLst/>
              </a:prstGeom>
              <a:noFill/>
            </p:spPr>
            <p:txBody>
              <a:bodyPr wrap="none" rtlCol="0">
                <a:spAutoFit/>
              </a:bodyPr>
              <a:lstStyle/>
              <a:p>
                <a:r>
                  <a:rPr lang="it-IT" sz="1050" b="1" dirty="0">
                    <a:solidFill>
                      <a:srgbClr val="0B7F7A"/>
                    </a:solidFill>
                  </a:rPr>
                  <a:t>Talend</a:t>
                </a:r>
                <a:endParaRPr lang="en-US" sz="1050" b="1" dirty="0">
                  <a:solidFill>
                    <a:srgbClr val="0B7F7A"/>
                  </a:solidFill>
                </a:endParaRPr>
              </a:p>
            </p:txBody>
          </p:sp>
          <p:pic>
            <p:nvPicPr>
              <p:cNvPr id="124" name="Immagine 123">
                <a:extLst>
                  <a:ext uri="{FF2B5EF4-FFF2-40B4-BE49-F238E27FC236}">
                    <a16:creationId xmlns:a16="http://schemas.microsoft.com/office/drawing/2014/main" id="{73D61BE5-9482-ACD0-8F52-23901370E9CD}"/>
                  </a:ext>
                </a:extLst>
              </p:cNvPr>
              <p:cNvPicPr>
                <a:picLocks noChangeAspect="1"/>
              </p:cNvPicPr>
              <p:nvPr/>
            </p:nvPicPr>
            <p:blipFill>
              <a:blip r:embed="rId22"/>
              <a:stretch>
                <a:fillRect/>
              </a:stretch>
            </p:blipFill>
            <p:spPr>
              <a:xfrm>
                <a:off x="2040810" y="2102588"/>
                <a:ext cx="144000" cy="144000"/>
              </a:xfrm>
              <a:prstGeom prst="rect">
                <a:avLst/>
              </a:prstGeom>
            </p:spPr>
          </p:pic>
          <p:pic>
            <p:nvPicPr>
              <p:cNvPr id="128" name="Immagine 127">
                <a:extLst>
                  <a:ext uri="{FF2B5EF4-FFF2-40B4-BE49-F238E27FC236}">
                    <a16:creationId xmlns:a16="http://schemas.microsoft.com/office/drawing/2014/main" id="{582C7094-6D76-E70E-440D-3E0344E82451}"/>
                  </a:ext>
                </a:extLst>
              </p:cNvPr>
              <p:cNvPicPr>
                <a:picLocks noChangeAspect="1"/>
              </p:cNvPicPr>
              <p:nvPr/>
            </p:nvPicPr>
            <p:blipFill>
              <a:blip r:embed="rId23"/>
              <a:stretch>
                <a:fillRect/>
              </a:stretch>
            </p:blipFill>
            <p:spPr>
              <a:xfrm>
                <a:off x="2040810" y="2365757"/>
                <a:ext cx="144000" cy="144000"/>
              </a:xfrm>
              <a:prstGeom prst="rect">
                <a:avLst/>
              </a:prstGeom>
            </p:spPr>
          </p:pic>
          <p:pic>
            <p:nvPicPr>
              <p:cNvPr id="131" name="Immagine 130">
                <a:extLst>
                  <a:ext uri="{FF2B5EF4-FFF2-40B4-BE49-F238E27FC236}">
                    <a16:creationId xmlns:a16="http://schemas.microsoft.com/office/drawing/2014/main" id="{152F8849-64BD-216E-B54E-17965A14FAFC}"/>
                  </a:ext>
                </a:extLst>
              </p:cNvPr>
              <p:cNvPicPr>
                <a:picLocks noChangeAspect="1"/>
              </p:cNvPicPr>
              <p:nvPr/>
            </p:nvPicPr>
            <p:blipFill>
              <a:blip r:embed="rId24"/>
              <a:stretch>
                <a:fillRect/>
              </a:stretch>
            </p:blipFill>
            <p:spPr>
              <a:xfrm>
                <a:off x="2040810" y="2639991"/>
                <a:ext cx="144000" cy="144000"/>
              </a:xfrm>
              <a:prstGeom prst="rect">
                <a:avLst/>
              </a:prstGeom>
            </p:spPr>
          </p:pic>
          <p:pic>
            <p:nvPicPr>
              <p:cNvPr id="133" name="Immagine 132">
                <a:extLst>
                  <a:ext uri="{FF2B5EF4-FFF2-40B4-BE49-F238E27FC236}">
                    <a16:creationId xmlns:a16="http://schemas.microsoft.com/office/drawing/2014/main" id="{2E3D6B54-8D0F-C8A8-3939-552781F09D91}"/>
                  </a:ext>
                </a:extLst>
              </p:cNvPr>
              <p:cNvPicPr>
                <a:picLocks noChangeAspect="1"/>
              </p:cNvPicPr>
              <p:nvPr/>
            </p:nvPicPr>
            <p:blipFill>
              <a:blip r:embed="rId25"/>
              <a:stretch>
                <a:fillRect/>
              </a:stretch>
            </p:blipFill>
            <p:spPr>
              <a:xfrm>
                <a:off x="2040810" y="2902411"/>
                <a:ext cx="144000" cy="144000"/>
              </a:xfrm>
              <a:prstGeom prst="rect">
                <a:avLst/>
              </a:prstGeom>
            </p:spPr>
          </p:pic>
          <p:pic>
            <p:nvPicPr>
              <p:cNvPr id="135" name="Elemento grafico 134">
                <a:extLst>
                  <a:ext uri="{FF2B5EF4-FFF2-40B4-BE49-F238E27FC236}">
                    <a16:creationId xmlns:a16="http://schemas.microsoft.com/office/drawing/2014/main" id="{1B394B04-78F0-F88A-9248-D8037D6AF99B}"/>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2040810" y="3182248"/>
                <a:ext cx="144000" cy="144000"/>
              </a:xfrm>
              <a:prstGeom prst="rect">
                <a:avLst/>
              </a:prstGeom>
            </p:spPr>
          </p:pic>
        </p:grpSp>
        <p:grpSp>
          <p:nvGrpSpPr>
            <p:cNvPr id="157" name="Gruppo 156">
              <a:extLst>
                <a:ext uri="{FF2B5EF4-FFF2-40B4-BE49-F238E27FC236}">
                  <a16:creationId xmlns:a16="http://schemas.microsoft.com/office/drawing/2014/main" id="{9ED455B8-1EEF-CA5A-98D2-BEB9C5E926C8}"/>
                </a:ext>
              </a:extLst>
            </p:cNvPr>
            <p:cNvGrpSpPr>
              <a:grpSpLocks/>
            </p:cNvGrpSpPr>
            <p:nvPr/>
          </p:nvGrpSpPr>
          <p:grpSpPr>
            <a:xfrm>
              <a:off x="3766883" y="1486454"/>
              <a:ext cx="1798479" cy="3125783"/>
              <a:chOff x="3766883" y="1486454"/>
              <a:chExt cx="1798479" cy="3125783"/>
            </a:xfrm>
          </p:grpSpPr>
          <p:sp>
            <p:nvSpPr>
              <p:cNvPr id="143" name="Rettangolo con angoli arrotondati 142">
                <a:extLst>
                  <a:ext uri="{FF2B5EF4-FFF2-40B4-BE49-F238E27FC236}">
                    <a16:creationId xmlns:a16="http://schemas.microsoft.com/office/drawing/2014/main" id="{AF938604-B036-A5C1-64B4-07BD1865A840}"/>
                  </a:ext>
                </a:extLst>
              </p:cNvPr>
              <p:cNvSpPr>
                <a:spLocks/>
              </p:cNvSpPr>
              <p:nvPr/>
            </p:nvSpPr>
            <p:spPr>
              <a:xfrm>
                <a:off x="3766883" y="1486454"/>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CasellaDiTesto 143">
                <a:extLst>
                  <a:ext uri="{FF2B5EF4-FFF2-40B4-BE49-F238E27FC236}">
                    <a16:creationId xmlns:a16="http://schemas.microsoft.com/office/drawing/2014/main" id="{C785B260-7368-30D5-CBC4-119C8B61E9C9}"/>
                  </a:ext>
                </a:extLst>
              </p:cNvPr>
              <p:cNvSpPr txBox="1">
                <a:spLocks/>
              </p:cNvSpPr>
              <p:nvPr/>
            </p:nvSpPr>
            <p:spPr>
              <a:xfrm>
                <a:off x="4304332" y="2078679"/>
                <a:ext cx="1162593" cy="203508"/>
              </a:xfrm>
              <a:prstGeom prst="rect">
                <a:avLst/>
              </a:prstGeom>
              <a:noFill/>
            </p:spPr>
            <p:txBody>
              <a:bodyPr wrap="square" lIns="36000" tIns="36000" rIns="36000" bIns="36000" rtlCol="0">
                <a:spAutoFit/>
              </a:bodyPr>
              <a:lstStyle/>
              <a:p>
                <a:r>
                  <a:rPr lang="it-IT" sz="850" dirty="0">
                    <a:solidFill>
                      <a:srgbClr val="1660AE"/>
                    </a:solidFill>
                  </a:rPr>
                  <a:t>Trasformazioni</a:t>
                </a:r>
                <a:endParaRPr lang="en-US" sz="850" dirty="0">
                  <a:solidFill>
                    <a:srgbClr val="1660AE"/>
                  </a:solidFill>
                </a:endParaRPr>
              </a:p>
            </p:txBody>
          </p:sp>
          <p:sp>
            <p:nvSpPr>
              <p:cNvPr id="145" name="CasellaDiTesto 144">
                <a:extLst>
                  <a:ext uri="{FF2B5EF4-FFF2-40B4-BE49-F238E27FC236}">
                    <a16:creationId xmlns:a16="http://schemas.microsoft.com/office/drawing/2014/main" id="{B0574361-F5C8-C077-58F6-00AF87EAB7DC}"/>
                  </a:ext>
                </a:extLst>
              </p:cNvPr>
              <p:cNvSpPr txBox="1">
                <a:spLocks/>
              </p:cNvSpPr>
              <p:nvPr/>
            </p:nvSpPr>
            <p:spPr>
              <a:xfrm>
                <a:off x="4304332" y="2345294"/>
                <a:ext cx="1162593" cy="203508"/>
              </a:xfrm>
              <a:prstGeom prst="rect">
                <a:avLst/>
              </a:prstGeom>
              <a:noFill/>
            </p:spPr>
            <p:txBody>
              <a:bodyPr wrap="square" lIns="36000" tIns="36000" rIns="36000" bIns="36000" rtlCol="0">
                <a:spAutoFit/>
              </a:bodyPr>
              <a:lstStyle/>
              <a:p>
                <a:r>
                  <a:rPr lang="it-IT" sz="850" dirty="0">
                    <a:solidFill>
                      <a:srgbClr val="1660AE"/>
                    </a:solidFill>
                  </a:rPr>
                  <a:t>Business </a:t>
                </a:r>
                <a:r>
                  <a:rPr lang="en-US" sz="850" noProof="0" dirty="0">
                    <a:solidFill>
                      <a:srgbClr val="1660AE"/>
                    </a:solidFill>
                  </a:rPr>
                  <a:t>logic</a:t>
                </a:r>
                <a:endParaRPr lang="en-US" sz="850" dirty="0">
                  <a:solidFill>
                    <a:srgbClr val="1660AE"/>
                  </a:solidFill>
                </a:endParaRPr>
              </a:p>
            </p:txBody>
          </p:sp>
          <p:sp>
            <p:nvSpPr>
              <p:cNvPr id="146" name="CasellaDiTesto 145">
                <a:extLst>
                  <a:ext uri="{FF2B5EF4-FFF2-40B4-BE49-F238E27FC236}">
                    <a16:creationId xmlns:a16="http://schemas.microsoft.com/office/drawing/2014/main" id="{58681000-4610-00EB-B493-8339EBCC8EDE}"/>
                  </a:ext>
                </a:extLst>
              </p:cNvPr>
              <p:cNvSpPr txBox="1">
                <a:spLocks/>
              </p:cNvSpPr>
              <p:nvPr/>
            </p:nvSpPr>
            <p:spPr>
              <a:xfrm>
                <a:off x="4304332" y="2623319"/>
                <a:ext cx="1162593" cy="203508"/>
              </a:xfrm>
              <a:prstGeom prst="rect">
                <a:avLst/>
              </a:prstGeom>
              <a:noFill/>
            </p:spPr>
            <p:txBody>
              <a:bodyPr wrap="square" lIns="36000" tIns="36000" rIns="36000" bIns="36000" rtlCol="0">
                <a:spAutoFit/>
              </a:bodyPr>
              <a:lstStyle/>
              <a:p>
                <a:r>
                  <a:rPr lang="it-IT" sz="850" dirty="0">
                    <a:solidFill>
                      <a:srgbClr val="1660AE"/>
                    </a:solidFill>
                  </a:rPr>
                  <a:t>Regole e calcoli</a:t>
                </a:r>
                <a:endParaRPr lang="en-US" sz="850" dirty="0">
                  <a:solidFill>
                    <a:srgbClr val="1660AE"/>
                  </a:solidFill>
                </a:endParaRPr>
              </a:p>
            </p:txBody>
          </p:sp>
          <p:sp>
            <p:nvSpPr>
              <p:cNvPr id="147" name="CasellaDiTesto 146">
                <a:extLst>
                  <a:ext uri="{FF2B5EF4-FFF2-40B4-BE49-F238E27FC236}">
                    <a16:creationId xmlns:a16="http://schemas.microsoft.com/office/drawing/2014/main" id="{AD96DDE4-56A9-41C7-D4CD-3718F8E8F5F3}"/>
                  </a:ext>
                </a:extLst>
              </p:cNvPr>
              <p:cNvSpPr txBox="1">
                <a:spLocks/>
              </p:cNvSpPr>
              <p:nvPr/>
            </p:nvSpPr>
            <p:spPr>
              <a:xfrm>
                <a:off x="4304332" y="3156626"/>
                <a:ext cx="1162593" cy="334313"/>
              </a:xfrm>
              <a:prstGeom prst="rect">
                <a:avLst/>
              </a:prstGeom>
              <a:noFill/>
            </p:spPr>
            <p:txBody>
              <a:bodyPr wrap="square" lIns="36000" tIns="36000" rIns="36000" bIns="36000" rtlCol="0">
                <a:spAutoFit/>
              </a:bodyPr>
              <a:lstStyle/>
              <a:p>
                <a:r>
                  <a:rPr lang="it-IT" sz="850" dirty="0">
                    <a:solidFill>
                      <a:srgbClr val="1660AE"/>
                    </a:solidFill>
                  </a:rPr>
                  <a:t>Data Quality Avanzata</a:t>
                </a:r>
                <a:endParaRPr lang="en-US" sz="850" dirty="0">
                  <a:solidFill>
                    <a:srgbClr val="1660AE"/>
                  </a:solidFill>
                </a:endParaRPr>
              </a:p>
            </p:txBody>
          </p:sp>
          <p:cxnSp>
            <p:nvCxnSpPr>
              <p:cNvPr id="148" name="Connettore diritto 147">
                <a:extLst>
                  <a:ext uri="{FF2B5EF4-FFF2-40B4-BE49-F238E27FC236}">
                    <a16:creationId xmlns:a16="http://schemas.microsoft.com/office/drawing/2014/main" id="{602DDC43-4178-C356-E110-66C6212B5BAD}"/>
                  </a:ext>
                </a:extLst>
              </p:cNvPr>
              <p:cNvCxnSpPr>
                <a:cxnSpLocks/>
              </p:cNvCxnSpPr>
              <p:nvPr/>
            </p:nvCxnSpPr>
            <p:spPr>
              <a:xfrm>
                <a:off x="3919555" y="3519192"/>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50" name="CasellaDiTesto 149">
                <a:extLst>
                  <a:ext uri="{FF2B5EF4-FFF2-40B4-BE49-F238E27FC236}">
                    <a16:creationId xmlns:a16="http://schemas.microsoft.com/office/drawing/2014/main" id="{7554726F-2462-6462-117A-4786F3D31DE5}"/>
                  </a:ext>
                </a:extLst>
              </p:cNvPr>
              <p:cNvSpPr txBox="1">
                <a:spLocks/>
              </p:cNvSpPr>
              <p:nvPr/>
            </p:nvSpPr>
            <p:spPr>
              <a:xfrm>
                <a:off x="4304332" y="2886182"/>
                <a:ext cx="1162593" cy="203508"/>
              </a:xfrm>
              <a:prstGeom prst="rect">
                <a:avLst/>
              </a:prstGeom>
              <a:noFill/>
            </p:spPr>
            <p:txBody>
              <a:bodyPr wrap="square" lIns="36000" tIns="36000" rIns="36000" bIns="36000" rtlCol="0">
                <a:spAutoFit/>
              </a:bodyPr>
              <a:lstStyle/>
              <a:p>
                <a:r>
                  <a:rPr lang="it-IT" sz="850" dirty="0">
                    <a:solidFill>
                      <a:srgbClr val="1660AE"/>
                    </a:solidFill>
                  </a:rPr>
                  <a:t>Gestione modelli</a:t>
                </a:r>
                <a:endParaRPr lang="en-US" sz="850" dirty="0">
                  <a:solidFill>
                    <a:srgbClr val="1660AE"/>
                  </a:solidFill>
                </a:endParaRPr>
              </a:p>
            </p:txBody>
          </p:sp>
          <p:pic>
            <p:nvPicPr>
              <p:cNvPr id="170" name="Immagine 169">
                <a:extLst>
                  <a:ext uri="{FF2B5EF4-FFF2-40B4-BE49-F238E27FC236}">
                    <a16:creationId xmlns:a16="http://schemas.microsoft.com/office/drawing/2014/main" id="{05A9C753-D0A9-3F90-2D94-5C12C10EA447}"/>
                  </a:ext>
                </a:extLst>
              </p:cNvPr>
              <p:cNvPicPr>
                <a:picLocks noChangeAspect="1"/>
              </p:cNvPicPr>
              <p:nvPr/>
            </p:nvPicPr>
            <p:blipFill>
              <a:blip r:embed="rId27"/>
              <a:stretch>
                <a:fillRect/>
              </a:stretch>
            </p:blipFill>
            <p:spPr>
              <a:xfrm>
                <a:off x="3869425" y="2915936"/>
                <a:ext cx="144000" cy="144000"/>
              </a:xfrm>
              <a:prstGeom prst="rect">
                <a:avLst/>
              </a:prstGeom>
            </p:spPr>
          </p:pic>
          <p:sp>
            <p:nvSpPr>
              <p:cNvPr id="1066" name="CasellaDiTesto 1065">
                <a:extLst>
                  <a:ext uri="{FF2B5EF4-FFF2-40B4-BE49-F238E27FC236}">
                    <a16:creationId xmlns:a16="http://schemas.microsoft.com/office/drawing/2014/main" id="{0CA5279D-2843-23B0-C51F-659189B6B998}"/>
                  </a:ext>
                </a:extLst>
              </p:cNvPr>
              <p:cNvSpPr txBox="1">
                <a:spLocks/>
              </p:cNvSpPr>
              <p:nvPr/>
            </p:nvSpPr>
            <p:spPr>
              <a:xfrm>
                <a:off x="3854863" y="3630277"/>
                <a:ext cx="1622519" cy="504000"/>
              </a:xfrm>
              <a:prstGeom prst="rect">
                <a:avLst/>
              </a:prstGeom>
              <a:noFill/>
            </p:spPr>
            <p:txBody>
              <a:bodyPr wrap="square" rtlCol="0" anchor="ctr">
                <a:noAutofit/>
              </a:bodyPr>
              <a:lstStyle/>
              <a:p>
                <a:pPr algn="ctr"/>
                <a:r>
                  <a:rPr lang="it-IT" sz="850" dirty="0">
                    <a:solidFill>
                      <a:srgbClr val="1660AE"/>
                    </a:solidFill>
                  </a:rPr>
                  <a:t>Trasformazioni guidate da</a:t>
                </a:r>
              </a:p>
              <a:p>
                <a:pPr algn="ctr"/>
                <a:r>
                  <a:rPr lang="it-IT" sz="850" dirty="0">
                    <a:solidFill>
                      <a:srgbClr val="1660AE"/>
                    </a:solidFill>
                  </a:rPr>
                  <a:t>modello e regole</a:t>
                </a:r>
              </a:p>
              <a:p>
                <a:pPr algn="ctr"/>
                <a:r>
                  <a:rPr lang="it-IT" sz="850" dirty="0">
                    <a:solidFill>
                      <a:srgbClr val="1660AE"/>
                    </a:solidFill>
                  </a:rPr>
                  <a:t>riutilizzabili</a:t>
                </a:r>
              </a:p>
            </p:txBody>
          </p:sp>
          <p:cxnSp>
            <p:nvCxnSpPr>
              <p:cNvPr id="1148" name="Connettore diritto 1147">
                <a:extLst>
                  <a:ext uri="{FF2B5EF4-FFF2-40B4-BE49-F238E27FC236}">
                    <a16:creationId xmlns:a16="http://schemas.microsoft.com/office/drawing/2014/main" id="{D07DF288-9023-2EB3-35BF-932324D26901}"/>
                  </a:ext>
                </a:extLst>
              </p:cNvPr>
              <p:cNvCxnSpPr>
                <a:cxnSpLocks/>
                <a:stCxn id="143" idx="2"/>
              </p:cNvCxnSpPr>
              <p:nvPr/>
            </p:nvCxnSpPr>
            <p:spPr>
              <a:xfrm flipH="1">
                <a:off x="4664364" y="4260134"/>
                <a:ext cx="0" cy="352103"/>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8" name="Immagine 77">
                <a:extLst>
                  <a:ext uri="{FF2B5EF4-FFF2-40B4-BE49-F238E27FC236}">
                    <a16:creationId xmlns:a16="http://schemas.microsoft.com/office/drawing/2014/main" id="{5DD3AD93-4A63-0B35-5E90-6A5C354C632E}"/>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4332701" y="1551490"/>
                <a:ext cx="663326" cy="271152"/>
              </a:xfrm>
              <a:prstGeom prst="rect">
                <a:avLst/>
              </a:prstGeom>
            </p:spPr>
          </p:pic>
          <p:pic>
            <p:nvPicPr>
              <p:cNvPr id="139" name="Elemento grafico 138">
                <a:extLst>
                  <a:ext uri="{FF2B5EF4-FFF2-40B4-BE49-F238E27FC236}">
                    <a16:creationId xmlns:a16="http://schemas.microsoft.com/office/drawing/2014/main" id="{380E93D6-B7F9-3D3D-8E64-DA183272882C}"/>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3869425" y="2104157"/>
                <a:ext cx="144000" cy="144000"/>
              </a:xfrm>
              <a:prstGeom prst="rect">
                <a:avLst/>
              </a:prstGeom>
            </p:spPr>
          </p:pic>
          <p:pic>
            <p:nvPicPr>
              <p:cNvPr id="142" name="Elemento grafico 141">
                <a:extLst>
                  <a:ext uri="{FF2B5EF4-FFF2-40B4-BE49-F238E27FC236}">
                    <a16:creationId xmlns:a16="http://schemas.microsoft.com/office/drawing/2014/main" id="{B16B294D-681D-1641-3820-2E98BE1A1317}"/>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3869425" y="2370274"/>
                <a:ext cx="144000" cy="144000"/>
              </a:xfrm>
              <a:prstGeom prst="rect">
                <a:avLst/>
              </a:prstGeom>
            </p:spPr>
          </p:pic>
          <p:pic>
            <p:nvPicPr>
              <p:cNvPr id="151" name="Elemento grafico 150">
                <a:extLst>
                  <a:ext uri="{FF2B5EF4-FFF2-40B4-BE49-F238E27FC236}">
                    <a16:creationId xmlns:a16="http://schemas.microsoft.com/office/drawing/2014/main" id="{1A25371C-F4B5-13E9-D4EE-679F6D5FD376}"/>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3869425" y="2660852"/>
                <a:ext cx="144000" cy="144000"/>
              </a:xfrm>
              <a:prstGeom prst="rect">
                <a:avLst/>
              </a:prstGeom>
            </p:spPr>
          </p:pic>
          <p:pic>
            <p:nvPicPr>
              <p:cNvPr id="156" name="Elemento grafico 155">
                <a:extLst>
                  <a:ext uri="{FF2B5EF4-FFF2-40B4-BE49-F238E27FC236}">
                    <a16:creationId xmlns:a16="http://schemas.microsoft.com/office/drawing/2014/main" id="{CCF5C214-DC45-C374-3E88-3BB03BF2F805}"/>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3869425" y="3201106"/>
                <a:ext cx="144000" cy="144000"/>
              </a:xfrm>
              <a:prstGeom prst="rect">
                <a:avLst/>
              </a:prstGeom>
            </p:spPr>
          </p:pic>
        </p:grpSp>
        <p:grpSp>
          <p:nvGrpSpPr>
            <p:cNvPr id="105" name="Gruppo 104">
              <a:extLst>
                <a:ext uri="{FF2B5EF4-FFF2-40B4-BE49-F238E27FC236}">
                  <a16:creationId xmlns:a16="http://schemas.microsoft.com/office/drawing/2014/main" id="{C935F36D-66D8-89DA-DBEA-ED8E9A85A537}"/>
                </a:ext>
              </a:extLst>
            </p:cNvPr>
            <p:cNvGrpSpPr/>
            <p:nvPr/>
          </p:nvGrpSpPr>
          <p:grpSpPr>
            <a:xfrm>
              <a:off x="9342000" y="898133"/>
              <a:ext cx="2390060" cy="3354933"/>
              <a:chOff x="6859866" y="898133"/>
              <a:chExt cx="2390060" cy="3354933"/>
            </a:xfrm>
          </p:grpSpPr>
          <p:sp>
            <p:nvSpPr>
              <p:cNvPr id="7" name="Rettangolo con angoli arrotondati 6">
                <a:extLst>
                  <a:ext uri="{FF2B5EF4-FFF2-40B4-BE49-F238E27FC236}">
                    <a16:creationId xmlns:a16="http://schemas.microsoft.com/office/drawing/2014/main" id="{2C072F99-E068-E747-D03F-8224B48C8EC3}"/>
                  </a:ext>
                </a:extLst>
              </p:cNvPr>
              <p:cNvSpPr/>
              <p:nvPr/>
            </p:nvSpPr>
            <p:spPr>
              <a:xfrm>
                <a:off x="6859866" y="898133"/>
                <a:ext cx="2390060" cy="3354933"/>
              </a:xfrm>
              <a:prstGeom prst="roundRect">
                <a:avLst>
                  <a:gd name="adj" fmla="val 3362"/>
                </a:avLst>
              </a:prstGeom>
              <a:solidFill>
                <a:srgbClr val="F6F9FC"/>
              </a:solidFill>
              <a:ln w="9525">
                <a:solidFill>
                  <a:srgbClr val="CDDF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asellaDiTesto 10">
                <a:extLst>
                  <a:ext uri="{FF2B5EF4-FFF2-40B4-BE49-F238E27FC236}">
                    <a16:creationId xmlns:a16="http://schemas.microsoft.com/office/drawing/2014/main" id="{0264288E-B9B4-F64B-A1D5-FA40BD50A691}"/>
                  </a:ext>
                </a:extLst>
              </p:cNvPr>
              <p:cNvSpPr txBox="1"/>
              <p:nvPr/>
            </p:nvSpPr>
            <p:spPr>
              <a:xfrm>
                <a:off x="7046896" y="998804"/>
                <a:ext cx="2015999" cy="226591"/>
              </a:xfrm>
              <a:prstGeom prst="rect">
                <a:avLst/>
              </a:prstGeom>
              <a:noFill/>
            </p:spPr>
            <p:txBody>
              <a:bodyPr wrap="square" lIns="36000" tIns="36000" rIns="36000" bIns="36000" rtlCol="0" anchor="ctr">
                <a:spAutoFit/>
              </a:bodyPr>
              <a:lstStyle/>
              <a:p>
                <a:pPr algn="just"/>
                <a:r>
                  <a:rPr lang="en-US" sz="1000" b="1" dirty="0">
                    <a:solidFill>
                      <a:srgbClr val="10387E"/>
                    </a:solidFill>
                  </a:rPr>
                  <a:t>PERCHÉ QUESTO APPROCCIO</a:t>
                </a:r>
              </a:p>
            </p:txBody>
          </p:sp>
          <p:grpSp>
            <p:nvGrpSpPr>
              <p:cNvPr id="15" name="Gruppo 14">
                <a:extLst>
                  <a:ext uri="{FF2B5EF4-FFF2-40B4-BE49-F238E27FC236}">
                    <a16:creationId xmlns:a16="http://schemas.microsoft.com/office/drawing/2014/main" id="{08D63C52-E26A-CCEB-A7C5-3B04EBE8D66F}"/>
                  </a:ext>
                </a:extLst>
              </p:cNvPr>
              <p:cNvGrpSpPr/>
              <p:nvPr/>
            </p:nvGrpSpPr>
            <p:grpSpPr>
              <a:xfrm>
                <a:off x="7021992" y="1482787"/>
                <a:ext cx="2040903" cy="354884"/>
                <a:chOff x="9505567" y="1504191"/>
                <a:chExt cx="2040903" cy="354884"/>
              </a:xfrm>
            </p:grpSpPr>
            <p:grpSp>
              <p:nvGrpSpPr>
                <p:cNvPr id="91" name="Gruppo 90">
                  <a:extLst>
                    <a:ext uri="{FF2B5EF4-FFF2-40B4-BE49-F238E27FC236}">
                      <a16:creationId xmlns:a16="http://schemas.microsoft.com/office/drawing/2014/main" id="{4127EEDC-4E1E-055D-5FE7-CFE19FCF33A8}"/>
                    </a:ext>
                  </a:extLst>
                </p:cNvPr>
                <p:cNvGrpSpPr>
                  <a:grpSpLocks/>
                </p:cNvGrpSpPr>
                <p:nvPr/>
              </p:nvGrpSpPr>
              <p:grpSpPr>
                <a:xfrm>
                  <a:off x="9505567" y="1504191"/>
                  <a:ext cx="354884" cy="354884"/>
                  <a:chOff x="6879490" y="4314168"/>
                  <a:chExt cx="354884" cy="354884"/>
                </a:xfrm>
              </p:grpSpPr>
              <p:sp>
                <p:nvSpPr>
                  <p:cNvPr id="102" name="Ovale 101">
                    <a:extLst>
                      <a:ext uri="{FF2B5EF4-FFF2-40B4-BE49-F238E27FC236}">
                        <a16:creationId xmlns:a16="http://schemas.microsoft.com/office/drawing/2014/main" id="{2066CB83-1352-5823-BFE5-2B43C4A21B95}"/>
                      </a:ext>
                    </a:extLst>
                  </p:cNvPr>
                  <p:cNvSpPr>
                    <a:spLocks/>
                  </p:cNvSpPr>
                  <p:nvPr/>
                </p:nvSpPr>
                <p:spPr>
                  <a:xfrm>
                    <a:off x="6879490" y="4314168"/>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4" name="Elemento grafico 103">
                    <a:extLst>
                      <a:ext uri="{FF2B5EF4-FFF2-40B4-BE49-F238E27FC236}">
                        <a16:creationId xmlns:a16="http://schemas.microsoft.com/office/drawing/2014/main" id="{8BA20AC1-03AD-223C-A5B2-99D8E32FA775}"/>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6942632" y="4377310"/>
                    <a:ext cx="228600" cy="228600"/>
                  </a:xfrm>
                  <a:prstGeom prst="rect">
                    <a:avLst/>
                  </a:prstGeom>
                </p:spPr>
              </p:pic>
            </p:grpSp>
            <p:sp>
              <p:nvSpPr>
                <p:cNvPr id="92" name="CasellaDiTesto 91">
                  <a:extLst>
                    <a:ext uri="{FF2B5EF4-FFF2-40B4-BE49-F238E27FC236}">
                      <a16:creationId xmlns:a16="http://schemas.microsoft.com/office/drawing/2014/main" id="{7918D8EA-AC4E-D913-3C04-FE0657387585}"/>
                    </a:ext>
                  </a:extLst>
                </p:cNvPr>
                <p:cNvSpPr txBox="1"/>
                <p:nvPr/>
              </p:nvSpPr>
              <p:spPr>
                <a:xfrm>
                  <a:off x="9923593" y="1573911"/>
                  <a:ext cx="1622877" cy="215444"/>
                </a:xfrm>
                <a:prstGeom prst="rect">
                  <a:avLst/>
                </a:prstGeom>
                <a:noFill/>
              </p:spPr>
              <p:txBody>
                <a:bodyPr wrap="square" rtlCol="0">
                  <a:spAutoFit/>
                </a:bodyPr>
                <a:lstStyle/>
                <a:p>
                  <a:r>
                    <a:rPr lang="it-IT" sz="800" dirty="0"/>
                    <a:t>Piattaforma cloud integrata</a:t>
                  </a:r>
                  <a:endParaRPr lang="en-US" sz="800" dirty="0"/>
                </a:p>
              </p:txBody>
            </p:sp>
          </p:grpSp>
          <p:grpSp>
            <p:nvGrpSpPr>
              <p:cNvPr id="20" name="Gruppo 19">
                <a:extLst>
                  <a:ext uri="{FF2B5EF4-FFF2-40B4-BE49-F238E27FC236}">
                    <a16:creationId xmlns:a16="http://schemas.microsoft.com/office/drawing/2014/main" id="{25568400-0791-4067-61A1-8475F1066D66}"/>
                  </a:ext>
                </a:extLst>
              </p:cNvPr>
              <p:cNvGrpSpPr/>
              <p:nvPr/>
            </p:nvGrpSpPr>
            <p:grpSpPr>
              <a:xfrm>
                <a:off x="7021992" y="2026055"/>
                <a:ext cx="2040902" cy="354884"/>
                <a:chOff x="9505567" y="2006174"/>
                <a:chExt cx="2040902" cy="354884"/>
              </a:xfrm>
            </p:grpSpPr>
            <p:grpSp>
              <p:nvGrpSpPr>
                <p:cNvPr id="73" name="Gruppo 72">
                  <a:extLst>
                    <a:ext uri="{FF2B5EF4-FFF2-40B4-BE49-F238E27FC236}">
                      <a16:creationId xmlns:a16="http://schemas.microsoft.com/office/drawing/2014/main" id="{73BDD364-A06F-8FC7-F294-49BB10CF3A75}"/>
                    </a:ext>
                  </a:extLst>
                </p:cNvPr>
                <p:cNvGrpSpPr>
                  <a:grpSpLocks/>
                </p:cNvGrpSpPr>
                <p:nvPr/>
              </p:nvGrpSpPr>
              <p:grpSpPr>
                <a:xfrm>
                  <a:off x="9505567" y="2006174"/>
                  <a:ext cx="354884" cy="354884"/>
                  <a:chOff x="6874615" y="4706700"/>
                  <a:chExt cx="354884" cy="354884"/>
                </a:xfrm>
              </p:grpSpPr>
              <p:sp>
                <p:nvSpPr>
                  <p:cNvPr id="75" name="Ovale 74">
                    <a:extLst>
                      <a:ext uri="{FF2B5EF4-FFF2-40B4-BE49-F238E27FC236}">
                        <a16:creationId xmlns:a16="http://schemas.microsoft.com/office/drawing/2014/main" id="{A04F5A94-EEA8-D35F-9FD8-791609EC8436}"/>
                      </a:ext>
                    </a:extLst>
                  </p:cNvPr>
                  <p:cNvSpPr>
                    <a:spLocks/>
                  </p:cNvSpPr>
                  <p:nvPr/>
                </p:nvSpPr>
                <p:spPr>
                  <a:xfrm>
                    <a:off x="6874615" y="4706700"/>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6" name="Gruppo 75">
                    <a:extLst>
                      <a:ext uri="{FF2B5EF4-FFF2-40B4-BE49-F238E27FC236}">
                        <a16:creationId xmlns:a16="http://schemas.microsoft.com/office/drawing/2014/main" id="{5752C9C4-C91E-1537-160E-C75AA525F621}"/>
                      </a:ext>
                    </a:extLst>
                  </p:cNvPr>
                  <p:cNvGrpSpPr>
                    <a:grpSpLocks/>
                  </p:cNvGrpSpPr>
                  <p:nvPr/>
                </p:nvGrpSpPr>
                <p:grpSpPr>
                  <a:xfrm>
                    <a:off x="6964308" y="4786662"/>
                    <a:ext cx="175500" cy="194981"/>
                    <a:chOff x="5040164" y="3199740"/>
                    <a:chExt cx="175500" cy="194981"/>
                  </a:xfrm>
                </p:grpSpPr>
                <p:sp>
                  <p:nvSpPr>
                    <p:cNvPr id="82" name="Figura a mano libera: forma 81">
                      <a:extLst>
                        <a:ext uri="{FF2B5EF4-FFF2-40B4-BE49-F238E27FC236}">
                          <a16:creationId xmlns:a16="http://schemas.microsoft.com/office/drawing/2014/main" id="{54A1D44C-989C-6513-F78C-579703C57D71}"/>
                        </a:ext>
                      </a:extLst>
                    </p:cNvPr>
                    <p:cNvSpPr>
                      <a:spLocks/>
                    </p:cNvSpPr>
                    <p:nvPr/>
                  </p:nvSpPr>
                  <p:spPr>
                    <a:xfrm>
                      <a:off x="5040164" y="3199740"/>
                      <a:ext cx="175500" cy="194960"/>
                    </a:xfrm>
                    <a:custGeom>
                      <a:avLst/>
                      <a:gdLst>
                        <a:gd name="csX0" fmla="*/ 175500 w 175500"/>
                        <a:gd name="csY0" fmla="*/ 58480 h 194960"/>
                        <a:gd name="csX1" fmla="*/ 165750 w 175500"/>
                        <a:gd name="csY1" fmla="*/ 41613 h 194960"/>
                        <a:gd name="csX2" fmla="*/ 97500 w 175500"/>
                        <a:gd name="csY2" fmla="*/ 2613 h 194960"/>
                        <a:gd name="csX3" fmla="*/ 78000 w 175500"/>
                        <a:gd name="csY3" fmla="*/ 2613 h 194960"/>
                        <a:gd name="csX4" fmla="*/ 9750 w 175500"/>
                        <a:gd name="csY4" fmla="*/ 41613 h 194960"/>
                        <a:gd name="csX5" fmla="*/ 0 w 175500"/>
                        <a:gd name="csY5" fmla="*/ 58480 h 194960"/>
                        <a:gd name="csX6" fmla="*/ 0 w 175500"/>
                        <a:gd name="csY6" fmla="*/ 136480 h 194960"/>
                        <a:gd name="csX7" fmla="*/ 9750 w 175500"/>
                        <a:gd name="csY7" fmla="*/ 153348 h 194960"/>
                        <a:gd name="csX8" fmla="*/ 78000 w 175500"/>
                        <a:gd name="csY8" fmla="*/ 192348 h 194960"/>
                        <a:gd name="csX9" fmla="*/ 97500 w 175500"/>
                        <a:gd name="csY9" fmla="*/ 192348 h 194960"/>
                        <a:gd name="csX10" fmla="*/ 165750 w 175500"/>
                        <a:gd name="csY10" fmla="*/ 153348 h 194960"/>
                        <a:gd name="csX11" fmla="*/ 175500 w 175500"/>
                        <a:gd name="csY11" fmla="*/ 136480 h 194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75500" h="194960">
                          <a:moveTo>
                            <a:pt x="175500" y="58480"/>
                          </a:moveTo>
                          <a:cubicBezTo>
                            <a:pt x="175493" y="51520"/>
                            <a:pt x="171777" y="45092"/>
                            <a:pt x="165750" y="41613"/>
                          </a:cubicBezTo>
                          <a:lnTo>
                            <a:pt x="97500" y="2613"/>
                          </a:lnTo>
                          <a:cubicBezTo>
                            <a:pt x="91467" y="-871"/>
                            <a:pt x="84033" y="-871"/>
                            <a:pt x="78000" y="2613"/>
                          </a:cubicBezTo>
                          <a:lnTo>
                            <a:pt x="9750" y="41613"/>
                          </a:lnTo>
                          <a:cubicBezTo>
                            <a:pt x="3723" y="45092"/>
                            <a:pt x="7" y="51520"/>
                            <a:pt x="0" y="58480"/>
                          </a:cubicBezTo>
                          <a:lnTo>
                            <a:pt x="0" y="136480"/>
                          </a:lnTo>
                          <a:cubicBezTo>
                            <a:pt x="7" y="143440"/>
                            <a:pt x="3723" y="149868"/>
                            <a:pt x="9750" y="153348"/>
                          </a:cubicBezTo>
                          <a:lnTo>
                            <a:pt x="78000" y="192348"/>
                          </a:lnTo>
                          <a:cubicBezTo>
                            <a:pt x="84033" y="195831"/>
                            <a:pt x="91467" y="195831"/>
                            <a:pt x="97500" y="192348"/>
                          </a:cubicBezTo>
                          <a:lnTo>
                            <a:pt x="165750" y="153348"/>
                          </a:lnTo>
                          <a:cubicBezTo>
                            <a:pt x="171777" y="149868"/>
                            <a:pt x="175493" y="143440"/>
                            <a:pt x="175500" y="136480"/>
                          </a:cubicBezTo>
                          <a:close/>
                        </a:path>
                      </a:pathLst>
                    </a:custGeom>
                    <a:noFill/>
                    <a:ln w="19050" cap="rnd">
                      <a:solidFill>
                        <a:srgbClr val="1F5AAD"/>
                      </a:solidFill>
                      <a:prstDash val="solid"/>
                      <a:round/>
                    </a:ln>
                  </p:spPr>
                  <p:txBody>
                    <a:bodyPr/>
                    <a:lstStyle/>
                    <a:p>
                      <a:endParaRPr lang="en-US"/>
                    </a:p>
                  </p:txBody>
                </p:sp>
                <p:sp>
                  <p:nvSpPr>
                    <p:cNvPr id="84" name="Figura a mano libera: forma 83">
                      <a:extLst>
                        <a:ext uri="{FF2B5EF4-FFF2-40B4-BE49-F238E27FC236}">
                          <a16:creationId xmlns:a16="http://schemas.microsoft.com/office/drawing/2014/main" id="{42DC31F5-1C63-EF91-193A-CF0514EA1D83}"/>
                        </a:ext>
                      </a:extLst>
                    </p:cNvPr>
                    <p:cNvSpPr>
                      <a:spLocks/>
                    </p:cNvSpPr>
                    <p:nvPr/>
                  </p:nvSpPr>
                  <p:spPr>
                    <a:xfrm>
                      <a:off x="5043088" y="3248471"/>
                      <a:ext cx="169650" cy="48750"/>
                    </a:xfrm>
                    <a:custGeom>
                      <a:avLst/>
                      <a:gdLst>
                        <a:gd name="csX0" fmla="*/ 0 w 169650"/>
                        <a:gd name="csY0" fmla="*/ 0 h 48750"/>
                        <a:gd name="csX1" fmla="*/ 84825 w 169650"/>
                        <a:gd name="csY1" fmla="*/ 48750 h 48750"/>
                        <a:gd name="csX2" fmla="*/ 169650 w 169650"/>
                        <a:gd name="csY2" fmla="*/ 0 h 48750"/>
                      </a:gdLst>
                      <a:ahLst/>
                      <a:cxnLst>
                        <a:cxn ang="0">
                          <a:pos x="csX0" y="csY0"/>
                        </a:cxn>
                        <a:cxn ang="0">
                          <a:pos x="csX1" y="csY1"/>
                        </a:cxn>
                        <a:cxn ang="0">
                          <a:pos x="csX2" y="csY2"/>
                        </a:cxn>
                      </a:cxnLst>
                      <a:rect l="l" t="t" r="r" b="b"/>
                      <a:pathLst>
                        <a:path w="169650" h="48750">
                          <a:moveTo>
                            <a:pt x="0" y="0"/>
                          </a:moveTo>
                          <a:lnTo>
                            <a:pt x="84825" y="48750"/>
                          </a:lnTo>
                          <a:lnTo>
                            <a:pt x="169650" y="0"/>
                          </a:lnTo>
                        </a:path>
                      </a:pathLst>
                    </a:custGeom>
                    <a:noFill/>
                    <a:ln w="19050" cap="rnd">
                      <a:solidFill>
                        <a:srgbClr val="1F5AAD"/>
                      </a:solidFill>
                      <a:prstDash val="solid"/>
                      <a:round/>
                    </a:ln>
                  </p:spPr>
                  <p:txBody>
                    <a:bodyPr/>
                    <a:lstStyle/>
                    <a:p>
                      <a:endParaRPr lang="en-US"/>
                    </a:p>
                  </p:txBody>
                </p:sp>
                <p:sp>
                  <p:nvSpPr>
                    <p:cNvPr id="86" name="Figura a mano libera: forma 85">
                      <a:extLst>
                        <a:ext uri="{FF2B5EF4-FFF2-40B4-BE49-F238E27FC236}">
                          <a16:creationId xmlns:a16="http://schemas.microsoft.com/office/drawing/2014/main" id="{86A50D88-9540-ADCB-9228-67324A5EF984}"/>
                        </a:ext>
                      </a:extLst>
                    </p:cNvPr>
                    <p:cNvSpPr>
                      <a:spLocks/>
                    </p:cNvSpPr>
                    <p:nvPr/>
                  </p:nvSpPr>
                  <p:spPr>
                    <a:xfrm>
                      <a:off x="5127914" y="3297221"/>
                      <a:ext cx="9750" cy="97500"/>
                    </a:xfrm>
                    <a:custGeom>
                      <a:avLst/>
                      <a:gdLst>
                        <a:gd name="csX0" fmla="*/ 0 w 9750"/>
                        <a:gd name="csY0" fmla="*/ 97500 h 97500"/>
                        <a:gd name="csX1" fmla="*/ 0 w 9750"/>
                        <a:gd name="csY1" fmla="*/ 0 h 97500"/>
                      </a:gdLst>
                      <a:ahLst/>
                      <a:cxnLst>
                        <a:cxn ang="0">
                          <a:pos x="csX0" y="csY0"/>
                        </a:cxn>
                        <a:cxn ang="0">
                          <a:pos x="csX1" y="csY1"/>
                        </a:cxn>
                      </a:cxnLst>
                      <a:rect l="l" t="t" r="r" b="b"/>
                      <a:pathLst>
                        <a:path w="9750" h="97500">
                          <a:moveTo>
                            <a:pt x="0" y="97500"/>
                          </a:moveTo>
                          <a:lnTo>
                            <a:pt x="0" y="0"/>
                          </a:lnTo>
                        </a:path>
                      </a:pathLst>
                    </a:custGeom>
                    <a:noFill/>
                    <a:ln w="19050" cap="rnd">
                      <a:solidFill>
                        <a:srgbClr val="1F5AAD"/>
                      </a:solidFill>
                      <a:prstDash val="solid"/>
                      <a:round/>
                    </a:ln>
                  </p:spPr>
                  <p:txBody>
                    <a:bodyPr/>
                    <a:lstStyle/>
                    <a:p>
                      <a:endParaRPr lang="en-US"/>
                    </a:p>
                  </p:txBody>
                </p:sp>
              </p:grpSp>
            </p:grpSp>
            <p:sp>
              <p:nvSpPr>
                <p:cNvPr id="74" name="CasellaDiTesto 73">
                  <a:extLst>
                    <a:ext uri="{FF2B5EF4-FFF2-40B4-BE49-F238E27FC236}">
                      <a16:creationId xmlns:a16="http://schemas.microsoft.com/office/drawing/2014/main" id="{1A52B34A-63B7-D86F-68DB-E5542C5D79F2}"/>
                    </a:ext>
                  </a:extLst>
                </p:cNvPr>
                <p:cNvSpPr txBox="1"/>
                <p:nvPr/>
              </p:nvSpPr>
              <p:spPr>
                <a:xfrm>
                  <a:off x="9923592" y="2012581"/>
                  <a:ext cx="1622877" cy="338554"/>
                </a:xfrm>
                <a:prstGeom prst="rect">
                  <a:avLst/>
                </a:prstGeom>
                <a:noFill/>
              </p:spPr>
              <p:txBody>
                <a:bodyPr wrap="square" rtlCol="0">
                  <a:spAutoFit/>
                </a:bodyPr>
                <a:lstStyle/>
                <a:p>
                  <a:r>
                    <a:rPr lang="en-US" sz="800" dirty="0"/>
                    <a:t>Time-to-value</a:t>
                  </a:r>
                  <a:r>
                    <a:rPr lang="it-IT" sz="800" dirty="0"/>
                    <a:t> più rapido e minore complessità</a:t>
                  </a:r>
                  <a:endParaRPr lang="en-US" sz="800" dirty="0"/>
                </a:p>
              </p:txBody>
            </p:sp>
          </p:grpSp>
          <p:grpSp>
            <p:nvGrpSpPr>
              <p:cNvPr id="23" name="Gruppo 22">
                <a:extLst>
                  <a:ext uri="{FF2B5EF4-FFF2-40B4-BE49-F238E27FC236}">
                    <a16:creationId xmlns:a16="http://schemas.microsoft.com/office/drawing/2014/main" id="{5DF11E94-A456-5815-3EA5-FF5D0453755D}"/>
                  </a:ext>
                </a:extLst>
              </p:cNvPr>
              <p:cNvGrpSpPr/>
              <p:nvPr/>
            </p:nvGrpSpPr>
            <p:grpSpPr>
              <a:xfrm>
                <a:off x="7021992" y="2569323"/>
                <a:ext cx="2040901" cy="354884"/>
                <a:chOff x="9505567" y="2508157"/>
                <a:chExt cx="2040901" cy="354884"/>
              </a:xfrm>
            </p:grpSpPr>
            <p:sp>
              <p:nvSpPr>
                <p:cNvPr id="68" name="Ovale 67">
                  <a:extLst>
                    <a:ext uri="{FF2B5EF4-FFF2-40B4-BE49-F238E27FC236}">
                      <a16:creationId xmlns:a16="http://schemas.microsoft.com/office/drawing/2014/main" id="{E87BF445-CA5A-4A41-0ED5-807622583333}"/>
                    </a:ext>
                  </a:extLst>
                </p:cNvPr>
                <p:cNvSpPr>
                  <a:spLocks/>
                </p:cNvSpPr>
                <p:nvPr/>
              </p:nvSpPr>
              <p:spPr>
                <a:xfrm>
                  <a:off x="9505567" y="2508157"/>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9" name="Elemento grafico 68">
                  <a:extLst>
                    <a:ext uri="{FF2B5EF4-FFF2-40B4-BE49-F238E27FC236}">
                      <a16:creationId xmlns:a16="http://schemas.microsoft.com/office/drawing/2014/main" id="{6D8EC461-AC5F-1D1E-6E30-2D28019DE71D}"/>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9568709" y="2567420"/>
                  <a:ext cx="228600" cy="228600"/>
                </a:xfrm>
                <a:prstGeom prst="rect">
                  <a:avLst/>
                </a:prstGeom>
              </p:spPr>
            </p:pic>
            <p:sp>
              <p:nvSpPr>
                <p:cNvPr id="71" name="CasellaDiTesto 70">
                  <a:extLst>
                    <a:ext uri="{FF2B5EF4-FFF2-40B4-BE49-F238E27FC236}">
                      <a16:creationId xmlns:a16="http://schemas.microsoft.com/office/drawing/2014/main" id="{DCA98A91-C232-CDEF-07D5-4A016972C750}"/>
                    </a:ext>
                  </a:extLst>
                </p:cNvPr>
                <p:cNvSpPr txBox="1"/>
                <p:nvPr/>
              </p:nvSpPr>
              <p:spPr>
                <a:xfrm>
                  <a:off x="9923591" y="2516322"/>
                  <a:ext cx="1622877" cy="338554"/>
                </a:xfrm>
                <a:prstGeom prst="rect">
                  <a:avLst/>
                </a:prstGeom>
                <a:noFill/>
              </p:spPr>
              <p:txBody>
                <a:bodyPr wrap="square" rtlCol="0">
                  <a:spAutoFit/>
                </a:bodyPr>
                <a:lstStyle/>
                <a:p>
                  <a:r>
                    <a:rPr lang="it-IT" sz="800" dirty="0"/>
                    <a:t>Governance e sicurezza incorporate</a:t>
                  </a:r>
                  <a:endParaRPr lang="en-US" sz="800" dirty="0"/>
                </a:p>
              </p:txBody>
            </p:sp>
          </p:grpSp>
          <p:sp>
            <p:nvSpPr>
              <p:cNvPr id="63" name="Ovale 62">
                <a:extLst>
                  <a:ext uri="{FF2B5EF4-FFF2-40B4-BE49-F238E27FC236}">
                    <a16:creationId xmlns:a16="http://schemas.microsoft.com/office/drawing/2014/main" id="{42469532-B2F6-7865-FFB8-6FCFCD101A88}"/>
                  </a:ext>
                </a:extLst>
              </p:cNvPr>
              <p:cNvSpPr>
                <a:spLocks/>
              </p:cNvSpPr>
              <p:nvPr/>
            </p:nvSpPr>
            <p:spPr>
              <a:xfrm>
                <a:off x="7021992" y="3112591"/>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CasellaDiTesto 66">
                <a:extLst>
                  <a:ext uri="{FF2B5EF4-FFF2-40B4-BE49-F238E27FC236}">
                    <a16:creationId xmlns:a16="http://schemas.microsoft.com/office/drawing/2014/main" id="{28310C43-0F52-3F95-1187-349DEC5EF44A}"/>
                  </a:ext>
                </a:extLst>
              </p:cNvPr>
              <p:cNvSpPr txBox="1"/>
              <p:nvPr/>
            </p:nvSpPr>
            <p:spPr>
              <a:xfrm>
                <a:off x="7440016" y="3120756"/>
                <a:ext cx="1622877" cy="338554"/>
              </a:xfrm>
              <a:prstGeom prst="rect">
                <a:avLst/>
              </a:prstGeom>
              <a:noFill/>
            </p:spPr>
            <p:txBody>
              <a:bodyPr wrap="square" rtlCol="0">
                <a:spAutoFit/>
              </a:bodyPr>
              <a:lstStyle/>
              <a:p>
                <a:r>
                  <a:rPr lang="it-IT" sz="800" dirty="0"/>
                  <a:t>Analisi self-service per gli utenti</a:t>
                </a:r>
                <a:endParaRPr lang="en-US" sz="800" dirty="0"/>
              </a:p>
            </p:txBody>
          </p:sp>
          <p:sp>
            <p:nvSpPr>
              <p:cNvPr id="38" name="Ovale 37">
                <a:extLst>
                  <a:ext uri="{FF2B5EF4-FFF2-40B4-BE49-F238E27FC236}">
                    <a16:creationId xmlns:a16="http://schemas.microsoft.com/office/drawing/2014/main" id="{BF312486-74C8-758E-CFA6-2BD93C42DB5F}"/>
                  </a:ext>
                </a:extLst>
              </p:cNvPr>
              <p:cNvSpPr>
                <a:spLocks/>
              </p:cNvSpPr>
              <p:nvPr/>
            </p:nvSpPr>
            <p:spPr>
              <a:xfrm>
                <a:off x="7021992" y="3655861"/>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CasellaDiTesto 61">
                <a:extLst>
                  <a:ext uri="{FF2B5EF4-FFF2-40B4-BE49-F238E27FC236}">
                    <a16:creationId xmlns:a16="http://schemas.microsoft.com/office/drawing/2014/main" id="{C828911A-1E15-F68B-9C1B-0DBD130A9F86}"/>
                  </a:ext>
                </a:extLst>
              </p:cNvPr>
              <p:cNvSpPr txBox="1"/>
              <p:nvPr/>
            </p:nvSpPr>
            <p:spPr>
              <a:xfrm>
                <a:off x="7440016" y="3656405"/>
                <a:ext cx="1622877" cy="338554"/>
              </a:xfrm>
              <a:prstGeom prst="rect">
                <a:avLst/>
              </a:prstGeom>
              <a:noFill/>
            </p:spPr>
            <p:txBody>
              <a:bodyPr wrap="square" rtlCol="0">
                <a:spAutoFit/>
              </a:bodyPr>
              <a:lstStyle/>
              <a:p>
                <a:r>
                  <a:rPr lang="it-IT" sz="800" dirty="0"/>
                  <a:t>Meno infrastruttura da gestire</a:t>
                </a:r>
                <a:endParaRPr lang="en-US" sz="800" dirty="0"/>
              </a:p>
            </p:txBody>
          </p:sp>
          <p:pic>
            <p:nvPicPr>
              <p:cNvPr id="10" name="Immagine 9">
                <a:extLst>
                  <a:ext uri="{FF2B5EF4-FFF2-40B4-BE49-F238E27FC236}">
                    <a16:creationId xmlns:a16="http://schemas.microsoft.com/office/drawing/2014/main" id="{2855C5A2-AFA2-C6BE-E53B-D2ED3C598F4B}"/>
                  </a:ext>
                </a:extLst>
              </p:cNvPr>
              <p:cNvPicPr>
                <a:picLocks noChangeAspect="1"/>
              </p:cNvPicPr>
              <p:nvPr/>
            </p:nvPicPr>
            <p:blipFill>
              <a:blip r:embed="rId34"/>
              <a:stretch>
                <a:fillRect/>
              </a:stretch>
            </p:blipFill>
            <p:spPr>
              <a:xfrm>
                <a:off x="7084234" y="3175093"/>
                <a:ext cx="230400" cy="229880"/>
              </a:xfrm>
              <a:prstGeom prst="rect">
                <a:avLst/>
              </a:prstGeom>
            </p:spPr>
          </p:pic>
          <p:pic>
            <p:nvPicPr>
              <p:cNvPr id="21" name="Elemento grafico 20">
                <a:extLst>
                  <a:ext uri="{FF2B5EF4-FFF2-40B4-BE49-F238E27FC236}">
                    <a16:creationId xmlns:a16="http://schemas.microsoft.com/office/drawing/2014/main" id="{170B67A2-9AA7-CAAF-1E7A-DD2AF69CA0EB}"/>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7085134" y="3719261"/>
                <a:ext cx="228600" cy="228084"/>
              </a:xfrm>
              <a:prstGeom prst="rect">
                <a:avLst/>
              </a:prstGeom>
            </p:spPr>
          </p:pic>
        </p:grpSp>
      </p:grpSp>
    </p:spTree>
    <p:custDataLst>
      <p:tags r:id="rId1"/>
    </p:custDataLst>
    <p:extLst>
      <p:ext uri="{BB962C8B-B14F-4D97-AF65-F5344CB8AC3E}">
        <p14:creationId xmlns:p14="http://schemas.microsoft.com/office/powerpoint/2010/main" val="3367618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3704A-48F9-1797-E8BA-6BD3583AFD3D}"/>
            </a:ext>
          </a:extLst>
        </p:cNvPr>
        <p:cNvGrpSpPr/>
        <p:nvPr/>
      </p:nvGrpSpPr>
      <p:grpSpPr>
        <a:xfrm>
          <a:off x="0" y="0"/>
          <a:ext cx="0" cy="0"/>
          <a:chOff x="0" y="0"/>
          <a:chExt cx="0" cy="0"/>
        </a:xfrm>
      </p:grpSpPr>
      <p:pic>
        <p:nvPicPr>
          <p:cNvPr id="25" name="Immagine 24">
            <a:extLst>
              <a:ext uri="{FF2B5EF4-FFF2-40B4-BE49-F238E27FC236}">
                <a16:creationId xmlns:a16="http://schemas.microsoft.com/office/drawing/2014/main" id="{FB75BB1D-FDC8-5983-9D63-B5FE59E0789A}"/>
              </a:ext>
            </a:extLst>
          </p:cNvPr>
          <p:cNvPicPr>
            <a:picLocks noChangeAspect="1"/>
          </p:cNvPicPr>
          <p:nvPr/>
        </p:nvPicPr>
        <p:blipFill>
          <a:blip r:embed="rId4">
            <a:extLst>
              <a:ext uri="{28A0092B-C50C-407E-A947-70E740481C1C}">
                <a14:useLocalDpi xmlns:a14="http://schemas.microsoft.com/office/drawing/2010/main" val="0"/>
              </a:ext>
            </a:extLst>
          </a:blip>
          <a:srcRect t="3310" b="7990"/>
          <a:stretch>
            <a:fillRect/>
          </a:stretch>
        </p:blipFill>
        <p:spPr>
          <a:xfrm>
            <a:off x="1309990" y="652387"/>
            <a:ext cx="9004008" cy="6096717"/>
          </a:xfrm>
          <a:prstGeom prst="rect">
            <a:avLst/>
          </a:prstGeom>
        </p:spPr>
      </p:pic>
      <p:sp>
        <p:nvSpPr>
          <p:cNvPr id="5" name="Title 4">
            <a:extLst>
              <a:ext uri="{FF2B5EF4-FFF2-40B4-BE49-F238E27FC236}">
                <a16:creationId xmlns:a16="http://schemas.microsoft.com/office/drawing/2014/main" id="{6454306E-DCF8-DC52-9ABA-F4764BFCEC3D}"/>
              </a:ext>
            </a:extLst>
          </p:cNvPr>
          <p:cNvSpPr>
            <a:spLocks noGrp="1"/>
          </p:cNvSpPr>
          <p:nvPr>
            <p:ph type="title"/>
          </p:nvPr>
        </p:nvSpPr>
        <p:spPr/>
        <p:txBody>
          <a:bodyPr/>
          <a:lstStyle/>
          <a:p>
            <a:r>
              <a:rPr lang="it-IT" dirty="0"/>
              <a:t>Data pipeline | </a:t>
            </a:r>
            <a:r>
              <a:rPr lang="en-US" dirty="0">
                <a:solidFill>
                  <a:schemeClr val="tx1"/>
                </a:solidFill>
              </a:rPr>
              <a:t>WBS Blueprint </a:t>
            </a:r>
            <a:r>
              <a:rPr lang="it-IT" noProof="0" dirty="0">
                <a:solidFill>
                  <a:schemeClr val="tx1"/>
                </a:solidFill>
              </a:rPr>
              <a:t>comune</a:t>
            </a:r>
            <a:endParaRPr lang="it-IT" dirty="0">
              <a:solidFill>
                <a:schemeClr val="tx1"/>
              </a:solidFill>
              <a:ea typeface="+mn-ea"/>
              <a:cs typeface="+mn-cs"/>
            </a:endParaRPr>
          </a:p>
        </p:txBody>
      </p:sp>
    </p:spTree>
    <p:custDataLst>
      <p:tags r:id="rId1"/>
    </p:custDataLst>
    <p:extLst>
      <p:ext uri="{BB962C8B-B14F-4D97-AF65-F5344CB8AC3E}">
        <p14:creationId xmlns:p14="http://schemas.microsoft.com/office/powerpoint/2010/main" val="6720764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5168C-EFF3-075C-B3BA-AE58EAC40B5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9CEC005-76BC-E9B6-EE53-772D03ECC81F}"/>
              </a:ext>
            </a:extLst>
          </p:cNvPr>
          <p:cNvSpPr>
            <a:spLocks noGrp="1"/>
          </p:cNvSpPr>
          <p:nvPr>
            <p:ph type="title"/>
          </p:nvPr>
        </p:nvSpPr>
        <p:spPr/>
        <p:txBody>
          <a:bodyPr/>
          <a:lstStyle/>
          <a:p>
            <a:r>
              <a:rPr lang="it-IT" dirty="0"/>
              <a:t>Data pipeline | </a:t>
            </a:r>
            <a:r>
              <a:rPr lang="it-IT" dirty="0">
                <a:solidFill>
                  <a:schemeClr val="tx1"/>
                </a:solidFill>
              </a:rPr>
              <a:t>WBS ProSIGNAL</a:t>
            </a:r>
            <a:endParaRPr lang="it-IT" dirty="0">
              <a:solidFill>
                <a:schemeClr val="tx1"/>
              </a:solidFill>
              <a:ea typeface="+mn-ea"/>
              <a:cs typeface="+mn-cs"/>
            </a:endParaRPr>
          </a:p>
        </p:txBody>
      </p:sp>
      <p:pic>
        <p:nvPicPr>
          <p:cNvPr id="6" name="Immagine 5">
            <a:extLst>
              <a:ext uri="{FF2B5EF4-FFF2-40B4-BE49-F238E27FC236}">
                <a16:creationId xmlns:a16="http://schemas.microsoft.com/office/drawing/2014/main" id="{8E7945A1-71C8-D793-E7EB-D5DD16388934}"/>
              </a:ext>
            </a:extLst>
          </p:cNvPr>
          <p:cNvPicPr>
            <a:picLocks noChangeAspect="1"/>
          </p:cNvPicPr>
          <p:nvPr/>
        </p:nvPicPr>
        <p:blipFill>
          <a:blip r:embed="rId4">
            <a:extLst>
              <a:ext uri="{28A0092B-C50C-407E-A947-70E740481C1C}">
                <a14:useLocalDpi xmlns:a14="http://schemas.microsoft.com/office/drawing/2010/main" val="0"/>
              </a:ext>
            </a:extLst>
          </a:blip>
          <a:srcRect t="3309" b="7801"/>
          <a:stretch>
            <a:fillRect/>
          </a:stretch>
        </p:blipFill>
        <p:spPr>
          <a:xfrm>
            <a:off x="700391" y="624494"/>
            <a:ext cx="10333605" cy="6154031"/>
          </a:xfrm>
          <a:prstGeom prst="rect">
            <a:avLst/>
          </a:prstGeom>
        </p:spPr>
      </p:pic>
      <p:grpSp>
        <p:nvGrpSpPr>
          <p:cNvPr id="2" name="Gruppo 1">
            <a:extLst>
              <a:ext uri="{FF2B5EF4-FFF2-40B4-BE49-F238E27FC236}">
                <a16:creationId xmlns:a16="http://schemas.microsoft.com/office/drawing/2014/main" id="{9C306F6D-27AE-EC90-1D16-948D7C690D61}"/>
              </a:ext>
            </a:extLst>
          </p:cNvPr>
          <p:cNvGrpSpPr>
            <a:grpSpLocks/>
          </p:cNvGrpSpPr>
          <p:nvPr/>
        </p:nvGrpSpPr>
        <p:grpSpPr>
          <a:xfrm>
            <a:off x="8154000" y="57600"/>
            <a:ext cx="3599996" cy="567240"/>
            <a:chOff x="3203640" y="3601508"/>
            <a:chExt cx="3599996" cy="567240"/>
          </a:xfrm>
        </p:grpSpPr>
        <p:grpSp>
          <p:nvGrpSpPr>
            <p:cNvPr id="3" name="Gruppo 2">
              <a:extLst>
                <a:ext uri="{FF2B5EF4-FFF2-40B4-BE49-F238E27FC236}">
                  <a16:creationId xmlns:a16="http://schemas.microsoft.com/office/drawing/2014/main" id="{4CD4870F-F922-DB8C-0762-948E1C775EB2}"/>
                </a:ext>
              </a:extLst>
            </p:cNvPr>
            <p:cNvGrpSpPr>
              <a:grpSpLocks/>
            </p:cNvGrpSpPr>
            <p:nvPr/>
          </p:nvGrpSpPr>
          <p:grpSpPr>
            <a:xfrm>
              <a:off x="3203640" y="3601508"/>
              <a:ext cx="720000" cy="567240"/>
              <a:chOff x="3203640" y="3601508"/>
              <a:chExt cx="1329447" cy="567240"/>
            </a:xfrm>
          </p:grpSpPr>
          <p:sp>
            <p:nvSpPr>
              <p:cNvPr id="25" name="CasellaDiTesto 24">
                <a:extLst>
                  <a:ext uri="{FF2B5EF4-FFF2-40B4-BE49-F238E27FC236}">
                    <a16:creationId xmlns:a16="http://schemas.microsoft.com/office/drawing/2014/main" id="{74B72685-AEB2-21F1-355D-91DF87ADA906}"/>
                  </a:ext>
                </a:extLst>
              </p:cNvPr>
              <p:cNvSpPr txBox="1">
                <a:spLocks/>
              </p:cNvSpPr>
              <p:nvPr/>
            </p:nvSpPr>
            <p:spPr>
              <a:xfrm>
                <a:off x="3417941" y="3736515"/>
                <a:ext cx="900850"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PERCHÉ</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26" name="Rettangolo 25">
                <a:extLst>
                  <a:ext uri="{FF2B5EF4-FFF2-40B4-BE49-F238E27FC236}">
                    <a16:creationId xmlns:a16="http://schemas.microsoft.com/office/drawing/2014/main" id="{5014AC0E-614A-6E10-1536-87D50BF09890}"/>
                  </a:ext>
                </a:extLst>
              </p:cNvPr>
              <p:cNvSpPr>
                <a:spLocks/>
              </p:cNvSpPr>
              <p:nvPr/>
            </p:nvSpPr>
            <p:spPr>
              <a:xfrm>
                <a:off x="3203640"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CasellaDiTesto 26">
                <a:extLst>
                  <a:ext uri="{FF2B5EF4-FFF2-40B4-BE49-F238E27FC236}">
                    <a16:creationId xmlns:a16="http://schemas.microsoft.com/office/drawing/2014/main" id="{82217EB3-8498-58AE-E235-8E932FBC7C0C}"/>
                  </a:ext>
                </a:extLst>
              </p:cNvPr>
              <p:cNvSpPr txBox="1">
                <a:spLocks/>
              </p:cNvSpPr>
              <p:nvPr/>
            </p:nvSpPr>
            <p:spPr>
              <a:xfrm>
                <a:off x="3546087" y="3895279"/>
                <a:ext cx="652221"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Contesto</a:t>
                </a:r>
                <a:endParaRPr lang="en-US" sz="7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28" name="Connettore diritto 27">
                <a:extLst>
                  <a:ext uri="{FF2B5EF4-FFF2-40B4-BE49-F238E27FC236}">
                    <a16:creationId xmlns:a16="http://schemas.microsoft.com/office/drawing/2014/main" id="{0885ECD4-4F54-4992-A79C-799CF2FCC08C}"/>
                  </a:ext>
                </a:extLst>
              </p:cNvPr>
              <p:cNvCxnSpPr>
                <a:cxnSpLocks/>
              </p:cNvCxnSpPr>
              <p:nvPr/>
            </p:nvCxnSpPr>
            <p:spPr>
              <a:xfrm>
                <a:off x="4533087"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4" name="Gruppo 3">
              <a:extLst>
                <a:ext uri="{FF2B5EF4-FFF2-40B4-BE49-F238E27FC236}">
                  <a16:creationId xmlns:a16="http://schemas.microsoft.com/office/drawing/2014/main" id="{EFE78D5E-D012-B447-58FF-EAE09D7D9953}"/>
                </a:ext>
              </a:extLst>
            </p:cNvPr>
            <p:cNvGrpSpPr>
              <a:grpSpLocks/>
            </p:cNvGrpSpPr>
            <p:nvPr/>
          </p:nvGrpSpPr>
          <p:grpSpPr>
            <a:xfrm>
              <a:off x="3923640" y="3601508"/>
              <a:ext cx="720000" cy="567240"/>
              <a:chOff x="4533089" y="3601508"/>
              <a:chExt cx="1329447" cy="567240"/>
            </a:xfrm>
          </p:grpSpPr>
          <p:sp>
            <p:nvSpPr>
              <p:cNvPr id="21" name="CasellaDiTesto 20">
                <a:extLst>
                  <a:ext uri="{FF2B5EF4-FFF2-40B4-BE49-F238E27FC236}">
                    <a16:creationId xmlns:a16="http://schemas.microsoft.com/office/drawing/2014/main" id="{D3FDA2A6-D984-9202-CBD3-4360C344E921}"/>
                  </a:ext>
                </a:extLst>
              </p:cNvPr>
              <p:cNvSpPr txBox="1">
                <a:spLocks/>
              </p:cNvSpPr>
              <p:nvPr/>
            </p:nvSpPr>
            <p:spPr>
              <a:xfrm>
                <a:off x="4843583" y="3736515"/>
                <a:ext cx="708459"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COME</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22" name="Rettangolo 21">
                <a:extLst>
                  <a:ext uri="{FF2B5EF4-FFF2-40B4-BE49-F238E27FC236}">
                    <a16:creationId xmlns:a16="http://schemas.microsoft.com/office/drawing/2014/main" id="{341A6E54-FA4A-BC33-BC92-75C2057E1DDC}"/>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asellaDiTesto 22">
                <a:extLst>
                  <a:ext uri="{FF2B5EF4-FFF2-40B4-BE49-F238E27FC236}">
                    <a16:creationId xmlns:a16="http://schemas.microsoft.com/office/drawing/2014/main" id="{192CD67C-450D-22A7-F138-492B1EFBE731}"/>
                  </a:ext>
                </a:extLst>
              </p:cNvPr>
              <p:cNvSpPr txBox="1">
                <a:spLocks/>
              </p:cNvSpPr>
              <p:nvPr/>
            </p:nvSpPr>
            <p:spPr>
              <a:xfrm>
                <a:off x="4878498" y="3895279"/>
                <a:ext cx="646301"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Blueprint</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24" name="Connettore diritto 23">
                <a:extLst>
                  <a:ext uri="{FF2B5EF4-FFF2-40B4-BE49-F238E27FC236}">
                    <a16:creationId xmlns:a16="http://schemas.microsoft.com/office/drawing/2014/main" id="{1EE2D860-906C-B5B6-CAF3-5F263FFB64F6}"/>
                  </a:ext>
                </a:extLst>
              </p:cNvPr>
              <p:cNvCxnSpPr>
                <a:cxnSpLocks/>
              </p:cNvCxnSpPr>
              <p:nvPr/>
            </p:nvCxnSpPr>
            <p:spPr>
              <a:xfrm>
                <a:off x="5862536"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7" name="Gruppo 6">
              <a:extLst>
                <a:ext uri="{FF2B5EF4-FFF2-40B4-BE49-F238E27FC236}">
                  <a16:creationId xmlns:a16="http://schemas.microsoft.com/office/drawing/2014/main" id="{3144CD40-4B02-0A88-34E4-7AE2E8ADA382}"/>
                </a:ext>
              </a:extLst>
            </p:cNvPr>
            <p:cNvGrpSpPr>
              <a:grpSpLocks/>
            </p:cNvGrpSpPr>
            <p:nvPr/>
          </p:nvGrpSpPr>
          <p:grpSpPr>
            <a:xfrm>
              <a:off x="4643640" y="3601508"/>
              <a:ext cx="720000" cy="567240"/>
              <a:chOff x="4533089" y="3601508"/>
              <a:chExt cx="1329447" cy="567240"/>
            </a:xfrm>
          </p:grpSpPr>
          <p:sp>
            <p:nvSpPr>
              <p:cNvPr id="17" name="CasellaDiTesto 16">
                <a:extLst>
                  <a:ext uri="{FF2B5EF4-FFF2-40B4-BE49-F238E27FC236}">
                    <a16:creationId xmlns:a16="http://schemas.microsoft.com/office/drawing/2014/main" id="{C1D71B4D-ACD1-8DC7-C014-D60C7AE57C08}"/>
                  </a:ext>
                </a:extLst>
              </p:cNvPr>
              <p:cNvSpPr txBox="1">
                <a:spLocks/>
              </p:cNvSpPr>
              <p:nvPr/>
            </p:nvSpPr>
            <p:spPr>
              <a:xfrm>
                <a:off x="4808065" y="3736515"/>
                <a:ext cx="779495"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QUALE</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18" name="Rettangolo 17">
                <a:extLst>
                  <a:ext uri="{FF2B5EF4-FFF2-40B4-BE49-F238E27FC236}">
                    <a16:creationId xmlns:a16="http://schemas.microsoft.com/office/drawing/2014/main" id="{C3AD6B05-B810-589C-0974-405CB930D377}"/>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asellaDiTesto 18">
                <a:extLst>
                  <a:ext uri="{FF2B5EF4-FFF2-40B4-BE49-F238E27FC236}">
                    <a16:creationId xmlns:a16="http://schemas.microsoft.com/office/drawing/2014/main" id="{0EE45871-27E2-60F4-CE77-A9F3FCC0C40E}"/>
                  </a:ext>
                </a:extLst>
              </p:cNvPr>
              <p:cNvSpPr txBox="1">
                <a:spLocks/>
              </p:cNvSpPr>
              <p:nvPr/>
            </p:nvSpPr>
            <p:spPr>
              <a:xfrm>
                <a:off x="4956935" y="3895279"/>
                <a:ext cx="489429"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Scelta</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20" name="Connettore diritto 19">
                <a:extLst>
                  <a:ext uri="{FF2B5EF4-FFF2-40B4-BE49-F238E27FC236}">
                    <a16:creationId xmlns:a16="http://schemas.microsoft.com/office/drawing/2014/main" id="{7C6C03F3-D433-E6C3-AC69-6E4FE96173F7}"/>
                  </a:ext>
                </a:extLst>
              </p:cNvPr>
              <p:cNvCxnSpPr>
                <a:cxnSpLocks/>
              </p:cNvCxnSpPr>
              <p:nvPr/>
            </p:nvCxnSpPr>
            <p:spPr>
              <a:xfrm>
                <a:off x="5862536"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8" name="Gruppo 7">
              <a:extLst>
                <a:ext uri="{FF2B5EF4-FFF2-40B4-BE49-F238E27FC236}">
                  <a16:creationId xmlns:a16="http://schemas.microsoft.com/office/drawing/2014/main" id="{6E68A7C0-1ED2-5C02-7D42-6AFAAD7FCA54}"/>
                </a:ext>
              </a:extLst>
            </p:cNvPr>
            <p:cNvGrpSpPr>
              <a:grpSpLocks/>
            </p:cNvGrpSpPr>
            <p:nvPr/>
          </p:nvGrpSpPr>
          <p:grpSpPr>
            <a:xfrm>
              <a:off x="5363639" y="3601508"/>
              <a:ext cx="720000" cy="567240"/>
              <a:chOff x="4533089" y="3601508"/>
              <a:chExt cx="1329447" cy="567240"/>
            </a:xfrm>
          </p:grpSpPr>
          <p:sp>
            <p:nvSpPr>
              <p:cNvPr id="13" name="CasellaDiTesto 12">
                <a:extLst>
                  <a:ext uri="{FF2B5EF4-FFF2-40B4-BE49-F238E27FC236}">
                    <a16:creationId xmlns:a16="http://schemas.microsoft.com/office/drawing/2014/main" id="{77D2CD72-8E65-30C0-A121-DB2C79FB4356}"/>
                  </a:ext>
                </a:extLst>
              </p:cNvPr>
              <p:cNvSpPr txBox="1">
                <a:spLocks/>
              </p:cNvSpPr>
              <p:nvPr/>
            </p:nvSpPr>
            <p:spPr>
              <a:xfrm>
                <a:off x="4705950" y="3736515"/>
                <a:ext cx="983726"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QUANDO</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14" name="Rettangolo 13">
                <a:extLst>
                  <a:ext uri="{FF2B5EF4-FFF2-40B4-BE49-F238E27FC236}">
                    <a16:creationId xmlns:a16="http://schemas.microsoft.com/office/drawing/2014/main" id="{BFC44B25-A8E1-BEF2-42E5-03472D7ABA81}"/>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asellaDiTesto 14">
                <a:extLst>
                  <a:ext uri="{FF2B5EF4-FFF2-40B4-BE49-F238E27FC236}">
                    <a16:creationId xmlns:a16="http://schemas.microsoft.com/office/drawing/2014/main" id="{9866ADA2-4544-6E6A-8E60-25D16815202D}"/>
                  </a:ext>
                </a:extLst>
              </p:cNvPr>
              <p:cNvSpPr txBox="1">
                <a:spLocks/>
              </p:cNvSpPr>
              <p:nvPr/>
            </p:nvSpPr>
            <p:spPr>
              <a:xfrm>
                <a:off x="4863697" y="3895279"/>
                <a:ext cx="675900"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Adozione</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16" name="Connettore diritto 15">
                <a:extLst>
                  <a:ext uri="{FF2B5EF4-FFF2-40B4-BE49-F238E27FC236}">
                    <a16:creationId xmlns:a16="http://schemas.microsoft.com/office/drawing/2014/main" id="{3A63C6CF-4F14-8A51-6241-954A4F2D5D67}"/>
                  </a:ext>
                </a:extLst>
              </p:cNvPr>
              <p:cNvCxnSpPr>
                <a:cxnSpLocks/>
              </p:cNvCxnSpPr>
              <p:nvPr/>
            </p:nvCxnSpPr>
            <p:spPr>
              <a:xfrm>
                <a:off x="5862536"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9" name="Gruppo 8">
              <a:extLst>
                <a:ext uri="{FF2B5EF4-FFF2-40B4-BE49-F238E27FC236}">
                  <a16:creationId xmlns:a16="http://schemas.microsoft.com/office/drawing/2014/main" id="{1FA552A5-854A-5BA0-ACC9-C2AE246C5DC1}"/>
                </a:ext>
              </a:extLst>
            </p:cNvPr>
            <p:cNvGrpSpPr>
              <a:grpSpLocks/>
            </p:cNvGrpSpPr>
            <p:nvPr/>
          </p:nvGrpSpPr>
          <p:grpSpPr>
            <a:xfrm>
              <a:off x="6083636" y="3601508"/>
              <a:ext cx="720000" cy="567240"/>
              <a:chOff x="4533089" y="3601508"/>
              <a:chExt cx="1329447" cy="567240"/>
            </a:xfrm>
          </p:grpSpPr>
          <p:sp>
            <p:nvSpPr>
              <p:cNvPr id="10" name="CasellaDiTesto 9">
                <a:extLst>
                  <a:ext uri="{FF2B5EF4-FFF2-40B4-BE49-F238E27FC236}">
                    <a16:creationId xmlns:a16="http://schemas.microsoft.com/office/drawing/2014/main" id="{143488A3-1C51-B276-FBBB-5244189883AC}"/>
                  </a:ext>
                </a:extLst>
              </p:cNvPr>
              <p:cNvSpPr txBox="1">
                <a:spLocks/>
              </p:cNvSpPr>
              <p:nvPr/>
            </p:nvSpPr>
            <p:spPr>
              <a:xfrm>
                <a:off x="4856902" y="3736515"/>
                <a:ext cx="681820" cy="123111"/>
              </a:xfrm>
              <a:prstGeom prst="rect">
                <a:avLst/>
              </a:prstGeom>
              <a:noFill/>
            </p:spPr>
            <p:txBody>
              <a:bodyPr wrap="none" lIns="36000" tIns="0" rIns="36000" bIns="0" rtlCol="0">
                <a:spAutoFit/>
              </a:bodyPr>
              <a:lstStyle/>
              <a:p>
                <a:pPr algn="ctr"/>
                <a:r>
                  <a:rPr lang="it-IT" sz="800" dirty="0">
                    <a:solidFill>
                      <a:srgbClr val="98C93C"/>
                    </a:solidFill>
                    <a:latin typeface="Inter Bold" panose="02000503000000020004" pitchFamily="2" charset="0"/>
                    <a:ea typeface="Inter Bold" panose="02000503000000020004" pitchFamily="2" charset="0"/>
                  </a:rPr>
                  <a:t>COSA</a:t>
                </a:r>
                <a:endParaRPr lang="en-US" sz="800" dirty="0">
                  <a:solidFill>
                    <a:srgbClr val="98C93C"/>
                  </a:solidFill>
                  <a:latin typeface="Inter Bold" panose="02000503000000020004" pitchFamily="2" charset="0"/>
                  <a:ea typeface="Inter Bold" panose="02000503000000020004" pitchFamily="2" charset="0"/>
                </a:endParaRPr>
              </a:p>
            </p:txBody>
          </p:sp>
          <p:sp>
            <p:nvSpPr>
              <p:cNvPr id="11" name="Rettangolo 10">
                <a:extLst>
                  <a:ext uri="{FF2B5EF4-FFF2-40B4-BE49-F238E27FC236}">
                    <a16:creationId xmlns:a16="http://schemas.microsoft.com/office/drawing/2014/main" id="{F1E6A23C-4DCE-EFBB-8356-C5B86C3E44F2}"/>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asellaDiTesto 11">
                <a:extLst>
                  <a:ext uri="{FF2B5EF4-FFF2-40B4-BE49-F238E27FC236}">
                    <a16:creationId xmlns:a16="http://schemas.microsoft.com/office/drawing/2014/main" id="{20576C6B-367E-0532-A247-24002F5F7CF2}"/>
                  </a:ext>
                </a:extLst>
              </p:cNvPr>
              <p:cNvSpPr txBox="1">
                <a:spLocks/>
              </p:cNvSpPr>
              <p:nvPr/>
            </p:nvSpPr>
            <p:spPr>
              <a:xfrm>
                <a:off x="4739384" y="3895279"/>
                <a:ext cx="924529"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Realizzazione</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grpSp>
      </p:grpSp>
    </p:spTree>
    <p:custDataLst>
      <p:tags r:id="rId1"/>
    </p:custDataLst>
    <p:extLst>
      <p:ext uri="{BB962C8B-B14F-4D97-AF65-F5344CB8AC3E}">
        <p14:creationId xmlns:p14="http://schemas.microsoft.com/office/powerpoint/2010/main" val="1762619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13775-2D90-E6FB-D60F-66C7349E4DC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7F61E97-9D77-A70D-BCAB-7CB4008F3A29}"/>
              </a:ext>
            </a:extLst>
          </p:cNvPr>
          <p:cNvSpPr>
            <a:spLocks noGrp="1"/>
          </p:cNvSpPr>
          <p:nvPr>
            <p:ph type="title"/>
          </p:nvPr>
        </p:nvSpPr>
        <p:spPr/>
        <p:txBody>
          <a:bodyPr/>
          <a:lstStyle/>
          <a:p>
            <a:r>
              <a:rPr lang="it-IT" dirty="0"/>
              <a:t>Data pipeline | </a:t>
            </a:r>
            <a:r>
              <a:rPr lang="it-IT" dirty="0">
                <a:solidFill>
                  <a:schemeClr val="tx1"/>
                </a:solidFill>
              </a:rPr>
              <a:t>WBS Kiron CDG</a:t>
            </a:r>
            <a:endParaRPr lang="it-IT" dirty="0">
              <a:solidFill>
                <a:schemeClr val="tx1"/>
              </a:solidFill>
              <a:ea typeface="+mn-ea"/>
              <a:cs typeface="+mn-cs"/>
            </a:endParaRPr>
          </a:p>
        </p:txBody>
      </p:sp>
      <p:pic>
        <p:nvPicPr>
          <p:cNvPr id="6" name="Immagine 5">
            <a:extLst>
              <a:ext uri="{FF2B5EF4-FFF2-40B4-BE49-F238E27FC236}">
                <a16:creationId xmlns:a16="http://schemas.microsoft.com/office/drawing/2014/main" id="{D34AA8C1-F779-1C18-963E-D9B74F6F9D01}"/>
              </a:ext>
            </a:extLst>
          </p:cNvPr>
          <p:cNvPicPr>
            <a:picLocks noChangeAspect="1"/>
          </p:cNvPicPr>
          <p:nvPr/>
        </p:nvPicPr>
        <p:blipFill>
          <a:blip r:embed="rId4">
            <a:extLst>
              <a:ext uri="{28A0092B-C50C-407E-A947-70E740481C1C}">
                <a14:useLocalDpi xmlns:a14="http://schemas.microsoft.com/office/drawing/2010/main" val="0"/>
              </a:ext>
            </a:extLst>
          </a:blip>
          <a:srcRect t="2625" b="7707"/>
          <a:stretch>
            <a:fillRect/>
          </a:stretch>
        </p:blipFill>
        <p:spPr>
          <a:xfrm>
            <a:off x="886100" y="664524"/>
            <a:ext cx="10054282" cy="6089681"/>
          </a:xfrm>
          <a:prstGeom prst="rect">
            <a:avLst/>
          </a:prstGeom>
        </p:spPr>
      </p:pic>
    </p:spTree>
    <p:custDataLst>
      <p:tags r:id="rId1"/>
    </p:custDataLst>
    <p:extLst>
      <p:ext uri="{BB962C8B-B14F-4D97-AF65-F5344CB8AC3E}">
        <p14:creationId xmlns:p14="http://schemas.microsoft.com/office/powerpoint/2010/main" val="744998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DB48B-B1BE-2DCA-DB20-DC07A362D3B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F6FC0F5-10DE-473A-C169-F54BF317421C}"/>
              </a:ext>
            </a:extLst>
          </p:cNvPr>
          <p:cNvSpPr>
            <a:spLocks noGrp="1"/>
          </p:cNvSpPr>
          <p:nvPr>
            <p:ph type="title"/>
          </p:nvPr>
        </p:nvSpPr>
        <p:spPr/>
        <p:txBody>
          <a:bodyPr/>
          <a:lstStyle/>
          <a:p>
            <a:r>
              <a:rPr lang="it-IT" dirty="0"/>
              <a:t>Data pipeline | </a:t>
            </a:r>
            <a:r>
              <a:rPr lang="it-IT" dirty="0">
                <a:solidFill>
                  <a:schemeClr val="tx1"/>
                </a:solidFill>
              </a:rPr>
              <a:t>WBS CDG Interno</a:t>
            </a:r>
            <a:endParaRPr lang="it-IT" dirty="0">
              <a:solidFill>
                <a:schemeClr val="tx1"/>
              </a:solidFill>
              <a:ea typeface="+mn-ea"/>
              <a:cs typeface="+mn-cs"/>
            </a:endParaRPr>
          </a:p>
        </p:txBody>
      </p:sp>
      <p:pic>
        <p:nvPicPr>
          <p:cNvPr id="8" name="Immagine 7">
            <a:extLst>
              <a:ext uri="{FF2B5EF4-FFF2-40B4-BE49-F238E27FC236}">
                <a16:creationId xmlns:a16="http://schemas.microsoft.com/office/drawing/2014/main" id="{FEA6BDA4-5399-F517-0DB3-50D4C733F74C}"/>
              </a:ext>
            </a:extLst>
          </p:cNvPr>
          <p:cNvPicPr>
            <a:picLocks noChangeAspect="1"/>
          </p:cNvPicPr>
          <p:nvPr/>
        </p:nvPicPr>
        <p:blipFill>
          <a:blip r:embed="rId4">
            <a:extLst>
              <a:ext uri="{28A0092B-C50C-407E-A947-70E740481C1C}">
                <a14:useLocalDpi xmlns:a14="http://schemas.microsoft.com/office/drawing/2010/main" val="0"/>
              </a:ext>
            </a:extLst>
          </a:blip>
          <a:srcRect t="2624" b="7234"/>
          <a:stretch>
            <a:fillRect/>
          </a:stretch>
        </p:blipFill>
        <p:spPr>
          <a:xfrm>
            <a:off x="1104415" y="589655"/>
            <a:ext cx="9613900" cy="6234260"/>
          </a:xfrm>
          <a:prstGeom prst="rect">
            <a:avLst/>
          </a:prstGeom>
        </p:spPr>
      </p:pic>
    </p:spTree>
    <p:custDataLst>
      <p:tags r:id="rId1"/>
    </p:custDataLst>
    <p:extLst>
      <p:ext uri="{BB962C8B-B14F-4D97-AF65-F5344CB8AC3E}">
        <p14:creationId xmlns:p14="http://schemas.microsoft.com/office/powerpoint/2010/main" val="31147245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fabric with waves&#10;&#10;Description automatically generated">
            <a:extLst>
              <a:ext uri="{FF2B5EF4-FFF2-40B4-BE49-F238E27FC236}">
                <a16:creationId xmlns:a16="http://schemas.microsoft.com/office/drawing/2014/main" id="{C79EBE95-9947-68D6-00BB-4C4A5DF61AD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1020" y="-1638"/>
            <a:ext cx="12213020" cy="6859638"/>
          </a:xfrm>
          <a:prstGeom prst="rect">
            <a:avLst/>
          </a:prstGeom>
        </p:spPr>
      </p:pic>
      <p:pic>
        <p:nvPicPr>
          <p:cNvPr id="3" name="Immagine 9">
            <a:extLst>
              <a:ext uri="{FF2B5EF4-FFF2-40B4-BE49-F238E27FC236}">
                <a16:creationId xmlns:a16="http://schemas.microsoft.com/office/drawing/2014/main" id="{238EBD59-81AD-BFFD-E4C3-BDBB53596E1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231296" y="2337247"/>
            <a:ext cx="5733605" cy="1298468"/>
          </a:xfrm>
          <a:prstGeom prst="rect">
            <a:avLst/>
          </a:prstGeom>
        </p:spPr>
      </p:pic>
      <p:sp>
        <p:nvSpPr>
          <p:cNvPr id="4" name="TextBox 3">
            <a:extLst>
              <a:ext uri="{FF2B5EF4-FFF2-40B4-BE49-F238E27FC236}">
                <a16:creationId xmlns:a16="http://schemas.microsoft.com/office/drawing/2014/main" id="{9A348B5F-7439-3BC1-CD3F-60209C344FA6}"/>
              </a:ext>
            </a:extLst>
          </p:cNvPr>
          <p:cNvSpPr txBox="1"/>
          <p:nvPr/>
        </p:nvSpPr>
        <p:spPr>
          <a:xfrm>
            <a:off x="1003506" y="5624097"/>
            <a:ext cx="10184990" cy="703398"/>
          </a:xfrm>
          <a:prstGeom prst="rect">
            <a:avLst/>
          </a:prstGeom>
          <a:noFill/>
        </p:spPr>
        <p:txBody>
          <a:bodyPr wrap="square">
            <a:spAutoFit/>
          </a:bodyPr>
          <a:lstStyle/>
          <a:p>
            <a:pPr defTabSz="908294">
              <a:defRPr/>
            </a:pPr>
            <a:r>
              <a:rPr lang="en-US" sz="794">
                <a:solidFill>
                  <a:prstClr val="black"/>
                </a:solidFill>
                <a:latin typeface="Poppins"/>
              </a:rPr>
              <a:t>© TXT e-solutions –All rights reserved. Confidential and proprietary document. </a:t>
            </a:r>
          </a:p>
          <a:p>
            <a:pPr defTabSz="908294">
              <a:defRPr/>
            </a:pPr>
            <a:r>
              <a:rPr lang="en-US" sz="794">
                <a:solidFill>
                  <a:prstClr val="black"/>
                </a:solidFill>
                <a:latin typeface="Poppins"/>
              </a:rPr>
              <a:t>This document and all information contained herein is the sole property of TXT e-solutions . No intellectual property rights are granted by the delivery of this document or the disclosure of its content. This document shall not be reproduced or disclosed to a third party without the express written consent of TXT e-solutions . This document and its content shall not be used for any purpose other than that for which it is supplied. The statements made herein do not constitute an offer. They are based on the mentioned assumptions and are expressed in good faith. Where the supporting grounds for these statements are not shown, TXT e-solutions will be pleased to explain the basis thereof. </a:t>
            </a:r>
            <a:endParaRPr lang="it-IT" sz="794">
              <a:solidFill>
                <a:prstClr val="black"/>
              </a:solidFill>
              <a:latin typeface="Poppins"/>
            </a:endParaRPr>
          </a:p>
        </p:txBody>
      </p:sp>
      <p:sp>
        <p:nvSpPr>
          <p:cNvPr id="5" name="TextBox 4">
            <a:extLst>
              <a:ext uri="{FF2B5EF4-FFF2-40B4-BE49-F238E27FC236}">
                <a16:creationId xmlns:a16="http://schemas.microsoft.com/office/drawing/2014/main" id="{71DCE852-31CB-56FA-D547-40BF805292C1}"/>
              </a:ext>
            </a:extLst>
          </p:cNvPr>
          <p:cNvSpPr txBox="1"/>
          <p:nvPr/>
        </p:nvSpPr>
        <p:spPr>
          <a:xfrm>
            <a:off x="3219027" y="3803346"/>
            <a:ext cx="4133900" cy="1193019"/>
          </a:xfrm>
          <a:prstGeom prst="rect">
            <a:avLst/>
          </a:prstGeom>
          <a:noFill/>
        </p:spPr>
        <p:txBody>
          <a:bodyPr wrap="square">
            <a:spAutoFit/>
          </a:bodyPr>
          <a:lstStyle/>
          <a:p>
            <a:pPr defTabSz="908294">
              <a:defRPr/>
            </a:pPr>
            <a:r>
              <a:rPr lang="it-IT" sz="1192" dirty="0">
                <a:solidFill>
                  <a:prstClr val="black"/>
                </a:solidFill>
                <a:latin typeface="Poppins" panose="00000500000000000000" pitchFamily="2" charset="0"/>
                <a:cs typeface="Poppins" panose="00000500000000000000" pitchFamily="2" charset="0"/>
              </a:rPr>
              <a:t>Borgo </a:t>
            </a:r>
            <a:r>
              <a:rPr lang="it-IT" sz="1192" dirty="0" err="1">
                <a:solidFill>
                  <a:prstClr val="black"/>
                </a:solidFill>
                <a:latin typeface="Poppins" panose="00000500000000000000" pitchFamily="2" charset="0"/>
                <a:cs typeface="Poppins" panose="00000500000000000000" pitchFamily="2" charset="0"/>
              </a:rPr>
              <a:t>Wuhrer</a:t>
            </a:r>
            <a:r>
              <a:rPr lang="it-IT" sz="1192" dirty="0">
                <a:solidFill>
                  <a:prstClr val="black"/>
                </a:solidFill>
                <a:latin typeface="Poppins" panose="00000500000000000000" pitchFamily="2" charset="0"/>
                <a:cs typeface="Poppins" panose="00000500000000000000" pitchFamily="2" charset="0"/>
              </a:rPr>
              <a:t> 137</a:t>
            </a:r>
          </a:p>
          <a:p>
            <a:pPr defTabSz="908294">
              <a:defRPr/>
            </a:pPr>
            <a:r>
              <a:rPr lang="it-IT" sz="1192" dirty="0">
                <a:solidFill>
                  <a:prstClr val="black"/>
                </a:solidFill>
                <a:latin typeface="Poppins" panose="00000500000000000000" pitchFamily="2" charset="0"/>
                <a:cs typeface="Poppins" panose="00000500000000000000" pitchFamily="2" charset="0"/>
              </a:rPr>
              <a:t>25123 - Brescia (BS)</a:t>
            </a:r>
          </a:p>
          <a:p>
            <a:pPr defTabSz="908294">
              <a:defRPr/>
            </a:pPr>
            <a:r>
              <a:rPr lang="it-IT" sz="1192" dirty="0">
                <a:solidFill>
                  <a:prstClr val="black"/>
                </a:solidFill>
                <a:latin typeface="Poppins" panose="00000500000000000000" pitchFamily="2" charset="0"/>
                <a:cs typeface="Poppins" panose="00000500000000000000" pitchFamily="2" charset="0"/>
              </a:rPr>
              <a:t>Italy</a:t>
            </a:r>
          </a:p>
          <a:p>
            <a:pPr defTabSz="908294">
              <a:defRPr/>
            </a:pPr>
            <a:endParaRPr lang="it-IT" sz="1192" dirty="0">
              <a:solidFill>
                <a:prstClr val="black"/>
              </a:solidFill>
              <a:latin typeface="Poppins" panose="00000500000000000000" pitchFamily="2" charset="0"/>
              <a:cs typeface="Poppins" panose="00000500000000000000" pitchFamily="2" charset="0"/>
            </a:endParaRPr>
          </a:p>
          <a:p>
            <a:pPr defTabSz="908294">
              <a:defRPr/>
            </a:pPr>
            <a:r>
              <a:rPr lang="it-IT" sz="1192" dirty="0">
                <a:solidFill>
                  <a:prstClr val="black"/>
                </a:solidFill>
                <a:latin typeface="Poppins" panose="00000500000000000000" pitchFamily="2" charset="0"/>
                <a:cs typeface="Poppins" panose="00000500000000000000" pitchFamily="2" charset="0"/>
              </a:rPr>
              <a:t>novigo@txtgroup.com</a:t>
            </a:r>
          </a:p>
          <a:p>
            <a:pPr defTabSz="908294">
              <a:defRPr/>
            </a:pPr>
            <a:r>
              <a:rPr lang="it-IT" sz="1192" dirty="0">
                <a:solidFill>
                  <a:prstClr val="black"/>
                </a:solidFill>
                <a:latin typeface="Poppins" panose="00000500000000000000" pitchFamily="2" charset="0"/>
                <a:cs typeface="Poppins" panose="00000500000000000000" pitchFamily="2" charset="0"/>
              </a:rPr>
              <a:t>+39 030 7776657</a:t>
            </a:r>
          </a:p>
        </p:txBody>
      </p:sp>
    </p:spTree>
    <p:extLst>
      <p:ext uri="{BB962C8B-B14F-4D97-AF65-F5344CB8AC3E}">
        <p14:creationId xmlns:p14="http://schemas.microsoft.com/office/powerpoint/2010/main" val="18132579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2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TXT Slide Master_White">
  <a:themeElements>
    <a:clrScheme name="Personalizzato 3">
      <a:dk1>
        <a:srgbClr val="000000"/>
      </a:dk1>
      <a:lt1>
        <a:sysClr val="window" lastClr="FFFFFF"/>
      </a:lt1>
      <a:dk2>
        <a:srgbClr val="666666"/>
      </a:dk2>
      <a:lt2>
        <a:srgbClr val="E7E6E6"/>
      </a:lt2>
      <a:accent1>
        <a:srgbClr val="004481"/>
      </a:accent1>
      <a:accent2>
        <a:srgbClr val="2A86CA"/>
      </a:accent2>
      <a:accent3>
        <a:srgbClr val="5BBEFE"/>
      </a:accent3>
      <a:accent4>
        <a:srgbClr val="2DCCCD"/>
      </a:accent4>
      <a:accent5>
        <a:srgbClr val="7FE2E2"/>
      </a:accent5>
      <a:accent6>
        <a:srgbClr val="9CD8FE"/>
      </a:accent6>
      <a:hlink>
        <a:srgbClr val="00B0F0"/>
      </a:hlink>
      <a:folHlink>
        <a:srgbClr val="954F72"/>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ster_template_presentazione_v2" id="{9BB5DD11-0C1D-4B3C-9D98-D2A574C975C6}" vid="{5A15153A-91D9-47DD-84BA-17DDA7D13E7A}"/>
    </a:ext>
  </a:extLst>
</a:theme>
</file>

<file path=ppt/theme/theme2.xml><?xml version="1.0" encoding="utf-8"?>
<a:theme xmlns:a="http://schemas.openxmlformats.org/drawingml/2006/main" name="Novigo">
  <a:themeElements>
    <a:clrScheme name="Personalizzato 3">
      <a:dk1>
        <a:srgbClr val="000000"/>
      </a:dk1>
      <a:lt1>
        <a:sysClr val="window" lastClr="FFFFFF"/>
      </a:lt1>
      <a:dk2>
        <a:srgbClr val="666666"/>
      </a:dk2>
      <a:lt2>
        <a:srgbClr val="E7E6E6"/>
      </a:lt2>
      <a:accent1>
        <a:srgbClr val="004481"/>
      </a:accent1>
      <a:accent2>
        <a:srgbClr val="2A86CA"/>
      </a:accent2>
      <a:accent3>
        <a:srgbClr val="5BBEFE"/>
      </a:accent3>
      <a:accent4>
        <a:srgbClr val="2DCCCD"/>
      </a:accent4>
      <a:accent5>
        <a:srgbClr val="7FE2E2"/>
      </a:accent5>
      <a:accent6>
        <a:srgbClr val="9CD8FE"/>
      </a:accent6>
      <a:hlink>
        <a:srgbClr val="00B0F0"/>
      </a:hlink>
      <a:folHlink>
        <a:srgbClr val="954F72"/>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ster_template_presentazione_v2" id="{9BB5DD11-0C1D-4B3C-9D98-D2A574C975C6}" vid="{5A15153A-91D9-47DD-84BA-17DDA7D13E7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21F8C1811CFC2849BB075804AB038327" ma:contentTypeVersion="6" ma:contentTypeDescription="Creare un nuovo documento." ma:contentTypeScope="" ma:versionID="1b230245fb59b6fdb424d6c54a916aab">
  <xsd:schema xmlns:xsd="http://www.w3.org/2001/XMLSchema" xmlns:xs="http://www.w3.org/2001/XMLSchema" xmlns:p="http://schemas.microsoft.com/office/2006/metadata/properties" xmlns:ns2="353cd2e2-1c11-4b5c-bfac-90f4034b3f06" xmlns:ns3="c99eb337-000b-4878-a4ff-8330c82a1935" xmlns:ns4="f222903d-8679-43da-9a9c-620ddc805fc2" xmlns:ns5="7caceaca-20ef-42d2-b1d4-1dae242b6e79" targetNamespace="http://schemas.microsoft.com/office/2006/metadata/properties" ma:root="true" ma:fieldsID="7f283c8b4b9c24d4965e8c952d86eacf" ns2:_="" ns3:_="" ns4:_="" ns5:_="">
    <xsd:import namespace="353cd2e2-1c11-4b5c-bfac-90f4034b3f06"/>
    <xsd:import namespace="c99eb337-000b-4878-a4ff-8330c82a1935"/>
    <xsd:import namespace="f222903d-8679-43da-9a9c-620ddc805fc2"/>
    <xsd:import namespace="7caceaca-20ef-42d2-b1d4-1dae242b6e79"/>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DateTaken" minOccurs="0"/>
                <xsd:element ref="ns3:MediaServiceOCR" minOccurs="0"/>
                <xsd:element ref="ns3:MediaServiceLocation"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_Flow_SignoffStatus" minOccurs="0"/>
                <xsd:element ref="ns3:MediaServiceObjectDetectorVersions" minOccurs="0"/>
                <xsd:element ref="ns4:lcf76f155ced4ddcb4097134ff3c332f" minOccurs="0"/>
                <xsd:element ref="ns5:TaxCatchAll" minOccurs="0"/>
                <xsd:element ref="ns4:MediaServiceSearchProperties" minOccurs="0"/>
                <xsd:element ref="ns4: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53cd2e2-1c11-4b5c-bfac-90f4034b3f06" elementFormDefault="qualified">
    <xsd:import namespace="http://schemas.microsoft.com/office/2006/documentManagement/types"/>
    <xsd:import namespace="http://schemas.microsoft.com/office/infopath/2007/PartnerControls"/>
    <xsd:element name="SharedWithUsers" ma:index="8" nillable="true" ma:displayName="Condiviso con"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Condiviso con dettagli"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99eb337-000b-4878-a4ff-8330c82a193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Location" ma:index="15" nillable="true" ma:displayName="MediaServic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_Flow_SignoffStatus" ma:index="21" nillable="true" ma:displayName="Stato consenso" ma:internalName="Stato_x0020_consenso">
      <xsd:simpleType>
        <xsd:restriction base="dms:Text"/>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222903d-8679-43da-9a9c-620ddc805fc2" elementFormDefault="qualified">
    <xsd:import namespace="http://schemas.microsoft.com/office/2006/documentManagement/types"/>
    <xsd:import namespace="http://schemas.microsoft.com/office/infopath/2007/PartnerControls"/>
    <xsd:element name="lcf76f155ced4ddcb4097134ff3c332f" ma:index="24" nillable="true" ma:taxonomy="true" ma:internalName="lcf76f155ced4ddcb4097134ff3c332f" ma:taxonomyFieldName="MediaServiceImageTags" ma:displayName="Tag immagine" ma:readOnly="false" ma:fieldId="{5cf76f15-5ced-4ddc-b409-7134ff3c332f}" ma:taxonomyMulti="true" ma:sspId="5db8b724-95e9-4df4-b731-ff17bccab27b" ma:termSetId="09814cd3-568e-fe90-9814-8d621ff8fb84" ma:anchorId="fba54fb3-c3e1-fe81-a776-ca4b69148c4d" ma:open="true" ma:isKeyword="false">
      <xsd:complexType>
        <xsd:sequence>
          <xsd:element ref="pc:Terms" minOccurs="0" maxOccurs="1"/>
        </xsd:sequence>
      </xsd:complex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caceaca-20ef-42d2-b1d4-1dae242b6e79"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7e1ba174-3a72-45b4-ac8b-44549940dce1}" ma:internalName="TaxCatchAll" ma:showField="CatchAllData" ma:web="7caceaca-20ef-42d2-b1d4-1dae242b6e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222903d-8679-43da-9a9c-620ddc805fc2">
      <Terms xmlns="http://schemas.microsoft.com/office/infopath/2007/PartnerControls"/>
    </lcf76f155ced4ddcb4097134ff3c332f>
    <TaxCatchAll xmlns="7caceaca-20ef-42d2-b1d4-1dae242b6e79" xsi:nil="true"/>
    <MediaLengthInSeconds xmlns="c99eb337-000b-4878-a4ff-8330c82a1935" xsi:nil="true"/>
    <_Flow_SignoffStatus xmlns="c99eb337-000b-4878-a4ff-8330c82a1935" xsi:nil="true"/>
    <SharedWithUsers xmlns="353cd2e2-1c11-4b5c-bfac-90f4034b3f06">
      <UserInfo>
        <DisplayName>Davide Natola</DisplayName>
        <AccountId>43</AccountId>
        <AccountType/>
      </UserInfo>
      <UserInfo>
        <DisplayName>Ezio Frassi</DisplayName>
        <AccountId>19</AccountId>
        <AccountType/>
      </UserInfo>
      <UserInfo>
        <DisplayName>Marco Ferrari</DisplayName>
        <AccountId>10008</AccountId>
        <AccountType/>
      </UserInfo>
      <UserInfo>
        <DisplayName>Federico Zanardelli</DisplayName>
        <AccountId>48</AccountId>
        <AccountType/>
      </UserInfo>
      <UserInfo>
        <DisplayName>Gianfranco Ballerini</DisplayName>
        <AccountId>18</AccountId>
        <AccountType/>
      </UserInfo>
      <UserInfo>
        <DisplayName>Luca Tamanza</DisplayName>
        <AccountId>50</AccountId>
        <AccountType/>
      </UserInfo>
    </SharedWithUsers>
  </documentManagement>
</p:properties>
</file>

<file path=customXml/itemProps1.xml><?xml version="1.0" encoding="utf-8"?>
<ds:datastoreItem xmlns:ds="http://schemas.openxmlformats.org/officeDocument/2006/customXml" ds:itemID="{2C16DCC2-FB77-4585-AA18-8EC74148A596}">
  <ds:schemaRefs>
    <ds:schemaRef ds:uri="http://schemas.microsoft.com/sharepoint/v3/contenttype/forms"/>
  </ds:schemaRefs>
</ds:datastoreItem>
</file>

<file path=customXml/itemProps2.xml><?xml version="1.0" encoding="utf-8"?>
<ds:datastoreItem xmlns:ds="http://schemas.openxmlformats.org/officeDocument/2006/customXml" ds:itemID="{BD5A8979-D21C-480E-B4BE-72AFC5D163C5}">
  <ds:schemaRefs>
    <ds:schemaRef ds:uri="353cd2e2-1c11-4b5c-bfac-90f4034b3f06"/>
    <ds:schemaRef ds:uri="7caceaca-20ef-42d2-b1d4-1dae242b6e79"/>
    <ds:schemaRef ds:uri="c99eb337-000b-4878-a4ff-8330c82a1935"/>
    <ds:schemaRef ds:uri="f222903d-8679-43da-9a9c-620ddc805fc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14CBE57-84D0-4E46-A0E0-F67292BE1EDA}">
  <ds:schemaRefs>
    <ds:schemaRef ds:uri="353cd2e2-1c11-4b5c-bfac-90f4034b3f06"/>
    <ds:schemaRef ds:uri="http://purl.org/dc/dcmitype/"/>
    <ds:schemaRef ds:uri="http://schemas.microsoft.com/office/2006/metadata/properties"/>
    <ds:schemaRef ds:uri="f222903d-8679-43da-9a9c-620ddc805fc2"/>
    <ds:schemaRef ds:uri="http://schemas.microsoft.com/office/infopath/2007/PartnerControls"/>
    <ds:schemaRef ds:uri="http://schemas.openxmlformats.org/package/2006/metadata/core-properties"/>
    <ds:schemaRef ds:uri="http://schemas.microsoft.com/office/2006/documentManagement/types"/>
    <ds:schemaRef ds:uri="7caceaca-20ef-42d2-b1d4-1dae242b6e79"/>
    <ds:schemaRef ds:uri="c99eb337-000b-4878-a4ff-8330c82a1935"/>
    <ds:schemaRef ds:uri="http://www.w3.org/XML/1998/namespace"/>
    <ds:schemaRef ds:uri="http://purl.org/dc/terms/"/>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3076</TotalTime>
  <Words>2294</Words>
  <Application>Microsoft Office PowerPoint</Application>
  <PresentationFormat>Widescreen</PresentationFormat>
  <Paragraphs>544</Paragraphs>
  <Slides>20</Slides>
  <Notes>16</Notes>
  <HiddenSlides>0</HiddenSlides>
  <MMClips>0</MMClips>
  <ScaleCrop>false</ScaleCrop>
  <HeadingPairs>
    <vt:vector size="6" baseType="variant">
      <vt:variant>
        <vt:lpstr>Caratteri utilizzati</vt:lpstr>
      </vt:variant>
      <vt:variant>
        <vt:i4>11</vt:i4>
      </vt:variant>
      <vt:variant>
        <vt:lpstr>Tema</vt:lpstr>
      </vt:variant>
      <vt:variant>
        <vt:i4>2</vt:i4>
      </vt:variant>
      <vt:variant>
        <vt:lpstr>Titoli diapositive</vt:lpstr>
      </vt:variant>
      <vt:variant>
        <vt:i4>20</vt:i4>
      </vt:variant>
    </vt:vector>
  </HeadingPairs>
  <TitlesOfParts>
    <vt:vector size="33" baseType="lpstr">
      <vt:lpstr>Arial</vt:lpstr>
      <vt:lpstr>Calibri</vt:lpstr>
      <vt:lpstr>Helvetica Neue</vt:lpstr>
      <vt:lpstr>Helvetica Neue Light</vt:lpstr>
      <vt:lpstr>Inter Bold</vt:lpstr>
      <vt:lpstr>Inter SemiBold</vt:lpstr>
      <vt:lpstr>Poppins</vt:lpstr>
      <vt:lpstr>Poppins Light</vt:lpstr>
      <vt:lpstr>Poppins Medium</vt:lpstr>
      <vt:lpstr>Poppins SemiBold</vt:lpstr>
      <vt:lpstr>Roboto Bold</vt:lpstr>
      <vt:lpstr>TXT Slide Master_White</vt:lpstr>
      <vt:lpstr>Novigo</vt:lpstr>
      <vt:lpstr>Presentazione standard di PowerPoint</vt:lpstr>
      <vt:lpstr>Data pipeline | Contesto ed esigenza</vt:lpstr>
      <vt:lpstr>Data pipeline | Non investiamo più volte sullo stesso problema?</vt:lpstr>
      <vt:lpstr>Data pipeline | Perché siamo qui?</vt:lpstr>
      <vt:lpstr>Data pipeline | La capacità aziendale che vogliamo costruire, un modello</vt:lpstr>
      <vt:lpstr>Data pipeline | Il percorso del dato</vt:lpstr>
      <vt:lpstr>Data pipeline | Il modello in dettaglio</vt:lpstr>
      <vt:lpstr>Data pipeline | Roadmap di adozione</vt:lpstr>
      <vt:lpstr>Data pipeline | Prossimi passi e decisione richiesta</vt:lpstr>
      <vt:lpstr>Data pipeline | Un modello,  due modi per realizzarla…</vt:lpstr>
      <vt:lpstr>Data pipeline | Grado di copertura di ciascuna soluzione</vt:lpstr>
      <vt:lpstr>Data pipeline | Criteri di scelta</vt:lpstr>
      <vt:lpstr>Presentazione standard di PowerPoint</vt:lpstr>
      <vt:lpstr>Data pipeline | Implementazione AWS</vt:lpstr>
      <vt:lpstr>Data pipeline | Implementazione Qlik</vt:lpstr>
      <vt:lpstr>Data pipeline | WBS Blueprint comune</vt:lpstr>
      <vt:lpstr>Data pipeline | WBS ProSIGNAL</vt:lpstr>
      <vt:lpstr>Data pipeline | WBS Kiron CDG</vt:lpstr>
      <vt:lpstr>Data pipeline | WBS CDG Interno</vt:lpstr>
      <vt:lpstr>Presentazione standard di PowerPoint</vt:lpstr>
    </vt:vector>
  </TitlesOfParts>
  <Company>TXT e-solutions S.p.A.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Massimo Morzetti</dc:creator>
  <cp:lastModifiedBy>Ignazio Ingenito</cp:lastModifiedBy>
  <cp:revision>42</cp:revision>
  <cp:lastPrinted>2025-09-03T06:59:29Z</cp:lastPrinted>
  <dcterms:created xsi:type="dcterms:W3CDTF">2023-08-25T12:12:23Z</dcterms:created>
  <dcterms:modified xsi:type="dcterms:W3CDTF">2026-07-13T09:37:32Z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mplianceAssetId">
    <vt:lpwstr/>
  </property>
  <property fmtid="{D5CDD505-2E9C-101B-9397-08002B2CF9AE}" pid="4" name="TriggerFlowInfo">
    <vt:lpwstr/>
  </property>
  <property fmtid="{D5CDD505-2E9C-101B-9397-08002B2CF9AE}" pid="5" name="_ExtendedDescription">
    <vt:lpwstr/>
  </property>
  <property fmtid="{D5CDD505-2E9C-101B-9397-08002B2CF9AE}" pid="6" name="xd_ProgID">
    <vt:lpwstr/>
  </property>
  <property fmtid="{D5CDD505-2E9C-101B-9397-08002B2CF9AE}" pid="7" name="TemplateUrl">
    <vt:lpwstr/>
  </property>
  <property fmtid="{D5CDD505-2E9C-101B-9397-08002B2CF9AE}" pid="8" name="xd_Signature">
    <vt:bool>false</vt:bool>
  </property>
  <property fmtid="{D5CDD505-2E9C-101B-9397-08002B2CF9AE}" pid="9" name="SharedWithUsers">
    <vt:lpwstr>43;#Davide Natola;#19;#Ezio Frassi;#10008;#Marco Ferrari;#48;#Federico Zanardelli;#18;#Gianfranco Ballerini;#50;#Luca Tamanza</vt:lpwstr>
  </property>
  <property fmtid="{D5CDD505-2E9C-101B-9397-08002B2CF9AE}" pid="10" name="ArticulateGUID">
    <vt:lpwstr>E11B93E0-D4E0-4372-A5C7-562287C7EB13</vt:lpwstr>
  </property>
  <property fmtid="{D5CDD505-2E9C-101B-9397-08002B2CF9AE}" pid="11" name="ArticulatePath">
    <vt:lpwstr>https://txtgroup.sharepoint.com/sites/Allitude-RFPrifacimentoportali/Documenti condivisi/General/Progetto/11_Comitati Direzione/2025_07_10 TXT Novigo - PortalPoint Migrazione - Comitato direttivo interno WIP</vt:lpwstr>
  </property>
  <property fmtid="{D5CDD505-2E9C-101B-9397-08002B2CF9AE}" pid="12" name="ContentTypeId">
    <vt:lpwstr>0x01010021F8C1811CFC2849BB075804AB038327</vt:lpwstr>
  </property>
</Properties>
</file>