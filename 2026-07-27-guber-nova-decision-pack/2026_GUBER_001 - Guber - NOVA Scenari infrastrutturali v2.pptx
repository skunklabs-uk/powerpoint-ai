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0" y="198000"/>
            <a:ext cx="1152000" cy="360000"/>
          </a:xfrm>
          <a:prstGeom prst="rect">
            <a:avLst/>
          </a:prstGeom>
        </p:spPr>
      </p:pic>
      <p:pic>
        <p:nvPicPr>
          <p:cNvPr id="3" name="Picture 2" descr="template-cover-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00" y="0"/>
            <a:ext cx="3873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000" y="4608000"/>
            <a:ext cx="7560000" cy="251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900" b="1">
                <a:solidFill>
                  <a:srgbClr val="2DCCCD"/>
                </a:solidFill>
                <a:latin typeface="Poppins"/>
              </a:rPr>
              <a:t>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78000"/>
            <a:ext cx="7560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2200" b="1">
                <a:solidFill>
                  <a:srgbClr val="212529"/>
                </a:solidFill>
                <a:latin typeface="Poppins"/>
              </a:rPr>
              <a:t>Alternative infrastrutturali</a:t>
            </a:r>
            <a:br/>
            <a:r>
              <a:rPr sz="2200" b="1">
                <a:solidFill>
                  <a:srgbClr val="212529"/>
                </a:solidFill>
                <a:latin typeface="Poppins"/>
              </a:rPr>
              <a:t>e modelli operativi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" y="5472000"/>
            <a:ext cx="576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0">
                <a:solidFill>
                  <a:srgbClr val="868E95"/>
                </a:solidFill>
                <a:latin typeface="Poppins"/>
              </a:rPr>
              <a:t>Guber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00" y="6300000"/>
            <a:ext cx="28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0">
                <a:solidFill>
                  <a:srgbClr val="868E95"/>
                </a:solidFill>
                <a:latin typeface="Poppins"/>
              </a:rPr>
              <a:t>31 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Contesto, esigenza e obiettivi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72000" y="1080000"/>
            <a:ext cx="0" cy="4536000"/>
          </a:xfrm>
          <a:prstGeom prst="line">
            <a:avLst/>
          </a:prstGeom>
          <a:ln w="1397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6000" y="1188000"/>
            <a:ext cx="12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00" b="1">
                <a:solidFill>
                  <a:srgbClr val="008E96"/>
                </a:solidFill>
                <a:latin typeface="Poppins"/>
              </a:rPr>
              <a:t>Contesto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2000" y="1080000"/>
            <a:ext cx="889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Poppins"/>
              </a:rPr>
              <a:t>Guber richiede un accesso SQL governato ai dati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2000" y="1386000"/>
            <a:ext cx="8892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50" b="0">
                <a:solidFill>
                  <a:srgbClr val="212529"/>
                </a:solidFill>
                <a:latin typeface="Poppins"/>
              </a:rPr>
              <a:t>L'esigenza riguarda verifiche ed estrazioni, mantenendo continuità operativa e tracciabilità degli accessi.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754000"/>
            <a:ext cx="12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00" b="1">
                <a:solidFill>
                  <a:srgbClr val="008E96"/>
                </a:solidFill>
                <a:latin typeface="Poppins"/>
              </a:rPr>
              <a:t>Esigenza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2000" y="2646000"/>
            <a:ext cx="889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Poppins"/>
              </a:rPr>
              <a:t>Separare l'autonomia sui dati dal rischio sul transazionale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000" y="2951999"/>
            <a:ext cx="8892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50" b="0">
                <a:solidFill>
                  <a:srgbClr val="212529"/>
                </a:solidFill>
                <a:latin typeface="Poppins"/>
              </a:rPr>
              <a:t>La collocazione deve bilanciare controllo Guber, sicurezza, responsabilità operative e impatto della transizione.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4320000"/>
            <a:ext cx="12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00" b="1">
                <a:solidFill>
                  <a:srgbClr val="008E96"/>
                </a:solidFill>
                <a:latin typeface="Poppins"/>
              </a:rPr>
              <a:t>Obiettivi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000" y="4212000"/>
            <a:ext cx="889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Poppins"/>
              </a:rPr>
              <a:t>Confrontare sei alternative su criteri omogenei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2000" y="4518000"/>
            <a:ext cx="8892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50" b="0">
                <a:solidFill>
                  <a:srgbClr val="212529"/>
                </a:solidFill>
                <a:latin typeface="Poppins"/>
              </a:rPr>
              <a:t>Il confronto considera collocazione, accesso SQL, modello operativo, rischio, reversibilità ed economics.</a:t>
            </a:r>
          </a:p>
        </p:txBody>
      </p:sp>
      <p:pic>
        <p:nvPicPr>
          <p:cNvPr id="17" name="Picture 1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Situazione attuale e requisito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Il requisito SQL si innesta su una piattaforma oggi concentrata nell'ambiente corrente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64000"/>
            <a:ext cx="11160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NOVA gestisce history e consolidamento; l'accesso Guber deve essere separato dal workload applicativo.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60000"/>
            <a:ext cx="5760000" cy="3851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1404000"/>
            <a:ext cx="54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FLUSSO OPERATIVO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5999" y="1800000"/>
            <a:ext cx="3456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8000" y="1908000"/>
            <a:ext cx="331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Sorgenti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8000" y="2106000"/>
            <a:ext cx="3311999" cy="9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730" b="0">
                <a:solidFill>
                  <a:srgbClr val="868E95"/>
                </a:solidFill>
                <a:latin typeface="Poppins"/>
              </a:rPr>
              <a:t>ODT · AV · Loan Data Tape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4000" y="2322000"/>
            <a:ext cx="0" cy="324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75999" y="2682000"/>
            <a:ext cx="3456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48000" y="2790000"/>
            <a:ext cx="331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8000" y="2988000"/>
            <a:ext cx="3311999" cy="9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730" b="0">
                <a:solidFill>
                  <a:srgbClr val="868E95"/>
                </a:solidFill>
                <a:latin typeface="Poppins"/>
              </a:rPr>
              <a:t>history · working row · consolidamento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4000" y="3204000"/>
            <a:ext cx="0" cy="324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475999" y="3564000"/>
            <a:ext cx="3456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48000" y="3672000"/>
            <a:ext cx="331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Database primario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3870000"/>
            <a:ext cx="3311999" cy="9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730" b="0">
                <a:solidFill>
                  <a:srgbClr val="868E95"/>
                </a:solidFill>
                <a:latin typeface="Poppins"/>
              </a:rPr>
              <a:t>servizio applicativo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1368000"/>
            <a:ext cx="432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REQUISITO GUBER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1620000"/>
            <a:ext cx="468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Interrogazioni SQL per verifiche ed estrazioni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Profili read-only come configurazione ordinaria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Accessi, query e operazioni amministrative tracciati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8000" y="3311999"/>
            <a:ext cx="432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IMPLICAZIONE ARCHITETTURALE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8000" y="3564000"/>
            <a:ext cx="468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Il requisito può essere soddisfatto sul primario o su una replica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Una replica evita query dirette sul transazionale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Frequenza, lag e oggetti esposti diventano requisiti di servizio</a:t>
            </a:r>
          </a:p>
        </p:txBody>
      </p:sp>
      <p:pic>
        <p:nvPicPr>
          <p:cNvPr id="26" name="Picture 25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Alternative di collocazione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Le sei alternative distinguono la collocazione del primario dalla replica presso Guber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882000"/>
            <a:ext cx="11160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Quattro opzioni intervengono sul database primario; due mantengono il primario e aggiungono una replica read-only.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242000"/>
            <a:ext cx="6803999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COLLOCAZIONE DEL DATABASE PRIMARIO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1440000"/>
            <a:ext cx="6983999" cy="0"/>
          </a:xfrm>
          <a:prstGeom prst="line">
            <a:avLst/>
          </a:prstGeom>
          <a:ln w="1651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0000" y="1710000"/>
            <a:ext cx="2448000" cy="185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000" y="1854000"/>
            <a:ext cx="28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00" y="2160000"/>
            <a:ext cx="2196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Infrastruttura attuale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" y="2646000"/>
            <a:ext cx="2196000" cy="43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0">
                <a:solidFill>
                  <a:srgbClr val="868E95"/>
                </a:solidFill>
                <a:latin typeface="Poppins"/>
              </a:rPr>
              <a:t>Continuità e cambiamento minimo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0000" y="1710000"/>
            <a:ext cx="2448000" cy="185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6000" y="1854000"/>
            <a:ext cx="28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000" y="2160000"/>
            <a:ext cx="2196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Primario su Azure Guber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6000" y="2646000"/>
            <a:ext cx="2196000" cy="43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0">
                <a:solidFill>
                  <a:srgbClr val="868E95"/>
                </a:solidFill>
                <a:latin typeface="Poppins"/>
              </a:rPr>
              <a:t>Ownership Guber e governance Azure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0000" y="1710000"/>
            <a:ext cx="2448000" cy="185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6000" y="1854000"/>
            <a:ext cx="28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6000" y="2160000"/>
            <a:ext cx="2196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Primario su AWS Guber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6000" y="2646000"/>
            <a:ext cx="2196000" cy="43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0">
                <a:solidFill>
                  <a:srgbClr val="868E95"/>
                </a:solidFill>
                <a:latin typeface="Poppins"/>
              </a:rPr>
              <a:t>Ownership Guber e target AWS Francoforte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0000" y="1710000"/>
            <a:ext cx="2448000" cy="185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6000" y="1854000"/>
            <a:ext cx="28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6000" y="2160000"/>
            <a:ext cx="2196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Primario on-premise Guber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6000" y="2646000"/>
            <a:ext cx="2196000" cy="43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0">
                <a:solidFill>
                  <a:srgbClr val="868E95"/>
                </a:solidFill>
                <a:latin typeface="Poppins"/>
              </a:rPr>
              <a:t>Controllo infrastrutturale diretto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3996000"/>
            <a:ext cx="6803999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PRIMARIO ATTUALE + REPLICA READ-ONLY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0000" y="4194000"/>
            <a:ext cx="6983999" cy="0"/>
          </a:xfrm>
          <a:prstGeom prst="line">
            <a:avLst/>
          </a:prstGeom>
          <a:ln w="16510">
            <a:solidFill>
              <a:srgbClr val="2A8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04000" y="4464000"/>
            <a:ext cx="2664000" cy="12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0000" y="4590000"/>
            <a:ext cx="28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0000" y="4878000"/>
            <a:ext cx="241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004481"/>
                </a:solidFill>
                <a:latin typeface="Poppins"/>
              </a:rPr>
              <a:t>Replica on-premise Guber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0000" y="5220000"/>
            <a:ext cx="24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0">
                <a:solidFill>
                  <a:srgbClr val="868E95"/>
                </a:solidFill>
                <a:latin typeface="Poppins"/>
              </a:rPr>
              <a:t>Accesso SQL presso Guber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999" y="4464000"/>
            <a:ext cx="2664000" cy="12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0000" y="4590000"/>
            <a:ext cx="28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0000" y="4878000"/>
            <a:ext cx="241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004481"/>
                </a:solidFill>
                <a:latin typeface="Poppins"/>
              </a:rPr>
              <a:t>Replica su Azure Guber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0000" y="5220000"/>
            <a:ext cx="24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0">
                <a:solidFill>
                  <a:srgbClr val="868E95"/>
                </a:solidFill>
                <a:latin typeface="Poppins"/>
              </a:rPr>
              <a:t>Accesso SQL presso Guber</a:t>
            </a:r>
          </a:p>
        </p:txBody>
      </p:sp>
      <p:pic>
        <p:nvPicPr>
          <p:cNvPr id="37" name="Picture 3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01 | </a:t>
            </a:r>
            <a:r>
              <a:rPr sz="800" b="1">
                <a:solidFill>
                  <a:srgbClr val="212529"/>
                </a:solidFill>
                <a:latin typeface="Poppins"/>
              </a:rPr>
              <a:t>Infrastruttura attuale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continuità riduce il rischio di transizione, ma limita il controllo infrastrutturale di Guber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71200"/>
            <a:ext cx="11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database primario resta nell'ambiente corrente; l'accesso SQL viene segregato e tracciato.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260000"/>
            <a:ext cx="4968000" cy="36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404000"/>
            <a:ext cx="46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800000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908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Guber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2000" y="2322000"/>
            <a:ext cx="0" cy="288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52000" y="2646000"/>
            <a:ext cx="3240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754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Accesso SQL governato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2000" y="3167999"/>
            <a:ext cx="0" cy="288001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2000" y="3491999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4000" y="3600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NOVA attuale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1350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1565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Tempi più rapidi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Rischio migrazione contenuto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Alta reversibilità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34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Ownership Guber limitata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Accesso da segregare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Dipendenza dall'ambiente corrente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43740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CONDIZIONI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4363200"/>
            <a:ext cx="3780000" cy="21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19" b="0">
                <a:solidFill>
                  <a:srgbClr val="212529"/>
                </a:solidFill>
                <a:latin typeface="Poppins"/>
              </a:rPr>
              <a:t>Viste / schema read-only · Audit e capacità · SLA operativo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770000"/>
            <a:ext cx="5580000" cy="558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49248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€ 40k–124k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526000"/>
            <a:ext cx="55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Una tantum € 15k–38k  |  piattaforma mensile € 0,7k–2,4k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02 | </a:t>
            </a:r>
            <a:r>
              <a:rPr sz="800" b="1">
                <a:solidFill>
                  <a:srgbClr val="212529"/>
                </a:solidFill>
                <a:latin typeface="Poppins"/>
              </a:rPr>
              <a:t>Primario su Azure Guber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Azure trasferisce il controllo a Guber e richiede una migrazione governata del primario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71200"/>
            <a:ext cx="11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database primario migra nella subscription Azure di Guber, su servizio gestito o VM compatibile.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260000"/>
            <a:ext cx="4968000" cy="36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404000"/>
            <a:ext cx="46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800000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908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Utenti / sistemi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2000" y="2322000"/>
            <a:ext cx="0" cy="288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52000" y="2646000"/>
            <a:ext cx="3240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754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Azure Guber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2000" y="3167999"/>
            <a:ext cx="0" cy="288001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2000" y="3491999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4000" y="3600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DB NOVA primario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1350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1565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Account e chiavi Guber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Elasticità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PaaS se compatibile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34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Migrazione del primario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Dipendenza dalla rete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Run da assegnare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43740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CONDIZIONI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4363200"/>
            <a:ext cx="3780000" cy="21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19" b="0">
                <a:solidFill>
                  <a:srgbClr val="212529"/>
                </a:solidFill>
                <a:latin typeface="Poppins"/>
              </a:rPr>
              <a:t>Landing zone · Compatibilità DB · Networking privato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770000"/>
            <a:ext cx="5580000" cy="558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49248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€ 112k–319k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526000"/>
            <a:ext cx="55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Una tantum € 49k–128k  |  piattaforma mensile € 1,75k–5,3k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03 | </a:t>
            </a:r>
            <a:r>
              <a:rPr sz="800" b="1">
                <a:solidFill>
                  <a:srgbClr val="212529"/>
                </a:solidFill>
                <a:latin typeface="Poppins"/>
              </a:rPr>
              <a:t>Primario su AWS Guber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AWS trasferisce il controllo a Guber e valorizza i servizi della regione Francoforte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71200"/>
            <a:ext cx="11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database primario migra nell'account AWS di Guber, in regione Europe (Frankfurt).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260000"/>
            <a:ext cx="4968000" cy="36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404000"/>
            <a:ext cx="46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800000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908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Utenti / sistemi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2000" y="2322000"/>
            <a:ext cx="0" cy="288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52000" y="2646000"/>
            <a:ext cx="3240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754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AWS eu-central-1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2000" y="3167999"/>
            <a:ext cx="0" cy="288001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2000" y="3491999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4000" y="3600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DB NOVA primario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1350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1565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Account e chiavi Guber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Servizi gestiti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Coerenza con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34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Migrazione del primario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Compatibilità RDS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Responsabilità operative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43740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CONDIZIONI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4363200"/>
            <a:ext cx="3780000" cy="21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19" b="0">
                <a:solidFill>
                  <a:srgbClr val="212529"/>
                </a:solidFill>
                <a:latin typeface="Poppins"/>
              </a:rPr>
              <a:t>Standard AWS Guber · VPC e connettività · Motore / licensing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770000"/>
            <a:ext cx="5580000" cy="558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49248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€ 108k–315k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526000"/>
            <a:ext cx="55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Una tantum € 49k–128k  |  piattaforma mensile € 1,65k–5,2k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04 | </a:t>
            </a:r>
            <a:r>
              <a:rPr sz="800" b="1">
                <a:solidFill>
                  <a:srgbClr val="212529"/>
                </a:solidFill>
                <a:latin typeface="Poppins"/>
              </a:rPr>
              <a:t>Primario on-premise Guber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L'on-premise massimizza il controllo diretto e concentra su Guber capacità e continuità operativa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71200"/>
            <a:ext cx="11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database primario migra nell'infrastruttura Guber, con HA, backup e operations da dimensionare.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260000"/>
            <a:ext cx="4968000" cy="36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404000"/>
            <a:ext cx="46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800000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908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Utenti / sistemi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2000" y="2322000"/>
            <a:ext cx="0" cy="288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52000" y="2646000"/>
            <a:ext cx="3240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754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Data center Guber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2000" y="3167999"/>
            <a:ext cx="0" cy="288001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2000" y="3491999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4000" y="3600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DB NOVA primario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1350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1565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Ownership Guber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Integrazione con rete interna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Controllo diretto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34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Capacità e licensing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HA / DR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Carico operativo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43740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CONDIZIONI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4363200"/>
            <a:ext cx="3780000" cy="21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19" b="0">
                <a:solidFill>
                  <a:srgbClr val="212529"/>
                </a:solidFill>
                <a:latin typeface="Poppins"/>
              </a:rPr>
              <a:t>Infrastruttura disponibile · Competenze · Backup e secondo sito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770000"/>
            <a:ext cx="5580000" cy="558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49248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€ 121k–370k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526000"/>
            <a:ext cx="55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Una tantum € 71k–208k  |  piattaforma mensile € 1,4k–4,5k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05 | </a:t>
            </a:r>
            <a:r>
              <a:rPr sz="800" b="1">
                <a:solidFill>
                  <a:srgbClr val="212529"/>
                </a:solidFill>
                <a:latin typeface="Poppins"/>
              </a:rPr>
              <a:t>Replica on-premise Guber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replica on-premise abilita l'accesso locale senza spostare il database transazionale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71200"/>
            <a:ext cx="11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primario resta nell'ambiente corrente e alimenta una replica read-only nell'infrastruttura Guber.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260000"/>
            <a:ext cx="4968000" cy="36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404000"/>
            <a:ext cx="46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800000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908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Primario attuale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2000" y="2322000"/>
            <a:ext cx="0" cy="288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52000" y="2646000"/>
            <a:ext cx="3240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754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Replica asincrona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2000" y="3167999"/>
            <a:ext cx="0" cy="288001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2000" y="3491999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4000" y="3600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On-premise Guber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1350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1565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Migrazione contenuta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Accesso locale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Alta reversibilità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34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Lag e riconciliazione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Ownership divisa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Compatibilità replica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43740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CONDIZIONI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4363200"/>
            <a:ext cx="3780000" cy="21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19" b="0">
                <a:solidFill>
                  <a:srgbClr val="212529"/>
                </a:solidFill>
                <a:latin typeface="Poppins"/>
              </a:rPr>
              <a:t>Motore / licenze · Frequenza e SLA · Viste e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770000"/>
            <a:ext cx="5580000" cy="558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49248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€ 57k–179k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526000"/>
            <a:ext cx="55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Una tantum € 25k–64k  |  piattaforma mensile € 0,9k–3,2k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06 | </a:t>
            </a:r>
            <a:r>
              <a:rPr sz="800" b="1">
                <a:solidFill>
                  <a:srgbClr val="212529"/>
                </a:solidFill>
                <a:latin typeface="Poppins"/>
              </a:rPr>
              <a:t>Replica su Azure Guber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replica Azure abilita accesso e governance cloud senza migrare il database transazionale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871200"/>
            <a:ext cx="11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primario resta nell'ambiente corrente e alimenta una replica read-only nella subscription Azure Guber.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260000"/>
            <a:ext cx="4968000" cy="36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404000"/>
            <a:ext cx="46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000" y="1800000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4000" y="1908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Primario attuale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2000" y="2322000"/>
            <a:ext cx="0" cy="288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52000" y="2646000"/>
            <a:ext cx="3240000" cy="522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754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Replica asincrona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2000" y="3167999"/>
            <a:ext cx="0" cy="288001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52000" y="3491999"/>
            <a:ext cx="3240000" cy="52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4000" y="3600000"/>
            <a:ext cx="309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1">
                <a:solidFill>
                  <a:srgbClr val="004481"/>
                </a:solidFill>
                <a:latin typeface="Poppins"/>
              </a:rPr>
              <a:t>Azure Guber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1350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0" y="1565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Autonomia sui dati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Identity e audit Azure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Scalabilità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34000"/>
            <a:ext cx="27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Connettività cross-environment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Lag ed egress</a:t>
            </a:r>
          </a:p>
          <a:p>
            <a:pPr>
              <a:spcAft>
                <a:spcPts val="500"/>
              </a:spcAft>
              <a:defRPr sz="930">
                <a:solidFill>
                  <a:srgbClr val="212529"/>
                </a:solidFill>
                <a:latin typeface="Poppins"/>
              </a:defRPr>
            </a:pPr>
            <a:r>
              <a:t>•  Compatibilità replica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43740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CONDIZIONI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4363200"/>
            <a:ext cx="3780000" cy="21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19" b="0">
                <a:solidFill>
                  <a:srgbClr val="212529"/>
                </a:solidFill>
                <a:latin typeface="Poppins"/>
              </a:rPr>
              <a:t>Subscription e rete privata · Replica supportata · Retention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770000"/>
            <a:ext cx="5580000" cy="558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0000" y="4924800"/>
            <a:ext cx="216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€ 57k–179k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526000"/>
            <a:ext cx="55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Una tantum € 25k–64k  |  piattaforma mensile € 0,9k–3,2k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Modello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Account e chiavi possono restare Guber anche quando il run è affidato a Novigo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882000"/>
            <a:ext cx="11160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modello operativo è indipendente dalla collocazione e deve coprire l'intero servizio NOVA.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6000" y="1368000"/>
            <a:ext cx="3851999" cy="306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7999" y="1458000"/>
            <a:ext cx="3708000" cy="10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AM NOVIGO END-TO-END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07999" y="1368000"/>
            <a:ext cx="3851999" cy="306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999" y="1458000"/>
            <a:ext cx="3708000" cy="10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GUBER / TERZA PARTE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674000"/>
            <a:ext cx="2592000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6000" y="1674000"/>
            <a:ext cx="3851999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08000" y="1674000"/>
            <a:ext cx="3851999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000" y="1872000"/>
            <a:ext cx="23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Presidio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1999" y="1836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Coordinato da un unico fornitore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3999" y="1836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Distribuito tra owner e fornitori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" y="2268000"/>
            <a:ext cx="2592000" cy="594000"/>
          </a:xfrm>
          <a:prstGeom prst="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96000" y="2268000"/>
            <a:ext cx="3851999" cy="594000"/>
          </a:xfrm>
          <a:prstGeom prst="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8000" y="2268000"/>
            <a:ext cx="3851999" cy="594000"/>
          </a:xfrm>
          <a:prstGeom prst="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000" y="2466000"/>
            <a:ext cx="23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Perimetro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1999" y="2430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Applicazione, DB, infrastruttura e orchestratore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3999" y="2430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Da ricomporre nel contratto operativo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000" y="2862000"/>
            <a:ext cx="2592000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96000" y="2862000"/>
            <a:ext cx="3851999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8000" y="2862000"/>
            <a:ext cx="3851999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000" y="3060000"/>
            <a:ext cx="23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1999" y="3024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Monitor, backup, patching, incident e release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3999" y="3024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Competenze e copertura da garantire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6000" y="3456000"/>
            <a:ext cx="2592000" cy="594000"/>
          </a:xfrm>
          <a:prstGeom prst="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96000" y="3456000"/>
            <a:ext cx="3851999" cy="594000"/>
          </a:xfrm>
          <a:prstGeom prst="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08000" y="3456000"/>
            <a:ext cx="3851999" cy="594000"/>
          </a:xfrm>
          <a:prstGeom prst="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2000" y="3654000"/>
            <a:ext cx="23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1999" y="3618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Account e approvazioni Guber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3999" y="3618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Account e approvazioni Guber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6000" y="4050000"/>
            <a:ext cx="2592000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96000" y="4050000"/>
            <a:ext cx="3851999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08000" y="4050000"/>
            <a:ext cx="3851999" cy="59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2000" y="4248000"/>
            <a:ext cx="23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Handover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1999" y="4212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Exit plan contrattuale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3999" y="4212000"/>
            <a:ext cx="3600000" cy="27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9" b="0">
                <a:solidFill>
                  <a:srgbClr val="212529"/>
                </a:solidFill>
                <a:latin typeface="Poppins"/>
              </a:rPr>
              <a:t>Processo interno o di sourcing</a:t>
            </a:r>
          </a:p>
        </p:txBody>
      </p:sp>
      <p:pic>
        <p:nvPicPr>
          <p:cNvPr id="43" name="Picture 42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I range TCO rendono confrontabili le alternative su un orizzonte di tre anni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882000"/>
            <a:ext cx="11160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TCO piattaforma: costi una tantum più 36 mesi di costi ricorrenti.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78000"/>
            <a:ext cx="3528000" cy="163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000" y="127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602000"/>
            <a:ext cx="3276000" cy="23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004481"/>
                </a:solidFill>
                <a:latin typeface="Poppins"/>
              </a:rPr>
              <a:t>Infrastruttura attuale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194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4000" y="194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212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  <a:latin typeface="Poppins"/>
              </a:rPr>
              <a:t>€ 15k–38k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4000" y="212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50" b="1">
                <a:solidFill>
                  <a:srgbClr val="212529"/>
                </a:solidFill>
                <a:latin typeface="Poppins"/>
              </a:rPr>
              <a:t>€ 0,7k–2,4k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0000" y="2358000"/>
            <a:ext cx="3276000" cy="0"/>
          </a:xfrm>
          <a:prstGeom prst="line">
            <a:avLst/>
          </a:prstGeom>
          <a:ln w="10160">
            <a:solidFill>
              <a:srgbClr val="B9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0000" y="2484000"/>
            <a:ext cx="15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008E96"/>
                </a:solidFill>
                <a:latin typeface="Poppins"/>
              </a:rPr>
              <a:t>TCO 3 ANNI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2000" y="2430000"/>
            <a:ext cx="1655999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400" b="1">
                <a:solidFill>
                  <a:srgbClr val="008E96"/>
                </a:solidFill>
                <a:latin typeface="Poppins"/>
              </a:rPr>
              <a:t>€ 40k–124k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6000" y="1278000"/>
            <a:ext cx="3528000" cy="163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76000" y="127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2000" y="1602000"/>
            <a:ext cx="3276000" cy="23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004481"/>
                </a:solidFill>
                <a:latin typeface="Poppins"/>
              </a:rPr>
              <a:t>Primario su Azure Guber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2000" y="194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6000" y="194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2000" y="212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  <a:latin typeface="Poppins"/>
              </a:rPr>
              <a:t>€ 49k–128k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6000" y="212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50" b="1">
                <a:solidFill>
                  <a:srgbClr val="212529"/>
                </a:solidFill>
                <a:latin typeface="Poppins"/>
              </a:rPr>
              <a:t>€ 1,75k–5,3k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02000" y="2358000"/>
            <a:ext cx="3275999" cy="0"/>
          </a:xfrm>
          <a:prstGeom prst="line">
            <a:avLst/>
          </a:prstGeom>
          <a:ln w="10160">
            <a:solidFill>
              <a:srgbClr val="B9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02000" y="2484000"/>
            <a:ext cx="15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008E96"/>
                </a:solidFill>
                <a:latin typeface="Poppins"/>
              </a:rPr>
              <a:t>TCO 3 ANNI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3999" y="2430000"/>
            <a:ext cx="1655999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400" b="1">
                <a:solidFill>
                  <a:srgbClr val="008E96"/>
                </a:solidFill>
                <a:latin typeface="Poppins"/>
              </a:rPr>
              <a:t>€ 112k–319k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7999" y="1278000"/>
            <a:ext cx="3528000" cy="163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7999" y="127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3999" y="1602000"/>
            <a:ext cx="3276000" cy="23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004481"/>
                </a:solidFill>
                <a:latin typeface="Poppins"/>
              </a:rPr>
              <a:t>Primario su AWS Guber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3999" y="194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7999" y="194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3999" y="212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  <a:latin typeface="Poppins"/>
              </a:rPr>
              <a:t>€ 49k–128k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7999" y="212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50" b="1">
                <a:solidFill>
                  <a:srgbClr val="212529"/>
                </a:solidFill>
                <a:latin typeface="Poppins"/>
              </a:rPr>
              <a:t>€ 1,65k–5,2k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53999" y="2358000"/>
            <a:ext cx="3276000" cy="0"/>
          </a:xfrm>
          <a:prstGeom prst="line">
            <a:avLst/>
          </a:prstGeom>
          <a:ln w="10160">
            <a:solidFill>
              <a:srgbClr val="B9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53999" y="2484000"/>
            <a:ext cx="15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008E96"/>
                </a:solidFill>
                <a:latin typeface="Poppins"/>
              </a:rPr>
              <a:t>TCO 3 ANNI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000" y="2430000"/>
            <a:ext cx="1655999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400" b="1">
                <a:solidFill>
                  <a:srgbClr val="008E96"/>
                </a:solidFill>
                <a:latin typeface="Poppins"/>
              </a:rPr>
              <a:t>€ 108k–315k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000" y="3168000"/>
            <a:ext cx="3528000" cy="163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000" y="316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000" y="3492000"/>
            <a:ext cx="3276000" cy="23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004481"/>
                </a:solidFill>
                <a:latin typeface="Poppins"/>
              </a:rPr>
              <a:t>Primario on-premise Guber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" y="383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24000" y="383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000" y="401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  <a:latin typeface="Poppins"/>
              </a:rPr>
              <a:t>€ 71k–208k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24000" y="401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50" b="1">
                <a:solidFill>
                  <a:srgbClr val="212529"/>
                </a:solidFill>
                <a:latin typeface="Poppins"/>
              </a:rPr>
              <a:t>€ 1,4k–4,5k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0000" y="4248000"/>
            <a:ext cx="3276000" cy="0"/>
          </a:xfrm>
          <a:prstGeom prst="line">
            <a:avLst/>
          </a:prstGeom>
          <a:ln w="10160">
            <a:solidFill>
              <a:srgbClr val="B9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0000" y="4374000"/>
            <a:ext cx="15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008E96"/>
                </a:solidFill>
                <a:latin typeface="Poppins"/>
              </a:rPr>
              <a:t>TCO 3 ANNI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2000" y="4320000"/>
            <a:ext cx="1655999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400" b="1">
                <a:solidFill>
                  <a:srgbClr val="008E96"/>
                </a:solidFill>
                <a:latin typeface="Poppins"/>
              </a:rPr>
              <a:t>€ 121k–370k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76000" y="3168000"/>
            <a:ext cx="3528000" cy="163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76000" y="316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02000" y="3492000"/>
            <a:ext cx="3276000" cy="23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004481"/>
                </a:solidFill>
                <a:latin typeface="Poppins"/>
              </a:rPr>
              <a:t>Replica on-premise Guber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2000" y="383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76000" y="383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02000" y="401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  <a:latin typeface="Poppins"/>
              </a:rPr>
              <a:t>€ 25k–64k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76000" y="401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50" b="1">
                <a:solidFill>
                  <a:srgbClr val="212529"/>
                </a:solidFill>
                <a:latin typeface="Poppins"/>
              </a:rPr>
              <a:t>€ 0,9k–3,2k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302000" y="4248000"/>
            <a:ext cx="3275999" cy="0"/>
          </a:xfrm>
          <a:prstGeom prst="line">
            <a:avLst/>
          </a:prstGeom>
          <a:ln w="10160">
            <a:solidFill>
              <a:srgbClr val="B9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302000" y="4374000"/>
            <a:ext cx="15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008E96"/>
                </a:solidFill>
                <a:latin typeface="Poppins"/>
              </a:rPr>
              <a:t>TCO 3 ANNI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3999" y="4320000"/>
            <a:ext cx="1655999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400" b="1">
                <a:solidFill>
                  <a:srgbClr val="008E96"/>
                </a:solidFill>
                <a:latin typeface="Poppins"/>
              </a:rPr>
              <a:t>€ 57k–179k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27999" y="3168000"/>
            <a:ext cx="3528000" cy="163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27999" y="316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53999" y="3492000"/>
            <a:ext cx="3276000" cy="23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004481"/>
                </a:solidFill>
                <a:latin typeface="Poppins"/>
              </a:rPr>
              <a:t>Replica su Azure Guber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53999" y="383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7999" y="3834000"/>
            <a:ext cx="1584000" cy="1152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3999" y="401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  <a:latin typeface="Poppins"/>
              </a:rPr>
              <a:t>€ 25k–64k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7999" y="4014000"/>
            <a:ext cx="1584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50" b="1">
                <a:solidFill>
                  <a:srgbClr val="212529"/>
                </a:solidFill>
                <a:latin typeface="Poppins"/>
              </a:rPr>
              <a:t>€ 0,9k–3,2k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153999" y="4248000"/>
            <a:ext cx="3276000" cy="0"/>
          </a:xfrm>
          <a:prstGeom prst="line">
            <a:avLst/>
          </a:prstGeom>
          <a:ln w="10160">
            <a:solidFill>
              <a:srgbClr val="B9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153999" y="4374000"/>
            <a:ext cx="1512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008E96"/>
                </a:solidFill>
                <a:latin typeface="Poppins"/>
              </a:rPr>
              <a:t>TCO 3 ANNI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56000" y="4320000"/>
            <a:ext cx="1655999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400" b="1">
                <a:solidFill>
                  <a:srgbClr val="008E96"/>
                </a:solidFill>
                <a:latin typeface="Poppins"/>
              </a:rPr>
              <a:t>€ 57k–179k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0000" y="5310000"/>
            <a:ext cx="11052000" cy="28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30" b="0">
                <a:solidFill>
                  <a:srgbClr val="868E95"/>
                </a:solidFill>
                <a:latin typeface="Poppins"/>
              </a:rPr>
              <a:t>AM Novigo, team sostitutivo, licenze non note e disaster recovery geografico non inclusi.</a:t>
            </a:r>
          </a:p>
        </p:txBody>
      </p:sp>
      <p:pic>
        <p:nvPicPr>
          <p:cNvPr id="70" name="Picture 6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Confronto delle 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Le alternative cambiano il punto di equilibrio tra velocità, controllo e complessità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3384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000" y="1404000"/>
            <a:ext cx="3276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Poppins"/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Rapidità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Rischio</a:t>
            </a:r>
            <a:br/>
            <a:r>
              <a:rPr sz="819" b="1">
                <a:solidFill>
                  <a:srgbClr val="FFFFFF"/>
                </a:solidFill>
                <a:latin typeface="Poppins"/>
              </a:rPr>
              <a:t>migrazione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Ownership</a:t>
            </a:r>
            <a:br/>
            <a:r>
              <a:rPr sz="819" b="1">
                <a:solidFill>
                  <a:srgbClr val="FFFFFF"/>
                </a:solidFill>
                <a:latin typeface="Poppins"/>
              </a:rPr>
              <a:t>Guber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Accesso</a:t>
            </a:r>
            <a:br/>
            <a:r>
              <a:rPr sz="819" b="1">
                <a:solidFill>
                  <a:srgbClr val="FFFFFF"/>
                </a:solidFill>
                <a:latin typeface="Poppins"/>
              </a:rPr>
              <a:t>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Elasticità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Semplicità</a:t>
            </a:r>
            <a:br/>
            <a:r>
              <a:rPr sz="819" b="1">
                <a:solidFill>
                  <a:srgbClr val="FFFFFF"/>
                </a:solidFill>
                <a:latin typeface="Poppins"/>
              </a:rPr>
              <a:t>operativa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2000" y="1260000"/>
            <a:ext cx="1170000" cy="522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6000" y="1404000"/>
            <a:ext cx="1062000" cy="251999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Reversibilità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1782000"/>
            <a:ext cx="3384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1962000"/>
            <a:ext cx="32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004481"/>
                </a:solidFill>
                <a:latin typeface="Poppins"/>
              </a:rPr>
              <a:t>Infrastruttura attuale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2000" y="1782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2000" y="1782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2000" y="1782000"/>
            <a:ext cx="1170000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2000" y="178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2000" y="178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22000" y="178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92000" y="1782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28000" y="193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" y="2340000"/>
            <a:ext cx="3384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2520000"/>
            <a:ext cx="32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004481"/>
                </a:solidFill>
                <a:latin typeface="Poppins"/>
              </a:rPr>
              <a:t>Primario su Azure Guber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2000" y="2340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2000" y="2340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2000" y="2340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4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82000" y="2340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1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52000" y="2340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8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22000" y="2340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92000" y="2340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000" y="2491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00" y="2898000"/>
            <a:ext cx="3384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000" y="3078000"/>
            <a:ext cx="32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004481"/>
                </a:solidFill>
                <a:latin typeface="Poppins"/>
              </a:rPr>
              <a:t>Primario su AWS Guber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72000" y="2898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0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2000" y="2898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7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2000" y="2898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4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82000" y="2898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1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52000" y="2898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8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2000" y="2898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92000" y="2898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28000" y="3049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8000" y="3456000"/>
            <a:ext cx="3384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0000" y="3636000"/>
            <a:ext cx="32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004481"/>
                </a:solidFill>
                <a:latin typeface="Poppins"/>
              </a:rPr>
              <a:t>Primario on-premise Guber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72000" y="3456000"/>
            <a:ext cx="1170000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0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2000" y="3456000"/>
            <a:ext cx="1170000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7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12000" y="3456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4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82000" y="3456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1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52000" y="3456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8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22000" y="3456000"/>
            <a:ext cx="1170000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92000" y="3456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728000" y="3607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8000" y="4014000"/>
            <a:ext cx="3384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0000" y="4194000"/>
            <a:ext cx="32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004481"/>
                </a:solidFill>
                <a:latin typeface="Poppins"/>
              </a:rPr>
              <a:t>Replica on-premise Guber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72000" y="4014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0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42000" y="4014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7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12000" y="4014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4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82000" y="4014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1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352000" y="4014000"/>
            <a:ext cx="1170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8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0">
                <a:solidFill>
                  <a:srgbClr val="004481"/>
                </a:solidFill>
                <a:latin typeface="Poppins"/>
              </a:rPr>
              <a:t>bassa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522000" y="4014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5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2000" y="4014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728000" y="4165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8000" y="4572000"/>
            <a:ext cx="3384000" cy="558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0000" y="4752000"/>
            <a:ext cx="324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004481"/>
                </a:solidFill>
                <a:latin typeface="Poppins"/>
              </a:rPr>
              <a:t>Replica su Azure Guber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72000" y="457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0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42000" y="457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7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12000" y="457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04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82000" y="4572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1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52000" y="457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8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004481"/>
                </a:solidFill>
                <a:latin typeface="Poppins"/>
              </a:rPr>
              <a:t>Medio-</a:t>
            </a:r>
            <a:br/>
            <a:r>
              <a:rPr sz="750" b="1">
                <a:solidFill>
                  <a:srgbClr val="004481"/>
                </a:solidFill>
                <a:latin typeface="Poppins"/>
              </a:rPr>
              <a:t>alta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522000" y="4572000"/>
            <a:ext cx="1170000" cy="558000"/>
          </a:xfrm>
          <a:prstGeom prst="rect">
            <a:avLst/>
          </a:prstGeom>
          <a:solidFill>
            <a:srgbClr val="ECF8F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55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0">
                <a:solidFill>
                  <a:srgbClr val="004481"/>
                </a:solidFill>
                <a:latin typeface="Poppins"/>
              </a:rPr>
              <a:t>Media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92000" y="4572000"/>
            <a:ext cx="1170000" cy="558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728000" y="4723200"/>
            <a:ext cx="1098000" cy="2340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Alta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0000" y="5112000"/>
            <a:ext cx="11160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0">
                <a:solidFill>
                  <a:srgbClr val="868E95"/>
                </a:solidFill>
                <a:latin typeface="Poppins"/>
              </a:rPr>
              <a:t>Valutazione qualitativa basata sulle informazioni disponibili.</a:t>
            </a:r>
          </a:p>
        </p:txBody>
      </p:sp>
      <p:pic>
        <p:nvPicPr>
          <p:cNvPr id="121" name="Picture 120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Sintesi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Le alternative rispondono a tre orientamenti infrastrutturali distinti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96000"/>
            <a:ext cx="3528000" cy="19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96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710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868E95"/>
                </a:solidFill>
                <a:latin typeface="Poppins"/>
              </a:rPr>
              <a:t>CONTINUITÀ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034000"/>
            <a:ext cx="3276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400" b="1">
                <a:solidFill>
                  <a:srgbClr val="004481"/>
                </a:solidFill>
                <a:latin typeface="Poppins"/>
              </a:rPr>
              <a:t>Scenario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" y="2430000"/>
            <a:ext cx="3060000" cy="46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0">
                <a:solidFill>
                  <a:srgbClr val="212529"/>
                </a:solidFill>
                <a:latin typeface="Poppins"/>
              </a:rPr>
              <a:t>Mantenere il primario nell'ambiente corrente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4000" y="1296000"/>
            <a:ext cx="3528000" cy="19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4000" y="1296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1710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868E95"/>
                </a:solidFill>
                <a:latin typeface="Poppins"/>
              </a:rPr>
              <a:t>TRASFERIMENTO DEL PRIMARIO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2034000"/>
            <a:ext cx="3276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400" b="1">
                <a:solidFill>
                  <a:srgbClr val="004481"/>
                </a:solidFill>
                <a:latin typeface="Poppins"/>
              </a:rPr>
              <a:t>Scenari 2–4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000" y="2430000"/>
            <a:ext cx="3060000" cy="46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0">
                <a:solidFill>
                  <a:srgbClr val="212529"/>
                </a:solidFill>
                <a:latin typeface="Poppins"/>
              </a:rPr>
              <a:t>Azure, AWS o infrastruttura on-premise Guber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3999" y="1296000"/>
            <a:ext cx="3528000" cy="19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3999" y="1296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0000" y="1710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868E95"/>
                </a:solidFill>
                <a:latin typeface="Poppins"/>
              </a:rPr>
              <a:t>ACCESSO DATI CON REPLICA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0000" y="2034000"/>
            <a:ext cx="3276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400" b="1">
                <a:solidFill>
                  <a:srgbClr val="004481"/>
                </a:solidFill>
                <a:latin typeface="Poppins"/>
              </a:rPr>
              <a:t>Scenari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7999" y="2430000"/>
            <a:ext cx="3060000" cy="46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950" b="0">
                <a:solidFill>
                  <a:srgbClr val="212529"/>
                </a:solidFill>
                <a:latin typeface="Poppins"/>
              </a:rPr>
              <a:t>Replica read-only on-premise o Azure Guber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851999"/>
            <a:ext cx="11160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INFORMAZIONI CHE MODIFICANO IL CONFRONTO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4158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4276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Motore e versione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0000" y="4158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21999" y="4276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Sizing e crescita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0000" y="4158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2000" y="4276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SLA / RPO / RTO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0000" y="4158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2000" y="4276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Standard cloud Guber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000" y="4752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4870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Capacità on-premise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0000" y="4752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21999" y="4870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Connettività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0000" y="4752000"/>
            <a:ext cx="2520000" cy="378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2000" y="4870800"/>
            <a:ext cx="237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004481"/>
                </a:solidFill>
                <a:latin typeface="Poppins"/>
              </a:rPr>
              <a:t>Licensing</a:t>
            </a:r>
          </a:p>
        </p:txBody>
      </p:sp>
      <p:pic>
        <p:nvPicPr>
          <p:cNvPr id="38" name="Picture 37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0" y="198000"/>
            <a:ext cx="1152000" cy="360000"/>
          </a:xfrm>
          <a:prstGeom prst="rect">
            <a:avLst/>
          </a:prstGeom>
        </p:spPr>
      </p:pic>
      <p:pic>
        <p:nvPicPr>
          <p:cNvPr id="4" name="Picture 3" descr="template-cover-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00" y="0"/>
            <a:ext cx="3873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6000" y="3888000"/>
            <a:ext cx="738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1">
                <a:solidFill>
                  <a:srgbClr val="2DCCCD"/>
                </a:solidFill>
                <a:latin typeface="Poppins"/>
              </a:rPr>
              <a:t>APPENDICE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000" y="4212000"/>
            <a:ext cx="7920000" cy="64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</a:rPr>
              <a:t>Assunzioni, economics e</a:t>
            </a:r>
            <a:br/>
            <a:r>
              <a:rPr sz="2400" b="1">
                <a:solidFill>
                  <a:srgbClr val="FFFFFF"/>
                </a:solidFill>
                <a:latin typeface="Poppins"/>
              </a:rPr>
              <a:t>approfondimenti tecnici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Evidenze e informazioni mancanti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Fatti, deduzioni e dati mancanti restano separati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18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FATTI CONFERMATI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Accesso SQL richiesto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Replica read-only accettata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Azure e on-premise in agenda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AWS confermato dall'utente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AM Novigo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18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DEDUZIONI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Migrare il primario non è l'unico modo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La replica riduce il rischio sul transazionale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La rete diventa parte dell'architettura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Key ownership è una scelta di 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188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DATI MANCANTI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Motore e licensing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Sizing, crescita e IOPS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SLA, RPO / RTO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Landing zone e connettività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Capacità on-premise e contratti</a:t>
            </a:r>
          </a:p>
        </p:txBody>
      </p:sp>
      <p:pic>
        <p:nvPicPr>
          <p:cNvPr id="20" name="Picture 1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Assunzioni economiche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Il confronto usa un carico di riferimento comune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224000"/>
            <a:ext cx="252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0" y="1224000"/>
            <a:ext cx="540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" y="1396800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Produzione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6000" y="1375200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4–8 vCPU · 16–32 GB RAM · 24x7 · alta disponibilità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745999"/>
            <a:ext cx="2520000" cy="522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0" y="1745999"/>
            <a:ext cx="5400000" cy="522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918800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6000" y="1897199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500 GB iniziali · crescita 20% annuo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268000"/>
            <a:ext cx="252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0" y="2268000"/>
            <a:ext cx="540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2440800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Non produzione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6000" y="2419200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1 ambiente al 50% della produzione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2790000"/>
            <a:ext cx="2520000" cy="522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0" y="2790000"/>
            <a:ext cx="5400000" cy="522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000" y="2962800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Backup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6000" y="2941200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30 giorni · restore periodicamente testato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311999"/>
            <a:ext cx="252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000" y="3311999"/>
            <a:ext cx="540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3484800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Documentale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6000" y="3463199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1 TB iniziale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3833999"/>
            <a:ext cx="2520000" cy="522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0000" y="3833999"/>
            <a:ext cx="5400000" cy="522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000" y="4006799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Accesso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6000" y="3985199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20 utenti autorizzati · massimo 5 concorrenti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4355999"/>
            <a:ext cx="252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000" y="4355999"/>
            <a:ext cx="5400000" cy="52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000" y="4528799"/>
            <a:ext cx="2268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TCO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6000" y="4507199"/>
            <a:ext cx="5148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80" b="0">
                <a:solidFill>
                  <a:srgbClr val="212529"/>
                </a:solidFill>
                <a:latin typeface="Poppins"/>
              </a:rPr>
              <a:t>Una tantum + 36 mesi di piattaforma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0000" y="1224000"/>
            <a:ext cx="2880000" cy="365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0000" y="1224000"/>
            <a:ext cx="2880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66000" y="1602000"/>
            <a:ext cx="2628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ESCLUSIONI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6000" y="1890000"/>
            <a:ext cx="259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AM Novigo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Team sostitutivo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Licenze non note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DR geografico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Costi interni Guber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IVA e sconti</a:t>
            </a:r>
          </a:p>
        </p:txBody>
      </p:sp>
      <p:pic>
        <p:nvPicPr>
          <p:cNvPr id="40" name="Picture 3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Scenario 01 —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Infrastruttura attuale — componenti del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24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UNA TANTUM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Assessment e hardening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Viste / accesso SQL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Audit e test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Documentazione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224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RICORRENTE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Capacità incrementale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Backup e logging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Monitoring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Networking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224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VARIABILI PRINCIPALI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Motore e compatibilità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 / DR e SLA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Volumi e IOPS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Licenze e contratti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770000"/>
            <a:ext cx="11124000" cy="576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€ 15k–38k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€ 0,7k–2,4k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TCO 3 ANNI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€ 40k–124k</a:t>
            </a:r>
          </a:p>
        </p:txBody>
      </p:sp>
      <p:pic>
        <p:nvPicPr>
          <p:cNvPr id="27" name="Picture 2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Scenario 02 —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Primario su Azure Guber — componenti del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24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UNA TANTUM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Assessment PaaS / IaaS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Landing zone e rete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Migrazione e test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Cutover e rollback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224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RICORRENTE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Compute / database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Storage e backup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Logging e security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Networking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224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VARIABILI PRINCIPALI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Motore e compatibilità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 / DR e SLA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Volumi e IOPS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Licenze e contratti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770000"/>
            <a:ext cx="11124000" cy="576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€ 49k–128k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€ 1,75k–5,3k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TCO 3 ANNI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€ 112k–319k</a:t>
            </a:r>
          </a:p>
        </p:txBody>
      </p:sp>
      <p:pic>
        <p:nvPicPr>
          <p:cNvPr id="27" name="Picture 2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Scenario 03 —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Primario su AWS Guber — componenti del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24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UNA TANTUM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Assessment RDS / EC2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Landing zone e VPC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Migrazione e test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Cutover e rollback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224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RICORRENTE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RDS / EC2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Storage e backup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CloudWatch / security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Networking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224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VARIABILI PRINCIPALI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Motore e compatibilità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 / DR e SLA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Volumi e IOPS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Licenze e contratti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770000"/>
            <a:ext cx="11124000" cy="576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€ 49k–128k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€ 1,65k–5,2k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TCO 3 ANNI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€ 108k–315k</a:t>
            </a:r>
          </a:p>
        </p:txBody>
      </p:sp>
      <p:pic>
        <p:nvPicPr>
          <p:cNvPr id="27" name="Picture 2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Scenario 04 —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Primario on-premise Guber — componenti del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24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UNA TANTUM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Assessment e capacity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Provisioning e licensing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Migrazione e test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HA, backup e cutover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224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RICORRENTE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Capacità e manutenzione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Backup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Monitoring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Data center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224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VARIABILI PRINCIPALI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Motore e compatibilità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 / DR e SLA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Volumi e IOPS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Licenze e contratti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770000"/>
            <a:ext cx="11124000" cy="576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€ 71k–208k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€ 1,4k–4,5k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TCO 3 ANNI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€ 121k–370k</a:t>
            </a:r>
          </a:p>
        </p:txBody>
      </p:sp>
      <p:pic>
        <p:nvPicPr>
          <p:cNvPr id="27" name="Picture 2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Scenario 05 —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Replica on-premise Guber — componenti del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24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UNA TANTUM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Assessment replica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Provisioning on-premise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Setup e riconciliazione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Accessi e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224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RICORRENTE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Compute replica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Storage e backup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Monitor del lag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Connettività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224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VARIABILI PRINCIPALI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Motore e compatibilità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 / DR e SLA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Volumi e IOPS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Licenze e contratti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770000"/>
            <a:ext cx="11124000" cy="576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€ 25k–64k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€ 0,9k–3,2k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TCO 3 ANNI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€ 57k–179k</a:t>
            </a:r>
          </a:p>
        </p:txBody>
      </p:sp>
      <p:pic>
        <p:nvPicPr>
          <p:cNvPr id="27" name="Picture 2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Scenario 06 —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Replica su Azure Guber — componenti del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224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UNA TANTUM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Assessment replica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Subscription e rete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Setup e riconciliazione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Accessi e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224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RICORRENTE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Database replica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Storage e backup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Monitor e audit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Rete / egress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224000"/>
            <a:ext cx="3528000" cy="320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224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602000"/>
            <a:ext cx="327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VARIABILI PRINCIPALI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Motore e compatibilità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HA / DR e SLA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Volumi e IOPS</a:t>
            </a:r>
          </a:p>
          <a:p>
            <a:pPr>
              <a:spcAft>
                <a:spcPts val="500"/>
              </a:spcAft>
              <a:defRPr sz="919">
                <a:solidFill>
                  <a:srgbClr val="212529"/>
                </a:solidFill>
                <a:latin typeface="Poppins"/>
              </a:defRPr>
            </a:pPr>
            <a:r>
              <a:t>•  Licenze e contratti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770000"/>
            <a:ext cx="11124000" cy="576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UNA TANTUM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€ 25k–64k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MENSILE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€ 0,9k–3,2k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903200"/>
            <a:ext cx="1584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750" b="1">
                <a:solidFill>
                  <a:srgbClr val="868E95"/>
                </a:solidFill>
                <a:latin typeface="Poppins"/>
              </a:rPr>
              <a:t>TCO 3 ANNI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8000" y="4842000"/>
            <a:ext cx="180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250" b="1">
                <a:solidFill>
                  <a:srgbClr val="008E96"/>
                </a:solidFill>
                <a:latin typeface="Poppins"/>
              </a:rPr>
              <a:t>€ 57k–179k</a:t>
            </a:r>
          </a:p>
        </p:txBody>
      </p:sp>
      <p:pic>
        <p:nvPicPr>
          <p:cNvPr id="27" name="Picture 2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Sicurezza 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Ownership e responsabilità devono restare esplicite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18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GUBER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Account e infrastruttura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Key ownership e policy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Approvazioni e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18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NOVIGO O ALTRO OPERATORE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Run operativo delegato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Backup, patching e monitor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Incident e release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188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CONTROLLO COMUNE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Accesso privato e MFA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Segregazione dei ruoli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Logging, revoca ed exit plan</a:t>
            </a:r>
          </a:p>
        </p:txBody>
      </p:sp>
      <p:pic>
        <p:nvPicPr>
          <p:cNvPr id="20" name="Picture 1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Storage documentale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tecnologia dipende dal requisito di storage e dalla collocazione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18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AWS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Lifecycle e versioning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KMS e policy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Egress da valutare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18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AZURE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Identity e policy Azure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Tier e retention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Connettività privata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188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OBJECT STORAGE ON-PREMISE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Controllo locale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Capacity e operations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Durabilità da progettare</a:t>
            </a:r>
          </a:p>
        </p:txBody>
      </p:sp>
      <p:pic>
        <p:nvPicPr>
          <p:cNvPr id="20" name="Picture 1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Orchestratore e 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separazione dei componenti modifica dipendenze e responsabilità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188000"/>
            <a:ext cx="3528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DB-ONLY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Database o replica spostati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Applicazione e orchestratore invariati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Dipendenza dalla WAN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6000" y="1188000"/>
            <a:ext cx="3528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000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PERCORSO PER FASI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000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Replica o DB come primo passo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Verifica prima di estendere lo scope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Transitorio da governare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99" y="1188000"/>
            <a:ext cx="3528000" cy="37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7999" y="1188000"/>
            <a:ext cx="3528000" cy="234000"/>
          </a:xfrm>
          <a:prstGeom prst="rect">
            <a:avLst/>
          </a:prstGeom>
          <a:solidFill>
            <a:srgbClr val="004481"/>
          </a:solidFill>
          <a:ln w="10160">
            <a:solidFill>
              <a:srgbClr val="004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999" y="1565999"/>
            <a:ext cx="3276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4481"/>
                </a:solidFill>
                <a:latin typeface="Poppins"/>
              </a:rPr>
              <a:t>FULL-STACK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999" y="1890000"/>
            <a:ext cx="3240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Applicazione, DB e orchestratore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Target più coerente</a:t>
            </a:r>
          </a:p>
          <a:p>
            <a:pPr>
              <a:spcAft>
                <a:spcPts val="500"/>
              </a:spcAft>
              <a:defRPr sz="900">
                <a:solidFill>
                  <a:srgbClr val="212529"/>
                </a:solidFill>
                <a:latin typeface="Poppins"/>
              </a:defRPr>
            </a:pPr>
            <a:r>
              <a:t>•  Scope e cutover maggiori</a:t>
            </a:r>
          </a:p>
        </p:txBody>
      </p:sp>
      <p:pic>
        <p:nvPicPr>
          <p:cNvPr id="20" name="Picture 1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Deployment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compatibilità del motore determina il livello di servizio gestito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296000"/>
            <a:ext cx="5364000" cy="3491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5364000" cy="2340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710000"/>
            <a:ext cx="5004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000" b="1">
                <a:solidFill>
                  <a:srgbClr val="004481"/>
                </a:solidFill>
                <a:latin typeface="Poppins"/>
              </a:rPr>
              <a:t>SERVIZIO GESTITO · PAAS / 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160000"/>
            <a:ext cx="4788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Patching e backup maggiormente gestiti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Alta disponibilità standardizzata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Minore carico operativo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Compatibilità e feature da verificare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1296000"/>
            <a:ext cx="5364000" cy="3491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1296000"/>
            <a:ext cx="5364000" cy="2340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710000"/>
            <a:ext cx="5004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000" b="1">
                <a:solidFill>
                  <a:srgbClr val="004481"/>
                </a:solidFill>
                <a:latin typeface="Poppins"/>
              </a:rPr>
              <a:t>VM / EC2 · SELF-MANAGED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2160000"/>
            <a:ext cx="4788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Maggiore controllo e compatibilità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Responsabilità DBA e sistema operativo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Backup, HA e patching da costruire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Poppins"/>
              </a:defRPr>
            </a:pPr>
            <a:r>
              <a:t>•  Licensing e TCO operativo da verificare</a:t>
            </a:r>
          </a:p>
        </p:txBody>
      </p:sp>
      <p:pic>
        <p:nvPicPr>
          <p:cNvPr id="16" name="Picture 15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Modello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Il run deve coprire applicazione, database e ambiente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1224000"/>
            <a:ext cx="3240000" cy="360000"/>
          </a:xfrm>
          <a:prstGeom prst="rect">
            <a:avLst/>
          </a:prstGeom>
          <a:solidFill>
            <a:srgbClr val="00448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30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Poppins"/>
              </a:rPr>
              <a:t>Ambito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4000" y="1224000"/>
            <a:ext cx="4140000" cy="360000"/>
          </a:xfrm>
          <a:prstGeom prst="rect">
            <a:avLst/>
          </a:prstGeom>
          <a:solidFill>
            <a:srgbClr val="2DCCC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6000" y="1332000"/>
            <a:ext cx="39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</a:rPr>
              <a:t>AM Novigo end-to-end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03999" y="1224000"/>
            <a:ext cx="4140000" cy="360000"/>
          </a:xfrm>
          <a:prstGeom prst="rect">
            <a:avLst/>
          </a:prstGeom>
          <a:solidFill>
            <a:srgbClr val="2A86C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5999" y="1332000"/>
            <a:ext cx="39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</a:rPr>
              <a:t>Guber / terza parte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584000"/>
            <a:ext cx="32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999" y="174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Applicazione e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4000" y="158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4000" y="174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Novigo esegue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3999" y="158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3999" y="174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Owner designato esegue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" y="2124000"/>
            <a:ext cx="32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999" y="228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Database e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4000" y="2124000"/>
            <a:ext cx="41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4000" y="228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Novigo esegue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3999" y="2124000"/>
            <a:ext cx="41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3999" y="228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DBA Guber / terzo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0" y="2664000"/>
            <a:ext cx="32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3999" y="282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Infrastruttura / 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4000" y="266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4000" y="282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Novigo opera con delega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03999" y="266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3999" y="282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Guber / terzo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3204000"/>
            <a:ext cx="32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3999" y="336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Backup e restore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4000" y="3204000"/>
            <a:ext cx="41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4000" y="336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Novigo esegue e testa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3999" y="3204000"/>
            <a:ext cx="41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3999" y="336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Guber / terzo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000" y="3744000"/>
            <a:ext cx="32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3999" y="390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Security operations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4000" y="374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4000" y="390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Novigo opera; Guber governa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03999" y="374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3999" y="390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Guber / terzo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000" y="4284000"/>
            <a:ext cx="32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999" y="444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Account e chiavi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4000" y="4284000"/>
            <a:ext cx="41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4000" y="444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Guber governa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03999" y="4284000"/>
            <a:ext cx="4140000" cy="540000"/>
          </a:xfrm>
          <a:prstGeom prst="rect">
            <a:avLst/>
          </a:prstGeom>
          <a:solidFill>
            <a:srgbClr val="EFF6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93999" y="444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Guber governa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000" y="4824000"/>
            <a:ext cx="32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3999" y="4986000"/>
            <a:ext cx="30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0" b="1">
                <a:solidFill>
                  <a:srgbClr val="004481"/>
                </a:solidFill>
                <a:latin typeface="Poppins"/>
              </a:rPr>
              <a:t>Incident e problem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4000" y="482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4000" y="498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Presidio coordinato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03999" y="4824000"/>
            <a:ext cx="414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3999" y="4986000"/>
            <a:ext cx="3960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60" b="0">
                <a:solidFill>
                  <a:srgbClr val="212529"/>
                </a:solidFill>
                <a:latin typeface="Poppins"/>
              </a:rPr>
              <a:t>Coordinamento multi-owner</a:t>
            </a:r>
          </a:p>
        </p:txBody>
      </p:sp>
      <p:pic>
        <p:nvPicPr>
          <p:cNvPr id="56" name="Picture 55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Appendice | </a:t>
            </a:r>
            <a:r>
              <a:rPr sz="800" b="1">
                <a:solidFill>
                  <a:srgbClr val="212529"/>
                </a:solidFill>
                <a:latin typeface="Poppins"/>
              </a:rPr>
              <a:t>Percorso di approfondimento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Quattro approfondimenti riducono l'incertezza tecnica ed economica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000" y="3024000"/>
            <a:ext cx="9576000" cy="0"/>
          </a:xfrm>
          <a:prstGeom prst="line">
            <a:avLst/>
          </a:prstGeom>
          <a:ln w="2540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6000" y="1584000"/>
            <a:ext cx="2520000" cy="27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2000" y="1745999"/>
            <a:ext cx="360000" cy="259200"/>
          </a:xfrm>
          <a:prstGeom prst="round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000" y="1818000"/>
            <a:ext cx="360000" cy="10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268000"/>
            <a:ext cx="2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646000"/>
            <a:ext cx="2232000" cy="61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9" b="0">
                <a:solidFill>
                  <a:srgbClr val="212529"/>
                </a:solidFill>
                <a:latin typeface="Poppins"/>
              </a:rPr>
              <a:t>Motore, sizing, licenze e compatibilità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6000" y="1584000"/>
            <a:ext cx="2520000" cy="27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1999" y="1745999"/>
            <a:ext cx="360000" cy="259200"/>
          </a:xfrm>
          <a:prstGeom prst="round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999" y="1818000"/>
            <a:ext cx="360000" cy="10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0" y="2268000"/>
            <a:ext cx="2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000" y="2646000"/>
            <a:ext cx="2232000" cy="61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9" b="0">
                <a:solidFill>
                  <a:srgbClr val="212529"/>
                </a:solidFill>
                <a:latin typeface="Poppins"/>
              </a:rPr>
              <a:t>Contratti, TCO e modello operativo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000" y="1584000"/>
            <a:ext cx="2520000" cy="27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2000" y="1745999"/>
            <a:ext cx="360000" cy="259200"/>
          </a:xfrm>
          <a:prstGeom prst="round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2000" y="1818000"/>
            <a:ext cx="360000" cy="10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0" y="2268000"/>
            <a:ext cx="2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Prova tecnica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2646000"/>
            <a:ext cx="2232000" cy="61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9" b="0">
                <a:solidFill>
                  <a:srgbClr val="212529"/>
                </a:solidFill>
                <a:latin typeface="Poppins"/>
              </a:rPr>
              <a:t>Replica o migrazione pilota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6000" y="1584000"/>
            <a:ext cx="2520000" cy="27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62000" y="1745999"/>
            <a:ext cx="360000" cy="259200"/>
          </a:xfrm>
          <a:prstGeom prst="round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000" y="1818000"/>
            <a:ext cx="360000" cy="10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000" y="2268000"/>
            <a:ext cx="2232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100" b="1">
                <a:solidFill>
                  <a:srgbClr val="004481"/>
                </a:solidFill>
                <a:latin typeface="Poppins"/>
              </a:rPr>
              <a:t>Piano di transizione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000" y="2646000"/>
            <a:ext cx="2232000" cy="61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69" b="0">
                <a:solidFill>
                  <a:srgbClr val="212529"/>
                </a:solidFill>
                <a:latin typeface="Poppins"/>
              </a:rPr>
              <a:t>Cutover, rollback, RACI e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932000"/>
            <a:ext cx="11160000" cy="162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50" b="0">
                <a:solidFill>
                  <a:srgbClr val="868E95"/>
                </a:solidFill>
                <a:latin typeface="Poppins"/>
              </a:rPr>
              <a:t>Sequenza indicativa, attivabile sulle alternative che Guber sceglierà di approfondire.</a:t>
            </a:r>
          </a:p>
        </p:txBody>
      </p:sp>
      <p:pic>
        <p:nvPicPr>
          <p:cNvPr id="30" name="Picture 29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— alternative infrastrutturali e modelli operativi</dc:title>
  <dc:subject>Decision pack Guber — revisione visuale v2</dc:subject>
  <dc:creator>TXT e-solutions / Novigo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