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image1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96" r:id="rId4"/>
    <p:sldMasterId id="2147484288" r:id="rId5"/>
  </p:sldMasterIdLst>
  <p:notesMasterIdLst>
    <p:notesMasterId r:id="rId22"/>
  </p:notesMasterIdLst>
  <p:sldIdLst>
    <p:sldId id="256" r:id="rId14"/>
    <p:sldId id="257" r:id="rId15"/>
    <p:sldId id="258" r:id="rId16"/>
    <p:sldId id="259" r:id="rId17"/>
    <p:sldId id="260" r:id="rId18"/>
    <p:sldId id="261" r:id="rId19"/>
    <p:sldId id="262" r:id="rId20"/>
    <p:sldId id="263" r:id="rId21"/>
    <p:sldId id="264" r:id="rId13"/>
    <p:sldId id="265" r:id="rId12"/>
    <p:sldId id="266" r:id="rId11"/>
    <p:sldId id="267" r:id="rId10"/>
    <p:sldId id="268" r:id="rId9"/>
    <p:sldId id="269" r:id="rId8"/>
    <p:sldId id="270" r:id="rId7"/>
    <p:sldId id="271" r:id="rId6"/>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Lst>
  <p:sldSz cx="12192119" cy="6858000"/>
  <p:notesSz cx="6797675"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2E070E8D-CD02-4ED9-BFF3-30CBD974ED5A}">
          <p14:sldIdLst>
            <p14:sldId id="361"/>
          </p14:sldIdLst>
        </p14:section>
        <p14:section name="AI &amp; Intelligent Automation" id="{E62869BD-D0EB-4BBF-A62C-15922F6E9962}">
          <p14:sldIdLst>
            <p14:sldId id="2147482377"/>
            <p14:sldId id="2147482387"/>
            <p14:sldId id="2147482388"/>
            <p14:sldId id="2147482389"/>
            <p14:sldId id="2147482390"/>
            <p14:sldId id="2147482386"/>
            <p14:sldId id="2147482383"/>
          </p14:sldIdLst>
        </p14:section>
        <p14:section name="Data Processing" id="{93A77800-A4EF-486C-9BE9-2B754728D2E9}">
          <p14:sldIdLst>
            <p14:sldId id="2147482380"/>
          </p14:sldIdLst>
        </p14:section>
        <p14:section name="OutSystems Governance &amp; Delivery" id="{24CB82F3-44A9-49E3-9B2A-8FF3B239DD1A}">
          <p14:sldIdLst>
            <p14:sldId id="2147482382"/>
            <p14:sldId id="2147482384"/>
            <p14:sldId id="2147482385"/>
            <p14:sldId id="2147482376"/>
          </p14:sldIdLst>
        </p14:section>
        <p14:section name="Modernizzazione &amp; Risk Reduction" id="{F288944E-C7C7-4E1F-9921-3879D0703AC9}">
          <p14:sldIdLst>
            <p14:sldId id="2147482378"/>
            <p14:sldId id="2147482379"/>
            <p14:sldId id="2147482270"/>
          </p14:sldIdLst>
        </p14:section>
        <p14:section name="Backup" id="{43FC1F0B-935A-4CE3-94A8-086908F52A86}">
          <p14:sldIdLst/>
        </p14:section>
      </p14:sectionLst>
    </p:ext>
    <p:ext uri="{EFAFB233-063F-42B5-8137-9DF3F51BA10A}">
      <p15:sldGuideLst xmlns:p15="http://schemas.microsoft.com/office/powerpoint/2012/main">
        <p15:guide id="1" orient="horz" pos="3612" userDrawn="1">
          <p15:clr>
            <a:srgbClr val="A4A3A4"/>
          </p15:clr>
        </p15:guide>
        <p15:guide id="2" pos="3863" userDrawn="1">
          <p15:clr>
            <a:srgbClr val="A4A3A4"/>
          </p15:clr>
        </p15:guide>
        <p15:guide id="3" pos="1391" userDrawn="1">
          <p15:clr>
            <a:srgbClr val="A4A3A4"/>
          </p15:clr>
        </p15:guide>
        <p15:guide id="4" orient="horz" pos="1638" userDrawn="1">
          <p15:clr>
            <a:srgbClr val="A4A3A4"/>
          </p15:clr>
        </p15:guide>
        <p15:guide id="5" pos="4588" userDrawn="1">
          <p15:clr>
            <a:srgbClr val="A4A3A4"/>
          </p15:clr>
        </p15:guide>
        <p15:guide id="6" orient="horz" pos="142" userDrawn="1">
          <p15:clr>
            <a:srgbClr val="A4A3A4"/>
          </p15:clr>
        </p15:guide>
        <p15:guide id="7" pos="7423" userDrawn="1">
          <p15:clr>
            <a:srgbClr val="A4A3A4"/>
          </p15:clr>
        </p15:guide>
        <p15:guide id="8" pos="257" userDrawn="1">
          <p15:clr>
            <a:srgbClr val="A4A3A4"/>
          </p15:clr>
        </p15:guide>
        <p15:guide id="9" pos="6357" userDrawn="1">
          <p15:clr>
            <a:srgbClr val="A4A3A4"/>
          </p15:clr>
        </p15:guide>
        <p15:guide id="10" orient="horz" pos="2319" userDrawn="1">
          <p15:clr>
            <a:srgbClr val="A4A3A4"/>
          </p15:clr>
        </p15:guide>
        <p15:guide id="12" orient="horz" pos="2795" userDrawn="1">
          <p15:clr>
            <a:srgbClr val="A4A3A4"/>
          </p15:clr>
        </p15:guide>
        <p15:guide id="13" pos="3114" userDrawn="1">
          <p15:clr>
            <a:srgbClr val="A4A3A4"/>
          </p15:clr>
        </p15:guide>
        <p15:guide id="14" orient="horz" pos="2659" userDrawn="1">
          <p15:clr>
            <a:srgbClr val="A4A3A4"/>
          </p15:clr>
        </p15:guide>
        <p15:guide id="15"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AE01A0-08B4-F8C4-E27D-74E15562DC30}" name="Federico Zanardelli" initials="FZ" userId="S::federico.zanardelli@txtgroup.com::3e864ea4-50fa-43e8-9ba3-25ce1e38222e" providerId="AD"/>
  <p188:author id="{03B6DFF3-2D84-347B-0572-75A153EDD121}" name="Luca Tamanza" initials="LT" userId="S::luca.tamanza@txtgroup.com::2d38b52b-e1c7-439c-8258-d9fd078d3d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2B59E"/>
    <a:srgbClr val="666666"/>
    <a:srgbClr val="4DA4CB"/>
    <a:srgbClr val="56B093"/>
    <a:srgbClr val="00CFB4"/>
    <a:srgbClr val="15529B"/>
    <a:srgbClr val="0052CC"/>
    <a:srgbClr val="003D99"/>
    <a:srgbClr val="002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23527F-1289-4793-81D2-F3D1055B7474}" v="2" dt="2026-05-20T16:11:15.076"/>
    <p1510:client id="{BA595333-BBA3-4FF0-92C6-6179CBC528AB}" v="49" dt="2026-05-20T19:40:20.266"/>
    <p1510:client id="{E8DF9B88-E421-4227-9E02-3859707C10D1}" v="794" dt="2026-05-20T16:39:40.629"/>
    <p1510:client id="{F59077EF-64EA-5562-F630-D88008943486}" v="10" dt="2026-05-20T09:29:57.646"/>
    <p1510:client id="{F7C9E65C-8739-4A74-9797-391B4D4D6410}" v="3" dt="2026-05-20T13:17:11.896"/>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Stile chiaro 2 - Colore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52" autoAdjust="0"/>
    <p:restoredTop sz="94660"/>
  </p:normalViewPr>
  <p:slideViewPr>
    <p:cSldViewPr snapToGrid="0">
      <p:cViewPr varScale="1">
        <p:scale>
          <a:sx n="87" d="100"/>
          <a:sy n="87" d="100"/>
        </p:scale>
        <p:origin x="149" y="82"/>
      </p:cViewPr>
      <p:guideLst>
        <p:guide orient="horz" pos="3612"/>
        <p:guide pos="3863"/>
        <p:guide pos="1391"/>
        <p:guide orient="horz" pos="1638"/>
        <p:guide pos="4588"/>
        <p:guide orient="horz" pos="142"/>
        <p:guide pos="7423"/>
        <p:guide pos="257"/>
        <p:guide pos="6357"/>
        <p:guide orient="horz" pos="2319"/>
        <p:guide orient="horz" pos="2795"/>
        <p:guide pos="3114"/>
        <p:guide orient="horz" pos="2659"/>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6.xml"/><Relationship Id="rId7" Type="http://schemas.openxmlformats.org/officeDocument/2006/relationships/slide" Target="slides/slide15.xml"/><Relationship Id="rId8" Type="http://schemas.openxmlformats.org/officeDocument/2006/relationships/slide" Target="slides/slide14.xml"/><Relationship Id="rId9" Type="http://schemas.openxmlformats.org/officeDocument/2006/relationships/slide" Target="slides/slide13.xml"/><Relationship Id="rId10" Type="http://schemas.openxmlformats.org/officeDocument/2006/relationships/slide" Target="slides/slide12.xml"/><Relationship Id="rId11" Type="http://schemas.openxmlformats.org/officeDocument/2006/relationships/slide" Target="slides/slide11.xml"/><Relationship Id="rId12" Type="http://schemas.openxmlformats.org/officeDocument/2006/relationships/slide" Target="slides/slide10.xml"/><Relationship Id="rId13" Type="http://schemas.openxmlformats.org/officeDocument/2006/relationships/slide" Target="slides/slide9.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microsoft.com/office/2018/10/relationships/authors" Target="authors.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gnazio Ingenito" userId="490f730c-0737-49c2-afc8-a81810cba7f3" providerId="ADAL" clId="{FC10B81F-44F8-45A5-8921-4DF068CB3F0B}"/>
    <pc:docChg chg="undo custSel addSld modSld modSection">
      <pc:chgData name="Ignazio Ingenito" userId="490f730c-0737-49c2-afc8-a81810cba7f3" providerId="ADAL" clId="{FC10B81F-44F8-45A5-8921-4DF068CB3F0B}" dt="2026-05-20T19:41:29.980" v="434" actId="404"/>
      <pc:docMkLst>
        <pc:docMk/>
      </pc:docMkLst>
      <pc:sldChg chg="addSp delSp modSp mod">
        <pc:chgData name="Ignazio Ingenito" userId="490f730c-0737-49c2-afc8-a81810cba7f3" providerId="ADAL" clId="{FC10B81F-44F8-45A5-8921-4DF068CB3F0B}" dt="2026-05-20T19:36:00.146" v="396" actId="14100"/>
        <pc:sldMkLst>
          <pc:docMk/>
          <pc:sldMk cId="3970303448" sldId="2147482389"/>
        </pc:sldMkLst>
        <pc:spChg chg="mod topLvl">
          <ac:chgData name="Ignazio Ingenito" userId="490f730c-0737-49c2-afc8-a81810cba7f3" providerId="ADAL" clId="{FC10B81F-44F8-45A5-8921-4DF068CB3F0B}" dt="2026-05-20T19:01:27.073" v="5" actId="165"/>
          <ac:spMkLst>
            <pc:docMk/>
            <pc:sldMk cId="3970303448" sldId="2147482389"/>
            <ac:spMk id="5" creationId="{5DDF65C6-D776-1924-F04A-01109E4C886B}"/>
          </ac:spMkLst>
        </pc:spChg>
        <pc:spChg chg="mod topLvl">
          <ac:chgData name="Ignazio Ingenito" userId="490f730c-0737-49c2-afc8-a81810cba7f3" providerId="ADAL" clId="{FC10B81F-44F8-45A5-8921-4DF068CB3F0B}" dt="2026-05-20T19:01:53.999" v="6" actId="164"/>
          <ac:spMkLst>
            <pc:docMk/>
            <pc:sldMk cId="3970303448" sldId="2147482389"/>
            <ac:spMk id="9" creationId="{84EE43CB-AAC7-7FEB-CBE4-A1AECE1F160F}"/>
          </ac:spMkLst>
        </pc:spChg>
        <pc:spChg chg="mod">
          <ac:chgData name="Ignazio Ingenito" userId="490f730c-0737-49c2-afc8-a81810cba7f3" providerId="ADAL" clId="{FC10B81F-44F8-45A5-8921-4DF068CB3F0B}" dt="2026-05-20T19:01:53.999" v="6" actId="164"/>
          <ac:spMkLst>
            <pc:docMk/>
            <pc:sldMk cId="3970303448" sldId="2147482389"/>
            <ac:spMk id="17" creationId="{A597AC26-1B90-4E04-54F5-D29ABC8CB860}"/>
          </ac:spMkLst>
        </pc:spChg>
        <pc:spChg chg="mod topLvl">
          <ac:chgData name="Ignazio Ingenito" userId="490f730c-0737-49c2-afc8-a81810cba7f3" providerId="ADAL" clId="{FC10B81F-44F8-45A5-8921-4DF068CB3F0B}" dt="2026-05-20T19:01:53.999" v="6" actId="164"/>
          <ac:spMkLst>
            <pc:docMk/>
            <pc:sldMk cId="3970303448" sldId="2147482389"/>
            <ac:spMk id="18" creationId="{083B025D-0EDA-8054-2896-4A541B270193}"/>
          </ac:spMkLst>
        </pc:spChg>
        <pc:spChg chg="mod topLvl">
          <ac:chgData name="Ignazio Ingenito" userId="490f730c-0737-49c2-afc8-a81810cba7f3" providerId="ADAL" clId="{FC10B81F-44F8-45A5-8921-4DF068CB3F0B}" dt="2026-05-20T19:01:27.073" v="5" actId="165"/>
          <ac:spMkLst>
            <pc:docMk/>
            <pc:sldMk cId="3970303448" sldId="2147482389"/>
            <ac:spMk id="19" creationId="{181ADF7D-71D1-3CAB-4DC8-EE4985532094}"/>
          </ac:spMkLst>
        </pc:spChg>
        <pc:spChg chg="mod">
          <ac:chgData name="Ignazio Ingenito" userId="490f730c-0737-49c2-afc8-a81810cba7f3" providerId="ADAL" clId="{FC10B81F-44F8-45A5-8921-4DF068CB3F0B}" dt="2026-05-20T19:01:53.999" v="6" actId="164"/>
          <ac:spMkLst>
            <pc:docMk/>
            <pc:sldMk cId="3970303448" sldId="2147482389"/>
            <ac:spMk id="25" creationId="{6A631F73-A499-831C-0ABE-F7C443317897}"/>
          </ac:spMkLst>
        </pc:spChg>
        <pc:spChg chg="mod topLvl">
          <ac:chgData name="Ignazio Ingenito" userId="490f730c-0737-49c2-afc8-a81810cba7f3" providerId="ADAL" clId="{FC10B81F-44F8-45A5-8921-4DF068CB3F0B}" dt="2026-05-20T19:35:54.949" v="395" actId="14100"/>
          <ac:spMkLst>
            <pc:docMk/>
            <pc:sldMk cId="3970303448" sldId="2147482389"/>
            <ac:spMk id="26" creationId="{E28B1C71-FE61-DF3B-1384-D53C4B3D7AEF}"/>
          </ac:spMkLst>
        </pc:spChg>
        <pc:spChg chg="mod">
          <ac:chgData name="Ignazio Ingenito" userId="490f730c-0737-49c2-afc8-a81810cba7f3" providerId="ADAL" clId="{FC10B81F-44F8-45A5-8921-4DF068CB3F0B}" dt="2026-05-20T19:36:00.146" v="396" actId="14100"/>
          <ac:spMkLst>
            <pc:docMk/>
            <pc:sldMk cId="3970303448" sldId="2147482389"/>
            <ac:spMk id="27" creationId="{F2B1C457-EA95-5539-7428-2227FAD5961F}"/>
          </ac:spMkLst>
        </pc:spChg>
        <pc:spChg chg="mod topLvl">
          <ac:chgData name="Ignazio Ingenito" userId="490f730c-0737-49c2-afc8-a81810cba7f3" providerId="ADAL" clId="{FC10B81F-44F8-45A5-8921-4DF068CB3F0B}" dt="2026-05-20T19:01:53.999" v="6" actId="164"/>
          <ac:spMkLst>
            <pc:docMk/>
            <pc:sldMk cId="3970303448" sldId="2147482389"/>
            <ac:spMk id="29" creationId="{16B5036E-F088-934C-915D-9439F9A9D6D0}"/>
          </ac:spMkLst>
        </pc:spChg>
        <pc:spChg chg="mod topLvl">
          <ac:chgData name="Ignazio Ingenito" userId="490f730c-0737-49c2-afc8-a81810cba7f3" providerId="ADAL" clId="{FC10B81F-44F8-45A5-8921-4DF068CB3F0B}" dt="2026-05-20T19:35:50.912" v="394" actId="14100"/>
          <ac:spMkLst>
            <pc:docMk/>
            <pc:sldMk cId="3970303448" sldId="2147482389"/>
            <ac:spMk id="30" creationId="{4320F979-A8C1-ABE7-E1AE-31B8C61E0F0B}"/>
          </ac:spMkLst>
        </pc:spChg>
        <pc:spChg chg="mod topLvl">
          <ac:chgData name="Ignazio Ingenito" userId="490f730c-0737-49c2-afc8-a81810cba7f3" providerId="ADAL" clId="{FC10B81F-44F8-45A5-8921-4DF068CB3F0B}" dt="2026-05-20T19:01:53.999" v="6" actId="164"/>
          <ac:spMkLst>
            <pc:docMk/>
            <pc:sldMk cId="3970303448" sldId="2147482389"/>
            <ac:spMk id="41" creationId="{98480551-4B4A-0059-B286-281CE3A44BF9}"/>
          </ac:spMkLst>
        </pc:spChg>
        <pc:spChg chg="mod topLvl">
          <ac:chgData name="Ignazio Ingenito" userId="490f730c-0737-49c2-afc8-a81810cba7f3" providerId="ADAL" clId="{FC10B81F-44F8-45A5-8921-4DF068CB3F0B}" dt="2026-05-20T19:01:53.999" v="6" actId="164"/>
          <ac:spMkLst>
            <pc:docMk/>
            <pc:sldMk cId="3970303448" sldId="2147482389"/>
            <ac:spMk id="42" creationId="{C9C0BC98-CFFB-78A4-3384-98E137C4B815}"/>
          </ac:spMkLst>
        </pc:spChg>
        <pc:spChg chg="mod topLvl">
          <ac:chgData name="Ignazio Ingenito" userId="490f730c-0737-49c2-afc8-a81810cba7f3" providerId="ADAL" clId="{FC10B81F-44F8-45A5-8921-4DF068CB3F0B}" dt="2026-05-20T19:01:27.073" v="5" actId="165"/>
          <ac:spMkLst>
            <pc:docMk/>
            <pc:sldMk cId="3970303448" sldId="2147482389"/>
            <ac:spMk id="43" creationId="{DF95296D-4508-A25E-0AA4-FAF34F0691D9}"/>
          </ac:spMkLst>
        </pc:spChg>
      </pc:sldChg>
      <pc:sldChg chg="addSp delSp modSp add mod">
        <pc:chgData name="Ignazio Ingenito" userId="490f730c-0737-49c2-afc8-a81810cba7f3" providerId="ADAL" clId="{FC10B81F-44F8-45A5-8921-4DF068CB3F0B}" dt="2026-05-20T19:41:29.980" v="434" actId="404"/>
        <pc:sldMkLst>
          <pc:docMk/>
          <pc:sldMk cId="2098681358" sldId="2147482390"/>
        </pc:sldMkLst>
        <pc:spChg chg="mod">
          <ac:chgData name="Ignazio Ingenito" userId="490f730c-0737-49c2-afc8-a81810cba7f3" providerId="ADAL" clId="{FC10B81F-44F8-45A5-8921-4DF068CB3F0B}" dt="2026-05-20T19:27:10.273" v="221" actId="20577"/>
          <ac:spMkLst>
            <pc:docMk/>
            <pc:sldMk cId="2098681358" sldId="2147482390"/>
            <ac:spMk id="4" creationId="{BC5065E3-8AEC-213B-01C4-B1961A50B406}"/>
          </ac:spMkLst>
        </pc:spChg>
        <pc:spChg chg="del">
          <ac:chgData name="Ignazio Ingenito" userId="490f730c-0737-49c2-afc8-a81810cba7f3" providerId="ADAL" clId="{FC10B81F-44F8-45A5-8921-4DF068CB3F0B}" dt="2026-05-20T19:04:15.676" v="32" actId="478"/>
          <ac:spMkLst>
            <pc:docMk/>
            <pc:sldMk cId="2098681358" sldId="2147482390"/>
            <ac:spMk id="5" creationId="{DBAB3D88-7856-87C0-3E0B-6A752BA1F36C}"/>
          </ac:spMkLst>
        </pc:spChg>
        <pc:spChg chg="add mod topLvl">
          <ac:chgData name="Ignazio Ingenito" userId="490f730c-0737-49c2-afc8-a81810cba7f3" providerId="ADAL" clId="{FC10B81F-44F8-45A5-8921-4DF068CB3F0B}" dt="2026-05-20T19:33:23.538" v="374" actId="164"/>
          <ac:spMkLst>
            <pc:docMk/>
            <pc:sldMk cId="2098681358" sldId="2147482390"/>
            <ac:spMk id="7" creationId="{46AD0784-5DD2-F52E-4EBE-03D2507BDE96}"/>
          </ac:spMkLst>
        </pc:spChg>
        <pc:spChg chg="add mod topLvl">
          <ac:chgData name="Ignazio Ingenito" userId="490f730c-0737-49c2-afc8-a81810cba7f3" providerId="ADAL" clId="{FC10B81F-44F8-45A5-8921-4DF068CB3F0B}" dt="2026-05-20T19:33:23.538" v="374" actId="164"/>
          <ac:spMkLst>
            <pc:docMk/>
            <pc:sldMk cId="2098681358" sldId="2147482390"/>
            <ac:spMk id="8" creationId="{4DEF8F90-656B-8395-4020-E1A49F463FD1}"/>
          </ac:spMkLst>
        </pc:spChg>
        <pc:spChg chg="del mod topLvl">
          <ac:chgData name="Ignazio Ingenito" userId="490f730c-0737-49c2-afc8-a81810cba7f3" providerId="ADAL" clId="{FC10B81F-44F8-45A5-8921-4DF068CB3F0B}" dt="2026-05-20T19:04:15.676" v="32" actId="478"/>
          <ac:spMkLst>
            <pc:docMk/>
            <pc:sldMk cId="2098681358" sldId="2147482390"/>
            <ac:spMk id="9" creationId="{A0DD8E9F-E666-7DF7-19EC-217FAD3296CD}"/>
          </ac:spMkLst>
        </pc:spChg>
        <pc:spChg chg="add mod topLvl">
          <ac:chgData name="Ignazio Ingenito" userId="490f730c-0737-49c2-afc8-a81810cba7f3" providerId="ADAL" clId="{FC10B81F-44F8-45A5-8921-4DF068CB3F0B}" dt="2026-05-20T19:33:23.538" v="374" actId="164"/>
          <ac:spMkLst>
            <pc:docMk/>
            <pc:sldMk cId="2098681358" sldId="2147482390"/>
            <ac:spMk id="10" creationId="{822AC718-C8FF-188E-3B25-DAFEA7933511}"/>
          </ac:spMkLst>
        </pc:spChg>
        <pc:spChg chg="add mod topLvl">
          <ac:chgData name="Ignazio Ingenito" userId="490f730c-0737-49c2-afc8-a81810cba7f3" providerId="ADAL" clId="{FC10B81F-44F8-45A5-8921-4DF068CB3F0B}" dt="2026-05-20T19:33:23.538" v="374" actId="164"/>
          <ac:spMkLst>
            <pc:docMk/>
            <pc:sldMk cId="2098681358" sldId="2147482390"/>
            <ac:spMk id="11" creationId="{F199B31C-1B17-1ABC-538F-24D58C391329}"/>
          </ac:spMkLst>
        </pc:spChg>
        <pc:spChg chg="add del mod">
          <ac:chgData name="Ignazio Ingenito" userId="490f730c-0737-49c2-afc8-a81810cba7f3" providerId="ADAL" clId="{FC10B81F-44F8-45A5-8921-4DF068CB3F0B}" dt="2026-05-20T19:16:51.700" v="120" actId="478"/>
          <ac:spMkLst>
            <pc:docMk/>
            <pc:sldMk cId="2098681358" sldId="2147482390"/>
            <ac:spMk id="13" creationId="{79FC510F-803D-B5ED-DCB0-213A17FF26B8}"/>
          </ac:spMkLst>
        </pc:spChg>
        <pc:spChg chg="add mod">
          <ac:chgData name="Ignazio Ingenito" userId="490f730c-0737-49c2-afc8-a81810cba7f3" providerId="ADAL" clId="{FC10B81F-44F8-45A5-8921-4DF068CB3F0B}" dt="2026-05-20T19:31:52.620" v="328" actId="165"/>
          <ac:spMkLst>
            <pc:docMk/>
            <pc:sldMk cId="2098681358" sldId="2147482390"/>
            <ac:spMk id="14" creationId="{1C36511E-4AC6-890D-FC80-F91EB41C0F2B}"/>
          </ac:spMkLst>
        </pc:spChg>
        <pc:spChg chg="add mod">
          <ac:chgData name="Ignazio Ingenito" userId="490f730c-0737-49c2-afc8-a81810cba7f3" providerId="ADAL" clId="{FC10B81F-44F8-45A5-8921-4DF068CB3F0B}" dt="2026-05-20T19:31:52.620" v="328" actId="165"/>
          <ac:spMkLst>
            <pc:docMk/>
            <pc:sldMk cId="2098681358" sldId="2147482390"/>
            <ac:spMk id="15" creationId="{FEE77473-E2E6-6C94-3792-0A2B7C9F215C}"/>
          </ac:spMkLst>
        </pc:spChg>
        <pc:spChg chg="mod topLvl">
          <ac:chgData name="Ignazio Ingenito" userId="490f730c-0737-49c2-afc8-a81810cba7f3" providerId="ADAL" clId="{FC10B81F-44F8-45A5-8921-4DF068CB3F0B}" dt="2026-05-20T19:27:24.936" v="225" actId="1076"/>
          <ac:spMkLst>
            <pc:docMk/>
            <pc:sldMk cId="2098681358" sldId="2147482390"/>
            <ac:spMk id="17" creationId="{38814684-20F8-CE6D-2B76-9D1D136FE1E4}"/>
          </ac:spMkLst>
        </pc:spChg>
        <pc:spChg chg="del mod topLvl">
          <ac:chgData name="Ignazio Ingenito" userId="490f730c-0737-49c2-afc8-a81810cba7f3" providerId="ADAL" clId="{FC10B81F-44F8-45A5-8921-4DF068CB3F0B}" dt="2026-05-20T19:04:15.676" v="32" actId="478"/>
          <ac:spMkLst>
            <pc:docMk/>
            <pc:sldMk cId="2098681358" sldId="2147482390"/>
            <ac:spMk id="18" creationId="{6C4D8222-C383-E508-890F-C8D805E91B2B}"/>
          </ac:spMkLst>
        </pc:spChg>
        <pc:spChg chg="del mod topLvl">
          <ac:chgData name="Ignazio Ingenito" userId="490f730c-0737-49c2-afc8-a81810cba7f3" providerId="ADAL" clId="{FC10B81F-44F8-45A5-8921-4DF068CB3F0B}" dt="2026-05-20T19:20:16.897" v="154" actId="478"/>
          <ac:spMkLst>
            <pc:docMk/>
            <pc:sldMk cId="2098681358" sldId="2147482390"/>
            <ac:spMk id="19" creationId="{49783D2F-9AA0-DA7C-7B1C-CD37F6FA4D39}"/>
          </ac:spMkLst>
        </pc:spChg>
        <pc:spChg chg="mod">
          <ac:chgData name="Ignazio Ingenito" userId="490f730c-0737-49c2-afc8-a81810cba7f3" providerId="ADAL" clId="{FC10B81F-44F8-45A5-8921-4DF068CB3F0B}" dt="2026-05-20T19:32:26.337" v="362" actId="165"/>
          <ac:spMkLst>
            <pc:docMk/>
            <pc:sldMk cId="2098681358" sldId="2147482390"/>
            <ac:spMk id="21" creationId="{E2DB6630-8EBE-B2DC-C3F0-2E393E45B4FC}"/>
          </ac:spMkLst>
        </pc:spChg>
        <pc:spChg chg="mod">
          <ac:chgData name="Ignazio Ingenito" userId="490f730c-0737-49c2-afc8-a81810cba7f3" providerId="ADAL" clId="{FC10B81F-44F8-45A5-8921-4DF068CB3F0B}" dt="2026-05-20T19:32:26.337" v="362" actId="165"/>
          <ac:spMkLst>
            <pc:docMk/>
            <pc:sldMk cId="2098681358" sldId="2147482390"/>
            <ac:spMk id="22" creationId="{B7F0FD93-1737-BB71-2113-6F20FA5DABDA}"/>
          </ac:spMkLst>
        </pc:spChg>
        <pc:spChg chg="mod">
          <ac:chgData name="Ignazio Ingenito" userId="490f730c-0737-49c2-afc8-a81810cba7f3" providerId="ADAL" clId="{FC10B81F-44F8-45A5-8921-4DF068CB3F0B}" dt="2026-05-20T19:31:52.620" v="328" actId="165"/>
          <ac:spMkLst>
            <pc:docMk/>
            <pc:sldMk cId="2098681358" sldId="2147482390"/>
            <ac:spMk id="24" creationId="{1D202AD0-42DF-FBB7-FF76-F38FC8A6FC69}"/>
          </ac:spMkLst>
        </pc:spChg>
        <pc:spChg chg="del mod topLvl">
          <ac:chgData name="Ignazio Ingenito" userId="490f730c-0737-49c2-afc8-a81810cba7f3" providerId="ADAL" clId="{FC10B81F-44F8-45A5-8921-4DF068CB3F0B}" dt="2026-05-20T19:04:15.676" v="32" actId="478"/>
          <ac:spMkLst>
            <pc:docMk/>
            <pc:sldMk cId="2098681358" sldId="2147482390"/>
            <ac:spMk id="25" creationId="{344720E5-AA92-2234-B924-35DD96B4171F}"/>
          </ac:spMkLst>
        </pc:spChg>
        <pc:spChg chg="del mod topLvl">
          <ac:chgData name="Ignazio Ingenito" userId="490f730c-0737-49c2-afc8-a81810cba7f3" providerId="ADAL" clId="{FC10B81F-44F8-45A5-8921-4DF068CB3F0B}" dt="2026-05-20T19:04:15.676" v="32" actId="478"/>
          <ac:spMkLst>
            <pc:docMk/>
            <pc:sldMk cId="2098681358" sldId="2147482390"/>
            <ac:spMk id="26" creationId="{518C564F-9D5F-478A-37AB-8FD657FA9AFC}"/>
          </ac:spMkLst>
        </pc:spChg>
        <pc:spChg chg="del mod topLvl">
          <ac:chgData name="Ignazio Ingenito" userId="490f730c-0737-49c2-afc8-a81810cba7f3" providerId="ADAL" clId="{FC10B81F-44F8-45A5-8921-4DF068CB3F0B}" dt="2026-05-20T19:09:57.308" v="82" actId="478"/>
          <ac:spMkLst>
            <pc:docMk/>
            <pc:sldMk cId="2098681358" sldId="2147482390"/>
            <ac:spMk id="27" creationId="{43208BC7-1FB5-97A5-ABCE-5846C6A003DC}"/>
          </ac:spMkLst>
        </pc:spChg>
        <pc:spChg chg="mod">
          <ac:chgData name="Ignazio Ingenito" userId="490f730c-0737-49c2-afc8-a81810cba7f3" providerId="ADAL" clId="{FC10B81F-44F8-45A5-8921-4DF068CB3F0B}" dt="2026-05-20T19:31:52.620" v="328" actId="165"/>
          <ac:spMkLst>
            <pc:docMk/>
            <pc:sldMk cId="2098681358" sldId="2147482390"/>
            <ac:spMk id="28" creationId="{1A8D00B3-0BDD-4EA6-8B89-E666F9771063}"/>
          </ac:spMkLst>
        </pc:spChg>
        <pc:spChg chg="del">
          <ac:chgData name="Ignazio Ingenito" userId="490f730c-0737-49c2-afc8-a81810cba7f3" providerId="ADAL" clId="{FC10B81F-44F8-45A5-8921-4DF068CB3F0B}" dt="2026-05-20T19:04:15.676" v="32" actId="478"/>
          <ac:spMkLst>
            <pc:docMk/>
            <pc:sldMk cId="2098681358" sldId="2147482390"/>
            <ac:spMk id="29" creationId="{15C95F03-E1F5-AEA2-7304-2AE3CB6B479A}"/>
          </ac:spMkLst>
        </pc:spChg>
        <pc:spChg chg="del mod topLvl">
          <ac:chgData name="Ignazio Ingenito" userId="490f730c-0737-49c2-afc8-a81810cba7f3" providerId="ADAL" clId="{FC10B81F-44F8-45A5-8921-4DF068CB3F0B}" dt="2026-05-20T19:04:15.676" v="32" actId="478"/>
          <ac:spMkLst>
            <pc:docMk/>
            <pc:sldMk cId="2098681358" sldId="2147482390"/>
            <ac:spMk id="30" creationId="{264EB43A-D27F-A7B0-0056-F38FE4DEA0FD}"/>
          </ac:spMkLst>
        </pc:spChg>
        <pc:spChg chg="mod">
          <ac:chgData name="Ignazio Ingenito" userId="490f730c-0737-49c2-afc8-a81810cba7f3" providerId="ADAL" clId="{FC10B81F-44F8-45A5-8921-4DF068CB3F0B}" dt="2026-05-20T19:32:26.337" v="362" actId="165"/>
          <ac:spMkLst>
            <pc:docMk/>
            <pc:sldMk cId="2098681358" sldId="2147482390"/>
            <ac:spMk id="32" creationId="{F8A6B2AA-DC28-B188-7A82-563D86B2D61F}"/>
          </ac:spMkLst>
        </pc:spChg>
        <pc:spChg chg="mod">
          <ac:chgData name="Ignazio Ingenito" userId="490f730c-0737-49c2-afc8-a81810cba7f3" providerId="ADAL" clId="{FC10B81F-44F8-45A5-8921-4DF068CB3F0B}" dt="2026-05-20T19:32:26.337" v="362" actId="165"/>
          <ac:spMkLst>
            <pc:docMk/>
            <pc:sldMk cId="2098681358" sldId="2147482390"/>
            <ac:spMk id="33" creationId="{7F750EBE-A2B9-04B1-43BA-3FF759540660}"/>
          </ac:spMkLst>
        </pc:spChg>
        <pc:spChg chg="add mod">
          <ac:chgData name="Ignazio Ingenito" userId="490f730c-0737-49c2-afc8-a81810cba7f3" providerId="ADAL" clId="{FC10B81F-44F8-45A5-8921-4DF068CB3F0B}" dt="2026-05-20T19:33:54.477" v="380" actId="14100"/>
          <ac:spMkLst>
            <pc:docMk/>
            <pc:sldMk cId="2098681358" sldId="2147482390"/>
            <ac:spMk id="37" creationId="{7479D0DB-59CF-7B7D-2EE4-D5A003C3DC03}"/>
          </ac:spMkLst>
        </pc:spChg>
        <pc:spChg chg="add mod">
          <ac:chgData name="Ignazio Ingenito" userId="490f730c-0737-49c2-afc8-a81810cba7f3" providerId="ADAL" clId="{FC10B81F-44F8-45A5-8921-4DF068CB3F0B}" dt="2026-05-20T19:34:02.390" v="381" actId="1076"/>
          <ac:spMkLst>
            <pc:docMk/>
            <pc:sldMk cId="2098681358" sldId="2147482390"/>
            <ac:spMk id="38" creationId="{361AAB06-7A6B-9C30-FBD8-A5FAC4691C50}"/>
          </ac:spMkLst>
        </pc:spChg>
        <pc:spChg chg="add mod">
          <ac:chgData name="Ignazio Ingenito" userId="490f730c-0737-49c2-afc8-a81810cba7f3" providerId="ADAL" clId="{FC10B81F-44F8-45A5-8921-4DF068CB3F0B}" dt="2026-05-20T19:41:29.980" v="434" actId="404"/>
          <ac:spMkLst>
            <pc:docMk/>
            <pc:sldMk cId="2098681358" sldId="2147482390"/>
            <ac:spMk id="40" creationId="{558DD454-F694-D718-4934-54C65F402C45}"/>
          </ac:spMkLst>
        </pc:spChg>
        <pc:spChg chg="del">
          <ac:chgData name="Ignazio Ingenito" userId="490f730c-0737-49c2-afc8-a81810cba7f3" providerId="ADAL" clId="{FC10B81F-44F8-45A5-8921-4DF068CB3F0B}" dt="2026-05-20T19:04:15.676" v="32" actId="478"/>
          <ac:spMkLst>
            <pc:docMk/>
            <pc:sldMk cId="2098681358" sldId="2147482390"/>
            <ac:spMk id="41" creationId="{3C68E351-2272-7C88-7930-C30F5CF87A2C}"/>
          </ac:spMkLst>
        </pc:spChg>
        <pc:spChg chg="del mod topLvl">
          <ac:chgData name="Ignazio Ingenito" userId="490f730c-0737-49c2-afc8-a81810cba7f3" providerId="ADAL" clId="{FC10B81F-44F8-45A5-8921-4DF068CB3F0B}" dt="2026-05-20T19:04:15.676" v="32" actId="478"/>
          <ac:spMkLst>
            <pc:docMk/>
            <pc:sldMk cId="2098681358" sldId="2147482390"/>
            <ac:spMk id="42" creationId="{1B181DBF-D6C0-F5C1-4E8E-3FD4DAE46588}"/>
          </ac:spMkLst>
        </pc:spChg>
        <pc:spChg chg="del mod topLvl">
          <ac:chgData name="Ignazio Ingenito" userId="490f730c-0737-49c2-afc8-a81810cba7f3" providerId="ADAL" clId="{FC10B81F-44F8-45A5-8921-4DF068CB3F0B}" dt="2026-05-20T19:09:59.556" v="83" actId="478"/>
          <ac:spMkLst>
            <pc:docMk/>
            <pc:sldMk cId="2098681358" sldId="2147482390"/>
            <ac:spMk id="43" creationId="{426A2694-EA10-C682-1E42-C314740B8160}"/>
          </ac:spMkLst>
        </pc:spChg>
        <pc:grpChg chg="add del mod">
          <ac:chgData name="Ignazio Ingenito" userId="490f730c-0737-49c2-afc8-a81810cba7f3" providerId="ADAL" clId="{FC10B81F-44F8-45A5-8921-4DF068CB3F0B}" dt="2026-05-20T19:31:39.633" v="327" actId="165"/>
          <ac:grpSpMkLst>
            <pc:docMk/>
            <pc:sldMk cId="2098681358" sldId="2147482390"/>
            <ac:grpSpMk id="12" creationId="{8C3089BD-4508-D077-09FF-6B71C7B233CE}"/>
          </ac:grpSpMkLst>
        </pc:grpChg>
        <pc:grpChg chg="add mod topLvl">
          <ac:chgData name="Ignazio Ingenito" userId="490f730c-0737-49c2-afc8-a81810cba7f3" providerId="ADAL" clId="{FC10B81F-44F8-45A5-8921-4DF068CB3F0B}" dt="2026-05-20T19:33:23.538" v="374" actId="164"/>
          <ac:grpSpMkLst>
            <pc:docMk/>
            <pc:sldMk cId="2098681358" sldId="2147482390"/>
            <ac:grpSpMk id="16" creationId="{004568E1-DFC9-C50A-B432-FDE2D7335F5A}"/>
          </ac:grpSpMkLst>
        </pc:grpChg>
        <pc:grpChg chg="add mod topLvl">
          <ac:chgData name="Ignazio Ingenito" userId="490f730c-0737-49c2-afc8-a81810cba7f3" providerId="ADAL" clId="{FC10B81F-44F8-45A5-8921-4DF068CB3F0B}" dt="2026-05-20T19:33:23.538" v="374" actId="164"/>
          <ac:grpSpMkLst>
            <pc:docMk/>
            <pc:sldMk cId="2098681358" sldId="2147482390"/>
            <ac:grpSpMk id="20" creationId="{77CE9B3B-AD1C-0718-A073-7B5B53D64AD1}"/>
          </ac:grpSpMkLst>
        </pc:grpChg>
        <pc:grpChg chg="add mod topLvl">
          <ac:chgData name="Ignazio Ingenito" userId="490f730c-0737-49c2-afc8-a81810cba7f3" providerId="ADAL" clId="{FC10B81F-44F8-45A5-8921-4DF068CB3F0B}" dt="2026-05-20T19:33:23.538" v="374" actId="164"/>
          <ac:grpSpMkLst>
            <pc:docMk/>
            <pc:sldMk cId="2098681358" sldId="2147482390"/>
            <ac:grpSpMk id="23" creationId="{E2BFE617-B9BA-01F5-3DAA-94A3166B8F0B}"/>
          </ac:grpSpMkLst>
        </pc:grpChg>
        <pc:grpChg chg="add mod topLvl">
          <ac:chgData name="Ignazio Ingenito" userId="490f730c-0737-49c2-afc8-a81810cba7f3" providerId="ADAL" clId="{FC10B81F-44F8-45A5-8921-4DF068CB3F0B}" dt="2026-05-20T19:33:23.538" v="374" actId="164"/>
          <ac:grpSpMkLst>
            <pc:docMk/>
            <pc:sldMk cId="2098681358" sldId="2147482390"/>
            <ac:grpSpMk id="31" creationId="{721DAA7D-9A7E-A1EE-AF94-86AC02D149C1}"/>
          </ac:grpSpMkLst>
        </pc:grpChg>
        <pc:grpChg chg="add del mod">
          <ac:chgData name="Ignazio Ingenito" userId="490f730c-0737-49c2-afc8-a81810cba7f3" providerId="ADAL" clId="{FC10B81F-44F8-45A5-8921-4DF068CB3F0B}" dt="2026-05-20T19:31:52.620" v="328" actId="165"/>
          <ac:grpSpMkLst>
            <pc:docMk/>
            <pc:sldMk cId="2098681358" sldId="2147482390"/>
            <ac:grpSpMk id="34" creationId="{0C4128E6-F6AB-28C2-45FC-BC9C6891E143}"/>
          </ac:grpSpMkLst>
        </pc:grpChg>
        <pc:grpChg chg="add del mod">
          <ac:chgData name="Ignazio Ingenito" userId="490f730c-0737-49c2-afc8-a81810cba7f3" providerId="ADAL" clId="{FC10B81F-44F8-45A5-8921-4DF068CB3F0B}" dt="2026-05-20T19:32:26.337" v="362" actId="165"/>
          <ac:grpSpMkLst>
            <pc:docMk/>
            <pc:sldMk cId="2098681358" sldId="2147482390"/>
            <ac:grpSpMk id="35" creationId="{D0A6E9F0-2BE5-727D-6C1C-00BB18D2C23C}"/>
          </ac:grpSpMkLst>
        </pc:grpChg>
        <pc:grpChg chg="add mod">
          <ac:chgData name="Ignazio Ingenito" userId="490f730c-0737-49c2-afc8-a81810cba7f3" providerId="ADAL" clId="{FC10B81F-44F8-45A5-8921-4DF068CB3F0B}" dt="2026-05-20T19:26:38.538" v="218" actId="1038"/>
          <ac:grpSpMkLst>
            <pc:docMk/>
            <pc:sldMk cId="2098681358" sldId="2147482390"/>
            <ac:grpSpMk id="36" creationId="{E92FE011-950C-3BA7-2F71-1858B296F60F}"/>
          </ac:grpSpMkLst>
        </pc:grpChg>
        <pc:grpChg chg="add mod">
          <ac:chgData name="Ignazio Ingenito" userId="490f730c-0737-49c2-afc8-a81810cba7f3" providerId="ADAL" clId="{FC10B81F-44F8-45A5-8921-4DF068CB3F0B}" dt="2026-05-20T19:33:23.538" v="374" actId="164"/>
          <ac:grpSpMkLst>
            <pc:docMk/>
            <pc:sldMk cId="2098681358" sldId="2147482390"/>
            <ac:grpSpMk id="45" creationId="{9F842564-F19A-5365-9968-D617DB553A80}"/>
          </ac:grpSpMkLst>
        </pc:grpChg>
        <pc:cxnChg chg="add mod topLvl">
          <ac:chgData name="Ignazio Ingenito" userId="490f730c-0737-49c2-afc8-a81810cba7f3" providerId="ADAL" clId="{FC10B81F-44F8-45A5-8921-4DF068CB3F0B}" dt="2026-05-20T19:31:39.633" v="327" actId="165"/>
          <ac:cxnSpMkLst>
            <pc:docMk/>
            <pc:sldMk cId="2098681358" sldId="2147482390"/>
            <ac:cxnSpMk id="6" creationId="{68A4E570-E94B-F0A4-C30E-7058B0E4603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8055"/>
          </a:xfrm>
          <a:prstGeom prst="rect">
            <a:avLst/>
          </a:prstGeom>
        </p:spPr>
        <p:txBody>
          <a:bodyPr vert="horz" lIns="96661" tIns="48331" rIns="96661" bIns="48331" rtlCol="0"/>
          <a:lstStyle>
            <a:lvl1pPr algn="l">
              <a:defRPr sz="1300"/>
            </a:lvl1pPr>
          </a:lstStyle>
          <a:p>
            <a:endParaRPr lang="it-IT"/>
          </a:p>
        </p:txBody>
      </p:sp>
      <p:sp>
        <p:nvSpPr>
          <p:cNvPr id="3" name="Date Placeholder 2"/>
          <p:cNvSpPr>
            <a:spLocks noGrp="1"/>
          </p:cNvSpPr>
          <p:nvPr>
            <p:ph type="dt" idx="1"/>
          </p:nvPr>
        </p:nvSpPr>
        <p:spPr>
          <a:xfrm>
            <a:off x="3850443" y="1"/>
            <a:ext cx="2945659" cy="498055"/>
          </a:xfrm>
          <a:prstGeom prst="rect">
            <a:avLst/>
          </a:prstGeom>
        </p:spPr>
        <p:txBody>
          <a:bodyPr vert="horz" lIns="96661" tIns="48331" rIns="96661" bIns="48331" rtlCol="0"/>
          <a:lstStyle>
            <a:lvl1pPr algn="r">
              <a:defRPr sz="1300"/>
            </a:lvl1pPr>
          </a:lstStyle>
          <a:p>
            <a:fld id="{82BD8CE2-F80F-4C82-A356-4FD626B390AD}" type="datetimeFigureOut">
              <a:rPr lang="it-IT" smtClean="0"/>
              <a:t>20/05/2026</a:t>
            </a:fld>
            <a:endParaRPr lang="it-IT"/>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6661" tIns="48331" rIns="96661" bIns="48331" rtlCol="0" anchor="ctr"/>
          <a:lstStyle/>
          <a:p>
            <a:endParaRPr lang="it-IT"/>
          </a:p>
        </p:txBody>
      </p:sp>
      <p:sp>
        <p:nvSpPr>
          <p:cNvPr id="5" name="Notes Placeholder 4"/>
          <p:cNvSpPr>
            <a:spLocks noGrp="1"/>
          </p:cNvSpPr>
          <p:nvPr>
            <p:ph type="body" sz="quarter" idx="3"/>
          </p:nvPr>
        </p:nvSpPr>
        <p:spPr>
          <a:xfrm>
            <a:off x="679768" y="4777195"/>
            <a:ext cx="5438140" cy="3908614"/>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9428584"/>
            <a:ext cx="2945659" cy="498054"/>
          </a:xfrm>
          <a:prstGeom prst="rect">
            <a:avLst/>
          </a:prstGeom>
        </p:spPr>
        <p:txBody>
          <a:bodyPr vert="horz" lIns="96661" tIns="48331" rIns="96661" bIns="48331" rtlCol="0" anchor="b"/>
          <a:lstStyle>
            <a:lvl1pPr algn="l">
              <a:defRPr sz="1300"/>
            </a:lvl1pPr>
          </a:lstStyle>
          <a:p>
            <a:endParaRPr lang="it-IT"/>
          </a:p>
        </p:txBody>
      </p:sp>
      <p:sp>
        <p:nvSpPr>
          <p:cNvPr id="7" name="Slide Number Placeholder 6"/>
          <p:cNvSpPr>
            <a:spLocks noGrp="1"/>
          </p:cNvSpPr>
          <p:nvPr>
            <p:ph type="sldNum" sz="quarter" idx="5"/>
          </p:nvPr>
        </p:nvSpPr>
        <p:spPr>
          <a:xfrm>
            <a:off x="3850443" y="9428584"/>
            <a:ext cx="2945659" cy="498054"/>
          </a:xfrm>
          <a:prstGeom prst="rect">
            <a:avLst/>
          </a:prstGeom>
        </p:spPr>
        <p:txBody>
          <a:bodyPr vert="horz" lIns="96661" tIns="48331" rIns="96661" bIns="48331" rtlCol="0" anchor="b"/>
          <a:lstStyle>
            <a:lvl1pPr algn="r">
              <a:defRPr sz="1300"/>
            </a:lvl1pPr>
          </a:lstStyle>
          <a:p>
            <a:fld id="{A849ADF9-F6AD-4D60-976C-02C2D3D6C541}" type="slidenum">
              <a:rPr lang="it-IT" smtClean="0"/>
              <a:t>‹N›</a:t>
            </a:fld>
            <a:endParaRPr lang="it-IT"/>
          </a:p>
        </p:txBody>
      </p:sp>
    </p:spTree>
    <p:extLst>
      <p:ext uri="{BB962C8B-B14F-4D97-AF65-F5344CB8AC3E}">
        <p14:creationId xmlns:p14="http://schemas.microsoft.com/office/powerpoint/2010/main" val="3645369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microsoft.com/office/2007/relationships/hdphoto" Target="../media/hdphoto1.wdp"/><Relationship Id="rId4" Type="http://schemas.openxmlformats.org/officeDocument/2006/relationships/image" Target="../media/image9.png"/><Relationship Id="rId5"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eg"/><Relationship Id="rId3" Type="http://schemas.openxmlformats.org/officeDocument/2006/relationships/image" Target="../media/image1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eg"/><Relationship Id="rId3"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XT title STD">
    <p:spTree>
      <p:nvGrpSpPr>
        <p:cNvPr id="1" name=""/>
        <p:cNvGrpSpPr/>
        <p:nvPr/>
      </p:nvGrpSpPr>
      <p:grpSpPr>
        <a:xfrm>
          <a:off x="0" y="0"/>
          <a:ext cx="0" cy="0"/>
          <a:chOff x="0" y="0"/>
          <a:chExt cx="0" cy="0"/>
        </a:xfrm>
      </p:grpSpPr>
      <p:sp>
        <p:nvSpPr>
          <p:cNvPr id="2" name="Titolo 12">
            <a:extLst>
              <a:ext uri="{FF2B5EF4-FFF2-40B4-BE49-F238E27FC236}">
                <a16:creationId xmlns:a16="http://schemas.microsoft.com/office/drawing/2014/main" id="{7052D66A-7385-4499-394D-6A412FDCA92C}"/>
              </a:ext>
            </a:extLst>
          </p:cNvPr>
          <p:cNvSpPr>
            <a:spLocks noGrp="1"/>
          </p:cNvSpPr>
          <p:nvPr>
            <p:ph type="title" hasCustomPrompt="1"/>
          </p:nvPr>
        </p:nvSpPr>
        <p:spPr>
          <a:xfrm>
            <a:off x="1095681" y="212508"/>
            <a:ext cx="10515600" cy="369332"/>
          </a:xfrm>
          <a:prstGeom prst="rect">
            <a:avLst/>
          </a:prstGeom>
          <a:noFill/>
        </p:spPr>
        <p:txBody>
          <a:bodyPr wrap="square">
            <a:spAutoFit/>
          </a:bodyPr>
          <a:lstStyle>
            <a:lvl1pPr>
              <a:defRPr kumimoji="0" lang="it-IT" sz="1800" b="1" i="0" u="none" strike="noStrike" cap="none" spc="0" normalizeH="0" baseline="0" dirty="0">
                <a:ln>
                  <a:noFill/>
                </a:ln>
                <a:solidFill>
                  <a:prstClr val="white">
                    <a:lumMod val="65000"/>
                  </a:prstClr>
                </a:solidFill>
                <a:effectLst/>
                <a:uLnTx/>
                <a:uFillTx/>
                <a:latin typeface="Poppins" panose="00000500000000000000" pitchFamily="2" charset="0"/>
                <a:ea typeface="+mn-ea"/>
                <a:cs typeface="Poppins" panose="00000500000000000000" pitchFamily="2" charset="0"/>
              </a:defRPr>
            </a:lvl1pPr>
          </a:lstStyle>
          <a:p>
            <a:pPr marL="0" marR="0" lvl="0" indent="0" defTabSz="552663" fontAlgn="auto">
              <a:lnSpc>
                <a:spcPct val="100000"/>
              </a:lnSpc>
              <a:spcBef>
                <a:spcPts val="0"/>
              </a:spcBef>
              <a:spcAft>
                <a:spcPts val="0"/>
              </a:spcAft>
              <a:buClrTx/>
              <a:buSzTx/>
              <a:buFontTx/>
              <a:tabLst/>
            </a:pPr>
            <a:r>
              <a:rPr lang="it-IT"/>
              <a:t>Sezione (Grigio) | Titolo diapositiva (Nero)</a:t>
            </a:r>
          </a:p>
        </p:txBody>
      </p:sp>
    </p:spTree>
    <p:extLst>
      <p:ext uri="{BB962C8B-B14F-4D97-AF65-F5344CB8AC3E}">
        <p14:creationId xmlns:p14="http://schemas.microsoft.com/office/powerpoint/2010/main" val="2262399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XT main title">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84E155CC-6E46-0B5D-6EB6-F189B2AB94DE}"/>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3688157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ain_Cover_Slide">
    <p:spTree>
      <p:nvGrpSpPr>
        <p:cNvPr id="1" name=""/>
        <p:cNvGrpSpPr/>
        <p:nvPr/>
      </p:nvGrpSpPr>
      <p:grpSpPr>
        <a:xfrm>
          <a:off x="0" y="0"/>
          <a:ext cx="0" cy="0"/>
          <a:chOff x="0" y="0"/>
          <a:chExt cx="0" cy="0"/>
        </a:xfrm>
      </p:grpSpPr>
      <p:pic>
        <p:nvPicPr>
          <p:cNvPr id="9" name="Segnaposto immagine 14" descr="Immagine che contiene cielo, edificio, torre&#10;&#10;Descrizione generata automaticamente">
            <a:extLst>
              <a:ext uri="{FF2B5EF4-FFF2-40B4-BE49-F238E27FC236}">
                <a16:creationId xmlns:a16="http://schemas.microsoft.com/office/drawing/2014/main" id="{5D29E665-4AA7-419E-BCB7-87B1D5361FC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F435772F-49E8-4459-9002-A11C4BEAD5FE}"/>
              </a:ext>
            </a:extLst>
          </p:cNvPr>
          <p:cNvSpPr/>
          <p:nvPr userDrawn="1"/>
        </p:nvSpPr>
        <p:spPr>
          <a:xfrm>
            <a:off x="3284" y="0"/>
            <a:ext cx="12192000" cy="6858000"/>
          </a:xfrm>
          <a:prstGeom prst="rect">
            <a:avLst/>
          </a:prstGeom>
          <a:solidFill>
            <a:srgbClr val="3FB6A9">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4" name="Straight Connector 5">
            <a:extLst>
              <a:ext uri="{FF2B5EF4-FFF2-40B4-BE49-F238E27FC236}">
                <a16:creationId xmlns:a16="http://schemas.microsoft.com/office/drawing/2014/main" id="{FAEE8363-2748-5647-3D0D-DD1D46A8CD26}"/>
              </a:ext>
            </a:extLst>
          </p:cNvPr>
          <p:cNvCxnSpPr>
            <a:cxnSpLocks/>
          </p:cNvCxnSpPr>
          <p:nvPr userDrawn="1"/>
        </p:nvCxnSpPr>
        <p:spPr>
          <a:xfrm>
            <a:off x="5410546" y="3883742"/>
            <a:ext cx="136668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itolo 10">
            <a:extLst>
              <a:ext uri="{FF2B5EF4-FFF2-40B4-BE49-F238E27FC236}">
                <a16:creationId xmlns:a16="http://schemas.microsoft.com/office/drawing/2014/main" id="{9E38F097-8C7C-8F3D-9F7E-590F4BD9651D}"/>
              </a:ext>
            </a:extLst>
          </p:cNvPr>
          <p:cNvSpPr>
            <a:spLocks noGrp="1"/>
          </p:cNvSpPr>
          <p:nvPr>
            <p:ph type="title" hasCustomPrompt="1"/>
          </p:nvPr>
        </p:nvSpPr>
        <p:spPr>
          <a:xfrm>
            <a:off x="2532075" y="2148004"/>
            <a:ext cx="7127850" cy="1117536"/>
          </a:xfrm>
          <a:prstGeom prst="rect">
            <a:avLst/>
          </a:prstGeom>
        </p:spPr>
        <p:txBody>
          <a:bodyPr/>
          <a:lstStyle>
            <a:lvl1pPr algn="ctr">
              <a:defRPr sz="2800">
                <a:solidFill>
                  <a:schemeClr val="bg1"/>
                </a:solidFill>
                <a:latin typeface="Poppins SemiBold" panose="00000700000000000000" pitchFamily="2" charset="0"/>
                <a:cs typeface="Poppins SemiBold" panose="00000700000000000000" pitchFamily="2" charset="0"/>
              </a:defRPr>
            </a:lvl1pPr>
          </a:lstStyle>
          <a:p>
            <a:r>
              <a:rPr lang="it-IT"/>
              <a:t>Titolo</a:t>
            </a:r>
          </a:p>
        </p:txBody>
      </p:sp>
      <p:sp>
        <p:nvSpPr>
          <p:cNvPr id="13" name="Segnaposto testo 12">
            <a:extLst>
              <a:ext uri="{FF2B5EF4-FFF2-40B4-BE49-F238E27FC236}">
                <a16:creationId xmlns:a16="http://schemas.microsoft.com/office/drawing/2014/main" id="{2C9B0F4E-9F9D-21D5-DBB4-B63FF23B2F3A}"/>
              </a:ext>
            </a:extLst>
          </p:cNvPr>
          <p:cNvSpPr>
            <a:spLocks noGrp="1"/>
          </p:cNvSpPr>
          <p:nvPr>
            <p:ph type="body" sz="quarter" idx="10" hasCustomPrompt="1"/>
          </p:nvPr>
        </p:nvSpPr>
        <p:spPr>
          <a:xfrm>
            <a:off x="4343400" y="4002088"/>
            <a:ext cx="3492500" cy="1117600"/>
          </a:xfrm>
          <a:prstGeom prst="rect">
            <a:avLst/>
          </a:prstGeom>
        </p:spPr>
        <p:txBody>
          <a:bodyPr anchor="ctr"/>
          <a:lstStyle>
            <a:lvl1pPr marL="0" indent="0" algn="ctr">
              <a:buNone/>
              <a:defRPr sz="2000">
                <a:solidFill>
                  <a:schemeClr val="bg1"/>
                </a:solidFill>
              </a:defRPr>
            </a:lvl1pPr>
          </a:lstStyle>
          <a:p>
            <a:pPr lvl="0"/>
            <a:r>
              <a:rPr lang="it-IT"/>
              <a:t>2025</a:t>
            </a:r>
          </a:p>
        </p:txBody>
      </p:sp>
    </p:spTree>
    <p:extLst>
      <p:ext uri="{BB962C8B-B14F-4D97-AF65-F5344CB8AC3E}">
        <p14:creationId xmlns:p14="http://schemas.microsoft.com/office/powerpoint/2010/main" val="3359158750"/>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pic>
        <p:nvPicPr>
          <p:cNvPr id="3" name="Immagine 11">
            <a:extLst>
              <a:ext uri="{FF2B5EF4-FFF2-40B4-BE49-F238E27FC236}">
                <a16:creationId xmlns:a16="http://schemas.microsoft.com/office/drawing/2014/main" id="{5CB867BF-6B5B-131C-4A35-70A6553E08A0}"/>
              </a:ext>
            </a:extLst>
          </p:cNvPr>
          <p:cNvPicPr>
            <a:picLocks noChangeAspect="1"/>
          </p:cNvPicPr>
          <p:nvPr userDrawn="1"/>
        </p:nvPicPr>
        <p:blipFill>
          <a:blip r:embed="rId4"/>
          <a:stretch>
            <a:fillRect/>
          </a:stretch>
        </p:blipFill>
        <p:spPr>
          <a:xfrm>
            <a:off x="175717" y="119771"/>
            <a:ext cx="878197" cy="427617"/>
          </a:xfrm>
          <a:prstGeom prst="rect">
            <a:avLst/>
          </a:prstGeom>
        </p:spPr>
      </p:pic>
    </p:spTree>
    <p:extLst>
      <p:ext uri="{BB962C8B-B14F-4D97-AF65-F5344CB8AC3E}">
        <p14:creationId xmlns:p14="http://schemas.microsoft.com/office/powerpoint/2010/main" val="15701000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lank page w/o lin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5378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Blank page w/o line">
    <p:spTree>
      <p:nvGrpSpPr>
        <p:cNvPr id="1" name=""/>
        <p:cNvGrpSpPr/>
        <p:nvPr/>
      </p:nvGrpSpPr>
      <p:grpSpPr>
        <a:xfrm>
          <a:off x="0" y="0"/>
          <a:ext cx="0" cy="0"/>
          <a:chOff x="0" y="0"/>
          <a:chExt cx="0" cy="0"/>
        </a:xfrm>
      </p:grpSpPr>
      <p:sp>
        <p:nvSpPr>
          <p:cNvPr id="2" name="Line">
            <a:extLst>
              <a:ext uri="{FF2B5EF4-FFF2-40B4-BE49-F238E27FC236}">
                <a16:creationId xmlns:a16="http://schemas.microsoft.com/office/drawing/2014/main" id="{3756315A-259B-BDF4-B82C-FDB0E2805225}"/>
              </a:ext>
            </a:extLst>
          </p:cNvPr>
          <p:cNvSpPr/>
          <p:nvPr userDrawn="1"/>
        </p:nvSpPr>
        <p:spPr>
          <a:xfrm>
            <a:off x="0" y="676275"/>
            <a:ext cx="12192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Tree>
    <p:extLst>
      <p:ext uri="{BB962C8B-B14F-4D97-AF65-F5344CB8AC3E}">
        <p14:creationId xmlns:p14="http://schemas.microsoft.com/office/powerpoint/2010/main" val="24418882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ull Image Page_1">
    <p:spTree>
      <p:nvGrpSpPr>
        <p:cNvPr id="1" name=""/>
        <p:cNvGrpSpPr/>
        <p:nvPr/>
      </p:nvGrpSpPr>
      <p:grpSpPr>
        <a:xfrm>
          <a:off x="0" y="0"/>
          <a:ext cx="0" cy="0"/>
          <a:chOff x="0" y="0"/>
          <a:chExt cx="0" cy="0"/>
        </a:xfrm>
      </p:grpSpPr>
      <p:sp>
        <p:nvSpPr>
          <p:cNvPr id="12" name="Image Replace">
            <a:extLst>
              <a:ext uri="{FF2B5EF4-FFF2-40B4-BE49-F238E27FC236}">
                <a16:creationId xmlns:a16="http://schemas.microsoft.com/office/drawing/2014/main" id="{269A7DAB-D2F5-4E2F-93A4-275179CEEA47}"/>
              </a:ext>
            </a:extLst>
          </p:cNvPr>
          <p:cNvSpPr>
            <a:spLocks noGrp="1"/>
          </p:cNvSpPr>
          <p:nvPr>
            <p:ph type="pic" sz="quarter" idx="20" hasCustomPrompt="1"/>
          </p:nvPr>
        </p:nvSpPr>
        <p:spPr>
          <a:xfrm>
            <a:off x="0" y="0"/>
            <a:ext cx="12192000" cy="6858000"/>
          </a:xfrm>
          <a:custGeom>
            <a:avLst/>
            <a:gdLst>
              <a:gd name="connsiteX0" fmla="*/ 0 w 23368000"/>
              <a:gd name="connsiteY0" fmla="*/ 0 h 12700000"/>
              <a:gd name="connsiteX1" fmla="*/ 23368000 w 23368000"/>
              <a:gd name="connsiteY1" fmla="*/ 0 h 12700000"/>
              <a:gd name="connsiteX2" fmla="*/ 23368000 w 23368000"/>
              <a:gd name="connsiteY2" fmla="*/ 12700000 h 12700000"/>
              <a:gd name="connsiteX3" fmla="*/ 0 w 23368000"/>
              <a:gd name="connsiteY3" fmla="*/ 12700000 h 12700000"/>
            </a:gdLst>
            <a:ahLst/>
            <a:cxnLst>
              <a:cxn ang="0">
                <a:pos x="connsiteX0" y="connsiteY0"/>
              </a:cxn>
              <a:cxn ang="0">
                <a:pos x="connsiteX1" y="connsiteY1"/>
              </a:cxn>
              <a:cxn ang="0">
                <a:pos x="connsiteX2" y="connsiteY2"/>
              </a:cxn>
              <a:cxn ang="0">
                <a:pos x="connsiteX3" y="connsiteY3"/>
              </a:cxn>
            </a:cxnLst>
            <a:rect l="l" t="t" r="r" b="b"/>
            <a:pathLst>
              <a:path w="23368000" h="12700000">
                <a:moveTo>
                  <a:pt x="0" y="0"/>
                </a:moveTo>
                <a:lnTo>
                  <a:pt x="23368000" y="0"/>
                </a:lnTo>
                <a:lnTo>
                  <a:pt x="23368000" y="12700000"/>
                </a:lnTo>
                <a:lnTo>
                  <a:pt x="0" y="12700000"/>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pic>
        <p:nvPicPr>
          <p:cNvPr id="14" name="Picture 13" descr="Background pattern&#10;&#10;Description automatically generated" hidden="1">
            <a:extLst>
              <a:ext uri="{FF2B5EF4-FFF2-40B4-BE49-F238E27FC236}">
                <a16:creationId xmlns:a16="http://schemas.microsoft.com/office/drawing/2014/main" id="{F177BD72-F8EC-404F-9121-7711F5429B7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pic>
        <p:nvPicPr>
          <p:cNvPr id="17" name="Picture 16" descr="Background pattern&#10;&#10;Description automatically generated">
            <a:extLst>
              <a:ext uri="{FF2B5EF4-FFF2-40B4-BE49-F238E27FC236}">
                <a16:creationId xmlns:a16="http://schemas.microsoft.com/office/drawing/2014/main" id="{16BE0B04-6EE1-4299-8D2C-7A1C7B96E3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19" name="Line">
            <a:extLst>
              <a:ext uri="{FF2B5EF4-FFF2-40B4-BE49-F238E27FC236}">
                <a16:creationId xmlns:a16="http://schemas.microsoft.com/office/drawing/2014/main" id="{70A3EC06-D9A1-41AC-8137-A349CC2BFC21}"/>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0" name="Line">
            <a:extLst>
              <a:ext uri="{FF2B5EF4-FFF2-40B4-BE49-F238E27FC236}">
                <a16:creationId xmlns:a16="http://schemas.microsoft.com/office/drawing/2014/main" id="{70A86615-BB8B-46B0-B9A6-660511B6A8AD}"/>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Immagine 7">
            <a:extLst>
              <a:ext uri="{FF2B5EF4-FFF2-40B4-BE49-F238E27FC236}">
                <a16:creationId xmlns:a16="http://schemas.microsoft.com/office/drawing/2014/main" id="{4B711DFA-5D13-2163-3A81-3A783AB3712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38259" y="293987"/>
            <a:ext cx="619125" cy="206375"/>
          </a:xfrm>
          <a:prstGeom prst="rect">
            <a:avLst/>
          </a:prstGeom>
        </p:spPr>
      </p:pic>
      <p:sp>
        <p:nvSpPr>
          <p:cNvPr id="2" name="TextBox 2">
            <a:extLst>
              <a:ext uri="{FF2B5EF4-FFF2-40B4-BE49-F238E27FC236}">
                <a16:creationId xmlns:a16="http://schemas.microsoft.com/office/drawing/2014/main" id="{01106E78-DCD3-CD4F-A0D6-8CD291B382D2}"/>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1856529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age and image_1">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xfrm>
            <a:off x="11790268" y="268586"/>
            <a:ext cx="160300" cy="138499"/>
          </a:xfrm>
          <a:prstGeom prst="rect">
            <a:avLst/>
          </a:prstGeom>
        </p:spPr>
        <p:txBody>
          <a:bodyPr/>
          <a:lstStyle/>
          <a:p>
            <a:fld id="{86CB4B4D-7CA3-9044-876B-883B54F8677D}" type="slidenum">
              <a:t>‹N›</a:t>
            </a:fld>
            <a:endParaRPr/>
          </a:p>
        </p:txBody>
      </p:sp>
      <p:sp>
        <p:nvSpPr>
          <p:cNvPr id="8" name="Picture Placeholder 7">
            <a:extLst>
              <a:ext uri="{FF2B5EF4-FFF2-40B4-BE49-F238E27FC236}">
                <a16:creationId xmlns:a16="http://schemas.microsoft.com/office/drawing/2014/main" id="{680824DE-2267-41FC-8898-414F9A4E422F}"/>
              </a:ext>
            </a:extLst>
          </p:cNvPr>
          <p:cNvSpPr>
            <a:spLocks noGrp="1"/>
          </p:cNvSpPr>
          <p:nvPr>
            <p:ph type="pic" sz="quarter" idx="20" hasCustomPrompt="1"/>
          </p:nvPr>
        </p:nvSpPr>
        <p:spPr>
          <a:xfrm>
            <a:off x="6096000" y="1"/>
            <a:ext cx="6096000" cy="6858001"/>
          </a:xfrm>
          <a:custGeom>
            <a:avLst/>
            <a:gdLst>
              <a:gd name="connsiteX0" fmla="*/ 0 w 12192000"/>
              <a:gd name="connsiteY0" fmla="*/ 0 h 13716001"/>
              <a:gd name="connsiteX1" fmla="*/ 12192000 w 12192000"/>
              <a:gd name="connsiteY1" fmla="*/ 0 h 13716001"/>
              <a:gd name="connsiteX2" fmla="*/ 12192000 w 12192000"/>
              <a:gd name="connsiteY2" fmla="*/ 13716001 h 13716001"/>
              <a:gd name="connsiteX3" fmla="*/ 0 w 12192000"/>
              <a:gd name="connsiteY3" fmla="*/ 13716001 h 13716001"/>
            </a:gdLst>
            <a:ahLst/>
            <a:cxnLst>
              <a:cxn ang="0">
                <a:pos x="connsiteX0" y="connsiteY0"/>
              </a:cxn>
              <a:cxn ang="0">
                <a:pos x="connsiteX1" y="connsiteY1"/>
              </a:cxn>
              <a:cxn ang="0">
                <a:pos x="connsiteX2" y="connsiteY2"/>
              </a:cxn>
              <a:cxn ang="0">
                <a:pos x="connsiteX3" y="connsiteY3"/>
              </a:cxn>
            </a:cxnLst>
            <a:rect l="l" t="t" r="r" b="b"/>
            <a:pathLst>
              <a:path w="12192000" h="13716001">
                <a:moveTo>
                  <a:pt x="0" y="0"/>
                </a:moveTo>
                <a:lnTo>
                  <a:pt x="12192000" y="0"/>
                </a:lnTo>
                <a:lnTo>
                  <a:pt x="12192000" y="13716001"/>
                </a:lnTo>
                <a:lnTo>
                  <a:pt x="0" y="13716001"/>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TextBox 2">
            <a:extLst>
              <a:ext uri="{FF2B5EF4-FFF2-40B4-BE49-F238E27FC236}">
                <a16:creationId xmlns:a16="http://schemas.microsoft.com/office/drawing/2014/main" id="{A76BB248-8E2E-8962-1033-3A7314608D61}"/>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Tree>
    <p:extLst>
      <p:ext uri="{BB962C8B-B14F-4D97-AF65-F5344CB8AC3E}">
        <p14:creationId xmlns:p14="http://schemas.microsoft.com/office/powerpoint/2010/main" val="25795177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age w/o line_black">
    <p:bg>
      <p:bgRef idx="1001">
        <a:schemeClr val="bg1"/>
      </p:bgRef>
    </p:bg>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44363CDA-3406-48A0-708E-042F684EEB0E}"/>
              </a:ext>
            </a:extLst>
          </p:cNvPr>
          <p:cNvSpPr>
            <a:spLocks noGrp="1"/>
          </p:cNvSpPr>
          <p:nvPr>
            <p:ph type="pic" sz="quarter" idx="20" hasCustomPrompt="1"/>
          </p:nvPr>
        </p:nvSpPr>
        <p:spPr>
          <a:xfrm>
            <a:off x="0" y="1687"/>
            <a:ext cx="1828800" cy="6854627"/>
          </a:xfrm>
          <a:custGeom>
            <a:avLst/>
            <a:gdLst>
              <a:gd name="connsiteX0" fmla="*/ 0 w 4826000"/>
              <a:gd name="connsiteY0" fmla="*/ 0 h 13709254"/>
              <a:gd name="connsiteX1" fmla="*/ 4826000 w 4826000"/>
              <a:gd name="connsiteY1" fmla="*/ 0 h 13709254"/>
              <a:gd name="connsiteX2" fmla="*/ 4826000 w 4826000"/>
              <a:gd name="connsiteY2" fmla="*/ 13709254 h 13709254"/>
              <a:gd name="connsiteX3" fmla="*/ 0 w 4826000"/>
              <a:gd name="connsiteY3" fmla="*/ 13709254 h 13709254"/>
            </a:gdLst>
            <a:ahLst/>
            <a:cxnLst>
              <a:cxn ang="0">
                <a:pos x="connsiteX0" y="connsiteY0"/>
              </a:cxn>
              <a:cxn ang="0">
                <a:pos x="connsiteX1" y="connsiteY1"/>
              </a:cxn>
              <a:cxn ang="0">
                <a:pos x="connsiteX2" y="connsiteY2"/>
              </a:cxn>
              <a:cxn ang="0">
                <a:pos x="connsiteX3" y="connsiteY3"/>
              </a:cxn>
            </a:cxnLst>
            <a:rect l="l" t="t" r="r" b="b"/>
            <a:pathLst>
              <a:path w="4826000" h="13709254">
                <a:moveTo>
                  <a:pt x="0" y="0"/>
                </a:moveTo>
                <a:lnTo>
                  <a:pt x="4826000" y="0"/>
                </a:lnTo>
                <a:lnTo>
                  <a:pt x="4826000" y="13709254"/>
                </a:lnTo>
                <a:lnTo>
                  <a:pt x="0" y="13709254"/>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
        <p:nvSpPr>
          <p:cNvPr id="2" name="CasellaDiTesto 1">
            <a:extLst>
              <a:ext uri="{FF2B5EF4-FFF2-40B4-BE49-F238E27FC236}">
                <a16:creationId xmlns:a16="http://schemas.microsoft.com/office/drawing/2014/main" id="{9C5F27E5-ACED-A14C-A61F-561997B2161C}"/>
              </a:ext>
            </a:extLst>
          </p:cNvPr>
          <p:cNvSpPr txBox="1"/>
          <p:nvPr userDrawn="1"/>
        </p:nvSpPr>
        <p:spPr>
          <a:xfrm>
            <a:off x="3624146" y="802888"/>
            <a:ext cx="184731" cy="369332"/>
          </a:xfrm>
          <a:prstGeom prst="rect">
            <a:avLst/>
          </a:prstGeom>
          <a:noFill/>
        </p:spPr>
        <p:txBody>
          <a:bodyPr wrap="none" rtlCol="0">
            <a:spAutoFit/>
          </a:bodyPr>
          <a:lstStyle/>
          <a:p>
            <a:endParaRPr lang="it-IT"/>
          </a:p>
        </p:txBody>
      </p:sp>
      <p:pic>
        <p:nvPicPr>
          <p:cNvPr id="5" name="Immagine 11">
            <a:extLst>
              <a:ext uri="{FF2B5EF4-FFF2-40B4-BE49-F238E27FC236}">
                <a16:creationId xmlns:a16="http://schemas.microsoft.com/office/drawing/2014/main" id="{F19B333C-338B-E340-82D3-7C3AFEED2752}"/>
              </a:ext>
            </a:extLst>
          </p:cNvPr>
          <p:cNvPicPr>
            <a:picLocks noChangeAspect="1"/>
          </p:cNvPicPr>
          <p:nvPr userDrawn="1"/>
        </p:nvPicPr>
        <p:blipFill>
          <a:blip r:embed="rId2"/>
          <a:stretch>
            <a:fillRect/>
          </a:stretch>
        </p:blipFill>
        <p:spPr>
          <a:xfrm>
            <a:off x="238259" y="293987"/>
            <a:ext cx="619125" cy="206375"/>
          </a:xfrm>
          <a:prstGeom prst="rect">
            <a:avLst/>
          </a:prstGeom>
        </p:spPr>
      </p:pic>
      <p:sp>
        <p:nvSpPr>
          <p:cNvPr id="7" name="Line">
            <a:extLst>
              <a:ext uri="{FF2B5EF4-FFF2-40B4-BE49-F238E27FC236}">
                <a16:creationId xmlns:a16="http://schemas.microsoft.com/office/drawing/2014/main" id="{03A22E50-4B9E-2245-B435-F9215000A0EF}"/>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Tree>
    <p:extLst>
      <p:ext uri="{BB962C8B-B14F-4D97-AF65-F5344CB8AC3E}">
        <p14:creationId xmlns:p14="http://schemas.microsoft.com/office/powerpoint/2010/main" val="33601285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_new">
    <p:spTree>
      <p:nvGrpSpPr>
        <p:cNvPr id="1" name=""/>
        <p:cNvGrpSpPr/>
        <p:nvPr/>
      </p:nvGrpSpPr>
      <p:grpSpPr>
        <a:xfrm>
          <a:off x="0" y="0"/>
          <a:ext cx="0" cy="0"/>
          <a:chOff x="0" y="0"/>
          <a:chExt cx="0" cy="0"/>
        </a:xfrm>
      </p:grpSpPr>
      <p:pic>
        <p:nvPicPr>
          <p:cNvPr id="9" name="Immagine 63">
            <a:extLst>
              <a:ext uri="{FF2B5EF4-FFF2-40B4-BE49-F238E27FC236}">
                <a16:creationId xmlns:a16="http://schemas.microsoft.com/office/drawing/2014/main" id="{F16F2257-1C5E-4F06-B93B-DD5DE8C711DA}"/>
              </a:ext>
            </a:extLst>
          </p:cNvPr>
          <p:cNvPicPr>
            <a:picLocks noChangeAspect="1"/>
          </p:cNvPicPr>
          <p:nvPr userDrawn="1"/>
        </p:nvPicPr>
        <p:blipFill rotWithShape="1">
          <a:blip r:embed="rId2"/>
          <a:srcRect r="4442" b="4363"/>
          <a:stretch/>
        </p:blipFill>
        <p:spPr>
          <a:xfrm>
            <a:off x="1" y="1466902"/>
            <a:ext cx="12192000" cy="5391101"/>
          </a:xfrm>
          <a:prstGeom prst="rect">
            <a:avLst/>
          </a:prstGeom>
        </p:spPr>
      </p:pic>
      <p:pic>
        <p:nvPicPr>
          <p:cNvPr id="10" name="Immagine 16">
            <a:extLst>
              <a:ext uri="{FF2B5EF4-FFF2-40B4-BE49-F238E27FC236}">
                <a16:creationId xmlns:a16="http://schemas.microsoft.com/office/drawing/2014/main" id="{58BAD465-EAF9-410F-88DF-EF73BDE54B4D}"/>
              </a:ext>
            </a:extLst>
          </p:cNvPr>
          <p:cNvPicPr>
            <a:picLocks noChangeAspect="1"/>
          </p:cNvPicPr>
          <p:nvPr userDrawn="1"/>
        </p:nvPicPr>
        <p:blipFill rotWithShape="1">
          <a:blip r:embed="rId3"/>
          <a:srcRect r="52689"/>
          <a:stretch/>
        </p:blipFill>
        <p:spPr>
          <a:xfrm>
            <a:off x="11339282" y="5964166"/>
            <a:ext cx="462878" cy="476393"/>
          </a:xfrm>
          <a:prstGeom prst="rect">
            <a:avLst/>
          </a:prstGeom>
        </p:spPr>
      </p:pic>
    </p:spTree>
    <p:extLst>
      <p:ext uri="{BB962C8B-B14F-4D97-AF65-F5344CB8AC3E}">
        <p14:creationId xmlns:p14="http://schemas.microsoft.com/office/powerpoint/2010/main" val="2188960076"/>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1">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00FD4E4-0724-4BCF-8CF1-A24C4DC3E07C}"/>
              </a:ext>
            </a:extLst>
          </p:cNvPr>
          <p:cNvSpPr txBox="1">
            <a:spLocks noGrp="1"/>
          </p:cNvSpPr>
          <p:nvPr>
            <p:ph type="sldNum" sz="quarter" idx="2"/>
          </p:nvPr>
        </p:nvSpPr>
        <p:spPr>
          <a:xfrm>
            <a:off x="5947755" y="6540500"/>
            <a:ext cx="290144" cy="286617"/>
          </a:xfrm>
          <a:prstGeom prst="rect">
            <a:avLst/>
          </a:prstGeom>
        </p:spPr>
        <p:txBody>
          <a:bodyPr lIns="50800" tIns="50800" rIns="50800" bIns="50800"/>
          <a:lstStyle>
            <a:lvl1pPr>
              <a:defRPr sz="1196">
                <a:solidFill>
                  <a:srgbClr val="000000"/>
                </a:solidFill>
                <a:latin typeface="Helvetica Neue Light"/>
                <a:ea typeface="Helvetica Neue Light"/>
                <a:cs typeface="Helvetica Neue Light"/>
                <a:sym typeface="Helvetica Neue Light"/>
              </a:defRPr>
            </a:lvl1pPr>
          </a:lstStyle>
          <a:p>
            <a:fld id="{86CB4B4D-7CA3-9044-876B-883B54F8677D}" type="slidenum">
              <a:t>‹N›</a:t>
            </a:fld>
            <a:endParaRPr/>
          </a:p>
        </p:txBody>
      </p:sp>
    </p:spTree>
    <p:extLst>
      <p:ext uri="{BB962C8B-B14F-4D97-AF65-F5344CB8AC3E}">
        <p14:creationId xmlns:p14="http://schemas.microsoft.com/office/powerpoint/2010/main" val="280641229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in Page + Tit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Tree>
    <p:extLst>
      <p:ext uri="{BB962C8B-B14F-4D97-AF65-F5344CB8AC3E}">
        <p14:creationId xmlns:p14="http://schemas.microsoft.com/office/powerpoint/2010/main" val="1486385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Page + Title (no logh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E36800-43C8-DEC6-A723-69FEBFA9A529}"/>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3" name="Rettangolo 2">
            <a:extLst>
              <a:ext uri="{FF2B5EF4-FFF2-40B4-BE49-F238E27FC236}">
                <a16:creationId xmlns:a16="http://schemas.microsoft.com/office/drawing/2014/main" id="{8F134390-353A-6542-7ABF-DAC9FBC85BF5}"/>
              </a:ext>
            </a:extLst>
          </p:cNvPr>
          <p:cNvSpPr/>
          <p:nvPr userDrawn="1"/>
        </p:nvSpPr>
        <p:spPr>
          <a:xfrm>
            <a:off x="79899" y="6258757"/>
            <a:ext cx="1393794" cy="5149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7331F7B-B29A-07FF-92DB-5C097D284D45}"/>
              </a:ext>
            </a:extLst>
          </p:cNvPr>
          <p:cNvSpPr/>
          <p:nvPr userDrawn="1"/>
        </p:nvSpPr>
        <p:spPr>
          <a:xfrm>
            <a:off x="10946167" y="6098959"/>
            <a:ext cx="1056630" cy="6747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899406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mo Mockup Left">
    <p:spTree>
      <p:nvGrpSpPr>
        <p:cNvPr id="1" name=""/>
        <p:cNvGrpSpPr/>
        <p:nvPr/>
      </p:nvGrpSpPr>
      <p:grpSpPr>
        <a:xfrm>
          <a:off x="0" y="0"/>
          <a:ext cx="0" cy="0"/>
          <a:chOff x="0" y="0"/>
          <a:chExt cx="0" cy="0"/>
        </a:xfrm>
      </p:grpSpPr>
      <p:sp>
        <p:nvSpPr>
          <p:cNvPr id="21" name="Rettangolo 20">
            <a:extLst>
              <a:ext uri="{FF2B5EF4-FFF2-40B4-BE49-F238E27FC236}">
                <a16:creationId xmlns:a16="http://schemas.microsoft.com/office/drawing/2014/main" id="{742305EC-CCF7-C50C-AF6B-3C75217EA642}"/>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Picture 6" descr="A picture containing text, electronics, monitor, indoor&#10;&#10;Description automatically generated">
            <a:extLst>
              <a:ext uri="{FF2B5EF4-FFF2-40B4-BE49-F238E27FC236}">
                <a16:creationId xmlns:a16="http://schemas.microsoft.com/office/drawing/2014/main" id="{9EC10D92-7446-B8EF-A225-ED5FFA3C5D2F}"/>
              </a:ext>
            </a:extLst>
          </p:cNvPr>
          <p:cNvPicPr>
            <a:picLocks noChangeAspect="1"/>
          </p:cNvPicPr>
          <p:nvPr userDrawn="1"/>
        </p:nvPicPr>
        <p:blipFill>
          <a:blip r:embed="rId2">
            <a:extLst>
              <a:ext uri="{28A0092B-C50C-407E-A947-70E740481C1C}">
                <a14:useLocalDpi xmlns:a14="http://schemas.microsoft.com/office/drawing/2010/main" val="0"/>
              </a:ext>
            </a:extLst>
          </a:blip>
          <a:srcRect l="6978"/>
          <a:stretch/>
        </p:blipFill>
        <p:spPr>
          <a:xfrm>
            <a:off x="0" y="1125619"/>
            <a:ext cx="9326880" cy="5321169"/>
          </a:xfrm>
          <a:prstGeom prst="rect">
            <a:avLst/>
          </a:prstGeom>
        </p:spPr>
      </p:pic>
      <p:sp>
        <p:nvSpPr>
          <p:cNvPr id="12" name="Segnaposto numero diapositiva 5">
            <a:extLst>
              <a:ext uri="{FF2B5EF4-FFF2-40B4-BE49-F238E27FC236}">
                <a16:creationId xmlns:a16="http://schemas.microsoft.com/office/drawing/2014/main" id="{141A9252-A53E-EDE6-7797-C5FA11FEFCEA}"/>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3" name="Titolo 1">
            <a:extLst>
              <a:ext uri="{FF2B5EF4-FFF2-40B4-BE49-F238E27FC236}">
                <a16:creationId xmlns:a16="http://schemas.microsoft.com/office/drawing/2014/main" id="{31C3A6B4-6329-DE1A-F503-4EC31E0F0777}"/>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19" name="Picture Placeholder 12">
            <a:extLst>
              <a:ext uri="{FF2B5EF4-FFF2-40B4-BE49-F238E27FC236}">
                <a16:creationId xmlns:a16="http://schemas.microsoft.com/office/drawing/2014/main" id="{82ECBD8F-DD60-5CF5-5CAF-A169171DD420}"/>
              </a:ext>
            </a:extLst>
          </p:cNvPr>
          <p:cNvSpPr>
            <a:spLocks noGrp="1"/>
          </p:cNvSpPr>
          <p:nvPr>
            <p:ph type="pic" sz="quarter" idx="20" hasCustomPrompt="1"/>
          </p:nvPr>
        </p:nvSpPr>
        <p:spPr>
          <a:xfrm>
            <a:off x="204053" y="1321656"/>
            <a:ext cx="8202094" cy="4613678"/>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32306074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Mockup Right">
    <p:spTree>
      <p:nvGrpSpPr>
        <p:cNvPr id="1" name=""/>
        <p:cNvGrpSpPr/>
        <p:nvPr/>
      </p:nvGrpSpPr>
      <p:grpSpPr>
        <a:xfrm>
          <a:off x="0" y="0"/>
          <a:ext cx="0" cy="0"/>
          <a:chOff x="0" y="0"/>
          <a:chExt cx="0" cy="0"/>
        </a:xfrm>
      </p:grpSpPr>
      <p:sp>
        <p:nvSpPr>
          <p:cNvPr id="21" name="Rettangolo 20">
            <a:extLst>
              <a:ext uri="{FF2B5EF4-FFF2-40B4-BE49-F238E27FC236}">
                <a16:creationId xmlns:a16="http://schemas.microsoft.com/office/drawing/2014/main" id="{742305EC-CCF7-C50C-AF6B-3C75217EA642}"/>
              </a:ext>
            </a:extLst>
          </p:cNvPr>
          <p:cNvSpPr/>
          <p:nvPr userDrawn="1"/>
        </p:nvSpPr>
        <p:spPr>
          <a:xfrm>
            <a:off x="0" y="5608320"/>
            <a:ext cx="2110740" cy="1249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4" name="Picture 6" descr="A picture containing text, electronics, monitor, indoor&#10;&#10;Description automatically generated">
            <a:extLst>
              <a:ext uri="{FF2B5EF4-FFF2-40B4-BE49-F238E27FC236}">
                <a16:creationId xmlns:a16="http://schemas.microsoft.com/office/drawing/2014/main" id="{9EC10D92-7446-B8EF-A225-ED5FFA3C5D2F}"/>
              </a:ext>
            </a:extLst>
          </p:cNvPr>
          <p:cNvPicPr>
            <a:picLocks noChangeAspect="1"/>
          </p:cNvPicPr>
          <p:nvPr userDrawn="1"/>
        </p:nvPicPr>
        <p:blipFill>
          <a:blip r:embed="rId2">
            <a:extLst>
              <a:ext uri="{28A0092B-C50C-407E-A947-70E740481C1C}">
                <a14:useLocalDpi xmlns:a14="http://schemas.microsoft.com/office/drawing/2010/main" val="0"/>
              </a:ext>
            </a:extLst>
          </a:blip>
          <a:srcRect l="-82" r="7082"/>
          <a:stretch>
            <a:fillRect/>
          </a:stretch>
        </p:blipFill>
        <p:spPr>
          <a:xfrm>
            <a:off x="4539297" y="1414635"/>
            <a:ext cx="7652703" cy="4367040"/>
          </a:xfrm>
          <a:prstGeom prst="rect">
            <a:avLst/>
          </a:prstGeom>
        </p:spPr>
      </p:pic>
      <p:sp>
        <p:nvSpPr>
          <p:cNvPr id="12" name="Segnaposto numero diapositiva 5">
            <a:extLst>
              <a:ext uri="{FF2B5EF4-FFF2-40B4-BE49-F238E27FC236}">
                <a16:creationId xmlns:a16="http://schemas.microsoft.com/office/drawing/2014/main" id="{141A9252-A53E-EDE6-7797-C5FA11FEFCEA}"/>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3" name="Titolo 1">
            <a:extLst>
              <a:ext uri="{FF2B5EF4-FFF2-40B4-BE49-F238E27FC236}">
                <a16:creationId xmlns:a16="http://schemas.microsoft.com/office/drawing/2014/main" id="{31C3A6B4-6329-DE1A-F503-4EC31E0F0777}"/>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sp>
        <p:nvSpPr>
          <p:cNvPr id="19" name="Picture Placeholder 12">
            <a:extLst>
              <a:ext uri="{FF2B5EF4-FFF2-40B4-BE49-F238E27FC236}">
                <a16:creationId xmlns:a16="http://schemas.microsoft.com/office/drawing/2014/main" id="{82ECBD8F-DD60-5CF5-5CAF-A169171DD420}"/>
              </a:ext>
            </a:extLst>
          </p:cNvPr>
          <p:cNvSpPr>
            <a:spLocks noGrp="1"/>
          </p:cNvSpPr>
          <p:nvPr>
            <p:ph type="pic" sz="quarter" idx="20" hasCustomPrompt="1"/>
          </p:nvPr>
        </p:nvSpPr>
        <p:spPr>
          <a:xfrm>
            <a:off x="5295900" y="1561761"/>
            <a:ext cx="6719889" cy="379605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rtl="0">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2366126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Mockup Center">
    <p:spTree>
      <p:nvGrpSpPr>
        <p:cNvPr id="1" name=""/>
        <p:cNvGrpSpPr/>
        <p:nvPr/>
      </p:nvGrpSpPr>
      <p:grpSpPr>
        <a:xfrm>
          <a:off x="0" y="0"/>
          <a:ext cx="0" cy="0"/>
          <a:chOff x="0" y="0"/>
          <a:chExt cx="0" cy="0"/>
        </a:xfrm>
      </p:grpSpPr>
      <p:sp>
        <p:nvSpPr>
          <p:cNvPr id="12" name="Segnaposto numero diapositiva 5">
            <a:extLst>
              <a:ext uri="{FF2B5EF4-FFF2-40B4-BE49-F238E27FC236}">
                <a16:creationId xmlns:a16="http://schemas.microsoft.com/office/drawing/2014/main" id="{141A9252-A53E-EDE6-7797-C5FA11FEFCEA}"/>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3" name="Titolo 1">
            <a:extLst>
              <a:ext uri="{FF2B5EF4-FFF2-40B4-BE49-F238E27FC236}">
                <a16:creationId xmlns:a16="http://schemas.microsoft.com/office/drawing/2014/main" id="{31C3A6B4-6329-DE1A-F503-4EC31E0F0777}"/>
              </a:ext>
            </a:extLst>
          </p:cNvPr>
          <p:cNvSpPr>
            <a:spLocks noGrp="1"/>
          </p:cNvSpPr>
          <p:nvPr>
            <p:ph type="title" hasCustomPrompt="1"/>
          </p:nvPr>
        </p:nvSpPr>
        <p:spPr>
          <a:xfrm>
            <a:off x="1692000" y="180000"/>
            <a:ext cx="9613900" cy="343940"/>
          </a:xfrm>
          <a:prstGeom prst="rect">
            <a:avLst/>
          </a:prstGeom>
        </p:spPr>
        <p:txBody>
          <a:bodyPr anchor="t">
            <a:spAutoFit/>
          </a:bodyPr>
          <a:lstStyle>
            <a:lvl1pPr>
              <a:defRPr sz="1800" b="1">
                <a:solidFill>
                  <a:schemeClr val="bg1">
                    <a:lumMod val="65000"/>
                  </a:schemeClr>
                </a:solidFill>
              </a:defRPr>
            </a:lvl1pPr>
          </a:lstStyle>
          <a:p>
            <a:r>
              <a:rPr lang="it-IT"/>
              <a:t>Sezione (Grigio) | Titolo diapositiva (Nero)</a:t>
            </a:r>
          </a:p>
        </p:txBody>
      </p:sp>
      <p:pic>
        <p:nvPicPr>
          <p:cNvPr id="2" name="Picture 6" descr="A picture containing text, electronics, monitor, indoor&#10;&#10;Description automatically generated">
            <a:extLst>
              <a:ext uri="{FF2B5EF4-FFF2-40B4-BE49-F238E27FC236}">
                <a16:creationId xmlns:a16="http://schemas.microsoft.com/office/drawing/2014/main" id="{7B9359DB-7A9B-2BF9-BF1D-8D4AEA8FD25A}"/>
              </a:ext>
            </a:extLst>
          </p:cNvPr>
          <p:cNvPicPr>
            <a:picLocks noChangeAspect="1"/>
          </p:cNvPicPr>
          <p:nvPr userDrawn="1"/>
        </p:nvPicPr>
        <p:blipFill>
          <a:blip r:embed="rId2">
            <a:extLst>
              <a:ext uri="{28A0092B-C50C-407E-A947-70E740481C1C}">
                <a14:useLocalDpi xmlns:a14="http://schemas.microsoft.com/office/drawing/2010/main" val="0"/>
              </a:ext>
            </a:extLst>
          </a:blip>
          <a:srcRect l="-47" r="-1"/>
          <a:stretch>
            <a:fillRect/>
          </a:stretch>
        </p:blipFill>
        <p:spPr>
          <a:xfrm>
            <a:off x="458166" y="770839"/>
            <a:ext cx="11275668" cy="5981303"/>
          </a:xfrm>
          <a:prstGeom prst="rect">
            <a:avLst/>
          </a:prstGeom>
        </p:spPr>
      </p:pic>
      <p:sp>
        <p:nvSpPr>
          <p:cNvPr id="5" name="Picture Placeholder 12">
            <a:extLst>
              <a:ext uri="{FF2B5EF4-FFF2-40B4-BE49-F238E27FC236}">
                <a16:creationId xmlns:a16="http://schemas.microsoft.com/office/drawing/2014/main" id="{4AA9E510-3E54-5475-7171-F29548EF8828}"/>
              </a:ext>
            </a:extLst>
          </p:cNvPr>
          <p:cNvSpPr>
            <a:spLocks noGrp="1"/>
          </p:cNvSpPr>
          <p:nvPr>
            <p:ph type="pic" sz="quarter" idx="20" hasCustomPrompt="1"/>
          </p:nvPr>
        </p:nvSpPr>
        <p:spPr>
          <a:xfrm>
            <a:off x="1486185" y="991424"/>
            <a:ext cx="9219630" cy="5186042"/>
          </a:xfrm>
          <a:custGeom>
            <a:avLst/>
            <a:gdLst>
              <a:gd name="connsiteX0" fmla="*/ 0 w 13970001"/>
              <a:gd name="connsiteY0" fmla="*/ 0 h 9139503"/>
              <a:gd name="connsiteX1" fmla="*/ 13970001 w 13970001"/>
              <a:gd name="connsiteY1" fmla="*/ 0 h 9139503"/>
              <a:gd name="connsiteX2" fmla="*/ 13970001 w 13970001"/>
              <a:gd name="connsiteY2" fmla="*/ 9139503 h 9139503"/>
              <a:gd name="connsiteX3" fmla="*/ 0 w 13970001"/>
              <a:gd name="connsiteY3" fmla="*/ 9139503 h 9139503"/>
            </a:gdLst>
            <a:ahLst/>
            <a:cxnLst>
              <a:cxn ang="0">
                <a:pos x="connsiteX0" y="connsiteY0"/>
              </a:cxn>
              <a:cxn ang="0">
                <a:pos x="connsiteX1" y="connsiteY1"/>
              </a:cxn>
              <a:cxn ang="0">
                <a:pos x="connsiteX2" y="connsiteY2"/>
              </a:cxn>
              <a:cxn ang="0">
                <a:pos x="connsiteX3" y="connsiteY3"/>
              </a:cxn>
            </a:cxnLst>
            <a:rect l="l" t="t" r="r" b="b"/>
            <a:pathLst>
              <a:path w="13970001" h="9139503">
                <a:moveTo>
                  <a:pt x="0" y="0"/>
                </a:moveTo>
                <a:lnTo>
                  <a:pt x="13970001" y="0"/>
                </a:lnTo>
                <a:lnTo>
                  <a:pt x="13970001" y="9139503"/>
                </a:lnTo>
                <a:lnTo>
                  <a:pt x="0" y="9139503"/>
                </a:lnTo>
                <a:close/>
              </a:path>
            </a:pathLst>
          </a:custGeom>
          <a:solidFill>
            <a:srgbClr val="BABEC7"/>
          </a:solidFill>
          <a:ln w="12700">
            <a:miter lim="400000"/>
          </a:ln>
          <a:extLst>
            <a:ext uri="{C572A759-6A51-4108-AA02-DFA0A04FC94B}">
              <ma14:wrappingTextBoxFlag xmlns="" xmlns:ma14="http://schemas.microsoft.com/office/mac/drawingml/2011/main" val="1"/>
            </a:ext>
          </a:extLst>
        </p:spPr>
        <p:txBody>
          <a:bodyPr wrap="square" anchor="ctr">
            <a:noAutofit/>
          </a:bodyPr>
          <a:lstStyle>
            <a:lvl1pPr marL="0" indent="0" algn="ctr">
              <a:buNone/>
              <a:defRPr sz="1000" b="1" baseline="0">
                <a:solidFill>
                  <a:schemeClr val="bg1"/>
                </a:solidFill>
              </a:defRPr>
            </a:lvl1pPr>
          </a:lstStyle>
          <a:p>
            <a:r>
              <a:rPr lang="en-US"/>
              <a:t>IMAGE REPLACE</a:t>
            </a:r>
          </a:p>
        </p:txBody>
      </p:sp>
    </p:spTree>
    <p:extLst>
      <p:ext uri="{BB962C8B-B14F-4D97-AF65-F5344CB8AC3E}">
        <p14:creationId xmlns:p14="http://schemas.microsoft.com/office/powerpoint/2010/main" val="749852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Main Page">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766B0168-FC84-7748-ABE3-0BECBA333512}"/>
              </a:ext>
            </a:extLst>
          </p:cNvPr>
          <p:cNvSpPr txBox="1"/>
          <p:nvPr userDrawn="1"/>
        </p:nvSpPr>
        <p:spPr>
          <a:xfrm>
            <a:off x="11343190" y="6551271"/>
            <a:ext cx="184731" cy="368434"/>
          </a:xfrm>
          <a:prstGeom prst="rect">
            <a:avLst/>
          </a:prstGeom>
          <a:noFill/>
        </p:spPr>
        <p:txBody>
          <a:bodyPr wrap="none" rtlCol="0">
            <a:spAutoFit/>
          </a:bodyPr>
          <a:lstStyle/>
          <a:p>
            <a:endParaRPr lang="it-IT" sz="1794"/>
          </a:p>
        </p:txBody>
      </p:sp>
      <p:pic>
        <p:nvPicPr>
          <p:cNvPr id="2" name="Picture 25" descr="Background pattern&#10;&#10;Description automatically generated">
            <a:extLst>
              <a:ext uri="{FF2B5EF4-FFF2-40B4-BE49-F238E27FC236}">
                <a16:creationId xmlns:a16="http://schemas.microsoft.com/office/drawing/2014/main" id="{C7EEDCC5-0A36-9E36-5261-B276D98E2244}"/>
              </a:ext>
            </a:extLst>
          </p:cNvPr>
          <p:cNvPicPr>
            <a:picLocks noChangeAspect="1"/>
          </p:cNvPicPr>
          <p:nvPr userDrawn="1"/>
        </p:nvPicPr>
        <p:blipFill rotWithShape="1">
          <a:blip r:embed="rId2" cstate="email">
            <a:grayscl/>
            <a:extLst>
              <a:ext uri="{BEBA8EAE-BF5A-486C-A8C5-ECC9F3942E4B}">
                <a14:imgProps xmlns:a14="http://schemas.microsoft.com/office/drawing/2010/main">
                  <a14:imgLayer r:embed="rId3">
                    <a14:imgEffect>
                      <a14:colorTemperature colorTemp="7200"/>
                    </a14:imgEffect>
                    <a14:imgEffect>
                      <a14:saturation sat="300000"/>
                    </a14:imgEffect>
                  </a14:imgLayer>
                </a14:imgProps>
              </a:ext>
              <a:ext uri="{28A0092B-C50C-407E-A947-70E740481C1C}">
                <a14:useLocalDpi xmlns:a14="http://schemas.microsoft.com/office/drawing/2010/main"/>
              </a:ext>
            </a:extLst>
          </a:blip>
          <a:srcRect/>
          <a:stretch/>
        </p:blipFill>
        <p:spPr>
          <a:xfrm>
            <a:off x="428" y="1"/>
            <a:ext cx="12191145" cy="6858001"/>
          </a:xfrm>
          <a:prstGeom prst="rect">
            <a:avLst/>
          </a:prstGeom>
        </p:spPr>
      </p:pic>
      <p:sp>
        <p:nvSpPr>
          <p:cNvPr id="12" name="Segnaposto numero diapositiva 5">
            <a:extLst>
              <a:ext uri="{FF2B5EF4-FFF2-40B4-BE49-F238E27FC236}">
                <a16:creationId xmlns:a16="http://schemas.microsoft.com/office/drawing/2014/main" id="{141A9252-A53E-EDE6-7797-C5FA11FEFCEA}"/>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9BDF9518-5820-FA22-6C89-6CDBA5FCD4C3}"/>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4" name="Line">
            <a:extLst>
              <a:ext uri="{FF2B5EF4-FFF2-40B4-BE49-F238E27FC236}">
                <a16:creationId xmlns:a16="http://schemas.microsoft.com/office/drawing/2014/main" id="{EEE2A3EE-0684-1096-3BE7-08C11CF825DA}"/>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98930E5D-D67D-B0F6-2B95-981DAC38BBD6}"/>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16" name="Picture 9">
            <a:extLst>
              <a:ext uri="{FF2B5EF4-FFF2-40B4-BE49-F238E27FC236}">
                <a16:creationId xmlns:a16="http://schemas.microsoft.com/office/drawing/2014/main" id="{2C598B42-9B21-E08C-801B-6678EBC8241B}"/>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17" name="Immagine 9">
            <a:extLst>
              <a:ext uri="{FF2B5EF4-FFF2-40B4-BE49-F238E27FC236}">
                <a16:creationId xmlns:a16="http://schemas.microsoft.com/office/drawing/2014/main" id="{B74A2C2D-7B16-F16C-8711-01A3FC9F061E}"/>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sp>
        <p:nvSpPr>
          <p:cNvPr id="6" name="Titolo 5">
            <a:extLst>
              <a:ext uri="{FF2B5EF4-FFF2-40B4-BE49-F238E27FC236}">
                <a16:creationId xmlns:a16="http://schemas.microsoft.com/office/drawing/2014/main" id="{55FC39D9-6C4F-2639-EA20-791BF976124E}"/>
              </a:ext>
            </a:extLst>
          </p:cNvPr>
          <p:cNvSpPr>
            <a:spLocks noGrp="1"/>
          </p:cNvSpPr>
          <p:nvPr>
            <p:ph type="title" hasCustomPrompt="1"/>
          </p:nvPr>
        </p:nvSpPr>
        <p:spPr>
          <a:xfrm>
            <a:off x="1692000" y="180000"/>
            <a:ext cx="9835921" cy="343940"/>
          </a:xfrm>
          <a:prstGeom prst="rect">
            <a:avLst/>
          </a:prstGeom>
        </p:spPr>
        <p:txBody>
          <a:bodyPr wrap="square">
            <a:spAutoFit/>
          </a:bodyPr>
          <a:lstStyle>
            <a:lvl1pPr algn="l" defTabSz="911342" rtl="0" eaLnBrk="1" latinLnBrk="0" hangingPunct="1">
              <a:lnSpc>
                <a:spcPct val="90000"/>
              </a:lnSpc>
              <a:spcBef>
                <a:spcPct val="0"/>
              </a:spcBef>
              <a:buNone/>
              <a:defRPr lang="it-IT" sz="1800" b="1" kern="1200" dirty="0">
                <a:solidFill>
                  <a:schemeClr val="bg1"/>
                </a:solidFill>
                <a:latin typeface="+mj-lt"/>
                <a:ea typeface="+mj-ea"/>
                <a:cs typeface="+mj-cs"/>
              </a:defRPr>
            </a:lvl1pPr>
          </a:lstStyle>
          <a:p>
            <a:r>
              <a:rPr lang="it-IT"/>
              <a:t>Sezione (Bianco) | Titolo diapositiva (Nero)</a:t>
            </a:r>
          </a:p>
        </p:txBody>
      </p:sp>
    </p:spTree>
    <p:extLst>
      <p:ext uri="{BB962C8B-B14F-4D97-AF65-F5344CB8AC3E}">
        <p14:creationId xmlns:p14="http://schemas.microsoft.com/office/powerpoint/2010/main" val="3975692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Main_Cover_Slide">
    <p:spTree>
      <p:nvGrpSpPr>
        <p:cNvPr id="1" name=""/>
        <p:cNvGrpSpPr/>
        <p:nvPr/>
      </p:nvGrpSpPr>
      <p:grpSpPr>
        <a:xfrm>
          <a:off x="0" y="0"/>
          <a:ext cx="0" cy="0"/>
          <a:chOff x="0" y="0"/>
          <a:chExt cx="0" cy="0"/>
        </a:xfrm>
      </p:grpSpPr>
      <p:pic>
        <p:nvPicPr>
          <p:cNvPr id="9" name="Segnaposto immagine 14" descr="Immagine che contiene cielo, edificio, torre&#10;&#10;Descrizione generata automaticamente">
            <a:extLst>
              <a:ext uri="{FF2B5EF4-FFF2-40B4-BE49-F238E27FC236}">
                <a16:creationId xmlns:a16="http://schemas.microsoft.com/office/drawing/2014/main" id="{5D29E665-4AA7-419E-BCB7-87B1D5361FC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F435772F-49E8-4459-9002-A11C4BEAD5FE}"/>
              </a:ext>
            </a:extLst>
          </p:cNvPr>
          <p:cNvSpPr/>
          <p:nvPr userDrawn="1"/>
        </p:nvSpPr>
        <p:spPr>
          <a:xfrm>
            <a:off x="3284" y="0"/>
            <a:ext cx="12192000" cy="6858000"/>
          </a:xfrm>
          <a:prstGeom prst="rect">
            <a:avLst/>
          </a:prstGeom>
          <a:solidFill>
            <a:srgbClr val="3FB6A9">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cxnSp>
        <p:nvCxnSpPr>
          <p:cNvPr id="4" name="Straight Connector 5">
            <a:extLst>
              <a:ext uri="{FF2B5EF4-FFF2-40B4-BE49-F238E27FC236}">
                <a16:creationId xmlns:a16="http://schemas.microsoft.com/office/drawing/2014/main" id="{FAEE8363-2748-5647-3D0D-DD1D46A8CD26}"/>
              </a:ext>
            </a:extLst>
          </p:cNvPr>
          <p:cNvCxnSpPr>
            <a:cxnSpLocks/>
          </p:cNvCxnSpPr>
          <p:nvPr userDrawn="1"/>
        </p:nvCxnSpPr>
        <p:spPr>
          <a:xfrm>
            <a:off x="5410546" y="3883742"/>
            <a:ext cx="136668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6" descr="A white text on a black background&#10;&#10;Description automatically generated">
            <a:extLst>
              <a:ext uri="{FF2B5EF4-FFF2-40B4-BE49-F238E27FC236}">
                <a16:creationId xmlns:a16="http://schemas.microsoft.com/office/drawing/2014/main" id="{D76B1006-2400-B858-58B7-A4287E90957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97085" y="983039"/>
            <a:ext cx="2412123" cy="546762"/>
          </a:xfrm>
          <a:prstGeom prst="rect">
            <a:avLst/>
          </a:prstGeom>
        </p:spPr>
      </p:pic>
      <p:sp>
        <p:nvSpPr>
          <p:cNvPr id="11" name="Titolo 10">
            <a:extLst>
              <a:ext uri="{FF2B5EF4-FFF2-40B4-BE49-F238E27FC236}">
                <a16:creationId xmlns:a16="http://schemas.microsoft.com/office/drawing/2014/main" id="{9E38F097-8C7C-8F3D-9F7E-590F4BD9651D}"/>
              </a:ext>
            </a:extLst>
          </p:cNvPr>
          <p:cNvSpPr>
            <a:spLocks noGrp="1"/>
          </p:cNvSpPr>
          <p:nvPr>
            <p:ph type="title" hasCustomPrompt="1"/>
          </p:nvPr>
        </p:nvSpPr>
        <p:spPr>
          <a:xfrm>
            <a:off x="2532075" y="2007714"/>
            <a:ext cx="7127850" cy="1117536"/>
          </a:xfrm>
          <a:prstGeom prst="rect">
            <a:avLst/>
          </a:prstGeom>
        </p:spPr>
        <p:txBody>
          <a:bodyPr/>
          <a:lstStyle>
            <a:lvl1pPr algn="ctr">
              <a:defRPr sz="2800">
                <a:solidFill>
                  <a:schemeClr val="bg1"/>
                </a:solidFill>
                <a:latin typeface="Poppins SemiBold" panose="00000700000000000000" pitchFamily="2" charset="0"/>
                <a:cs typeface="Poppins SemiBold" panose="00000700000000000000" pitchFamily="2" charset="0"/>
              </a:defRPr>
            </a:lvl1pPr>
          </a:lstStyle>
          <a:p>
            <a:r>
              <a:rPr lang="it-IT"/>
              <a:t>Titolo</a:t>
            </a:r>
          </a:p>
        </p:txBody>
      </p:sp>
      <p:sp>
        <p:nvSpPr>
          <p:cNvPr id="13" name="Segnaposto testo 12">
            <a:extLst>
              <a:ext uri="{FF2B5EF4-FFF2-40B4-BE49-F238E27FC236}">
                <a16:creationId xmlns:a16="http://schemas.microsoft.com/office/drawing/2014/main" id="{2C9B0F4E-9F9D-21D5-DBB4-B63FF23B2F3A}"/>
              </a:ext>
            </a:extLst>
          </p:cNvPr>
          <p:cNvSpPr>
            <a:spLocks noGrp="1"/>
          </p:cNvSpPr>
          <p:nvPr>
            <p:ph type="body" sz="quarter" idx="10" hasCustomPrompt="1"/>
          </p:nvPr>
        </p:nvSpPr>
        <p:spPr>
          <a:xfrm>
            <a:off x="4343400" y="4002088"/>
            <a:ext cx="3492500" cy="1117600"/>
          </a:xfrm>
          <a:prstGeom prst="rect">
            <a:avLst/>
          </a:prstGeom>
        </p:spPr>
        <p:txBody>
          <a:bodyPr anchor="ctr"/>
          <a:lstStyle>
            <a:lvl1pPr marL="0" indent="0" algn="ctr">
              <a:buNone/>
              <a:defRPr sz="2000">
                <a:solidFill>
                  <a:schemeClr val="bg1"/>
                </a:solidFill>
              </a:defRPr>
            </a:lvl1pPr>
          </a:lstStyle>
          <a:p>
            <a:pPr lvl="0"/>
            <a:r>
              <a:rPr lang="it-IT"/>
              <a:t>2025</a:t>
            </a:r>
          </a:p>
        </p:txBody>
      </p:sp>
    </p:spTree>
    <p:extLst>
      <p:ext uri="{BB962C8B-B14F-4D97-AF65-F5344CB8AC3E}">
        <p14:creationId xmlns:p14="http://schemas.microsoft.com/office/powerpoint/2010/main" val="2658991219"/>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pos="1056">
          <p15:clr>
            <a:srgbClr val="FBAE40"/>
          </p15:clr>
        </p15:guide>
        <p15:guide id="2" pos="14304">
          <p15:clr>
            <a:srgbClr val="FBAE40"/>
          </p15:clr>
        </p15:guide>
        <p15:guide id="3" orient="horz" pos="7920">
          <p15:clr>
            <a:srgbClr val="FBAE40"/>
          </p15:clr>
        </p15:guide>
        <p15:guide id="4" orient="horz" pos="50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9708D6A-E2CF-BC41-8509-EEA97311EC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5400000">
            <a:off x="2628382" y="-2628380"/>
            <a:ext cx="6935241" cy="12192002"/>
          </a:xfrm>
          <a:prstGeom prst="rect">
            <a:avLst/>
          </a:prstGeom>
        </p:spPr>
      </p:pic>
      <p:pic>
        <p:nvPicPr>
          <p:cNvPr id="6" name="Immagine 5">
            <a:extLst>
              <a:ext uri="{FF2B5EF4-FFF2-40B4-BE49-F238E27FC236}">
                <a16:creationId xmlns:a16="http://schemas.microsoft.com/office/drawing/2014/main" id="{A2CEA197-26CD-7548-8AD4-36A8E1E3475C}"/>
              </a:ext>
            </a:extLst>
          </p:cNvPr>
          <p:cNvPicPr>
            <a:picLocks noChangeAspect="1"/>
          </p:cNvPicPr>
          <p:nvPr userDrawn="1"/>
        </p:nvPicPr>
        <p:blipFill rotWithShape="1">
          <a:blip r:embed="rId3">
            <a:alphaModFix amt="36000"/>
            <a:extLst>
              <a:ext uri="{28A0092B-C50C-407E-A947-70E740481C1C}">
                <a14:useLocalDpi xmlns:a14="http://schemas.microsoft.com/office/drawing/2010/main"/>
              </a:ext>
            </a:extLst>
          </a:blip>
          <a:srcRect l="4280" r="9866" b="20567"/>
          <a:stretch/>
        </p:blipFill>
        <p:spPr>
          <a:xfrm>
            <a:off x="0" y="2431812"/>
            <a:ext cx="12192000" cy="4503431"/>
          </a:xfrm>
          <a:prstGeom prst="rect">
            <a:avLst/>
          </a:prstGeom>
        </p:spPr>
      </p:pic>
      <p:pic>
        <p:nvPicPr>
          <p:cNvPr id="11" name="Picture 5" descr="Icon&#10;&#10;Description automatically generated">
            <a:extLst>
              <a:ext uri="{FF2B5EF4-FFF2-40B4-BE49-F238E27FC236}">
                <a16:creationId xmlns:a16="http://schemas.microsoft.com/office/drawing/2014/main" id="{2571E14A-3F49-240F-68A2-350AB3B9FFE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1814" y="186722"/>
            <a:ext cx="1295775" cy="293716"/>
          </a:xfrm>
          <a:prstGeom prst="rect">
            <a:avLst/>
          </a:prstGeom>
        </p:spPr>
      </p:pic>
      <p:sp>
        <p:nvSpPr>
          <p:cNvPr id="12" name="Titolo 11">
            <a:extLst>
              <a:ext uri="{FF2B5EF4-FFF2-40B4-BE49-F238E27FC236}">
                <a16:creationId xmlns:a16="http://schemas.microsoft.com/office/drawing/2014/main" id="{A957F2E0-24E9-B09B-2E35-EFF4B78EC8B9}"/>
              </a:ext>
            </a:extLst>
          </p:cNvPr>
          <p:cNvSpPr>
            <a:spLocks noGrp="1"/>
          </p:cNvSpPr>
          <p:nvPr>
            <p:ph type="title" hasCustomPrompt="1"/>
          </p:nvPr>
        </p:nvSpPr>
        <p:spPr>
          <a:xfrm>
            <a:off x="5165760" y="3015227"/>
            <a:ext cx="6220846" cy="1192677"/>
          </a:xfrm>
          <a:prstGeom prst="rect">
            <a:avLst/>
          </a:prstGeom>
        </p:spPr>
        <p:txBody>
          <a:bodyPr/>
          <a:lstStyle>
            <a:lvl1pPr algn="r">
              <a:defRPr sz="4000" b="1">
                <a:solidFill>
                  <a:schemeClr val="bg1"/>
                </a:solidFill>
              </a:defRPr>
            </a:lvl1pPr>
          </a:lstStyle>
          <a:p>
            <a:r>
              <a:rPr lang="it-IT"/>
              <a:t>Titolo</a:t>
            </a:r>
          </a:p>
        </p:txBody>
      </p:sp>
    </p:spTree>
    <p:extLst>
      <p:ext uri="{BB962C8B-B14F-4D97-AF65-F5344CB8AC3E}">
        <p14:creationId xmlns:p14="http://schemas.microsoft.com/office/powerpoint/2010/main" val="1176443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lum+logo">
    <p:spTree>
      <p:nvGrpSpPr>
        <p:cNvPr id="1" name=""/>
        <p:cNvGrpSpPr/>
        <p:nvPr/>
      </p:nvGrpSpPr>
      <p:grpSpPr>
        <a:xfrm>
          <a:off x="0" y="0"/>
          <a:ext cx="0" cy="0"/>
          <a:chOff x="0" y="0"/>
          <a:chExt cx="0" cy="0"/>
        </a:xfrm>
      </p:grpSpPr>
      <p:pic>
        <p:nvPicPr>
          <p:cNvPr id="7" name="Picture Placeholder 11">
            <a:extLst>
              <a:ext uri="{FF2B5EF4-FFF2-40B4-BE49-F238E27FC236}">
                <a16:creationId xmlns:a16="http://schemas.microsoft.com/office/drawing/2014/main" id="{41BB1808-127F-4346-B990-7C487508876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 y="1"/>
            <a:ext cx="2298357" cy="6895071"/>
          </a:xfrm>
          <a:custGeom>
            <a:avLst/>
            <a:gdLst>
              <a:gd name="connsiteX0" fmla="*/ 0 w 4572000"/>
              <a:gd name="connsiteY0" fmla="*/ 0 h 4572000"/>
              <a:gd name="connsiteX1" fmla="*/ 4572000 w 4572000"/>
              <a:gd name="connsiteY1" fmla="*/ 0 h 4572000"/>
              <a:gd name="connsiteX2" fmla="*/ 4572000 w 4572000"/>
              <a:gd name="connsiteY2" fmla="*/ 4572000 h 4572000"/>
              <a:gd name="connsiteX3" fmla="*/ 0 w 4572000"/>
              <a:gd name="connsiteY3" fmla="*/ 4572000 h 4572000"/>
            </a:gdLst>
            <a:ahLst/>
            <a:cxnLst>
              <a:cxn ang="0">
                <a:pos x="connsiteX0" y="connsiteY0"/>
              </a:cxn>
              <a:cxn ang="0">
                <a:pos x="connsiteX1" y="connsiteY1"/>
              </a:cxn>
              <a:cxn ang="0">
                <a:pos x="connsiteX2" y="connsiteY2"/>
              </a:cxn>
              <a:cxn ang="0">
                <a:pos x="connsiteX3" y="connsiteY3"/>
              </a:cxn>
            </a:cxnLst>
            <a:rect l="l" t="t" r="r" b="b"/>
            <a:pathLst>
              <a:path w="4572000" h="4572000">
                <a:moveTo>
                  <a:pt x="0" y="0"/>
                </a:moveTo>
                <a:lnTo>
                  <a:pt x="4572000" y="0"/>
                </a:lnTo>
                <a:lnTo>
                  <a:pt x="4572000" y="4572000"/>
                </a:lnTo>
                <a:lnTo>
                  <a:pt x="0" y="4572000"/>
                </a:lnTo>
                <a:close/>
              </a:path>
            </a:pathLst>
          </a:custGeom>
        </p:spPr>
      </p:pic>
      <p:pic>
        <p:nvPicPr>
          <p:cNvPr id="2" name="Immagine 9">
            <a:extLst>
              <a:ext uri="{FF2B5EF4-FFF2-40B4-BE49-F238E27FC236}">
                <a16:creationId xmlns:a16="http://schemas.microsoft.com/office/drawing/2014/main" id="{B75F9748-ED01-9B6F-686B-A8397409327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sp>
        <p:nvSpPr>
          <p:cNvPr id="4" name="Titolo 3">
            <a:extLst>
              <a:ext uri="{FF2B5EF4-FFF2-40B4-BE49-F238E27FC236}">
                <a16:creationId xmlns:a16="http://schemas.microsoft.com/office/drawing/2014/main" id="{6D2E0D86-E138-744E-B587-4EB7F0ABBCA4}"/>
              </a:ext>
            </a:extLst>
          </p:cNvPr>
          <p:cNvSpPr>
            <a:spLocks noGrp="1"/>
          </p:cNvSpPr>
          <p:nvPr>
            <p:ph type="title" hasCustomPrompt="1"/>
          </p:nvPr>
        </p:nvSpPr>
        <p:spPr>
          <a:xfrm>
            <a:off x="2592000" y="180000"/>
            <a:ext cx="8629650" cy="343940"/>
          </a:xfrm>
          <a:prstGeom prst="rect">
            <a:avLst/>
          </a:prstGeom>
        </p:spPr>
        <p:txBody>
          <a:bodyPr wrap="square">
            <a:spAutoFit/>
          </a:bodyPr>
          <a:lstStyle>
            <a:lvl1pPr algn="l" defTabSz="911342" rtl="0" eaLnBrk="1" latinLnBrk="0" hangingPunct="1">
              <a:lnSpc>
                <a:spcPct val="90000"/>
              </a:lnSpc>
              <a:spcBef>
                <a:spcPct val="0"/>
              </a:spcBef>
              <a:buNone/>
              <a:defRPr lang="it-IT" sz="1800" b="1" kern="1200" dirty="0">
                <a:solidFill>
                  <a:schemeClr val="bg1">
                    <a:lumMod val="65000"/>
                  </a:schemeClr>
                </a:solidFill>
                <a:latin typeface="+mj-lt"/>
                <a:ea typeface="+mj-ea"/>
                <a:cs typeface="+mj-cs"/>
              </a:defRPr>
            </a:lvl1pPr>
          </a:lstStyle>
          <a:p>
            <a:r>
              <a:rPr lang="it-IT"/>
              <a:t>Sezione (Grigio) | Titolo diapositiva (Nero)</a:t>
            </a:r>
          </a:p>
        </p:txBody>
      </p:sp>
      <p:sp>
        <p:nvSpPr>
          <p:cNvPr id="9" name="Line">
            <a:extLst>
              <a:ext uri="{FF2B5EF4-FFF2-40B4-BE49-F238E27FC236}">
                <a16:creationId xmlns:a16="http://schemas.microsoft.com/office/drawing/2014/main" id="{D04E6A30-1824-4731-1814-6417D565B8C0}"/>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spTree>
    <p:extLst>
      <p:ext uri="{BB962C8B-B14F-4D97-AF65-F5344CB8AC3E}">
        <p14:creationId xmlns:p14="http://schemas.microsoft.com/office/powerpoint/2010/main" val="27969977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dex_WhiteLogo">
    <p:spTree>
      <p:nvGrpSpPr>
        <p:cNvPr id="1" name=""/>
        <p:cNvGrpSpPr/>
        <p:nvPr/>
      </p:nvGrpSpPr>
      <p:grpSpPr>
        <a:xfrm>
          <a:off x="0" y="0"/>
          <a:ext cx="0" cy="0"/>
          <a:chOff x="0" y="0"/>
          <a:chExt cx="0" cy="0"/>
        </a:xfrm>
      </p:grpSpPr>
      <p:pic>
        <p:nvPicPr>
          <p:cNvPr id="9" name="Immagine 24" descr="Immagine che contiene cielo, esterni&#10;&#10;Descrizione generata automaticamente">
            <a:extLst>
              <a:ext uri="{FF2B5EF4-FFF2-40B4-BE49-F238E27FC236}">
                <a16:creationId xmlns:a16="http://schemas.microsoft.com/office/drawing/2014/main" id="{FF7DD0A8-F0E0-427B-A796-7BC2566D6D2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6096000" y="-3"/>
            <a:ext cx="6108236" cy="6858004"/>
          </a:xfrm>
          <a:prstGeom prst="rect">
            <a:avLst/>
          </a:prstGeom>
        </p:spPr>
      </p:pic>
      <p:sp>
        <p:nvSpPr>
          <p:cNvPr id="10" name="Rectangle 3">
            <a:extLst>
              <a:ext uri="{FF2B5EF4-FFF2-40B4-BE49-F238E27FC236}">
                <a16:creationId xmlns:a16="http://schemas.microsoft.com/office/drawing/2014/main" id="{E1650237-7632-4497-8E33-F2C4A8EAAF13}"/>
              </a:ext>
            </a:extLst>
          </p:cNvPr>
          <p:cNvSpPr/>
          <p:nvPr userDrawn="1"/>
        </p:nvSpPr>
        <p:spPr>
          <a:xfrm>
            <a:off x="6093399" y="0"/>
            <a:ext cx="6108236" cy="6858002"/>
          </a:xfrm>
          <a:prstGeom prst="rect">
            <a:avLst/>
          </a:prstGeom>
          <a:solidFill>
            <a:srgbClr val="3FB6A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94"/>
          </a:p>
        </p:txBody>
      </p:sp>
      <p:sp>
        <p:nvSpPr>
          <p:cNvPr id="12" name="TextBox 11">
            <a:extLst>
              <a:ext uri="{FF2B5EF4-FFF2-40B4-BE49-F238E27FC236}">
                <a16:creationId xmlns:a16="http://schemas.microsoft.com/office/drawing/2014/main" id="{26B8F22E-BE83-413D-81D1-5072A0470F02}"/>
              </a:ext>
            </a:extLst>
          </p:cNvPr>
          <p:cNvSpPr txBox="1"/>
          <p:nvPr userDrawn="1"/>
        </p:nvSpPr>
        <p:spPr>
          <a:xfrm>
            <a:off x="11659892" y="262477"/>
            <a:ext cx="269875" cy="152991"/>
          </a:xfrm>
          <a:prstGeom prst="rect">
            <a:avLst/>
          </a:prstGeom>
          <a:noFill/>
        </p:spPr>
        <p:txBody>
          <a:bodyPr wrap="square" lIns="0" tIns="0" rIns="0" bIns="0" rtlCol="0">
            <a:spAutoFit/>
          </a:bodyPr>
          <a:lstStyle/>
          <a:p>
            <a:pPr algn="ctr"/>
            <a:fld id="{BD8018E6-5008-4D09-8834-2943DEA75A3D}" type="slidenum">
              <a:rPr lang="en-US" sz="994" b="0" smtClean="0">
                <a:solidFill>
                  <a:schemeClr val="bg1"/>
                </a:solidFill>
                <a:latin typeface="Poppins" panose="00000500000000000000" pitchFamily="2" charset="0"/>
                <a:ea typeface="Open Sans" panose="020B0606030504020204" pitchFamily="34" charset="0"/>
                <a:cs typeface="Poppins" panose="00000500000000000000" pitchFamily="2" charset="0"/>
              </a:rPr>
              <a:pPr algn="ctr"/>
              <a:t>‹N›</a:t>
            </a:fld>
            <a:endParaRPr lang="en-US" sz="994" b="0">
              <a:solidFill>
                <a:schemeClr val="bg1"/>
              </a:solidFill>
              <a:latin typeface="Poppins" panose="00000500000000000000" pitchFamily="2" charset="0"/>
              <a:ea typeface="Open Sans" panose="020B0606030504020204" pitchFamily="34" charset="0"/>
              <a:cs typeface="Poppins" panose="00000500000000000000" pitchFamily="2" charset="0"/>
            </a:endParaRPr>
          </a:p>
        </p:txBody>
      </p:sp>
      <p:pic>
        <p:nvPicPr>
          <p:cNvPr id="17" name="Picture 16" descr="Background pattern&#10;&#10;Description automatically generated">
            <a:extLst>
              <a:ext uri="{FF2B5EF4-FFF2-40B4-BE49-F238E27FC236}">
                <a16:creationId xmlns:a16="http://schemas.microsoft.com/office/drawing/2014/main" id="{FA98012F-5592-49A0-967C-58654D98799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529382" y="6181384"/>
            <a:ext cx="421891" cy="446400"/>
          </a:xfrm>
          <a:prstGeom prst="rect">
            <a:avLst/>
          </a:prstGeom>
        </p:spPr>
      </p:pic>
      <p:sp>
        <p:nvSpPr>
          <p:cNvPr id="2" name="Titolo 1">
            <a:extLst>
              <a:ext uri="{FF2B5EF4-FFF2-40B4-BE49-F238E27FC236}">
                <a16:creationId xmlns:a16="http://schemas.microsoft.com/office/drawing/2014/main" id="{14016D88-D49B-B7C3-5470-1E2DB201B4C0}"/>
              </a:ext>
            </a:extLst>
          </p:cNvPr>
          <p:cNvSpPr>
            <a:spLocks noGrp="1"/>
          </p:cNvSpPr>
          <p:nvPr>
            <p:ph type="title" hasCustomPrompt="1"/>
          </p:nvPr>
        </p:nvSpPr>
        <p:spPr>
          <a:xfrm>
            <a:off x="1692000" y="180000"/>
            <a:ext cx="4223025" cy="593239"/>
          </a:xfrm>
          <a:prstGeom prst="rect">
            <a:avLst/>
          </a:prstGeom>
        </p:spPr>
        <p:txBody>
          <a:bodyPr wrap="square">
            <a:spAutoFit/>
          </a:bodyPr>
          <a:lstStyle>
            <a:lvl1pPr algn="l" defTabSz="911342" rtl="0" eaLnBrk="1" latinLnBrk="0" hangingPunct="1">
              <a:lnSpc>
                <a:spcPct val="90000"/>
              </a:lnSpc>
              <a:spcBef>
                <a:spcPct val="0"/>
              </a:spcBef>
              <a:buNone/>
              <a:defRPr lang="it-IT" sz="1800" b="1" kern="1200" dirty="0">
                <a:solidFill>
                  <a:schemeClr val="bg1">
                    <a:lumMod val="65000"/>
                  </a:schemeClr>
                </a:solidFill>
                <a:latin typeface="+mj-lt"/>
                <a:ea typeface="+mj-ea"/>
                <a:cs typeface="+mj-cs"/>
              </a:defRPr>
            </a:lvl1pPr>
          </a:lstStyle>
          <a:p>
            <a:r>
              <a:rPr lang="it-IT"/>
              <a:t>Sezione (Grigio) | Titolo diapositiva (Nero)</a:t>
            </a:r>
          </a:p>
        </p:txBody>
      </p:sp>
    </p:spTree>
    <p:extLst>
      <p:ext uri="{BB962C8B-B14F-4D97-AF65-F5344CB8AC3E}">
        <p14:creationId xmlns:p14="http://schemas.microsoft.com/office/powerpoint/2010/main" val="34255157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meline_new">
    <p:spTree>
      <p:nvGrpSpPr>
        <p:cNvPr id="1" name=""/>
        <p:cNvGrpSpPr/>
        <p:nvPr/>
      </p:nvGrpSpPr>
      <p:grpSpPr>
        <a:xfrm>
          <a:off x="0" y="0"/>
          <a:ext cx="0" cy="0"/>
          <a:chOff x="0" y="0"/>
          <a:chExt cx="0" cy="0"/>
        </a:xfrm>
      </p:grpSpPr>
      <p:pic>
        <p:nvPicPr>
          <p:cNvPr id="9" name="Immagine 63">
            <a:extLst>
              <a:ext uri="{FF2B5EF4-FFF2-40B4-BE49-F238E27FC236}">
                <a16:creationId xmlns:a16="http://schemas.microsoft.com/office/drawing/2014/main" id="{F16F2257-1C5E-4F06-B93B-DD5DE8C711DA}"/>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 y="1466901"/>
            <a:ext cx="12192000" cy="5391101"/>
          </a:xfrm>
          <a:prstGeom prst="rect">
            <a:avLst/>
          </a:prstGeom>
        </p:spPr>
      </p:pic>
      <p:pic>
        <p:nvPicPr>
          <p:cNvPr id="11" name="Picture 10" descr="Background pattern&#10;&#10;Description automatically generated">
            <a:extLst>
              <a:ext uri="{FF2B5EF4-FFF2-40B4-BE49-F238E27FC236}">
                <a16:creationId xmlns:a16="http://schemas.microsoft.com/office/drawing/2014/main" id="{30A7E3D8-CC84-4C30-82C4-60FB46FBB66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529382" y="6181384"/>
            <a:ext cx="421891" cy="446400"/>
          </a:xfrm>
          <a:prstGeom prst="rect">
            <a:avLst/>
          </a:prstGeom>
        </p:spPr>
      </p:pic>
      <p:sp>
        <p:nvSpPr>
          <p:cNvPr id="2" name="Titolo 1">
            <a:extLst>
              <a:ext uri="{FF2B5EF4-FFF2-40B4-BE49-F238E27FC236}">
                <a16:creationId xmlns:a16="http://schemas.microsoft.com/office/drawing/2014/main" id="{2EF38FDA-7AF5-29D6-E35D-BFF442AF0C6B}"/>
              </a:ext>
            </a:extLst>
          </p:cNvPr>
          <p:cNvSpPr>
            <a:spLocks noGrp="1"/>
          </p:cNvSpPr>
          <p:nvPr>
            <p:ph type="title" hasCustomPrompt="1"/>
          </p:nvPr>
        </p:nvSpPr>
        <p:spPr>
          <a:xfrm>
            <a:off x="1692000" y="180000"/>
            <a:ext cx="10515600" cy="343940"/>
          </a:xfrm>
          <a:prstGeom prst="rect">
            <a:avLst/>
          </a:prstGeom>
        </p:spPr>
        <p:txBody>
          <a:bodyPr>
            <a:spAutoFit/>
          </a:bodyPr>
          <a:lstStyle>
            <a:lvl1pPr algn="l" defTabSz="911342" rtl="0" eaLnBrk="1" latinLnBrk="0" hangingPunct="1">
              <a:lnSpc>
                <a:spcPct val="90000"/>
              </a:lnSpc>
              <a:spcBef>
                <a:spcPct val="0"/>
              </a:spcBef>
              <a:buNone/>
              <a:defRPr lang="it-IT" sz="1800" b="1" kern="1200" dirty="0">
                <a:solidFill>
                  <a:schemeClr val="bg1">
                    <a:lumMod val="65000"/>
                  </a:schemeClr>
                </a:solidFill>
                <a:latin typeface="+mj-lt"/>
                <a:ea typeface="+mj-ea"/>
                <a:cs typeface="+mj-cs"/>
              </a:defRPr>
            </a:lvl1pPr>
          </a:lstStyle>
          <a:p>
            <a:r>
              <a:rPr lang="it-IT"/>
              <a:t>Sezione (Grigio) | Titolo diapositiva (Nero)</a:t>
            </a:r>
          </a:p>
        </p:txBody>
      </p:sp>
    </p:spTree>
    <p:extLst>
      <p:ext uri="{BB962C8B-B14F-4D97-AF65-F5344CB8AC3E}">
        <p14:creationId xmlns:p14="http://schemas.microsoft.com/office/powerpoint/2010/main" val="2406454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in TXT Style Wav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7" y="268586"/>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200">
              <a:solidFill>
                <a:srgbClr val="171916"/>
              </a:solidFill>
              <a:latin typeface="Poppins Medium" pitchFamily="2" charset="77"/>
              <a:cs typeface="Poppins Medium" pitchFamily="2" charset="77"/>
            </a:endParaRPr>
          </a:p>
        </p:txBody>
      </p:sp>
      <p:sp>
        <p:nvSpPr>
          <p:cNvPr id="6" name="Title 5">
            <a:extLst>
              <a:ext uri="{FF2B5EF4-FFF2-40B4-BE49-F238E27FC236}">
                <a16:creationId xmlns:a16="http://schemas.microsoft.com/office/drawing/2014/main" id="{7563F751-8D4F-49D9-90C5-07B8CCB457B7}"/>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pic>
        <p:nvPicPr>
          <p:cNvPr id="2" name="Immagine 5">
            <a:extLst>
              <a:ext uri="{FF2B5EF4-FFF2-40B4-BE49-F238E27FC236}">
                <a16:creationId xmlns:a16="http://schemas.microsoft.com/office/drawing/2014/main" id="{3C7E2B98-E65E-D3FF-791A-44B3C829E05A}"/>
              </a:ext>
            </a:extLst>
          </p:cNvPr>
          <p:cNvPicPr>
            <a:picLocks noChangeAspect="1"/>
          </p:cNvPicPr>
          <p:nvPr userDrawn="1"/>
        </p:nvPicPr>
        <p:blipFill>
          <a:blip r:embed="rId2">
            <a:alphaModFix amt="36000"/>
            <a:duotone>
              <a:prstClr val="black"/>
              <a:srgbClr val="42B59E">
                <a:tint val="45000"/>
                <a:satMod val="400000"/>
              </a:srgbClr>
            </a:duotone>
            <a:extLst>
              <a:ext uri="{28A0092B-C50C-407E-A947-70E740481C1C}">
                <a14:useLocalDpi xmlns:a14="http://schemas.microsoft.com/office/drawing/2010/main"/>
              </a:ext>
            </a:extLst>
          </a:blip>
          <a:srcRect l="4280" t="28168" r="9866"/>
          <a:stretch/>
        </p:blipFill>
        <p:spPr>
          <a:xfrm>
            <a:off x="0" y="1366871"/>
            <a:ext cx="12192000" cy="4072518"/>
          </a:xfrm>
          <a:prstGeom prst="rect">
            <a:avLst/>
          </a:prstGeom>
        </p:spPr>
      </p:pic>
    </p:spTree>
    <p:extLst>
      <p:ext uri="{BB962C8B-B14F-4D97-AF65-F5344CB8AC3E}">
        <p14:creationId xmlns:p14="http://schemas.microsoft.com/office/powerpoint/2010/main" val="5153756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8110075-9EAF-4591-AB89-6E0F29422819}"/>
              </a:ext>
            </a:extLst>
          </p:cNvPr>
          <p:cNvSpPr txBox="1">
            <a:spLocks/>
          </p:cNvSpPr>
          <p:nvPr userDrawn="1"/>
        </p:nvSpPr>
        <p:spPr>
          <a:xfrm>
            <a:off x="2388938" y="268587"/>
            <a:ext cx="7603049" cy="552275"/>
          </a:xfrm>
          <a:prstGeom prst="rect">
            <a:avLst/>
          </a:prstGeom>
        </p:spPr>
        <p:txBody>
          <a:bodyPr/>
          <a:lst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a:lstStyle>
          <a:p>
            <a:pPr>
              <a:defRPr/>
            </a:pPr>
            <a:endParaRPr lang="en-US" sz="3189">
              <a:solidFill>
                <a:srgbClr val="171916"/>
              </a:solidFill>
              <a:latin typeface="Poppins Medium" pitchFamily="2" charset="77"/>
              <a:cs typeface="Poppins Medium" pitchFamily="2" charset="77"/>
            </a:endParaRPr>
          </a:p>
        </p:txBody>
      </p:sp>
      <p:sp>
        <p:nvSpPr>
          <p:cNvPr id="4" name="Text Placeholder 3">
            <a:extLst>
              <a:ext uri="{FF2B5EF4-FFF2-40B4-BE49-F238E27FC236}">
                <a16:creationId xmlns:a16="http://schemas.microsoft.com/office/drawing/2014/main" id="{B82E4B8B-BFF9-4076-9D33-AB0148CD4F61}"/>
              </a:ext>
            </a:extLst>
          </p:cNvPr>
          <p:cNvSpPr>
            <a:spLocks noGrp="1"/>
          </p:cNvSpPr>
          <p:nvPr>
            <p:ph type="body" sz="quarter" idx="10"/>
          </p:nvPr>
        </p:nvSpPr>
        <p:spPr>
          <a:xfrm>
            <a:off x="853201" y="1000800"/>
            <a:ext cx="10485437" cy="1237575"/>
          </a:xfrm>
          <a:prstGeom prst="rect">
            <a:avLst/>
          </a:prstGeom>
        </p:spPr>
        <p:txBody>
          <a:bodyPr/>
          <a:lstStyle>
            <a:lvl1pPr marL="0" indent="0" algn="ctr">
              <a:lnSpc>
                <a:spcPct val="130000"/>
              </a:lnSpc>
              <a:buNone/>
              <a:defRPr sz="1400">
                <a:latin typeface="Poppins Light" panose="00000400000000000000" pitchFamily="2" charset="0"/>
                <a:cs typeface="Poppins Light" panose="00000400000000000000" pitchFamily="2" charset="0"/>
              </a:defRPr>
            </a:lvl1pPr>
            <a:lvl2pPr marL="455671" indent="0">
              <a:buNone/>
              <a:defRPr sz="1196">
                <a:latin typeface="Poppins Light" panose="00000400000000000000" pitchFamily="2" charset="0"/>
                <a:cs typeface="Poppins Light" panose="00000400000000000000" pitchFamily="2" charset="0"/>
              </a:defRPr>
            </a:lvl2pPr>
            <a:lvl3pPr marL="911342" indent="0">
              <a:buNone/>
              <a:defRPr sz="1196">
                <a:latin typeface="Poppins Light" panose="00000400000000000000" pitchFamily="2" charset="0"/>
                <a:cs typeface="Poppins Light" panose="00000400000000000000" pitchFamily="2" charset="0"/>
              </a:defRPr>
            </a:lvl3pPr>
            <a:lvl4pPr marL="1367013" indent="0">
              <a:buNone/>
              <a:defRPr sz="1196">
                <a:latin typeface="Poppins Light" panose="00000400000000000000" pitchFamily="2" charset="0"/>
                <a:cs typeface="Poppins Light" panose="00000400000000000000" pitchFamily="2" charset="0"/>
              </a:defRPr>
            </a:lvl4pPr>
            <a:lvl5pPr marL="1822684" indent="0">
              <a:buNone/>
              <a:defRPr sz="1196">
                <a:latin typeface="Poppins Light" panose="00000400000000000000" pitchFamily="2" charset="0"/>
                <a:cs typeface="Poppins Light" panose="00000400000000000000" pitchFamily="2" charset="0"/>
              </a:defRPr>
            </a:lvl5pPr>
          </a:lstStyle>
          <a:p>
            <a:pPr lvl="0"/>
            <a:r>
              <a:rPr lang="en-US"/>
              <a:t>Click to edit Master text styles</a:t>
            </a:r>
          </a:p>
        </p:txBody>
      </p:sp>
      <p:sp>
        <p:nvSpPr>
          <p:cNvPr id="2" name="Title 5">
            <a:extLst>
              <a:ext uri="{FF2B5EF4-FFF2-40B4-BE49-F238E27FC236}">
                <a16:creationId xmlns:a16="http://schemas.microsoft.com/office/drawing/2014/main" id="{52A920DF-ED91-ABA9-0BCD-997885794250}"/>
              </a:ext>
            </a:extLst>
          </p:cNvPr>
          <p:cNvSpPr>
            <a:spLocks noGrp="1"/>
          </p:cNvSpPr>
          <p:nvPr>
            <p:ph type="title"/>
          </p:nvPr>
        </p:nvSpPr>
        <p:spPr>
          <a:xfrm>
            <a:off x="2200015" y="211435"/>
            <a:ext cx="7791972" cy="552275"/>
          </a:xfrm>
          <a:prstGeom prst="rect">
            <a:avLst/>
          </a:prstGeom>
        </p:spPr>
        <p:txBody>
          <a:bodyPr/>
          <a:lstStyle>
            <a:lvl1pPr algn="ctr">
              <a:defRPr sz="2800">
                <a:latin typeface="Poppins Medium" panose="00000600000000000000" pitchFamily="2" charset="0"/>
                <a:cs typeface="Poppins Medium" panose="00000600000000000000" pitchFamily="2" charset="0"/>
              </a:defRPr>
            </a:lvl1pPr>
          </a:lstStyle>
          <a:p>
            <a:r>
              <a:rPr lang="en-US"/>
              <a:t>Click to edit Master title style</a:t>
            </a:r>
            <a:endParaRPr lang="it-IT"/>
          </a:p>
        </p:txBody>
      </p:sp>
    </p:spTree>
    <p:extLst>
      <p:ext uri="{BB962C8B-B14F-4D97-AF65-F5344CB8AC3E}">
        <p14:creationId xmlns:p14="http://schemas.microsoft.com/office/powerpoint/2010/main" val="11432795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pic>
        <p:nvPicPr>
          <p:cNvPr id="3" name="Picture 6" descr="A white fabric with waves&#10;&#10;Description automatically generated">
            <a:extLst>
              <a:ext uri="{FF2B5EF4-FFF2-40B4-BE49-F238E27FC236}">
                <a16:creationId xmlns:a16="http://schemas.microsoft.com/office/drawing/2014/main" id="{332121C0-56E5-6895-FC53-1DC42F99407C}"/>
              </a:ext>
            </a:extLst>
          </p:cNvPr>
          <p:cNvPicPr>
            <a:picLocks noChangeAspect="1"/>
          </p:cNvPicPr>
          <p:nvPr userDrawn="1"/>
        </p:nvPicPr>
        <p:blipFill>
          <a:blip r:embed="rId2">
            <a:extLst>
              <a:ext uri="{28A0092B-C50C-407E-A947-70E740481C1C}">
                <a14:useLocalDpi xmlns:a14="http://schemas.microsoft.com/office/drawing/2010/main"/>
              </a:ext>
            </a:extLst>
          </a:blip>
          <a:srcRect l="666" t="519" r="496" b="495"/>
          <a:stretch/>
        </p:blipFill>
        <p:spPr>
          <a:xfrm>
            <a:off x="0" y="0"/>
            <a:ext cx="12192000" cy="6858000"/>
          </a:xfrm>
          <a:prstGeom prst="rect">
            <a:avLst/>
          </a:prstGeom>
        </p:spPr>
      </p:pic>
      <p:pic>
        <p:nvPicPr>
          <p:cNvPr id="4" name="Immagine 9">
            <a:extLst>
              <a:ext uri="{FF2B5EF4-FFF2-40B4-BE49-F238E27FC236}">
                <a16:creationId xmlns:a16="http://schemas.microsoft.com/office/drawing/2014/main" id="{22165A1D-02BB-041F-F3EA-681F721C452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231296" y="2337247"/>
            <a:ext cx="5733605" cy="1298468"/>
          </a:xfrm>
          <a:prstGeom prst="rect">
            <a:avLst/>
          </a:prstGeom>
        </p:spPr>
      </p:pic>
      <p:sp>
        <p:nvSpPr>
          <p:cNvPr id="5" name="TextBox 3">
            <a:extLst>
              <a:ext uri="{FF2B5EF4-FFF2-40B4-BE49-F238E27FC236}">
                <a16:creationId xmlns:a16="http://schemas.microsoft.com/office/drawing/2014/main" id="{4A9E4247-FC08-D7EC-AEDD-DB80F99A1BD0}"/>
              </a:ext>
            </a:extLst>
          </p:cNvPr>
          <p:cNvSpPr txBox="1"/>
          <p:nvPr userDrawn="1"/>
        </p:nvSpPr>
        <p:spPr>
          <a:xfrm>
            <a:off x="1003506" y="5624097"/>
            <a:ext cx="10184990" cy="703398"/>
          </a:xfrm>
          <a:prstGeom prst="rect">
            <a:avLst/>
          </a:prstGeom>
          <a:noFill/>
        </p:spPr>
        <p:txBody>
          <a:bodyPr wrap="square">
            <a:spAutoFit/>
          </a:bodyPr>
          <a:lstStyle/>
          <a:p>
            <a:pPr marL="0" marR="0" lvl="0" indent="0" algn="l" defTabSz="908294" rtl="0" eaLnBrk="1" fontAlgn="auto" latinLnBrk="0" hangingPunct="1">
              <a:lnSpc>
                <a:spcPct val="100000"/>
              </a:lnSpc>
              <a:spcBef>
                <a:spcPts val="0"/>
              </a:spcBef>
              <a:spcAft>
                <a:spcPts val="0"/>
              </a:spcAft>
              <a:buClrTx/>
              <a:buSzTx/>
              <a:buFontTx/>
              <a:buNone/>
              <a:tabLst/>
              <a:defRPr/>
            </a:pPr>
            <a:r>
              <a:rPr kumimoji="0" lang="en-US" sz="794" b="0" i="0" u="none" strike="noStrike" kern="1200" cap="none" spc="0" normalizeH="0" baseline="0" noProof="0">
                <a:ln>
                  <a:noFill/>
                </a:ln>
                <a:solidFill>
                  <a:prstClr val="black"/>
                </a:solidFill>
                <a:effectLst/>
                <a:uLnTx/>
                <a:uFillTx/>
                <a:latin typeface="Poppins"/>
                <a:ea typeface="+mn-ea"/>
                <a:cs typeface="+mn-cs"/>
              </a:rPr>
              <a:t>© TXT e-solutions –All rights reserved. Confidential and proprietary document. </a:t>
            </a:r>
          </a:p>
          <a:p>
            <a:pPr marL="0" marR="0" lvl="0" indent="0" algn="l" defTabSz="908294" rtl="0" eaLnBrk="1" fontAlgn="auto" latinLnBrk="0" hangingPunct="1">
              <a:lnSpc>
                <a:spcPct val="100000"/>
              </a:lnSpc>
              <a:spcBef>
                <a:spcPts val="0"/>
              </a:spcBef>
              <a:spcAft>
                <a:spcPts val="0"/>
              </a:spcAft>
              <a:buClrTx/>
              <a:buSzTx/>
              <a:buFontTx/>
              <a:buNone/>
              <a:tabLst/>
              <a:defRPr/>
            </a:pPr>
            <a:r>
              <a:rPr kumimoji="0" lang="en-US" sz="794" b="0" i="0" u="none" strike="noStrike" kern="1200" cap="none" spc="0" normalizeH="0" baseline="0" noProof="0">
                <a:ln>
                  <a:noFill/>
                </a:ln>
                <a:solidFill>
                  <a:prstClr val="black"/>
                </a:solidFill>
                <a:effectLst/>
                <a:uLnTx/>
                <a:uFillTx/>
                <a:latin typeface="Poppins"/>
                <a:ea typeface="+mn-ea"/>
                <a:cs typeface="+mn-cs"/>
              </a:rPr>
              <a:t>This document and all information contained herein is the sole property of TXT e-solutions . No intellectual property rights are granted by the delivery of this document or the disclosure of its content. This document shall not be reproduced or disclosed to a third party without the express written consent of TXT e-solutions . This document and its content shall not be used for any purpose other than that for which it is supplied. The statements made herein do not constitute an offer. They are based on the mentioned assumptions and are expressed in good faith. Where the supporting grounds for these statements are not shown, TXT e-solutions will be pleased to explain the basis thereof. </a:t>
            </a:r>
            <a:endParaRPr kumimoji="0" lang="it-IT" sz="794" b="0" i="0" u="none" strike="noStrike" kern="1200" cap="none" spc="0" normalizeH="0" baseline="0" noProof="0">
              <a:ln>
                <a:noFill/>
              </a:ln>
              <a:solidFill>
                <a:prstClr val="black"/>
              </a:solidFill>
              <a:effectLst/>
              <a:uLnTx/>
              <a:uFillTx/>
              <a:latin typeface="Poppins"/>
              <a:ea typeface="+mn-ea"/>
              <a:cs typeface="+mn-cs"/>
            </a:endParaRPr>
          </a:p>
        </p:txBody>
      </p:sp>
      <p:sp>
        <p:nvSpPr>
          <p:cNvPr id="6" name="TextBox 4">
            <a:extLst>
              <a:ext uri="{FF2B5EF4-FFF2-40B4-BE49-F238E27FC236}">
                <a16:creationId xmlns:a16="http://schemas.microsoft.com/office/drawing/2014/main" id="{296DAE6E-428D-B7AD-553D-84E88DA1A5DA}"/>
              </a:ext>
            </a:extLst>
          </p:cNvPr>
          <p:cNvSpPr txBox="1"/>
          <p:nvPr userDrawn="1"/>
        </p:nvSpPr>
        <p:spPr>
          <a:xfrm>
            <a:off x="3219027" y="3803346"/>
            <a:ext cx="4133900" cy="1193019"/>
          </a:xfrm>
          <a:prstGeom prst="rect">
            <a:avLst/>
          </a:prstGeom>
          <a:noFill/>
        </p:spPr>
        <p:txBody>
          <a:bodyPr wrap="square">
            <a:spAutoFit/>
          </a:bodyPr>
          <a:lstStyle/>
          <a:p>
            <a:pPr marL="0" marR="0" lvl="0" indent="0" algn="l" defTabSz="908294" rtl="0" eaLnBrk="1" fontAlgn="auto" latinLnBrk="0" hangingPunct="1">
              <a:lnSpc>
                <a:spcPct val="100000"/>
              </a:lnSpc>
              <a:spcBef>
                <a:spcPts val="0"/>
              </a:spcBef>
              <a:spcAft>
                <a:spcPts val="0"/>
              </a:spcAft>
              <a:buClrTx/>
              <a:buSzTx/>
              <a:buFontTx/>
              <a:buNone/>
              <a:tabLst/>
              <a:defRPr/>
            </a:pPr>
            <a:r>
              <a:rPr kumimoji="0" lang="it-IT" sz="1192"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Borgo </a:t>
            </a:r>
            <a:r>
              <a:rPr kumimoji="0" lang="it-IT" sz="1192" b="0" i="0" u="none" strike="noStrike" kern="1200" cap="none" spc="0" normalizeH="0" baseline="0" noProof="0" err="1">
                <a:ln>
                  <a:noFill/>
                </a:ln>
                <a:solidFill>
                  <a:prstClr val="black"/>
                </a:solidFill>
                <a:effectLst/>
                <a:uLnTx/>
                <a:uFillTx/>
                <a:latin typeface="Poppins" panose="00000500000000000000" pitchFamily="2" charset="0"/>
                <a:ea typeface="+mn-ea"/>
                <a:cs typeface="Poppins" panose="00000500000000000000" pitchFamily="2" charset="0"/>
              </a:rPr>
              <a:t>Wuhrer</a:t>
            </a:r>
            <a:r>
              <a:rPr kumimoji="0" lang="it-IT" sz="1192"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 137</a:t>
            </a:r>
          </a:p>
          <a:p>
            <a:pPr marL="0" marR="0" lvl="0" indent="0" algn="l" defTabSz="908294" rtl="0" eaLnBrk="1" fontAlgn="auto" latinLnBrk="0" hangingPunct="1">
              <a:lnSpc>
                <a:spcPct val="100000"/>
              </a:lnSpc>
              <a:spcBef>
                <a:spcPts val="0"/>
              </a:spcBef>
              <a:spcAft>
                <a:spcPts val="0"/>
              </a:spcAft>
              <a:buClrTx/>
              <a:buSzTx/>
              <a:buFontTx/>
              <a:buNone/>
              <a:tabLst/>
              <a:defRPr/>
            </a:pPr>
            <a:r>
              <a:rPr kumimoji="0" lang="it-IT" sz="1192"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25123 - Brescia (BS)</a:t>
            </a:r>
          </a:p>
          <a:p>
            <a:pPr marL="0" marR="0" lvl="0" indent="0" algn="l" defTabSz="908294" rtl="0" eaLnBrk="1" fontAlgn="auto" latinLnBrk="0" hangingPunct="1">
              <a:lnSpc>
                <a:spcPct val="100000"/>
              </a:lnSpc>
              <a:spcBef>
                <a:spcPts val="0"/>
              </a:spcBef>
              <a:spcAft>
                <a:spcPts val="0"/>
              </a:spcAft>
              <a:buClrTx/>
              <a:buSzTx/>
              <a:buFontTx/>
              <a:buNone/>
              <a:tabLst/>
              <a:defRPr/>
            </a:pPr>
            <a:r>
              <a:rPr kumimoji="0" lang="it-IT" sz="1192" b="0" i="0" u="none" strike="noStrike" kern="1200" cap="none" spc="0" normalizeH="0" baseline="0" noProof="0" err="1">
                <a:ln>
                  <a:noFill/>
                </a:ln>
                <a:solidFill>
                  <a:prstClr val="black"/>
                </a:solidFill>
                <a:effectLst/>
                <a:uLnTx/>
                <a:uFillTx/>
                <a:latin typeface="Poppins" panose="00000500000000000000" pitchFamily="2" charset="0"/>
                <a:ea typeface="+mn-ea"/>
                <a:cs typeface="Poppins" panose="00000500000000000000" pitchFamily="2" charset="0"/>
              </a:rPr>
              <a:t>Italy</a:t>
            </a:r>
            <a:endParaRPr kumimoji="0" lang="it-IT" sz="1192"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0" marR="0" lvl="0" indent="0" algn="l" defTabSz="908294" rtl="0" eaLnBrk="1" fontAlgn="auto" latinLnBrk="0" hangingPunct="1">
              <a:lnSpc>
                <a:spcPct val="100000"/>
              </a:lnSpc>
              <a:spcBef>
                <a:spcPts val="0"/>
              </a:spcBef>
              <a:spcAft>
                <a:spcPts val="0"/>
              </a:spcAft>
              <a:buClrTx/>
              <a:buSzTx/>
              <a:buFontTx/>
              <a:buNone/>
              <a:tabLst/>
              <a:defRPr/>
            </a:pPr>
            <a:endParaRPr kumimoji="0" lang="it-IT" sz="1192"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0" marR="0" lvl="0" indent="0" algn="l" defTabSz="908294" rtl="0" eaLnBrk="1" fontAlgn="auto" latinLnBrk="0" hangingPunct="1">
              <a:lnSpc>
                <a:spcPct val="100000"/>
              </a:lnSpc>
              <a:spcBef>
                <a:spcPts val="0"/>
              </a:spcBef>
              <a:spcAft>
                <a:spcPts val="0"/>
              </a:spcAft>
              <a:buClrTx/>
              <a:buSzTx/>
              <a:buFontTx/>
              <a:buNone/>
              <a:tabLst/>
              <a:defRPr/>
            </a:pPr>
            <a:r>
              <a:rPr kumimoji="0" lang="it-IT" sz="1192" b="0" i="0" u="none" strike="noStrike" kern="1200" cap="none" spc="0" normalizeH="0" baseline="0" noProof="0" err="1">
                <a:ln>
                  <a:noFill/>
                </a:ln>
                <a:solidFill>
                  <a:prstClr val="black"/>
                </a:solidFill>
                <a:effectLst/>
                <a:uLnTx/>
                <a:uFillTx/>
                <a:latin typeface="Poppins" panose="00000500000000000000" pitchFamily="2" charset="0"/>
                <a:ea typeface="+mn-ea"/>
                <a:cs typeface="Poppins" panose="00000500000000000000" pitchFamily="2" charset="0"/>
              </a:rPr>
              <a:t>novigo@txtgroup.com</a:t>
            </a:r>
            <a:endParaRPr kumimoji="0" lang="it-IT" sz="1192"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0" marR="0" lvl="0" indent="0" algn="l" defTabSz="908294" rtl="0" eaLnBrk="1" fontAlgn="auto" latinLnBrk="0" hangingPunct="1">
              <a:lnSpc>
                <a:spcPct val="100000"/>
              </a:lnSpc>
              <a:spcBef>
                <a:spcPts val="0"/>
              </a:spcBef>
              <a:spcAft>
                <a:spcPts val="0"/>
              </a:spcAft>
              <a:buClrTx/>
              <a:buSzTx/>
              <a:buFontTx/>
              <a:buNone/>
              <a:tabLst/>
              <a:defRPr/>
            </a:pPr>
            <a:r>
              <a:rPr kumimoji="0" lang="it-IT" sz="1192"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t>+39 030 7776657</a:t>
            </a:r>
          </a:p>
        </p:txBody>
      </p:sp>
    </p:spTree>
    <p:extLst>
      <p:ext uri="{BB962C8B-B14F-4D97-AF65-F5344CB8AC3E}">
        <p14:creationId xmlns:p14="http://schemas.microsoft.com/office/powerpoint/2010/main" val="30758594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theme" Target="../theme/theme2.xml"/><Relationship Id="rId16" Type="http://schemas.openxmlformats.org/officeDocument/2006/relationships/image" Target="../media/image9.png"/><Relationship Id="rId17" Type="http://schemas.openxmlformats.org/officeDocument/2006/relationships/image" Target="../media/image10.png"/><Relationship Id="rId18" Type="http://schemas.openxmlformats.org/officeDocument/2006/relationships/image" Target="../media/image1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Background pattern&#10;&#10;Description automatically generated" hidden="1">
            <a:extLst>
              <a:ext uri="{FF2B5EF4-FFF2-40B4-BE49-F238E27FC236}">
                <a16:creationId xmlns:a16="http://schemas.microsoft.com/office/drawing/2014/main" id="{908FF19B-87F6-437C-8D4E-39D5F233C67D}"/>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27563"/>
          <a:stretch/>
        </p:blipFill>
        <p:spPr>
          <a:xfrm>
            <a:off x="302943" y="130134"/>
            <a:ext cx="421453" cy="446180"/>
          </a:xfrm>
          <a:prstGeom prst="rect">
            <a:avLst/>
          </a:prstGeom>
        </p:spPr>
      </p:pic>
      <p:sp>
        <p:nvSpPr>
          <p:cNvPr id="14" name="Line">
            <a:extLst>
              <a:ext uri="{FF2B5EF4-FFF2-40B4-BE49-F238E27FC236}">
                <a16:creationId xmlns:a16="http://schemas.microsoft.com/office/drawing/2014/main" id="{80E43D5D-1F70-4ED5-9985-AF9FCFBC3BF9}"/>
              </a:ext>
            </a:extLst>
          </p:cNvPr>
          <p:cNvSpPr/>
          <p:nvPr userDrawn="1"/>
        </p:nvSpPr>
        <p:spPr>
          <a:xfrm>
            <a:off x="0" y="676275"/>
            <a:ext cx="86083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5" name="Line">
            <a:extLst>
              <a:ext uri="{FF2B5EF4-FFF2-40B4-BE49-F238E27FC236}">
                <a16:creationId xmlns:a16="http://schemas.microsoft.com/office/drawing/2014/main" id="{675814B7-7876-43C3-9A10-40AB89373CA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pic>
        <p:nvPicPr>
          <p:cNvPr id="3" name="Picture 2" descr="Background pattern&#10;&#10;Description automatically generated">
            <a:extLst>
              <a:ext uri="{FF2B5EF4-FFF2-40B4-BE49-F238E27FC236}">
                <a16:creationId xmlns:a16="http://schemas.microsoft.com/office/drawing/2014/main" id="{5C63E62F-CB5E-E852-B6F7-A9E575CBB743}"/>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27563"/>
          <a:stretch/>
        </p:blipFill>
        <p:spPr>
          <a:xfrm>
            <a:off x="11530557" y="6216421"/>
            <a:ext cx="421453" cy="446180"/>
          </a:xfrm>
          <a:prstGeom prst="rect">
            <a:avLst/>
          </a:prstGeom>
        </p:spPr>
      </p:pic>
      <p:sp>
        <p:nvSpPr>
          <p:cNvPr id="4" name="TextBox 2">
            <a:extLst>
              <a:ext uri="{FF2B5EF4-FFF2-40B4-BE49-F238E27FC236}">
                <a16:creationId xmlns:a16="http://schemas.microsoft.com/office/drawing/2014/main" id="{CE574E4C-B9AB-7119-8878-9956C5D0F819}"/>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pic>
        <p:nvPicPr>
          <p:cNvPr id="5" name="Immagine 7">
            <a:extLst>
              <a:ext uri="{FF2B5EF4-FFF2-40B4-BE49-F238E27FC236}">
                <a16:creationId xmlns:a16="http://schemas.microsoft.com/office/drawing/2014/main" id="{25C7EEAF-6009-8A35-C8B0-25C9417A272A}"/>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238259" y="293987"/>
            <a:ext cx="619125" cy="206375"/>
          </a:xfrm>
          <a:prstGeom prst="rect">
            <a:avLst/>
          </a:prstGeom>
        </p:spPr>
      </p:pic>
    </p:spTree>
    <p:extLst>
      <p:ext uri="{BB962C8B-B14F-4D97-AF65-F5344CB8AC3E}">
        <p14:creationId xmlns:p14="http://schemas.microsoft.com/office/powerpoint/2010/main" val="2258208882"/>
      </p:ext>
    </p:extLst>
  </p:cSld>
  <p:clrMap bg1="lt1" tx1="dk1" bg2="lt2" tx2="dk2" accent1="accent1" accent2="accent2" accent3="accent3" accent4="accent4" accent5="accent5" accent6="accent6" hlink="hlink" folHlink="folHlink"/>
  <p:sldLayoutIdLst>
    <p:sldLayoutId id="2147484700" r:id="rId1"/>
    <p:sldLayoutId id="2147484697" r:id="rId2"/>
    <p:sldLayoutId id="2147484698" r:id="rId3"/>
    <p:sldLayoutId id="2147484699" r:id="rId4"/>
    <p:sldLayoutId id="2147484701" r:id="rId5"/>
    <p:sldLayoutId id="2147484714" r:id="rId6"/>
    <p:sldLayoutId id="2147484703" r:id="rId7"/>
    <p:sldLayoutId id="2147484704" r:id="rId8"/>
    <p:sldLayoutId id="2147484705" r:id="rId9"/>
    <p:sldLayoutId id="2147484706" r:id="rId10"/>
    <p:sldLayoutId id="214748471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egnaposto numero diapositiva 5">
            <a:extLst>
              <a:ext uri="{FF2B5EF4-FFF2-40B4-BE49-F238E27FC236}">
                <a16:creationId xmlns:a16="http://schemas.microsoft.com/office/drawing/2014/main" id="{41FCEA3B-E48F-2D87-45B8-D73E8DE40F87}"/>
              </a:ext>
            </a:extLst>
          </p:cNvPr>
          <p:cNvSpPr txBox="1">
            <a:spLocks/>
          </p:cNvSpPr>
          <p:nvPr userDrawn="1"/>
        </p:nvSpPr>
        <p:spPr>
          <a:xfrm>
            <a:off x="0" y="0"/>
            <a:ext cx="0" cy="0"/>
          </a:xfr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it-IT" smtClean="0"/>
              <a:pPr/>
              <a:t>‹N›</a:t>
            </a:fld>
            <a:endParaRPr lang="it-IT"/>
          </a:p>
        </p:txBody>
      </p:sp>
      <p:sp>
        <p:nvSpPr>
          <p:cNvPr id="13" name="TextBox 2">
            <a:extLst>
              <a:ext uri="{FF2B5EF4-FFF2-40B4-BE49-F238E27FC236}">
                <a16:creationId xmlns:a16="http://schemas.microsoft.com/office/drawing/2014/main" id="{D2D146B6-BFCC-2871-929C-EADA3049220D}"/>
              </a:ext>
            </a:extLst>
          </p:cNvPr>
          <p:cNvSpPr txBox="1"/>
          <p:nvPr userDrawn="1"/>
        </p:nvSpPr>
        <p:spPr>
          <a:xfrm>
            <a:off x="11729563" y="262475"/>
            <a:ext cx="269875" cy="153888"/>
          </a:xfrm>
          <a:prstGeom prst="rect">
            <a:avLst/>
          </a:prstGeom>
          <a:noFill/>
        </p:spPr>
        <p:txBody>
          <a:bodyPr wrap="square" lIns="0" tIns="0" rIns="0" bIns="0" rtlCol="0">
            <a:spAutoFit/>
          </a:bodyPr>
          <a:lstStyle/>
          <a:p>
            <a:pPr algn="ctr"/>
            <a:fld id="{BD8018E6-5008-4D09-8834-2943DEA75A3D}" type="slidenum">
              <a:rPr lang="en-US" sz="1000" b="0" smtClean="0">
                <a:solidFill>
                  <a:schemeClr val="tx1"/>
                </a:solidFill>
                <a:latin typeface="Poppins" panose="00000500000000000000" pitchFamily="2" charset="0"/>
                <a:ea typeface="Open Sans" panose="020B0606030504020204" pitchFamily="34" charset="0"/>
                <a:cs typeface="Poppins" panose="00000500000000000000" pitchFamily="2" charset="0"/>
              </a:rPr>
              <a:pPr algn="ctr"/>
              <a:t>‹N›</a:t>
            </a:fld>
            <a:endParaRPr lang="en-US" sz="1000" b="0">
              <a:solidFill>
                <a:schemeClr val="tx1"/>
              </a:solidFill>
              <a:latin typeface="Poppins" panose="00000500000000000000" pitchFamily="2" charset="0"/>
              <a:ea typeface="Open Sans" panose="020B0606030504020204" pitchFamily="34" charset="0"/>
              <a:cs typeface="Poppins" panose="00000500000000000000" pitchFamily="2" charset="0"/>
            </a:endParaRPr>
          </a:p>
        </p:txBody>
      </p:sp>
      <p:sp>
        <p:nvSpPr>
          <p:cNvPr id="16" name="Line">
            <a:extLst>
              <a:ext uri="{FF2B5EF4-FFF2-40B4-BE49-F238E27FC236}">
                <a16:creationId xmlns:a16="http://schemas.microsoft.com/office/drawing/2014/main" id="{B6DFE462-21D6-4218-266F-216C4AA631F2}"/>
              </a:ext>
            </a:extLst>
          </p:cNvPr>
          <p:cNvSpPr/>
          <p:nvPr userDrawn="1"/>
        </p:nvSpPr>
        <p:spPr>
          <a:xfrm>
            <a:off x="11778710" y="676275"/>
            <a:ext cx="414000"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19" name="Line">
            <a:extLst>
              <a:ext uri="{FF2B5EF4-FFF2-40B4-BE49-F238E27FC236}">
                <a16:creationId xmlns:a16="http://schemas.microsoft.com/office/drawing/2014/main" id="{06E96253-7455-D2FD-54EB-589322C7E379}"/>
              </a:ext>
            </a:extLst>
          </p:cNvPr>
          <p:cNvSpPr/>
          <p:nvPr userDrawn="1"/>
        </p:nvSpPr>
        <p:spPr>
          <a:xfrm>
            <a:off x="0" y="676275"/>
            <a:ext cx="1439414" cy="0"/>
          </a:xfrm>
          <a:prstGeom prst="line">
            <a:avLst/>
          </a:prstGeom>
          <a:ln w="63500">
            <a:gradFill>
              <a:gsLst>
                <a:gs pos="51000">
                  <a:srgbClr val="3DAFD3"/>
                </a:gs>
                <a:gs pos="100000">
                  <a:srgbClr val="42B59E"/>
                </a:gs>
                <a:gs pos="0">
                  <a:srgbClr val="1593BF"/>
                </a:gs>
              </a:gsLst>
              <a:lin ang="10800000" scaled="0"/>
            </a:gradFill>
            <a:miter lim="400000"/>
          </a:ln>
        </p:spPr>
        <p:txBody>
          <a:bodyPr lIns="0" tIns="0" rIns="0" bIns="0" anchor="ctr"/>
          <a:lstStyle/>
          <a:p>
            <a:pPr>
              <a:defRPr sz="3200" b="0">
                <a:solidFill>
                  <a:srgbClr val="FFFFFF"/>
                </a:solidFill>
                <a:latin typeface="+mn-lt"/>
                <a:ea typeface="+mn-ea"/>
                <a:cs typeface="+mn-cs"/>
                <a:sym typeface="Helvetica Neue Medium"/>
              </a:defRPr>
            </a:pPr>
            <a:endParaRPr sz="1589"/>
          </a:p>
        </p:txBody>
      </p:sp>
      <p:pic>
        <p:nvPicPr>
          <p:cNvPr id="20" name="Picture 9">
            <a:extLst>
              <a:ext uri="{FF2B5EF4-FFF2-40B4-BE49-F238E27FC236}">
                <a16:creationId xmlns:a16="http://schemas.microsoft.com/office/drawing/2014/main" id="{219BFF14-CF10-F7C0-F264-47E9BF7CAE0B}"/>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1533488" y="6181725"/>
            <a:ext cx="421891" cy="446400"/>
          </a:xfrm>
          <a:prstGeom prst="rect">
            <a:avLst/>
          </a:prstGeom>
        </p:spPr>
      </p:pic>
      <p:pic>
        <p:nvPicPr>
          <p:cNvPr id="21" name="Immagine 9">
            <a:extLst>
              <a:ext uri="{FF2B5EF4-FFF2-40B4-BE49-F238E27FC236}">
                <a16:creationId xmlns:a16="http://schemas.microsoft.com/office/drawing/2014/main" id="{8C3E51A8-CCD1-F343-1F7C-41299F5B065B}"/>
              </a:ext>
            </a:extLst>
          </p:cNvPr>
          <p:cNvPicPr>
            <a:picLocks noChangeAspect="1"/>
          </p:cNvPicPr>
          <p:nvPr userDrawn="1"/>
        </p:nvPicPr>
        <p:blipFill>
          <a:blip r:embed="rId17" cstate="hqprint">
            <a:extLst>
              <a:ext uri="{28A0092B-C50C-407E-A947-70E740481C1C}">
                <a14:useLocalDpi xmlns:a14="http://schemas.microsoft.com/office/drawing/2010/main"/>
              </a:ext>
            </a:extLst>
          </a:blip>
          <a:stretch>
            <a:fillRect/>
          </a:stretch>
        </p:blipFill>
        <p:spPr>
          <a:xfrm>
            <a:off x="141831" y="187212"/>
            <a:ext cx="1297583" cy="293859"/>
          </a:xfrm>
          <a:prstGeom prst="rect">
            <a:avLst/>
          </a:prstGeom>
        </p:spPr>
      </p:pic>
      <p:pic>
        <p:nvPicPr>
          <p:cNvPr id="27" name="Picture 2">
            <a:extLst>
              <a:ext uri="{FF2B5EF4-FFF2-40B4-BE49-F238E27FC236}">
                <a16:creationId xmlns:a16="http://schemas.microsoft.com/office/drawing/2014/main" id="{335BF346-CA5C-07D4-D5F4-1700A700EC4F}"/>
              </a:ext>
            </a:extLst>
          </p:cNvPr>
          <p:cNvPicPr>
            <a:picLocks noChangeAspect="1" noChangeArrowheads="1"/>
          </p:cNvPicPr>
          <p:nvPr userDrawn="1"/>
        </p:nvPicPr>
        <p:blipFill>
          <a:blip>
            <a:extLst>
              <a:ext uri="{96DAC541-7B7A-43D3-8B79-37D633B846F1}">
                <asvg:svgBlip xmlns:asvg="http://schemas.microsoft.com/office/drawing/2016/SVG/main" r:embed="rId18"/>
              </a:ext>
            </a:extLst>
          </a:blip>
          <a:srcRect/>
          <a:stretch/>
        </p:blipFill>
        <p:spPr bwMode="auto">
          <a:xfrm>
            <a:off x="335933" y="6429555"/>
            <a:ext cx="857169" cy="154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987325"/>
      </p:ext>
    </p:extLst>
  </p:cSld>
  <p:clrMap bg1="lt1" tx1="dk1" bg2="lt2" tx2="dk2" accent1="accent1" accent2="accent2" accent3="accent3" accent4="accent4" accent5="accent5" accent6="accent6" hlink="hlink" folHlink="folHlink"/>
  <p:sldLayoutIdLst>
    <p:sldLayoutId id="2147484289" r:id="rId1"/>
    <p:sldLayoutId id="2147484685" r:id="rId2"/>
    <p:sldLayoutId id="2147484708" r:id="rId3"/>
    <p:sldLayoutId id="2147484716" r:id="rId4"/>
    <p:sldLayoutId id="2147484717" r:id="rId5"/>
    <p:sldLayoutId id="2147484664" r:id="rId6"/>
    <p:sldLayoutId id="2147484663" r:id="rId7"/>
    <p:sldLayoutId id="2147484312" r:id="rId8"/>
    <p:sldLayoutId id="2147484666" r:id="rId9"/>
    <p:sldLayoutId id="2147484667" r:id="rId10"/>
    <p:sldLayoutId id="2147484668" r:id="rId11"/>
    <p:sldLayoutId id="2147484710" r:id="rId12"/>
    <p:sldLayoutId id="2147484712" r:id="rId13"/>
    <p:sldLayoutId id="2147484713" r:id="rId14"/>
  </p:sldLayoutIdLst>
  <p:hf hdr="0" ftr="0" dt="0"/>
  <p:txStyles>
    <p:titleStyle>
      <a:lvl1pPr algn="l" defTabSz="911342" rtl="0" eaLnBrk="1" latinLnBrk="0" hangingPunct="1">
        <a:lnSpc>
          <a:spcPct val="90000"/>
        </a:lnSpc>
        <a:spcBef>
          <a:spcPct val="0"/>
        </a:spcBef>
        <a:buNone/>
        <a:defRPr sz="4386" kern="1200">
          <a:solidFill>
            <a:schemeClr val="tx1"/>
          </a:solidFill>
          <a:latin typeface="+mj-lt"/>
          <a:ea typeface="+mj-ea"/>
          <a:cs typeface="+mj-cs"/>
        </a:defRPr>
      </a:lvl1pPr>
    </p:titleStyle>
    <p:bodyStyle>
      <a:lvl1pPr marL="227835" indent="-227835" algn="l" defTabSz="911342" rtl="0" eaLnBrk="1" latinLnBrk="0" hangingPunct="1">
        <a:lnSpc>
          <a:spcPct val="90000"/>
        </a:lnSpc>
        <a:spcBef>
          <a:spcPts val="997"/>
        </a:spcBef>
        <a:buFont typeface="Arial" panose="020B0604020202020204" pitchFamily="34" charset="0"/>
        <a:buChar char="•"/>
        <a:defRPr sz="2791" kern="1200">
          <a:solidFill>
            <a:schemeClr val="tx1"/>
          </a:solidFill>
          <a:latin typeface="+mn-lt"/>
          <a:ea typeface="+mn-ea"/>
          <a:cs typeface="+mn-cs"/>
        </a:defRPr>
      </a:lvl1pPr>
      <a:lvl2pPr marL="683506" indent="-227835" algn="l" defTabSz="911342" rtl="0" eaLnBrk="1" latinLnBrk="0" hangingPunct="1">
        <a:lnSpc>
          <a:spcPct val="90000"/>
        </a:lnSpc>
        <a:spcBef>
          <a:spcPts val="498"/>
        </a:spcBef>
        <a:buFont typeface="Arial" panose="020B0604020202020204" pitchFamily="34" charset="0"/>
        <a:buChar char="•"/>
        <a:defRPr sz="2392" kern="1200">
          <a:solidFill>
            <a:schemeClr val="tx1"/>
          </a:solidFill>
          <a:latin typeface="+mn-lt"/>
          <a:ea typeface="+mn-ea"/>
          <a:cs typeface="+mn-cs"/>
        </a:defRPr>
      </a:lvl2pPr>
      <a:lvl3pPr marL="1139177" indent="-227835" algn="l" defTabSz="911342" rtl="0" eaLnBrk="1" latinLnBrk="0" hangingPunct="1">
        <a:lnSpc>
          <a:spcPct val="90000"/>
        </a:lnSpc>
        <a:spcBef>
          <a:spcPts val="498"/>
        </a:spcBef>
        <a:buFont typeface="Arial" panose="020B0604020202020204" pitchFamily="34" charset="0"/>
        <a:buChar char="•"/>
        <a:defRPr sz="1993" kern="1200">
          <a:solidFill>
            <a:schemeClr val="tx1"/>
          </a:solidFill>
          <a:latin typeface="+mn-lt"/>
          <a:ea typeface="+mn-ea"/>
          <a:cs typeface="+mn-cs"/>
        </a:defRPr>
      </a:lvl3pPr>
      <a:lvl4pPr marL="1594848"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4pPr>
      <a:lvl5pPr marL="2050519"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5pPr>
      <a:lvl6pPr marL="2506190"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6pPr>
      <a:lvl7pPr marL="2961861"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7pPr>
      <a:lvl8pPr marL="3417532"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8pPr>
      <a:lvl9pPr marL="3873203" indent="-227835" algn="l" defTabSz="911342" rtl="0" eaLnBrk="1" latinLnBrk="0" hangingPunct="1">
        <a:lnSpc>
          <a:spcPct val="90000"/>
        </a:lnSpc>
        <a:spcBef>
          <a:spcPts val="498"/>
        </a:spcBef>
        <a:buFont typeface="Arial" panose="020B0604020202020204" pitchFamily="34" charset="0"/>
        <a:buChar char="•"/>
        <a:defRPr sz="1794" kern="1200">
          <a:solidFill>
            <a:schemeClr val="tx1"/>
          </a:solidFill>
          <a:latin typeface="+mn-lt"/>
          <a:ea typeface="+mn-ea"/>
          <a:cs typeface="+mn-cs"/>
        </a:defRPr>
      </a:lvl9pPr>
    </p:bodyStyle>
    <p:otherStyle>
      <a:defPPr>
        <a:defRPr lang="it-IT"/>
      </a:defPPr>
      <a:lvl1pPr marL="0" algn="l" defTabSz="911342" rtl="0" eaLnBrk="1" latinLnBrk="0" hangingPunct="1">
        <a:defRPr sz="1794" kern="1200">
          <a:solidFill>
            <a:schemeClr val="tx1"/>
          </a:solidFill>
          <a:latin typeface="+mn-lt"/>
          <a:ea typeface="+mn-ea"/>
          <a:cs typeface="+mn-cs"/>
        </a:defRPr>
      </a:lvl1pPr>
      <a:lvl2pPr marL="455671" algn="l" defTabSz="911342" rtl="0" eaLnBrk="1" latinLnBrk="0" hangingPunct="1">
        <a:defRPr sz="1794" kern="1200">
          <a:solidFill>
            <a:schemeClr val="tx1"/>
          </a:solidFill>
          <a:latin typeface="+mn-lt"/>
          <a:ea typeface="+mn-ea"/>
          <a:cs typeface="+mn-cs"/>
        </a:defRPr>
      </a:lvl2pPr>
      <a:lvl3pPr marL="911342" algn="l" defTabSz="911342" rtl="0" eaLnBrk="1" latinLnBrk="0" hangingPunct="1">
        <a:defRPr sz="1794" kern="1200">
          <a:solidFill>
            <a:schemeClr val="tx1"/>
          </a:solidFill>
          <a:latin typeface="+mn-lt"/>
          <a:ea typeface="+mn-ea"/>
          <a:cs typeface="+mn-cs"/>
        </a:defRPr>
      </a:lvl3pPr>
      <a:lvl4pPr marL="1367013" algn="l" defTabSz="911342" rtl="0" eaLnBrk="1" latinLnBrk="0" hangingPunct="1">
        <a:defRPr sz="1794" kern="1200">
          <a:solidFill>
            <a:schemeClr val="tx1"/>
          </a:solidFill>
          <a:latin typeface="+mn-lt"/>
          <a:ea typeface="+mn-ea"/>
          <a:cs typeface="+mn-cs"/>
        </a:defRPr>
      </a:lvl4pPr>
      <a:lvl5pPr marL="1822684" algn="l" defTabSz="911342" rtl="0" eaLnBrk="1" latinLnBrk="0" hangingPunct="1">
        <a:defRPr sz="1794" kern="1200">
          <a:solidFill>
            <a:schemeClr val="tx1"/>
          </a:solidFill>
          <a:latin typeface="+mn-lt"/>
          <a:ea typeface="+mn-ea"/>
          <a:cs typeface="+mn-cs"/>
        </a:defRPr>
      </a:lvl5pPr>
      <a:lvl6pPr marL="2278355" algn="l" defTabSz="911342" rtl="0" eaLnBrk="1" latinLnBrk="0" hangingPunct="1">
        <a:defRPr sz="1794" kern="1200">
          <a:solidFill>
            <a:schemeClr val="tx1"/>
          </a:solidFill>
          <a:latin typeface="+mn-lt"/>
          <a:ea typeface="+mn-ea"/>
          <a:cs typeface="+mn-cs"/>
        </a:defRPr>
      </a:lvl6pPr>
      <a:lvl7pPr marL="2734026" algn="l" defTabSz="911342" rtl="0" eaLnBrk="1" latinLnBrk="0" hangingPunct="1">
        <a:defRPr sz="1794" kern="1200">
          <a:solidFill>
            <a:schemeClr val="tx1"/>
          </a:solidFill>
          <a:latin typeface="+mn-lt"/>
          <a:ea typeface="+mn-ea"/>
          <a:cs typeface="+mn-cs"/>
        </a:defRPr>
      </a:lvl7pPr>
      <a:lvl8pPr marL="3189697" algn="l" defTabSz="911342" rtl="0" eaLnBrk="1" latinLnBrk="0" hangingPunct="1">
        <a:defRPr sz="1794" kern="1200">
          <a:solidFill>
            <a:schemeClr val="tx1"/>
          </a:solidFill>
          <a:latin typeface="+mn-lt"/>
          <a:ea typeface="+mn-ea"/>
          <a:cs typeface="+mn-cs"/>
        </a:defRPr>
      </a:lvl8pPr>
      <a:lvl9pPr marL="3645367" algn="l" defTabSz="911342" rtl="0" eaLnBrk="1" latinLnBrk="0" hangingPunct="1">
        <a:defRPr sz="179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88000" y="198000"/>
            <a:ext cx="1007999" cy="228558"/>
          </a:xfrm>
          <a:prstGeom prst="rect">
            <a:avLst/>
          </a:prstGeom>
        </p:spPr>
      </p:pic>
      <p:sp>
        <p:nvSpPr>
          <p:cNvPr id="4" name="Rectangle 3"/>
          <p:cNvSpPr/>
          <p:nvPr/>
        </p:nvSpPr>
        <p:spPr>
          <a:xfrm>
            <a:off x="0" y="0"/>
            <a:ext cx="79200" cy="68580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96000" y="324000"/>
            <a:ext cx="2088000" cy="2088000"/>
          </a:xfrm>
          <a:prstGeom prst="ellipse">
            <a:avLst/>
          </a:prstGeom>
          <a:noFill/>
          <a:ln w="2540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80000" y="1007999"/>
            <a:ext cx="1296000" cy="1296000"/>
          </a:xfrm>
          <a:prstGeom prst="ellipse">
            <a:avLst/>
          </a:prstGeom>
          <a:noFill/>
          <a:ln w="25400">
            <a:solidFill>
              <a:srgbClr val="7F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928000" y="1800000"/>
            <a:ext cx="720000" cy="720000"/>
          </a:xfrm>
          <a:prstGeom prst="ellipse">
            <a:avLst/>
          </a:prstGeom>
          <a:noFill/>
          <a:ln w="25400">
            <a:solidFill>
              <a:srgbClr val="5BBE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2000" y="2304000"/>
            <a:ext cx="1872000" cy="198000"/>
          </a:xfrm>
          <a:prstGeom prst="round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199" y="2350800"/>
            <a:ext cx="1785600" cy="90000"/>
          </a:xfrm>
          <a:prstGeom prst="rect">
            <a:avLst/>
          </a:prstGeom>
          <a:noFill/>
        </p:spPr>
        <p:txBody>
          <a:bodyPr wrap="square" lIns="14400" rIns="14400" tIns="14400" bIns="14400" anchor="t">
            <a:spAutoFit/>
          </a:bodyPr>
          <a:lstStyle/>
          <a:p>
            <a:pPr algn="ctr"/>
            <a:r>
              <a:rPr sz="800" b="1">
                <a:solidFill>
                  <a:srgbClr val="FFFFFF"/>
                </a:solidFill>
                <a:latin typeface="Poppins"/>
              </a:rPr>
              <a:t>DECISION PACK</a:t>
            </a:r>
          </a:p>
        </p:txBody>
      </p:sp>
      <p:sp>
        <p:nvSpPr>
          <p:cNvPr id="10" name="TextBox 9"/>
          <p:cNvSpPr txBox="1"/>
          <p:nvPr/>
        </p:nvSpPr>
        <p:spPr>
          <a:xfrm>
            <a:off x="432000" y="2646000"/>
            <a:ext cx="9180000" cy="594000"/>
          </a:xfrm>
          <a:prstGeom prst="rect">
            <a:avLst/>
          </a:prstGeom>
          <a:noFill/>
        </p:spPr>
        <p:txBody>
          <a:bodyPr wrap="square" lIns="14400" rIns="14400" tIns="14400" bIns="14400" anchor="t">
            <a:spAutoFit/>
          </a:bodyPr>
          <a:lstStyle/>
          <a:p>
            <a:pPr algn="l"/>
            <a:r>
              <a:rPr sz="3000" b="1">
                <a:solidFill>
                  <a:srgbClr val="004481"/>
                </a:solidFill>
                <a:latin typeface="Poppins"/>
              </a:rPr>
              <a:t>NOVA — alternative infrastrutturali</a:t>
            </a:r>
            <a:br/>
            <a:r>
              <a:rPr sz="3000" b="1">
                <a:solidFill>
                  <a:srgbClr val="004481"/>
                </a:solidFill>
                <a:latin typeface="Poppins"/>
              </a:rPr>
              <a:t>e modelli operativi</a:t>
            </a:r>
          </a:p>
        </p:txBody>
      </p:sp>
      <p:sp>
        <p:nvSpPr>
          <p:cNvPr id="11" name="TextBox 10"/>
          <p:cNvSpPr txBox="1"/>
          <p:nvPr/>
        </p:nvSpPr>
        <p:spPr>
          <a:xfrm>
            <a:off x="450000" y="3671999"/>
            <a:ext cx="7920000" cy="234000"/>
          </a:xfrm>
          <a:prstGeom prst="rect">
            <a:avLst/>
          </a:prstGeom>
          <a:noFill/>
        </p:spPr>
        <p:txBody>
          <a:bodyPr wrap="square" lIns="14400" rIns="14400" tIns="14400" bIns="14400" anchor="t">
            <a:spAutoFit/>
          </a:bodyPr>
          <a:lstStyle/>
          <a:p>
            <a:pPr algn="l"/>
            <a:r>
              <a:rPr sz="1400" b="1">
                <a:solidFill>
                  <a:srgbClr val="2A86CA"/>
                </a:solidFill>
                <a:latin typeface="Poppins"/>
              </a:rPr>
              <a:t>Confronto preliminare per Guber</a:t>
            </a:r>
          </a:p>
        </p:txBody>
      </p:sp>
      <p:sp>
        <p:nvSpPr>
          <p:cNvPr id="12" name="TextBox 11"/>
          <p:cNvSpPr txBox="1"/>
          <p:nvPr/>
        </p:nvSpPr>
        <p:spPr>
          <a:xfrm>
            <a:off x="450000" y="6083999"/>
            <a:ext cx="3600000" cy="144000"/>
          </a:xfrm>
          <a:prstGeom prst="rect">
            <a:avLst/>
          </a:prstGeom>
          <a:noFill/>
        </p:spPr>
        <p:txBody>
          <a:bodyPr wrap="square" lIns="14400" rIns="14400" tIns="14400" bIns="14400" anchor="t">
            <a:spAutoFit/>
          </a:bodyPr>
          <a:lstStyle/>
          <a:p>
            <a:pPr algn="l"/>
            <a:r>
              <a:rPr sz="900" b="0">
                <a:solidFill>
                  <a:srgbClr val="67737E"/>
                </a:solidFill>
                <a:latin typeface="Poppins"/>
              </a:rPr>
              <a:t>31 luglio 2026</a:t>
            </a:r>
          </a:p>
        </p:txBody>
      </p:sp>
      <p:sp>
        <p:nvSpPr>
          <p:cNvPr id="13" name="TextBox 12"/>
          <p:cNvSpPr txBox="1"/>
          <p:nvPr/>
        </p:nvSpPr>
        <p:spPr>
          <a:xfrm>
            <a:off x="8640000" y="6083999"/>
            <a:ext cx="3060000" cy="144000"/>
          </a:xfrm>
          <a:prstGeom prst="rect">
            <a:avLst/>
          </a:prstGeom>
          <a:noFill/>
        </p:spPr>
        <p:txBody>
          <a:bodyPr wrap="square" lIns="14400" rIns="14400" tIns="14400" bIns="14400" anchor="t">
            <a:spAutoFit/>
          </a:bodyPr>
          <a:lstStyle/>
          <a:p>
            <a:pPr algn="r"/>
            <a:r>
              <a:rPr sz="800" b="0">
                <a:solidFill>
                  <a:srgbClr val="67737E"/>
                </a:solidFill>
                <a:latin typeface="Poppins"/>
              </a:rPr>
              <a:t>Range di pianificazione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CONTESTO / ESIGENZA / OBIETTIVI</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Il perimetro combina accesso ai dati, controllo e continuità</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La replica read-only presso Guber è considerata accettabile; la scelta della collocazione resta aperta.</a:t>
            </a:r>
          </a:p>
        </p:txBody>
      </p:sp>
      <p:sp>
        <p:nvSpPr>
          <p:cNvPr id="8" name="Rounded Rectangle 7"/>
          <p:cNvSpPr/>
          <p:nvPr/>
        </p:nvSpPr>
        <p:spPr>
          <a:xfrm>
            <a:off x="360000" y="1440000"/>
            <a:ext cx="3456000" cy="320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22000" y="1638000"/>
            <a:ext cx="486000" cy="486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2000" y="1764000"/>
            <a:ext cx="486000" cy="125999"/>
          </a:xfrm>
          <a:prstGeom prst="rect">
            <a:avLst/>
          </a:prstGeom>
          <a:noFill/>
        </p:spPr>
        <p:txBody>
          <a:bodyPr wrap="square" lIns="14400" rIns="14400" tIns="14400" bIns="14400" anchor="t">
            <a:spAutoFit/>
          </a:bodyPr>
          <a:lstStyle/>
          <a:p>
            <a:pPr algn="ctr"/>
            <a:r>
              <a:rPr sz="1100" b="1">
                <a:solidFill>
                  <a:srgbClr val="FFFFFF"/>
                </a:solidFill>
                <a:latin typeface="Poppins"/>
              </a:rPr>
              <a:t>01</a:t>
            </a:r>
          </a:p>
        </p:txBody>
      </p:sp>
      <p:sp>
        <p:nvSpPr>
          <p:cNvPr id="11" name="TextBox 10"/>
          <p:cNvSpPr txBox="1"/>
          <p:nvPr/>
        </p:nvSpPr>
        <p:spPr>
          <a:xfrm>
            <a:off x="522000" y="2340000"/>
            <a:ext cx="3060000" cy="216000"/>
          </a:xfrm>
          <a:prstGeom prst="rect">
            <a:avLst/>
          </a:prstGeom>
          <a:noFill/>
        </p:spPr>
        <p:txBody>
          <a:bodyPr wrap="square" lIns="14400" rIns="14400" tIns="14400" bIns="14400" anchor="t">
            <a:spAutoFit/>
          </a:bodyPr>
          <a:lstStyle/>
          <a:p>
            <a:pPr algn="l"/>
            <a:r>
              <a:rPr sz="1600" b="1">
                <a:solidFill>
                  <a:srgbClr val="004481"/>
                </a:solidFill>
                <a:latin typeface="Poppins"/>
              </a:rPr>
              <a:t>Contesto</a:t>
            </a:r>
          </a:p>
        </p:txBody>
      </p:sp>
      <p:sp>
        <p:nvSpPr>
          <p:cNvPr id="12" name="TextBox 11"/>
          <p:cNvSpPr txBox="1"/>
          <p:nvPr/>
        </p:nvSpPr>
        <p:spPr>
          <a:xfrm>
            <a:off x="522000" y="2700000"/>
            <a:ext cx="3006000" cy="972000"/>
          </a:xfrm>
          <a:prstGeom prst="rect">
            <a:avLst/>
          </a:prstGeom>
          <a:noFill/>
        </p:spPr>
        <p:txBody>
          <a:bodyPr wrap="square" lIns="14400" rIns="14400" tIns="14400" bIns="14400" anchor="t">
            <a:spAutoFit/>
          </a:bodyPr>
          <a:lstStyle/>
          <a:p>
            <a:pPr algn="l"/>
            <a:r>
              <a:rPr sz="1200" b="0">
                <a:solidFill>
                  <a:srgbClr val="252D36"/>
                </a:solidFill>
                <a:latin typeface="Poppins"/>
              </a:rPr>
              <a:t>Guber richiede accesso SQL ai dati NOVA per verifiche ed estrazioni.</a:t>
            </a:r>
          </a:p>
        </p:txBody>
      </p:sp>
      <p:sp>
        <p:nvSpPr>
          <p:cNvPr id="13" name="Rounded Rectangle 12"/>
          <p:cNvSpPr/>
          <p:nvPr/>
        </p:nvSpPr>
        <p:spPr>
          <a:xfrm>
            <a:off x="4194000" y="1440000"/>
            <a:ext cx="3456000" cy="320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56000" y="1638000"/>
            <a:ext cx="486000" cy="486000"/>
          </a:xfrm>
          <a:prstGeom prst="roundRect">
            <a:avLst/>
          </a:prstGeom>
          <a:solidFill>
            <a:srgbClr val="2A86C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56000" y="1764000"/>
            <a:ext cx="486000" cy="125999"/>
          </a:xfrm>
          <a:prstGeom prst="rect">
            <a:avLst/>
          </a:prstGeom>
          <a:noFill/>
        </p:spPr>
        <p:txBody>
          <a:bodyPr wrap="square" lIns="14400" rIns="14400" tIns="14400" bIns="14400" anchor="t">
            <a:spAutoFit/>
          </a:bodyPr>
          <a:lstStyle/>
          <a:p>
            <a:pPr algn="ctr"/>
            <a:r>
              <a:rPr sz="1100" b="1">
                <a:solidFill>
                  <a:srgbClr val="FFFFFF"/>
                </a:solidFill>
                <a:latin typeface="Poppins"/>
              </a:rPr>
              <a:t>02</a:t>
            </a:r>
          </a:p>
        </p:txBody>
      </p:sp>
      <p:sp>
        <p:nvSpPr>
          <p:cNvPr id="16" name="TextBox 15"/>
          <p:cNvSpPr txBox="1"/>
          <p:nvPr/>
        </p:nvSpPr>
        <p:spPr>
          <a:xfrm>
            <a:off x="4356000" y="2340000"/>
            <a:ext cx="3060000" cy="216000"/>
          </a:xfrm>
          <a:prstGeom prst="rect">
            <a:avLst/>
          </a:prstGeom>
          <a:noFill/>
        </p:spPr>
        <p:txBody>
          <a:bodyPr wrap="square" lIns="14400" rIns="14400" tIns="14400" bIns="14400" anchor="t">
            <a:spAutoFit/>
          </a:bodyPr>
          <a:lstStyle/>
          <a:p>
            <a:pPr algn="l"/>
            <a:r>
              <a:rPr sz="1600" b="1">
                <a:solidFill>
                  <a:srgbClr val="004481"/>
                </a:solidFill>
                <a:latin typeface="Poppins"/>
              </a:rPr>
              <a:t>Esigenza</a:t>
            </a:r>
          </a:p>
        </p:txBody>
      </p:sp>
      <p:sp>
        <p:nvSpPr>
          <p:cNvPr id="17" name="TextBox 16"/>
          <p:cNvSpPr txBox="1"/>
          <p:nvPr/>
        </p:nvSpPr>
        <p:spPr>
          <a:xfrm>
            <a:off x="4356000" y="2700000"/>
            <a:ext cx="3006000" cy="972000"/>
          </a:xfrm>
          <a:prstGeom prst="rect">
            <a:avLst/>
          </a:prstGeom>
          <a:noFill/>
        </p:spPr>
        <p:txBody>
          <a:bodyPr wrap="square" lIns="14400" rIns="14400" tIns="14400" bIns="14400" anchor="t">
            <a:spAutoFit/>
          </a:bodyPr>
          <a:lstStyle/>
          <a:p>
            <a:pPr algn="l"/>
            <a:r>
              <a:rPr sz="1200" b="0">
                <a:solidFill>
                  <a:srgbClr val="252D36"/>
                </a:solidFill>
                <a:latin typeface="Poppins"/>
              </a:rPr>
              <a:t>Rendere i dati accessibili senza compromettere operatività, sicurezza e responsabilità.</a:t>
            </a:r>
          </a:p>
        </p:txBody>
      </p:sp>
      <p:sp>
        <p:nvSpPr>
          <p:cNvPr id="18" name="Rounded Rectangle 17"/>
          <p:cNvSpPr/>
          <p:nvPr/>
        </p:nvSpPr>
        <p:spPr>
          <a:xfrm>
            <a:off x="8028000" y="1440000"/>
            <a:ext cx="3456000" cy="320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90000" y="1638000"/>
            <a:ext cx="486000" cy="486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0000" y="1764000"/>
            <a:ext cx="486000" cy="125999"/>
          </a:xfrm>
          <a:prstGeom prst="rect">
            <a:avLst/>
          </a:prstGeom>
          <a:noFill/>
        </p:spPr>
        <p:txBody>
          <a:bodyPr wrap="square" lIns="14400" rIns="14400" tIns="14400" bIns="14400" anchor="t">
            <a:spAutoFit/>
          </a:bodyPr>
          <a:lstStyle/>
          <a:p>
            <a:pPr algn="ctr"/>
            <a:r>
              <a:rPr sz="1100" b="1">
                <a:solidFill>
                  <a:srgbClr val="FFFFFF"/>
                </a:solidFill>
                <a:latin typeface="Poppins"/>
              </a:rPr>
              <a:t>03</a:t>
            </a:r>
          </a:p>
        </p:txBody>
      </p:sp>
      <p:sp>
        <p:nvSpPr>
          <p:cNvPr id="21" name="TextBox 20"/>
          <p:cNvSpPr txBox="1"/>
          <p:nvPr/>
        </p:nvSpPr>
        <p:spPr>
          <a:xfrm>
            <a:off x="8190000" y="2340000"/>
            <a:ext cx="3060000" cy="216000"/>
          </a:xfrm>
          <a:prstGeom prst="rect">
            <a:avLst/>
          </a:prstGeom>
          <a:noFill/>
        </p:spPr>
        <p:txBody>
          <a:bodyPr wrap="square" lIns="14400" rIns="14400" tIns="14400" bIns="14400" anchor="t">
            <a:spAutoFit/>
          </a:bodyPr>
          <a:lstStyle/>
          <a:p>
            <a:pPr algn="l"/>
            <a:r>
              <a:rPr sz="1600" b="1">
                <a:solidFill>
                  <a:srgbClr val="004481"/>
                </a:solidFill>
                <a:latin typeface="Poppins"/>
              </a:rPr>
              <a:t>Obiettivo</a:t>
            </a:r>
          </a:p>
        </p:txBody>
      </p:sp>
      <p:sp>
        <p:nvSpPr>
          <p:cNvPr id="22" name="TextBox 21"/>
          <p:cNvSpPr txBox="1"/>
          <p:nvPr/>
        </p:nvSpPr>
        <p:spPr>
          <a:xfrm>
            <a:off x="8190000" y="2700000"/>
            <a:ext cx="3006000" cy="972000"/>
          </a:xfrm>
          <a:prstGeom prst="rect">
            <a:avLst/>
          </a:prstGeom>
          <a:noFill/>
        </p:spPr>
        <p:txBody>
          <a:bodyPr wrap="square" lIns="14400" rIns="14400" tIns="14400" bIns="14400" anchor="t">
            <a:spAutoFit/>
          </a:bodyPr>
          <a:lstStyle/>
          <a:p>
            <a:pPr algn="l"/>
            <a:r>
              <a:rPr sz="1200" b="0">
                <a:solidFill>
                  <a:srgbClr val="252D36"/>
                </a:solidFill>
                <a:latin typeface="Poppins"/>
              </a:rPr>
              <a:t>Confrontare sei alternative di collocazione e gestione, senza anticipare la scelta.</a:t>
            </a:r>
          </a:p>
        </p:txBody>
      </p:sp>
      <p:sp>
        <p:nvSpPr>
          <p:cNvPr id="23" name="Rounded Rectangle 22"/>
          <p:cNvSpPr/>
          <p:nvPr/>
        </p:nvSpPr>
        <p:spPr>
          <a:xfrm>
            <a:off x="360000" y="5112000"/>
            <a:ext cx="11160000" cy="612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2000" y="5281200"/>
            <a:ext cx="10836000" cy="234000"/>
          </a:xfrm>
          <a:prstGeom prst="rect">
            <a:avLst/>
          </a:prstGeom>
          <a:noFill/>
        </p:spPr>
        <p:txBody>
          <a:bodyPr wrap="square" lIns="14400" rIns="14400" tIns="14400" bIns="14400" anchor="t">
            <a:spAutoFit/>
          </a:bodyPr>
          <a:lstStyle/>
          <a:p>
            <a:pPr algn="ctr"/>
            <a:r>
              <a:rPr sz="1200" b="1">
                <a:solidFill>
                  <a:srgbClr val="007A82"/>
                </a:solidFill>
                <a:latin typeface="Poppins"/>
              </a:rPr>
              <a:t>Punto fermo: l'accesso ai dati è confermato; la necessità di migrare il database primario non è ancora dimostrata.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AS IS</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Oggi NOVA concentra dati e operatività sull'ambiente corrente</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Il requisito SQL è chiaro; dimensionamento e vincoli infrastrutturali devono ancora essere validati.</a:t>
            </a:r>
          </a:p>
        </p:txBody>
      </p:sp>
      <p:sp>
        <p:nvSpPr>
          <p:cNvPr id="8" name="Rounded Rectangle 7"/>
          <p:cNvSpPr/>
          <p:nvPr/>
        </p:nvSpPr>
        <p:spPr>
          <a:xfrm>
            <a:off x="432000" y="1800000"/>
            <a:ext cx="2088000" cy="900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2000" y="1980000"/>
            <a:ext cx="1908000" cy="144000"/>
          </a:xfrm>
          <a:prstGeom prst="rect">
            <a:avLst/>
          </a:prstGeom>
          <a:noFill/>
        </p:spPr>
        <p:txBody>
          <a:bodyPr wrap="square" lIns="14400" rIns="14400" tIns="14400" bIns="14400" anchor="t">
            <a:spAutoFit/>
          </a:bodyPr>
          <a:lstStyle/>
          <a:p>
            <a:pPr algn="ctr"/>
            <a:r>
              <a:rPr sz="1200" b="1">
                <a:solidFill>
                  <a:srgbClr val="004481"/>
                </a:solidFill>
                <a:latin typeface="Poppins"/>
              </a:rPr>
              <a:t>Sorgenti</a:t>
            </a:r>
          </a:p>
        </p:txBody>
      </p:sp>
      <p:sp>
        <p:nvSpPr>
          <p:cNvPr id="10" name="TextBox 9"/>
          <p:cNvSpPr txBox="1"/>
          <p:nvPr/>
        </p:nvSpPr>
        <p:spPr>
          <a:xfrm>
            <a:off x="522000" y="2250000"/>
            <a:ext cx="1908000" cy="162000"/>
          </a:xfrm>
          <a:prstGeom prst="rect">
            <a:avLst/>
          </a:prstGeom>
          <a:noFill/>
        </p:spPr>
        <p:txBody>
          <a:bodyPr wrap="square" lIns="14400" rIns="14400" tIns="14400" bIns="14400" anchor="t">
            <a:spAutoFit/>
          </a:bodyPr>
          <a:lstStyle/>
          <a:p>
            <a:pPr algn="ctr"/>
            <a:r>
              <a:rPr sz="900" b="0">
                <a:solidFill>
                  <a:srgbClr val="67737E"/>
                </a:solidFill>
                <a:latin typeface="Poppins"/>
              </a:rPr>
              <a:t>ODT · AV · LDT</a:t>
            </a:r>
          </a:p>
        </p:txBody>
      </p:sp>
      <p:cxnSp>
        <p:nvCxnSpPr>
          <p:cNvPr id="11" name="Connector 10"/>
          <p:cNvCxnSpPr/>
          <p:nvPr/>
        </p:nvCxnSpPr>
        <p:spPr>
          <a:xfrm>
            <a:off x="2520000" y="2250000"/>
            <a:ext cx="396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16000" y="1800000"/>
            <a:ext cx="2088000" cy="900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6000" y="1980000"/>
            <a:ext cx="1908000" cy="144000"/>
          </a:xfrm>
          <a:prstGeom prst="rect">
            <a:avLst/>
          </a:prstGeom>
          <a:noFill/>
        </p:spPr>
        <p:txBody>
          <a:bodyPr wrap="square" lIns="14400" rIns="14400" tIns="14400" bIns="14400" anchor="t">
            <a:spAutoFit/>
          </a:bodyPr>
          <a:lstStyle/>
          <a:p>
            <a:pPr algn="ctr"/>
            <a:r>
              <a:rPr sz="1200" b="1">
                <a:solidFill>
                  <a:srgbClr val="004481"/>
                </a:solidFill>
                <a:latin typeface="Poppins"/>
              </a:rPr>
              <a:t>NOVA</a:t>
            </a:r>
          </a:p>
        </p:txBody>
      </p:sp>
      <p:sp>
        <p:nvSpPr>
          <p:cNvPr id="14" name="TextBox 13"/>
          <p:cNvSpPr txBox="1"/>
          <p:nvPr/>
        </p:nvSpPr>
        <p:spPr>
          <a:xfrm>
            <a:off x="3006000" y="2250000"/>
            <a:ext cx="1908000" cy="162000"/>
          </a:xfrm>
          <a:prstGeom prst="rect">
            <a:avLst/>
          </a:prstGeom>
          <a:noFill/>
        </p:spPr>
        <p:txBody>
          <a:bodyPr wrap="square" lIns="14400" rIns="14400" tIns="14400" bIns="14400" anchor="t">
            <a:spAutoFit/>
          </a:bodyPr>
          <a:lstStyle/>
          <a:p>
            <a:pPr algn="ctr"/>
            <a:r>
              <a:rPr sz="900" b="0">
                <a:solidFill>
                  <a:srgbClr val="67737E"/>
                </a:solidFill>
                <a:latin typeface="Poppins"/>
              </a:rPr>
              <a:t>History e consolidamento</a:t>
            </a:r>
          </a:p>
        </p:txBody>
      </p:sp>
      <p:cxnSp>
        <p:nvCxnSpPr>
          <p:cNvPr id="15" name="Connector 14"/>
          <p:cNvCxnSpPr/>
          <p:nvPr/>
        </p:nvCxnSpPr>
        <p:spPr>
          <a:xfrm>
            <a:off x="5003999" y="2250000"/>
            <a:ext cx="396001"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400000" y="1800000"/>
            <a:ext cx="2520000" cy="900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90000" y="1980000"/>
            <a:ext cx="2340000" cy="144000"/>
          </a:xfrm>
          <a:prstGeom prst="rect">
            <a:avLst/>
          </a:prstGeom>
          <a:noFill/>
        </p:spPr>
        <p:txBody>
          <a:bodyPr wrap="square" lIns="14400" rIns="14400" tIns="14400" bIns="14400" anchor="t">
            <a:spAutoFit/>
          </a:bodyPr>
          <a:lstStyle/>
          <a:p>
            <a:pPr algn="ctr"/>
            <a:r>
              <a:rPr sz="1200" b="1">
                <a:solidFill>
                  <a:srgbClr val="004481"/>
                </a:solidFill>
                <a:latin typeface="Poppins"/>
              </a:rPr>
              <a:t>Database primario</a:t>
            </a:r>
          </a:p>
        </p:txBody>
      </p:sp>
      <p:sp>
        <p:nvSpPr>
          <p:cNvPr id="18" name="TextBox 17"/>
          <p:cNvSpPr txBox="1"/>
          <p:nvPr/>
        </p:nvSpPr>
        <p:spPr>
          <a:xfrm>
            <a:off x="5490000" y="2250000"/>
            <a:ext cx="2340000" cy="162000"/>
          </a:xfrm>
          <a:prstGeom prst="rect">
            <a:avLst/>
          </a:prstGeom>
          <a:noFill/>
        </p:spPr>
        <p:txBody>
          <a:bodyPr wrap="square" lIns="14400" rIns="14400" tIns="14400" bIns="14400" anchor="t">
            <a:spAutoFit/>
          </a:bodyPr>
          <a:lstStyle/>
          <a:p>
            <a:pPr algn="ctr"/>
            <a:r>
              <a:rPr sz="900" b="0">
                <a:solidFill>
                  <a:srgbClr val="67737E"/>
                </a:solidFill>
                <a:latin typeface="Poppins"/>
              </a:rPr>
              <a:t>Operatività applicativa</a:t>
            </a:r>
          </a:p>
        </p:txBody>
      </p:sp>
      <p:cxnSp>
        <p:nvCxnSpPr>
          <p:cNvPr id="19" name="Connector 18"/>
          <p:cNvCxnSpPr/>
          <p:nvPr/>
        </p:nvCxnSpPr>
        <p:spPr>
          <a:xfrm>
            <a:off x="7920000" y="2250000"/>
            <a:ext cx="432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52000" y="1800000"/>
            <a:ext cx="2088000" cy="900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42000" y="1980000"/>
            <a:ext cx="1908000" cy="144000"/>
          </a:xfrm>
          <a:prstGeom prst="rect">
            <a:avLst/>
          </a:prstGeom>
          <a:noFill/>
        </p:spPr>
        <p:txBody>
          <a:bodyPr wrap="square" lIns="14400" rIns="14400" tIns="14400" bIns="14400" anchor="t">
            <a:spAutoFit/>
          </a:bodyPr>
          <a:lstStyle/>
          <a:p>
            <a:pPr algn="ctr"/>
            <a:r>
              <a:rPr sz="1200" b="1">
                <a:solidFill>
                  <a:srgbClr val="004481"/>
                </a:solidFill>
                <a:latin typeface="Poppins"/>
              </a:rPr>
              <a:t>Guber</a:t>
            </a:r>
          </a:p>
        </p:txBody>
      </p:sp>
      <p:sp>
        <p:nvSpPr>
          <p:cNvPr id="22" name="TextBox 21"/>
          <p:cNvSpPr txBox="1"/>
          <p:nvPr/>
        </p:nvSpPr>
        <p:spPr>
          <a:xfrm>
            <a:off x="8442000" y="2250000"/>
            <a:ext cx="1908000" cy="162000"/>
          </a:xfrm>
          <a:prstGeom prst="rect">
            <a:avLst/>
          </a:prstGeom>
          <a:noFill/>
        </p:spPr>
        <p:txBody>
          <a:bodyPr wrap="square" lIns="14400" rIns="14400" tIns="14400" bIns="14400" anchor="t">
            <a:spAutoFit/>
          </a:bodyPr>
          <a:lstStyle/>
          <a:p>
            <a:pPr algn="ctr"/>
            <a:r>
              <a:rPr sz="900" b="0">
                <a:solidFill>
                  <a:srgbClr val="67737E"/>
                </a:solidFill>
                <a:latin typeface="Poppins"/>
              </a:rPr>
              <a:t>Verifiche ed estrazioni SQL</a:t>
            </a:r>
          </a:p>
        </p:txBody>
      </p:sp>
      <p:sp>
        <p:nvSpPr>
          <p:cNvPr id="23" name="Rounded Rectangle 22"/>
          <p:cNvSpPr/>
          <p:nvPr/>
        </p:nvSpPr>
        <p:spPr>
          <a:xfrm>
            <a:off x="432000" y="3384000"/>
            <a:ext cx="3420000" cy="144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2000" y="3384000"/>
            <a:ext cx="3420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3999" y="3423600"/>
            <a:ext cx="3276000" cy="100800"/>
          </a:xfrm>
          <a:prstGeom prst="rect">
            <a:avLst/>
          </a:prstGeom>
          <a:noFill/>
        </p:spPr>
        <p:txBody>
          <a:bodyPr wrap="square" lIns="14400" rIns="14400" tIns="14400" bIns="14400" anchor="t">
            <a:spAutoFit/>
          </a:bodyPr>
          <a:lstStyle/>
          <a:p>
            <a:pPr algn="l"/>
            <a:r>
              <a:rPr sz="850" b="1">
                <a:solidFill>
                  <a:srgbClr val="FFFFFF"/>
                </a:solidFill>
                <a:latin typeface="Poppins"/>
              </a:rPr>
              <a:t>Fatto confermato</a:t>
            </a:r>
          </a:p>
        </p:txBody>
      </p:sp>
      <p:sp>
        <p:nvSpPr>
          <p:cNvPr id="26" name="TextBox 25"/>
          <p:cNvSpPr txBox="1"/>
          <p:nvPr/>
        </p:nvSpPr>
        <p:spPr>
          <a:xfrm>
            <a:off x="522000" y="3664800"/>
            <a:ext cx="3240000" cy="109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Accesso SQL richiesto</a:t>
            </a:r>
          </a:p>
          <a:p>
            <a:pPr>
              <a:spcAft>
                <a:spcPts val="400"/>
              </a:spcAft>
              <a:defRPr sz="1000">
                <a:solidFill>
                  <a:srgbClr val="252D36"/>
                </a:solidFill>
                <a:latin typeface="Poppins"/>
              </a:defRPr>
            </a:pPr>
            <a:r>
              <a:t>•  Replica read-only accettata</a:t>
            </a:r>
          </a:p>
          <a:p>
            <a:pPr>
              <a:spcAft>
                <a:spcPts val="400"/>
              </a:spcAft>
              <a:defRPr sz="1000">
                <a:solidFill>
                  <a:srgbClr val="252D36"/>
                </a:solidFill>
                <a:latin typeface="Poppins"/>
              </a:defRPr>
            </a:pPr>
            <a:r>
              <a:t>•  AM Novigo end-to-end disponibile</a:t>
            </a:r>
          </a:p>
        </p:txBody>
      </p:sp>
      <p:sp>
        <p:nvSpPr>
          <p:cNvPr id="27" name="Rounded Rectangle 26"/>
          <p:cNvSpPr/>
          <p:nvPr/>
        </p:nvSpPr>
        <p:spPr>
          <a:xfrm>
            <a:off x="4121999" y="3384000"/>
            <a:ext cx="3420000" cy="144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1999" y="3384000"/>
            <a:ext cx="3420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93999" y="3423600"/>
            <a:ext cx="3276000" cy="100800"/>
          </a:xfrm>
          <a:prstGeom prst="rect">
            <a:avLst/>
          </a:prstGeom>
          <a:noFill/>
        </p:spPr>
        <p:txBody>
          <a:bodyPr wrap="square" lIns="14400" rIns="14400" tIns="14400" bIns="14400" anchor="t">
            <a:spAutoFit/>
          </a:bodyPr>
          <a:lstStyle/>
          <a:p>
            <a:pPr algn="l"/>
            <a:r>
              <a:rPr sz="850" b="1">
                <a:solidFill>
                  <a:srgbClr val="FFFFFF"/>
                </a:solidFill>
                <a:latin typeface="Poppins"/>
              </a:rPr>
              <a:t>Da proteggere</a:t>
            </a:r>
          </a:p>
        </p:txBody>
      </p:sp>
      <p:sp>
        <p:nvSpPr>
          <p:cNvPr id="30" name="TextBox 29"/>
          <p:cNvSpPr txBox="1"/>
          <p:nvPr/>
        </p:nvSpPr>
        <p:spPr>
          <a:xfrm>
            <a:off x="4212000" y="3664800"/>
            <a:ext cx="3240000" cy="109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Disponibilità del transazionale</a:t>
            </a:r>
          </a:p>
          <a:p>
            <a:pPr>
              <a:spcAft>
                <a:spcPts val="400"/>
              </a:spcAft>
              <a:defRPr sz="1000">
                <a:solidFill>
                  <a:srgbClr val="252D36"/>
                </a:solidFill>
                <a:latin typeface="Poppins"/>
              </a:defRPr>
            </a:pPr>
            <a:r>
              <a:t>•  History e riconciliazione</a:t>
            </a:r>
          </a:p>
          <a:p>
            <a:pPr>
              <a:spcAft>
                <a:spcPts val="400"/>
              </a:spcAft>
              <a:defRPr sz="1000">
                <a:solidFill>
                  <a:srgbClr val="252D36"/>
                </a:solidFill>
                <a:latin typeface="Poppins"/>
              </a:defRPr>
            </a:pPr>
            <a:r>
              <a:t>•  Accessi, audit e segregazione</a:t>
            </a:r>
          </a:p>
        </p:txBody>
      </p:sp>
      <p:sp>
        <p:nvSpPr>
          <p:cNvPr id="31" name="Rounded Rectangle 30"/>
          <p:cNvSpPr/>
          <p:nvPr/>
        </p:nvSpPr>
        <p:spPr>
          <a:xfrm>
            <a:off x="7812000" y="3384000"/>
            <a:ext cx="3420000" cy="144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812000" y="3384000"/>
            <a:ext cx="3420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83999" y="3423600"/>
            <a:ext cx="3276000" cy="100800"/>
          </a:xfrm>
          <a:prstGeom prst="rect">
            <a:avLst/>
          </a:prstGeom>
          <a:noFill/>
        </p:spPr>
        <p:txBody>
          <a:bodyPr wrap="square" lIns="14400" rIns="14400" tIns="14400" bIns="14400" anchor="t">
            <a:spAutoFit/>
          </a:bodyPr>
          <a:lstStyle/>
          <a:p>
            <a:pPr algn="l"/>
            <a:r>
              <a:rPr sz="850" b="1">
                <a:solidFill>
                  <a:srgbClr val="FFFFFF"/>
                </a:solidFill>
                <a:latin typeface="Poppins"/>
              </a:rPr>
              <a:t>Dati mancanti</a:t>
            </a:r>
          </a:p>
        </p:txBody>
      </p:sp>
      <p:sp>
        <p:nvSpPr>
          <p:cNvPr id="34" name="TextBox 33"/>
          <p:cNvSpPr txBox="1"/>
          <p:nvPr/>
        </p:nvSpPr>
        <p:spPr>
          <a:xfrm>
            <a:off x="7902000" y="3664800"/>
            <a:ext cx="3240000" cy="109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sizing e licensing</a:t>
            </a:r>
          </a:p>
          <a:p>
            <a:pPr>
              <a:spcAft>
                <a:spcPts val="400"/>
              </a:spcAft>
              <a:defRPr sz="1000">
                <a:solidFill>
                  <a:srgbClr val="252D36"/>
                </a:solidFill>
                <a:latin typeface="Poppins"/>
              </a:defRPr>
            </a:pPr>
            <a:r>
              <a:t>•  SLA, RPO/RTO e rete</a:t>
            </a:r>
          </a:p>
          <a:p>
            <a:pPr>
              <a:spcAft>
                <a:spcPts val="400"/>
              </a:spcAft>
              <a:defRPr sz="1000">
                <a:solidFill>
                  <a:srgbClr val="252D36"/>
                </a:solidFill>
                <a:latin typeface="Poppins"/>
              </a:defRPr>
            </a:pPr>
            <a:r>
              <a:t>•  Standard cloud e capacità Guber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ALTERNATIVE</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Sei alternative separano due scelte: collocare il primario o la replica</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La mappa evita di confondere il requisito di accesso ai dati con una migrazione completa della piattaforma.</a:t>
            </a:r>
          </a:p>
        </p:txBody>
      </p:sp>
      <p:sp>
        <p:nvSpPr>
          <p:cNvPr id="8" name="Rounded Rectangle 7"/>
          <p:cNvSpPr/>
          <p:nvPr/>
        </p:nvSpPr>
        <p:spPr>
          <a:xfrm>
            <a:off x="4680000" y="1188000"/>
            <a:ext cx="2844000" cy="432000"/>
          </a:xfrm>
          <a:prstGeom prst="round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2000" y="1324800"/>
            <a:ext cx="2700000" cy="125999"/>
          </a:xfrm>
          <a:prstGeom prst="rect">
            <a:avLst/>
          </a:prstGeom>
          <a:noFill/>
        </p:spPr>
        <p:txBody>
          <a:bodyPr wrap="square" lIns="14400" rIns="14400" tIns="14400" bIns="14400" anchor="t">
            <a:spAutoFit/>
          </a:bodyPr>
          <a:lstStyle/>
          <a:p>
            <a:pPr algn="ctr"/>
            <a:r>
              <a:rPr sz="1000" b="1">
                <a:solidFill>
                  <a:srgbClr val="FFFFFF"/>
                </a:solidFill>
                <a:latin typeface="Poppins"/>
              </a:rPr>
              <a:t>COME SODDISFARE IL REQUISITO?</a:t>
            </a:r>
          </a:p>
        </p:txBody>
      </p:sp>
      <p:cxnSp>
        <p:nvCxnSpPr>
          <p:cNvPr id="10" name="Connector 9"/>
          <p:cNvCxnSpPr/>
          <p:nvPr/>
        </p:nvCxnSpPr>
        <p:spPr>
          <a:xfrm>
            <a:off x="6120000" y="1620000"/>
            <a:ext cx="0" cy="288000"/>
          </a:xfrm>
          <a:prstGeom prst="line">
            <a:avLst/>
          </a:prstGeom>
          <a:ln w="25400">
            <a:solidFill>
              <a:srgbClr val="2DCCC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060000" y="1908000"/>
            <a:ext cx="6120000" cy="0"/>
          </a:xfrm>
          <a:prstGeom prst="line">
            <a:avLst/>
          </a:prstGeom>
          <a:ln w="25400">
            <a:solidFill>
              <a:srgbClr val="2DCCC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060000" y="1908000"/>
            <a:ext cx="0" cy="288000"/>
          </a:xfrm>
          <a:prstGeom prst="line">
            <a:avLst/>
          </a:prstGeom>
          <a:ln w="25400">
            <a:solidFill>
              <a:srgbClr val="2DCCC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35999" y="2196000"/>
            <a:ext cx="2448000" cy="37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44000" y="2311200"/>
            <a:ext cx="2232000" cy="115200"/>
          </a:xfrm>
          <a:prstGeom prst="rect">
            <a:avLst/>
          </a:prstGeom>
          <a:noFill/>
        </p:spPr>
        <p:txBody>
          <a:bodyPr wrap="square" lIns="14400" rIns="14400" tIns="14400" bIns="14400" anchor="t">
            <a:spAutoFit/>
          </a:bodyPr>
          <a:lstStyle/>
          <a:p>
            <a:pPr algn="ctr"/>
            <a:r>
              <a:rPr sz="900" b="1">
                <a:solidFill>
                  <a:srgbClr val="004481"/>
                </a:solidFill>
                <a:latin typeface="Poppins"/>
              </a:rPr>
              <a:t>COLLOCAZIONE DEL PRIMARIO</a:t>
            </a:r>
          </a:p>
        </p:txBody>
      </p:sp>
      <p:cxnSp>
        <p:nvCxnSpPr>
          <p:cNvPr id="15" name="Connector 14"/>
          <p:cNvCxnSpPr/>
          <p:nvPr/>
        </p:nvCxnSpPr>
        <p:spPr>
          <a:xfrm>
            <a:off x="9180000" y="1908000"/>
            <a:ext cx="0" cy="288000"/>
          </a:xfrm>
          <a:prstGeom prst="line">
            <a:avLst/>
          </a:prstGeom>
          <a:ln w="2540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956000" y="2196000"/>
            <a:ext cx="2448000" cy="37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63999" y="2311200"/>
            <a:ext cx="2232000" cy="115200"/>
          </a:xfrm>
          <a:prstGeom prst="rect">
            <a:avLst/>
          </a:prstGeom>
          <a:noFill/>
        </p:spPr>
        <p:txBody>
          <a:bodyPr wrap="square" lIns="14400" rIns="14400" tIns="14400" bIns="14400" anchor="t">
            <a:spAutoFit/>
          </a:bodyPr>
          <a:lstStyle/>
          <a:p>
            <a:pPr algn="ctr"/>
            <a:r>
              <a:rPr sz="900" b="1">
                <a:solidFill>
                  <a:srgbClr val="004481"/>
                </a:solidFill>
                <a:latin typeface="Poppins"/>
              </a:rPr>
              <a:t>PRIMARIO ATTUALE + REPLICA</a:t>
            </a:r>
          </a:p>
        </p:txBody>
      </p:sp>
      <p:sp>
        <p:nvSpPr>
          <p:cNvPr id="18" name="Rounded Rectangle 17"/>
          <p:cNvSpPr/>
          <p:nvPr/>
        </p:nvSpPr>
        <p:spPr>
          <a:xfrm>
            <a:off x="324000" y="2951999"/>
            <a:ext cx="2520000" cy="1655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0000" y="3078000"/>
            <a:ext cx="396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200" y="3124800"/>
            <a:ext cx="309600" cy="90000"/>
          </a:xfrm>
          <a:prstGeom prst="rect">
            <a:avLst/>
          </a:prstGeom>
          <a:noFill/>
        </p:spPr>
        <p:txBody>
          <a:bodyPr wrap="square" lIns="14400" rIns="14400" tIns="14400" bIns="14400" anchor="t">
            <a:spAutoFit/>
          </a:bodyPr>
          <a:lstStyle/>
          <a:p>
            <a:pPr algn="ctr"/>
            <a:r>
              <a:rPr sz="800" b="1">
                <a:solidFill>
                  <a:srgbClr val="FFFFFF"/>
                </a:solidFill>
                <a:latin typeface="Poppins"/>
              </a:rPr>
              <a:t>01</a:t>
            </a:r>
          </a:p>
        </p:txBody>
      </p:sp>
      <p:sp>
        <p:nvSpPr>
          <p:cNvPr id="21" name="TextBox 20"/>
          <p:cNvSpPr txBox="1"/>
          <p:nvPr/>
        </p:nvSpPr>
        <p:spPr>
          <a:xfrm>
            <a:off x="450000" y="3438000"/>
            <a:ext cx="2268000" cy="360000"/>
          </a:xfrm>
          <a:prstGeom prst="rect">
            <a:avLst/>
          </a:prstGeom>
          <a:noFill/>
        </p:spPr>
        <p:txBody>
          <a:bodyPr wrap="square" lIns="14400" rIns="14400" tIns="14400" bIns="14400" anchor="t">
            <a:spAutoFit/>
          </a:bodyPr>
          <a:lstStyle/>
          <a:p>
            <a:pPr algn="l"/>
            <a:r>
              <a:rPr sz="1100" b="1">
                <a:solidFill>
                  <a:srgbClr val="004481"/>
                </a:solidFill>
                <a:latin typeface="Poppins"/>
              </a:rPr>
              <a:t>Infrastruttura attuale</a:t>
            </a:r>
          </a:p>
        </p:txBody>
      </p:sp>
      <p:sp>
        <p:nvSpPr>
          <p:cNvPr id="22" name="TextBox 21"/>
          <p:cNvSpPr txBox="1"/>
          <p:nvPr/>
        </p:nvSpPr>
        <p:spPr>
          <a:xfrm>
            <a:off x="450000" y="3960000"/>
            <a:ext cx="2268000" cy="324000"/>
          </a:xfrm>
          <a:prstGeom prst="rect">
            <a:avLst/>
          </a:prstGeom>
          <a:noFill/>
        </p:spPr>
        <p:txBody>
          <a:bodyPr wrap="square" lIns="14400" rIns="14400" tIns="14400" bIns="14400" anchor="t">
            <a:spAutoFit/>
          </a:bodyPr>
          <a:lstStyle/>
          <a:p>
            <a:pPr algn="l"/>
            <a:r>
              <a:rPr sz="850" b="0">
                <a:solidFill>
                  <a:srgbClr val="67737E"/>
                </a:solidFill>
                <a:latin typeface="Poppins"/>
              </a:rPr>
              <a:t>Continuità e cambiamento minimo</a:t>
            </a:r>
          </a:p>
        </p:txBody>
      </p:sp>
      <p:sp>
        <p:nvSpPr>
          <p:cNvPr id="23" name="Rounded Rectangle 22"/>
          <p:cNvSpPr/>
          <p:nvPr/>
        </p:nvSpPr>
        <p:spPr>
          <a:xfrm>
            <a:off x="3150000" y="2951999"/>
            <a:ext cx="2520000" cy="1655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276000" y="3078000"/>
            <a:ext cx="396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19199" y="3124800"/>
            <a:ext cx="309600" cy="90000"/>
          </a:xfrm>
          <a:prstGeom prst="rect">
            <a:avLst/>
          </a:prstGeom>
          <a:noFill/>
        </p:spPr>
        <p:txBody>
          <a:bodyPr wrap="square" lIns="14400" rIns="14400" tIns="14400" bIns="14400" anchor="t">
            <a:spAutoFit/>
          </a:bodyPr>
          <a:lstStyle/>
          <a:p>
            <a:pPr algn="ctr"/>
            <a:r>
              <a:rPr sz="800" b="1">
                <a:solidFill>
                  <a:srgbClr val="FFFFFF"/>
                </a:solidFill>
                <a:latin typeface="Poppins"/>
              </a:rPr>
              <a:t>02</a:t>
            </a:r>
          </a:p>
        </p:txBody>
      </p:sp>
      <p:sp>
        <p:nvSpPr>
          <p:cNvPr id="26" name="TextBox 25"/>
          <p:cNvSpPr txBox="1"/>
          <p:nvPr/>
        </p:nvSpPr>
        <p:spPr>
          <a:xfrm>
            <a:off x="3276000" y="3438000"/>
            <a:ext cx="2268000" cy="360000"/>
          </a:xfrm>
          <a:prstGeom prst="rect">
            <a:avLst/>
          </a:prstGeom>
          <a:noFill/>
        </p:spPr>
        <p:txBody>
          <a:bodyPr wrap="square" lIns="14400" rIns="14400" tIns="14400" bIns="14400" anchor="t">
            <a:spAutoFit/>
          </a:bodyPr>
          <a:lstStyle/>
          <a:p>
            <a:pPr algn="l"/>
            <a:r>
              <a:rPr sz="1100" b="1">
                <a:solidFill>
                  <a:srgbClr val="004481"/>
                </a:solidFill>
                <a:latin typeface="Poppins"/>
              </a:rPr>
              <a:t>Primario su Azure Guber</a:t>
            </a:r>
          </a:p>
        </p:txBody>
      </p:sp>
      <p:sp>
        <p:nvSpPr>
          <p:cNvPr id="27" name="TextBox 26"/>
          <p:cNvSpPr txBox="1"/>
          <p:nvPr/>
        </p:nvSpPr>
        <p:spPr>
          <a:xfrm>
            <a:off x="3276000" y="3960000"/>
            <a:ext cx="2268000" cy="324000"/>
          </a:xfrm>
          <a:prstGeom prst="rect">
            <a:avLst/>
          </a:prstGeom>
          <a:noFill/>
        </p:spPr>
        <p:txBody>
          <a:bodyPr wrap="square" lIns="14400" rIns="14400" tIns="14400" bIns="14400" anchor="t">
            <a:spAutoFit/>
          </a:bodyPr>
          <a:lstStyle/>
          <a:p>
            <a:pPr algn="l"/>
            <a:r>
              <a:rPr sz="850" b="0">
                <a:solidFill>
                  <a:srgbClr val="67737E"/>
                </a:solidFill>
                <a:latin typeface="Poppins"/>
              </a:rPr>
              <a:t>Ownership Guber e governance Azure</a:t>
            </a:r>
          </a:p>
        </p:txBody>
      </p:sp>
      <p:sp>
        <p:nvSpPr>
          <p:cNvPr id="28" name="Rounded Rectangle 27"/>
          <p:cNvSpPr/>
          <p:nvPr/>
        </p:nvSpPr>
        <p:spPr>
          <a:xfrm>
            <a:off x="5975999" y="2951999"/>
            <a:ext cx="2520000" cy="1655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02000" y="3078000"/>
            <a:ext cx="396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45200" y="3124800"/>
            <a:ext cx="309600" cy="90000"/>
          </a:xfrm>
          <a:prstGeom prst="rect">
            <a:avLst/>
          </a:prstGeom>
          <a:noFill/>
        </p:spPr>
        <p:txBody>
          <a:bodyPr wrap="square" lIns="14400" rIns="14400" tIns="14400" bIns="14400" anchor="t">
            <a:spAutoFit/>
          </a:bodyPr>
          <a:lstStyle/>
          <a:p>
            <a:pPr algn="ctr"/>
            <a:r>
              <a:rPr sz="800" b="1">
                <a:solidFill>
                  <a:srgbClr val="FFFFFF"/>
                </a:solidFill>
                <a:latin typeface="Poppins"/>
              </a:rPr>
              <a:t>03</a:t>
            </a:r>
          </a:p>
        </p:txBody>
      </p:sp>
      <p:sp>
        <p:nvSpPr>
          <p:cNvPr id="31" name="TextBox 30"/>
          <p:cNvSpPr txBox="1"/>
          <p:nvPr/>
        </p:nvSpPr>
        <p:spPr>
          <a:xfrm>
            <a:off x="6102000" y="3438000"/>
            <a:ext cx="2268000" cy="360000"/>
          </a:xfrm>
          <a:prstGeom prst="rect">
            <a:avLst/>
          </a:prstGeom>
          <a:noFill/>
        </p:spPr>
        <p:txBody>
          <a:bodyPr wrap="square" lIns="14400" rIns="14400" tIns="14400" bIns="14400" anchor="t">
            <a:spAutoFit/>
          </a:bodyPr>
          <a:lstStyle/>
          <a:p>
            <a:pPr algn="l"/>
            <a:r>
              <a:rPr sz="1100" b="1">
                <a:solidFill>
                  <a:srgbClr val="004481"/>
                </a:solidFill>
                <a:latin typeface="Poppins"/>
              </a:rPr>
              <a:t>Primario su AWS Guber</a:t>
            </a:r>
          </a:p>
        </p:txBody>
      </p:sp>
      <p:sp>
        <p:nvSpPr>
          <p:cNvPr id="32" name="TextBox 31"/>
          <p:cNvSpPr txBox="1"/>
          <p:nvPr/>
        </p:nvSpPr>
        <p:spPr>
          <a:xfrm>
            <a:off x="6102000" y="3960000"/>
            <a:ext cx="2268000" cy="324000"/>
          </a:xfrm>
          <a:prstGeom prst="rect">
            <a:avLst/>
          </a:prstGeom>
          <a:noFill/>
        </p:spPr>
        <p:txBody>
          <a:bodyPr wrap="square" lIns="14400" rIns="14400" tIns="14400" bIns="14400" anchor="t">
            <a:spAutoFit/>
          </a:bodyPr>
          <a:lstStyle/>
          <a:p>
            <a:pPr algn="l"/>
            <a:r>
              <a:rPr sz="850" b="0">
                <a:solidFill>
                  <a:srgbClr val="67737E"/>
                </a:solidFill>
                <a:latin typeface="Poppins"/>
              </a:rPr>
              <a:t>Ownership Guber e target AWS Francoforte</a:t>
            </a:r>
          </a:p>
        </p:txBody>
      </p:sp>
      <p:sp>
        <p:nvSpPr>
          <p:cNvPr id="33" name="Rounded Rectangle 32"/>
          <p:cNvSpPr/>
          <p:nvPr/>
        </p:nvSpPr>
        <p:spPr>
          <a:xfrm>
            <a:off x="8801999" y="2951999"/>
            <a:ext cx="2520000" cy="1655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927999" y="3078000"/>
            <a:ext cx="396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71200" y="3124800"/>
            <a:ext cx="309600" cy="90000"/>
          </a:xfrm>
          <a:prstGeom prst="rect">
            <a:avLst/>
          </a:prstGeom>
          <a:noFill/>
        </p:spPr>
        <p:txBody>
          <a:bodyPr wrap="square" lIns="14400" rIns="14400" tIns="14400" bIns="14400" anchor="t">
            <a:spAutoFit/>
          </a:bodyPr>
          <a:lstStyle/>
          <a:p>
            <a:pPr algn="ctr"/>
            <a:r>
              <a:rPr sz="800" b="1">
                <a:solidFill>
                  <a:srgbClr val="FFFFFF"/>
                </a:solidFill>
                <a:latin typeface="Poppins"/>
              </a:rPr>
              <a:t>04</a:t>
            </a:r>
          </a:p>
        </p:txBody>
      </p:sp>
      <p:sp>
        <p:nvSpPr>
          <p:cNvPr id="36" name="TextBox 35"/>
          <p:cNvSpPr txBox="1"/>
          <p:nvPr/>
        </p:nvSpPr>
        <p:spPr>
          <a:xfrm>
            <a:off x="8927999" y="3438000"/>
            <a:ext cx="2268000" cy="360000"/>
          </a:xfrm>
          <a:prstGeom prst="rect">
            <a:avLst/>
          </a:prstGeom>
          <a:noFill/>
        </p:spPr>
        <p:txBody>
          <a:bodyPr wrap="square" lIns="14400" rIns="14400" tIns="14400" bIns="14400" anchor="t">
            <a:spAutoFit/>
          </a:bodyPr>
          <a:lstStyle/>
          <a:p>
            <a:pPr algn="l"/>
            <a:r>
              <a:rPr sz="1100" b="1">
                <a:solidFill>
                  <a:srgbClr val="004481"/>
                </a:solidFill>
                <a:latin typeface="Poppins"/>
              </a:rPr>
              <a:t>Primario on-premise Guber</a:t>
            </a:r>
          </a:p>
        </p:txBody>
      </p:sp>
      <p:sp>
        <p:nvSpPr>
          <p:cNvPr id="37" name="TextBox 36"/>
          <p:cNvSpPr txBox="1"/>
          <p:nvPr/>
        </p:nvSpPr>
        <p:spPr>
          <a:xfrm>
            <a:off x="8927999" y="3960000"/>
            <a:ext cx="2268000" cy="324000"/>
          </a:xfrm>
          <a:prstGeom prst="rect">
            <a:avLst/>
          </a:prstGeom>
          <a:noFill/>
        </p:spPr>
        <p:txBody>
          <a:bodyPr wrap="square" lIns="14400" rIns="14400" tIns="14400" bIns="14400" anchor="t">
            <a:spAutoFit/>
          </a:bodyPr>
          <a:lstStyle/>
          <a:p>
            <a:pPr algn="l"/>
            <a:r>
              <a:rPr sz="850" b="0">
                <a:solidFill>
                  <a:srgbClr val="67737E"/>
                </a:solidFill>
                <a:latin typeface="Poppins"/>
              </a:rPr>
              <a:t>Controllo infrastrutturale diretto</a:t>
            </a:r>
          </a:p>
        </p:txBody>
      </p:sp>
      <p:sp>
        <p:nvSpPr>
          <p:cNvPr id="38" name="Rounded Rectangle 37"/>
          <p:cNvSpPr/>
          <p:nvPr/>
        </p:nvSpPr>
        <p:spPr>
          <a:xfrm>
            <a:off x="6263999" y="4842000"/>
            <a:ext cx="2520000" cy="118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390000" y="4968000"/>
            <a:ext cx="396000" cy="198000"/>
          </a:xfrm>
          <a:prstGeom prst="round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3200" y="5014800"/>
            <a:ext cx="309600" cy="90000"/>
          </a:xfrm>
          <a:prstGeom prst="rect">
            <a:avLst/>
          </a:prstGeom>
          <a:noFill/>
        </p:spPr>
        <p:txBody>
          <a:bodyPr wrap="square" lIns="14400" rIns="14400" tIns="14400" bIns="14400" anchor="t">
            <a:spAutoFit/>
          </a:bodyPr>
          <a:lstStyle/>
          <a:p>
            <a:pPr algn="ctr"/>
            <a:r>
              <a:rPr sz="800" b="1">
                <a:solidFill>
                  <a:srgbClr val="FFFFFF"/>
                </a:solidFill>
                <a:latin typeface="Poppins"/>
              </a:rPr>
              <a:t>05</a:t>
            </a:r>
          </a:p>
        </p:txBody>
      </p:sp>
      <p:sp>
        <p:nvSpPr>
          <p:cNvPr id="41" name="TextBox 40"/>
          <p:cNvSpPr txBox="1"/>
          <p:nvPr/>
        </p:nvSpPr>
        <p:spPr>
          <a:xfrm>
            <a:off x="6390000" y="5310000"/>
            <a:ext cx="2268000" cy="288000"/>
          </a:xfrm>
          <a:prstGeom prst="rect">
            <a:avLst/>
          </a:prstGeom>
          <a:noFill/>
        </p:spPr>
        <p:txBody>
          <a:bodyPr wrap="square" lIns="14400" rIns="14400" tIns="14400" bIns="14400" anchor="t">
            <a:spAutoFit/>
          </a:bodyPr>
          <a:lstStyle/>
          <a:p>
            <a:pPr algn="l"/>
            <a:r>
              <a:rPr sz="1050" b="1">
                <a:solidFill>
                  <a:srgbClr val="004481"/>
                </a:solidFill>
                <a:latin typeface="Poppins"/>
              </a:rPr>
              <a:t>Replica on-premise Guber</a:t>
            </a:r>
          </a:p>
        </p:txBody>
      </p:sp>
      <p:sp>
        <p:nvSpPr>
          <p:cNvPr id="42" name="TextBox 41"/>
          <p:cNvSpPr txBox="1"/>
          <p:nvPr/>
        </p:nvSpPr>
        <p:spPr>
          <a:xfrm>
            <a:off x="6390000" y="5634000"/>
            <a:ext cx="2268000" cy="162000"/>
          </a:xfrm>
          <a:prstGeom prst="rect">
            <a:avLst/>
          </a:prstGeom>
          <a:noFill/>
        </p:spPr>
        <p:txBody>
          <a:bodyPr wrap="square" lIns="14400" rIns="14400" tIns="14400" bIns="14400" anchor="t">
            <a:spAutoFit/>
          </a:bodyPr>
          <a:lstStyle/>
          <a:p>
            <a:pPr algn="l"/>
            <a:r>
              <a:rPr sz="800" b="0">
                <a:solidFill>
                  <a:srgbClr val="67737E"/>
                </a:solidFill>
                <a:latin typeface="Poppins"/>
              </a:rPr>
              <a:t>Replica read-only presso Guber</a:t>
            </a:r>
          </a:p>
        </p:txBody>
      </p:sp>
      <p:sp>
        <p:nvSpPr>
          <p:cNvPr id="43" name="Rounded Rectangle 42"/>
          <p:cNvSpPr/>
          <p:nvPr/>
        </p:nvSpPr>
        <p:spPr>
          <a:xfrm>
            <a:off x="9090000" y="4842000"/>
            <a:ext cx="2520000" cy="118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16000" y="4968000"/>
            <a:ext cx="396000" cy="198000"/>
          </a:xfrm>
          <a:prstGeom prst="round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59200" y="5014800"/>
            <a:ext cx="309600" cy="90000"/>
          </a:xfrm>
          <a:prstGeom prst="rect">
            <a:avLst/>
          </a:prstGeom>
          <a:noFill/>
        </p:spPr>
        <p:txBody>
          <a:bodyPr wrap="square" lIns="14400" rIns="14400" tIns="14400" bIns="14400" anchor="t">
            <a:spAutoFit/>
          </a:bodyPr>
          <a:lstStyle/>
          <a:p>
            <a:pPr algn="ctr"/>
            <a:r>
              <a:rPr sz="800" b="1">
                <a:solidFill>
                  <a:srgbClr val="FFFFFF"/>
                </a:solidFill>
                <a:latin typeface="Poppins"/>
              </a:rPr>
              <a:t>06</a:t>
            </a:r>
          </a:p>
        </p:txBody>
      </p:sp>
      <p:sp>
        <p:nvSpPr>
          <p:cNvPr id="46" name="TextBox 45"/>
          <p:cNvSpPr txBox="1"/>
          <p:nvPr/>
        </p:nvSpPr>
        <p:spPr>
          <a:xfrm>
            <a:off x="9216000" y="5310000"/>
            <a:ext cx="2268000" cy="288000"/>
          </a:xfrm>
          <a:prstGeom prst="rect">
            <a:avLst/>
          </a:prstGeom>
          <a:noFill/>
        </p:spPr>
        <p:txBody>
          <a:bodyPr wrap="square" lIns="14400" rIns="14400" tIns="14400" bIns="14400" anchor="t">
            <a:spAutoFit/>
          </a:bodyPr>
          <a:lstStyle/>
          <a:p>
            <a:pPr algn="l"/>
            <a:r>
              <a:rPr sz="1050" b="1">
                <a:solidFill>
                  <a:srgbClr val="004481"/>
                </a:solidFill>
                <a:latin typeface="Poppins"/>
              </a:rPr>
              <a:t>Replica su Azure Guber</a:t>
            </a:r>
          </a:p>
        </p:txBody>
      </p:sp>
      <p:sp>
        <p:nvSpPr>
          <p:cNvPr id="47" name="TextBox 46"/>
          <p:cNvSpPr txBox="1"/>
          <p:nvPr/>
        </p:nvSpPr>
        <p:spPr>
          <a:xfrm>
            <a:off x="9216000" y="5634000"/>
            <a:ext cx="2268000" cy="162000"/>
          </a:xfrm>
          <a:prstGeom prst="rect">
            <a:avLst/>
          </a:prstGeom>
          <a:noFill/>
        </p:spPr>
        <p:txBody>
          <a:bodyPr wrap="square" lIns="14400" rIns="14400" tIns="14400" bIns="14400" anchor="t">
            <a:spAutoFit/>
          </a:bodyPr>
          <a:lstStyle/>
          <a:p>
            <a:pPr algn="l"/>
            <a:r>
              <a:rPr sz="800" b="0">
                <a:solidFill>
                  <a:srgbClr val="67737E"/>
                </a:solidFill>
                <a:latin typeface="Poppins"/>
              </a:rPr>
              <a:t>Replica read-only presso Guber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SCENARIO 01</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Infrastruttura attuale: continuità e cambiamento minimo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Profilo preliminare; fattibilità e costo dipendono dai gate tecnici indicati.</a:t>
            </a:r>
          </a:p>
        </p:txBody>
      </p:sp>
      <p:sp>
        <p:nvSpPr>
          <p:cNvPr id="8" name="Rounded Rectangle 7"/>
          <p:cNvSpPr/>
          <p:nvPr/>
        </p:nvSpPr>
        <p:spPr>
          <a:xfrm>
            <a:off x="10152000" y="503999"/>
            <a:ext cx="133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95200" y="550799"/>
            <a:ext cx="1245600" cy="90000"/>
          </a:xfrm>
          <a:prstGeom prst="rect">
            <a:avLst/>
          </a:prstGeom>
          <a:noFill/>
        </p:spPr>
        <p:txBody>
          <a:bodyPr wrap="square" lIns="14400" rIns="14400" tIns="14400" bIns="14400" anchor="t">
            <a:spAutoFit/>
          </a:bodyPr>
          <a:lstStyle/>
          <a:p>
            <a:pPr algn="ctr"/>
            <a:r>
              <a:rPr sz="800" b="1">
                <a:solidFill>
                  <a:srgbClr val="004481"/>
                </a:solidFill>
                <a:latin typeface="Poppins"/>
              </a:rPr>
              <a:t>PRIMARIO</a:t>
            </a:r>
          </a:p>
        </p:txBody>
      </p:sp>
      <p:sp>
        <p:nvSpPr>
          <p:cNvPr id="10" name="Rounded Rectangle 9"/>
          <p:cNvSpPr/>
          <p:nvPr/>
        </p:nvSpPr>
        <p:spPr>
          <a:xfrm>
            <a:off x="396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6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Guber</a:t>
            </a:r>
          </a:p>
        </p:txBody>
      </p:sp>
      <p:cxnSp>
        <p:nvCxnSpPr>
          <p:cNvPr id="12" name="Connector 11"/>
          <p:cNvCxnSpPr/>
          <p:nvPr/>
        </p:nvCxnSpPr>
        <p:spPr>
          <a:xfrm>
            <a:off x="3168000" y="1576800"/>
            <a:ext cx="629999"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24000" y="1296000"/>
            <a:ext cx="2772000" cy="55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Accesso SQL governato</a:t>
            </a:r>
          </a:p>
        </p:txBody>
      </p:sp>
      <p:cxnSp>
        <p:nvCxnSpPr>
          <p:cNvPr id="15" name="Connector 14"/>
          <p:cNvCxnSpPr/>
          <p:nvPr/>
        </p:nvCxnSpPr>
        <p:spPr>
          <a:xfrm>
            <a:off x="6696000" y="1576800"/>
            <a:ext cx="630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52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2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NOVA attuale</a:t>
            </a:r>
          </a:p>
        </p:txBody>
      </p:sp>
      <p:sp>
        <p:nvSpPr>
          <p:cNvPr id="18" name="Rounded Rectangle 17"/>
          <p:cNvSpPr/>
          <p:nvPr/>
        </p:nvSpPr>
        <p:spPr>
          <a:xfrm>
            <a:off x="396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6000" y="2232000"/>
            <a:ext cx="343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PUNTI DI FORZA</a:t>
            </a:r>
          </a:p>
        </p:txBody>
      </p:sp>
      <p:sp>
        <p:nvSpPr>
          <p:cNvPr id="21" name="TextBox 20"/>
          <p:cNvSpPr txBox="1"/>
          <p:nvPr/>
        </p:nvSpPr>
        <p:spPr>
          <a:xfrm>
            <a:off x="486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Tempi più rapidi</a:t>
            </a:r>
          </a:p>
          <a:p>
            <a:pPr>
              <a:spcAft>
                <a:spcPts val="400"/>
              </a:spcAft>
              <a:defRPr sz="1000">
                <a:solidFill>
                  <a:srgbClr val="252D36"/>
                </a:solidFill>
                <a:latin typeface="Poppins"/>
              </a:defRPr>
            </a:pPr>
            <a:r>
              <a:t>•  Rischio migrazione contenuto</a:t>
            </a:r>
          </a:p>
          <a:p>
            <a:pPr>
              <a:spcAft>
                <a:spcPts val="400"/>
              </a:spcAft>
              <a:defRPr sz="1000">
                <a:solidFill>
                  <a:srgbClr val="252D36"/>
                </a:solidFill>
                <a:latin typeface="Poppins"/>
              </a:defRPr>
            </a:pPr>
            <a:r>
              <a:t>•  Alta reversibilità</a:t>
            </a:r>
          </a:p>
        </p:txBody>
      </p:sp>
      <p:sp>
        <p:nvSpPr>
          <p:cNvPr id="22" name="Rounded Rectangle 21"/>
          <p:cNvSpPr/>
          <p:nvPr/>
        </p:nvSpPr>
        <p:spPr>
          <a:xfrm>
            <a:off x="4050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50000" y="2232000"/>
            <a:ext cx="343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21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ATTENZIONI</a:t>
            </a:r>
          </a:p>
        </p:txBody>
      </p:sp>
      <p:sp>
        <p:nvSpPr>
          <p:cNvPr id="25" name="TextBox 24"/>
          <p:cNvSpPr txBox="1"/>
          <p:nvPr/>
        </p:nvSpPr>
        <p:spPr>
          <a:xfrm>
            <a:off x="4140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Ownership Guber limitata</a:t>
            </a:r>
          </a:p>
          <a:p>
            <a:pPr>
              <a:spcAft>
                <a:spcPts val="400"/>
              </a:spcAft>
              <a:defRPr sz="1000">
                <a:solidFill>
                  <a:srgbClr val="252D36"/>
                </a:solidFill>
                <a:latin typeface="Poppins"/>
              </a:defRPr>
            </a:pPr>
            <a:r>
              <a:t>•  Accesso da segregare</a:t>
            </a:r>
          </a:p>
          <a:p>
            <a:pPr>
              <a:spcAft>
                <a:spcPts val="400"/>
              </a:spcAft>
              <a:defRPr sz="1000">
                <a:solidFill>
                  <a:srgbClr val="252D36"/>
                </a:solidFill>
                <a:latin typeface="Poppins"/>
              </a:defRPr>
            </a:pPr>
            <a:r>
              <a:t>•  Dipendenza dall'ambiente corrente</a:t>
            </a:r>
          </a:p>
        </p:txBody>
      </p:sp>
      <p:sp>
        <p:nvSpPr>
          <p:cNvPr id="26" name="Rounded Rectangle 25"/>
          <p:cNvSpPr/>
          <p:nvPr/>
        </p:nvSpPr>
        <p:spPr>
          <a:xfrm>
            <a:off x="7703999"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03999" y="2232000"/>
            <a:ext cx="343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5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GATE DA VALIDARE</a:t>
            </a:r>
          </a:p>
        </p:txBody>
      </p:sp>
      <p:sp>
        <p:nvSpPr>
          <p:cNvPr id="29" name="TextBox 28"/>
          <p:cNvSpPr txBox="1"/>
          <p:nvPr/>
        </p:nvSpPr>
        <p:spPr>
          <a:xfrm>
            <a:off x="7793999"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Viste / schema read-only</a:t>
            </a:r>
          </a:p>
          <a:p>
            <a:pPr>
              <a:spcAft>
                <a:spcPts val="400"/>
              </a:spcAft>
              <a:defRPr sz="1000">
                <a:solidFill>
                  <a:srgbClr val="252D36"/>
                </a:solidFill>
                <a:latin typeface="Poppins"/>
              </a:defRPr>
            </a:pPr>
            <a:r>
              <a:t>•  Audit e capacità</a:t>
            </a:r>
          </a:p>
          <a:p>
            <a:pPr>
              <a:spcAft>
                <a:spcPts val="400"/>
              </a:spcAft>
              <a:defRPr sz="1000">
                <a:solidFill>
                  <a:srgbClr val="252D36"/>
                </a:solidFill>
                <a:latin typeface="Poppins"/>
              </a:defRPr>
            </a:pPr>
            <a:r>
              <a:t>•  SLA operativo</a:t>
            </a:r>
          </a:p>
        </p:txBody>
      </p:sp>
      <p:sp>
        <p:nvSpPr>
          <p:cNvPr id="30" name="Rounded Rectangle 29"/>
          <p:cNvSpPr/>
          <p:nvPr/>
        </p:nvSpPr>
        <p:spPr>
          <a:xfrm>
            <a:off x="396000" y="4410000"/>
            <a:ext cx="10746000" cy="882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UNA TANTUM</a:t>
            </a:r>
          </a:p>
        </p:txBody>
      </p:sp>
      <p:sp>
        <p:nvSpPr>
          <p:cNvPr id="32" name="TextBox 31"/>
          <p:cNvSpPr txBox="1"/>
          <p:nvPr/>
        </p:nvSpPr>
        <p:spPr>
          <a:xfrm>
            <a:off x="576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€ 15k–38k</a:t>
            </a:r>
          </a:p>
        </p:txBody>
      </p:sp>
      <p:sp>
        <p:nvSpPr>
          <p:cNvPr id="33" name="TextBox 32"/>
          <p:cNvSpPr txBox="1"/>
          <p:nvPr/>
        </p:nvSpPr>
        <p:spPr>
          <a:xfrm>
            <a:off x="4068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PIATTAFORMA / MESE</a:t>
            </a:r>
          </a:p>
        </p:txBody>
      </p:sp>
      <p:sp>
        <p:nvSpPr>
          <p:cNvPr id="34" name="TextBox 33"/>
          <p:cNvSpPr txBox="1"/>
          <p:nvPr/>
        </p:nvSpPr>
        <p:spPr>
          <a:xfrm>
            <a:off x="4068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€ 0,7k–2,4k</a:t>
            </a:r>
          </a:p>
        </p:txBody>
      </p:sp>
      <p:sp>
        <p:nvSpPr>
          <p:cNvPr id="35" name="TextBox 34"/>
          <p:cNvSpPr txBox="1"/>
          <p:nvPr/>
        </p:nvSpPr>
        <p:spPr>
          <a:xfrm>
            <a:off x="7560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TCO PIATTAFORMA · 3 ANNI</a:t>
            </a:r>
          </a:p>
        </p:txBody>
      </p:sp>
      <p:sp>
        <p:nvSpPr>
          <p:cNvPr id="36" name="TextBox 35"/>
          <p:cNvSpPr txBox="1"/>
          <p:nvPr/>
        </p:nvSpPr>
        <p:spPr>
          <a:xfrm>
            <a:off x="7560000" y="4770000"/>
            <a:ext cx="2951999" cy="198000"/>
          </a:xfrm>
          <a:prstGeom prst="rect">
            <a:avLst/>
          </a:prstGeom>
          <a:noFill/>
        </p:spPr>
        <p:txBody>
          <a:bodyPr wrap="square" lIns="14400" rIns="14400" tIns="14400" bIns="14400" anchor="t">
            <a:spAutoFit/>
          </a:bodyPr>
          <a:lstStyle/>
          <a:p>
            <a:pPr algn="ctr"/>
            <a:r>
              <a:rPr sz="1700" b="1">
                <a:solidFill>
                  <a:srgbClr val="007A82"/>
                </a:solidFill>
                <a:latin typeface="Poppins"/>
              </a:rPr>
              <a:t>€ 40k–124k</a:t>
            </a:r>
          </a:p>
        </p:txBody>
      </p:sp>
      <p:sp>
        <p:nvSpPr>
          <p:cNvPr id="37" name="TextBox 36"/>
          <p:cNvSpPr txBox="1"/>
          <p:nvPr/>
        </p:nvSpPr>
        <p:spPr>
          <a:xfrm>
            <a:off x="450000" y="5526000"/>
            <a:ext cx="10620000" cy="251999"/>
          </a:xfrm>
          <a:prstGeom prst="rect">
            <a:avLst/>
          </a:prstGeom>
          <a:noFill/>
        </p:spPr>
        <p:txBody>
          <a:bodyPr wrap="square" lIns="14400" rIns="14400" tIns="14400" bIns="14400" anchor="t">
            <a:spAutoFit/>
          </a:bodyPr>
          <a:lstStyle/>
          <a:p>
            <a:pPr algn="ctr"/>
            <a:r>
              <a:rPr sz="850" b="0">
                <a:solidFill>
                  <a:srgbClr val="67737E"/>
                </a:solidFill>
                <a:latin typeface="Poppins"/>
              </a:rPr>
              <a:t>Range di pianificazione · AM Novigo, team sostitutivo, licenze non note e DR geografico esclusi.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SCENARIO 02</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Primario su Azure Guber: ownership guber e governance azure</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Profilo preliminare; fattibilità e costo dipendono dai gate tecnici indicati.</a:t>
            </a:r>
          </a:p>
        </p:txBody>
      </p:sp>
      <p:sp>
        <p:nvSpPr>
          <p:cNvPr id="8" name="Rounded Rectangle 7"/>
          <p:cNvSpPr/>
          <p:nvPr/>
        </p:nvSpPr>
        <p:spPr>
          <a:xfrm>
            <a:off x="10152000" y="503999"/>
            <a:ext cx="133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95200" y="550799"/>
            <a:ext cx="1245600" cy="90000"/>
          </a:xfrm>
          <a:prstGeom prst="rect">
            <a:avLst/>
          </a:prstGeom>
          <a:noFill/>
        </p:spPr>
        <p:txBody>
          <a:bodyPr wrap="square" lIns="14400" rIns="14400" tIns="14400" bIns="14400" anchor="t">
            <a:spAutoFit/>
          </a:bodyPr>
          <a:lstStyle/>
          <a:p>
            <a:pPr algn="ctr"/>
            <a:r>
              <a:rPr sz="800" b="1">
                <a:solidFill>
                  <a:srgbClr val="004481"/>
                </a:solidFill>
                <a:latin typeface="Poppins"/>
              </a:rPr>
              <a:t>PRIMARIO</a:t>
            </a:r>
          </a:p>
        </p:txBody>
      </p:sp>
      <p:sp>
        <p:nvSpPr>
          <p:cNvPr id="10" name="Rounded Rectangle 9"/>
          <p:cNvSpPr/>
          <p:nvPr/>
        </p:nvSpPr>
        <p:spPr>
          <a:xfrm>
            <a:off x="396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6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Utenti / sistemi</a:t>
            </a:r>
          </a:p>
        </p:txBody>
      </p:sp>
      <p:cxnSp>
        <p:nvCxnSpPr>
          <p:cNvPr id="12" name="Connector 11"/>
          <p:cNvCxnSpPr/>
          <p:nvPr/>
        </p:nvCxnSpPr>
        <p:spPr>
          <a:xfrm>
            <a:off x="3168000" y="1576800"/>
            <a:ext cx="629999"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24000" y="1296000"/>
            <a:ext cx="2772000" cy="55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Azure Guber</a:t>
            </a:r>
          </a:p>
        </p:txBody>
      </p:sp>
      <p:cxnSp>
        <p:nvCxnSpPr>
          <p:cNvPr id="15" name="Connector 14"/>
          <p:cNvCxnSpPr/>
          <p:nvPr/>
        </p:nvCxnSpPr>
        <p:spPr>
          <a:xfrm>
            <a:off x="6696000" y="1576800"/>
            <a:ext cx="630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52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2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DB NOVA primario</a:t>
            </a:r>
          </a:p>
        </p:txBody>
      </p:sp>
      <p:sp>
        <p:nvSpPr>
          <p:cNvPr id="18" name="Rounded Rectangle 17"/>
          <p:cNvSpPr/>
          <p:nvPr/>
        </p:nvSpPr>
        <p:spPr>
          <a:xfrm>
            <a:off x="396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6000" y="2232000"/>
            <a:ext cx="343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PUNTI DI FORZA</a:t>
            </a:r>
          </a:p>
        </p:txBody>
      </p:sp>
      <p:sp>
        <p:nvSpPr>
          <p:cNvPr id="21" name="TextBox 20"/>
          <p:cNvSpPr txBox="1"/>
          <p:nvPr/>
        </p:nvSpPr>
        <p:spPr>
          <a:xfrm>
            <a:off x="486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Account e chiavi Guber</a:t>
            </a:r>
          </a:p>
          <a:p>
            <a:pPr>
              <a:spcAft>
                <a:spcPts val="400"/>
              </a:spcAft>
              <a:defRPr sz="1000">
                <a:solidFill>
                  <a:srgbClr val="252D36"/>
                </a:solidFill>
                <a:latin typeface="Poppins"/>
              </a:defRPr>
            </a:pPr>
            <a:r>
              <a:t>•  Elasticità</a:t>
            </a:r>
          </a:p>
          <a:p>
            <a:pPr>
              <a:spcAft>
                <a:spcPts val="400"/>
              </a:spcAft>
              <a:defRPr sz="1000">
                <a:solidFill>
                  <a:srgbClr val="252D36"/>
                </a:solidFill>
                <a:latin typeface="Poppins"/>
              </a:defRPr>
            </a:pPr>
            <a:r>
              <a:t>•  PaaS se compatibile</a:t>
            </a:r>
          </a:p>
        </p:txBody>
      </p:sp>
      <p:sp>
        <p:nvSpPr>
          <p:cNvPr id="22" name="Rounded Rectangle 21"/>
          <p:cNvSpPr/>
          <p:nvPr/>
        </p:nvSpPr>
        <p:spPr>
          <a:xfrm>
            <a:off x="4050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50000" y="2232000"/>
            <a:ext cx="343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21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ATTENZIONI</a:t>
            </a:r>
          </a:p>
        </p:txBody>
      </p:sp>
      <p:sp>
        <p:nvSpPr>
          <p:cNvPr id="25" name="TextBox 24"/>
          <p:cNvSpPr txBox="1"/>
          <p:nvPr/>
        </p:nvSpPr>
        <p:spPr>
          <a:xfrm>
            <a:off x="4140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Migrazione del primario</a:t>
            </a:r>
          </a:p>
          <a:p>
            <a:pPr>
              <a:spcAft>
                <a:spcPts val="400"/>
              </a:spcAft>
              <a:defRPr sz="1000">
                <a:solidFill>
                  <a:srgbClr val="252D36"/>
                </a:solidFill>
                <a:latin typeface="Poppins"/>
              </a:defRPr>
            </a:pPr>
            <a:r>
              <a:t>•  Dipendenza dalla rete</a:t>
            </a:r>
          </a:p>
          <a:p>
            <a:pPr>
              <a:spcAft>
                <a:spcPts val="400"/>
              </a:spcAft>
              <a:defRPr sz="1000">
                <a:solidFill>
                  <a:srgbClr val="252D36"/>
                </a:solidFill>
                <a:latin typeface="Poppins"/>
              </a:defRPr>
            </a:pPr>
            <a:r>
              <a:t>•  Run da assegnare</a:t>
            </a:r>
          </a:p>
        </p:txBody>
      </p:sp>
      <p:sp>
        <p:nvSpPr>
          <p:cNvPr id="26" name="Rounded Rectangle 25"/>
          <p:cNvSpPr/>
          <p:nvPr/>
        </p:nvSpPr>
        <p:spPr>
          <a:xfrm>
            <a:off x="7703999"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03999" y="2232000"/>
            <a:ext cx="343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5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GATE DA VALIDARE</a:t>
            </a:r>
          </a:p>
        </p:txBody>
      </p:sp>
      <p:sp>
        <p:nvSpPr>
          <p:cNvPr id="29" name="TextBox 28"/>
          <p:cNvSpPr txBox="1"/>
          <p:nvPr/>
        </p:nvSpPr>
        <p:spPr>
          <a:xfrm>
            <a:off x="7793999"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Landing zone</a:t>
            </a:r>
          </a:p>
          <a:p>
            <a:pPr>
              <a:spcAft>
                <a:spcPts val="400"/>
              </a:spcAft>
              <a:defRPr sz="1000">
                <a:solidFill>
                  <a:srgbClr val="252D36"/>
                </a:solidFill>
                <a:latin typeface="Poppins"/>
              </a:defRPr>
            </a:pPr>
            <a:r>
              <a:t>•  Compatibilità DB</a:t>
            </a:r>
          </a:p>
          <a:p>
            <a:pPr>
              <a:spcAft>
                <a:spcPts val="400"/>
              </a:spcAft>
              <a:defRPr sz="1000">
                <a:solidFill>
                  <a:srgbClr val="252D36"/>
                </a:solidFill>
                <a:latin typeface="Poppins"/>
              </a:defRPr>
            </a:pPr>
            <a:r>
              <a:t>•  Networking privato</a:t>
            </a:r>
          </a:p>
        </p:txBody>
      </p:sp>
      <p:sp>
        <p:nvSpPr>
          <p:cNvPr id="30" name="Rounded Rectangle 29"/>
          <p:cNvSpPr/>
          <p:nvPr/>
        </p:nvSpPr>
        <p:spPr>
          <a:xfrm>
            <a:off x="396000" y="4410000"/>
            <a:ext cx="10746000" cy="882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UNA TANTUM</a:t>
            </a:r>
          </a:p>
        </p:txBody>
      </p:sp>
      <p:sp>
        <p:nvSpPr>
          <p:cNvPr id="32" name="TextBox 31"/>
          <p:cNvSpPr txBox="1"/>
          <p:nvPr/>
        </p:nvSpPr>
        <p:spPr>
          <a:xfrm>
            <a:off x="576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€ 49k–128k</a:t>
            </a:r>
          </a:p>
        </p:txBody>
      </p:sp>
      <p:sp>
        <p:nvSpPr>
          <p:cNvPr id="33" name="TextBox 32"/>
          <p:cNvSpPr txBox="1"/>
          <p:nvPr/>
        </p:nvSpPr>
        <p:spPr>
          <a:xfrm>
            <a:off x="4068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PIATTAFORMA / MESE</a:t>
            </a:r>
          </a:p>
        </p:txBody>
      </p:sp>
      <p:sp>
        <p:nvSpPr>
          <p:cNvPr id="34" name="TextBox 33"/>
          <p:cNvSpPr txBox="1"/>
          <p:nvPr/>
        </p:nvSpPr>
        <p:spPr>
          <a:xfrm>
            <a:off x="4068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€ 1,75k–5,3k</a:t>
            </a:r>
          </a:p>
        </p:txBody>
      </p:sp>
      <p:sp>
        <p:nvSpPr>
          <p:cNvPr id="35" name="TextBox 34"/>
          <p:cNvSpPr txBox="1"/>
          <p:nvPr/>
        </p:nvSpPr>
        <p:spPr>
          <a:xfrm>
            <a:off x="7560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TCO PIATTAFORMA · 3 ANNI</a:t>
            </a:r>
          </a:p>
        </p:txBody>
      </p:sp>
      <p:sp>
        <p:nvSpPr>
          <p:cNvPr id="36" name="TextBox 35"/>
          <p:cNvSpPr txBox="1"/>
          <p:nvPr/>
        </p:nvSpPr>
        <p:spPr>
          <a:xfrm>
            <a:off x="7560000" y="4770000"/>
            <a:ext cx="2951999" cy="198000"/>
          </a:xfrm>
          <a:prstGeom prst="rect">
            <a:avLst/>
          </a:prstGeom>
          <a:noFill/>
        </p:spPr>
        <p:txBody>
          <a:bodyPr wrap="square" lIns="14400" rIns="14400" tIns="14400" bIns="14400" anchor="t">
            <a:spAutoFit/>
          </a:bodyPr>
          <a:lstStyle/>
          <a:p>
            <a:pPr algn="ctr"/>
            <a:r>
              <a:rPr sz="1700" b="1">
                <a:solidFill>
                  <a:srgbClr val="007A82"/>
                </a:solidFill>
                <a:latin typeface="Poppins"/>
              </a:rPr>
              <a:t>€ 112k–319k</a:t>
            </a:r>
          </a:p>
        </p:txBody>
      </p:sp>
      <p:sp>
        <p:nvSpPr>
          <p:cNvPr id="37" name="TextBox 36"/>
          <p:cNvSpPr txBox="1"/>
          <p:nvPr/>
        </p:nvSpPr>
        <p:spPr>
          <a:xfrm>
            <a:off x="450000" y="5526000"/>
            <a:ext cx="10620000" cy="251999"/>
          </a:xfrm>
          <a:prstGeom prst="rect">
            <a:avLst/>
          </a:prstGeom>
          <a:noFill/>
        </p:spPr>
        <p:txBody>
          <a:bodyPr wrap="square" lIns="14400" rIns="14400" tIns="14400" bIns="14400" anchor="t">
            <a:spAutoFit/>
          </a:bodyPr>
          <a:lstStyle/>
          <a:p>
            <a:pPr algn="ctr"/>
            <a:r>
              <a:rPr sz="850" b="0">
                <a:solidFill>
                  <a:srgbClr val="67737E"/>
                </a:solidFill>
                <a:latin typeface="Poppins"/>
              </a:rPr>
              <a:t>Range di pianificazione · AM Novigo, team sostitutivo, licenze non note e DR geografico esclusi.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SCENARIO 03</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Primario su AWS Guber: ownership guber e target aws francoforte</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Profilo preliminare; fattibilità e costo dipendono dai gate tecnici indicati.</a:t>
            </a:r>
          </a:p>
        </p:txBody>
      </p:sp>
      <p:sp>
        <p:nvSpPr>
          <p:cNvPr id="8" name="Rounded Rectangle 7"/>
          <p:cNvSpPr/>
          <p:nvPr/>
        </p:nvSpPr>
        <p:spPr>
          <a:xfrm>
            <a:off x="10152000" y="503999"/>
            <a:ext cx="133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95200" y="550799"/>
            <a:ext cx="1245600" cy="90000"/>
          </a:xfrm>
          <a:prstGeom prst="rect">
            <a:avLst/>
          </a:prstGeom>
          <a:noFill/>
        </p:spPr>
        <p:txBody>
          <a:bodyPr wrap="square" lIns="14400" rIns="14400" tIns="14400" bIns="14400" anchor="t">
            <a:spAutoFit/>
          </a:bodyPr>
          <a:lstStyle/>
          <a:p>
            <a:pPr algn="ctr"/>
            <a:r>
              <a:rPr sz="800" b="1">
                <a:solidFill>
                  <a:srgbClr val="004481"/>
                </a:solidFill>
                <a:latin typeface="Poppins"/>
              </a:rPr>
              <a:t>PRIMARIO</a:t>
            </a:r>
          </a:p>
        </p:txBody>
      </p:sp>
      <p:sp>
        <p:nvSpPr>
          <p:cNvPr id="10" name="Rounded Rectangle 9"/>
          <p:cNvSpPr/>
          <p:nvPr/>
        </p:nvSpPr>
        <p:spPr>
          <a:xfrm>
            <a:off x="396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6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Utenti / sistemi</a:t>
            </a:r>
          </a:p>
        </p:txBody>
      </p:sp>
      <p:cxnSp>
        <p:nvCxnSpPr>
          <p:cNvPr id="12" name="Connector 11"/>
          <p:cNvCxnSpPr/>
          <p:nvPr/>
        </p:nvCxnSpPr>
        <p:spPr>
          <a:xfrm>
            <a:off x="3168000" y="1576800"/>
            <a:ext cx="629999"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24000" y="1296000"/>
            <a:ext cx="2772000" cy="55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AWS eu-central-1</a:t>
            </a:r>
          </a:p>
        </p:txBody>
      </p:sp>
      <p:cxnSp>
        <p:nvCxnSpPr>
          <p:cNvPr id="15" name="Connector 14"/>
          <p:cNvCxnSpPr/>
          <p:nvPr/>
        </p:nvCxnSpPr>
        <p:spPr>
          <a:xfrm>
            <a:off x="6696000" y="1576800"/>
            <a:ext cx="630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52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2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DB NOVA primario</a:t>
            </a:r>
          </a:p>
        </p:txBody>
      </p:sp>
      <p:sp>
        <p:nvSpPr>
          <p:cNvPr id="18" name="Rounded Rectangle 17"/>
          <p:cNvSpPr/>
          <p:nvPr/>
        </p:nvSpPr>
        <p:spPr>
          <a:xfrm>
            <a:off x="396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6000" y="2232000"/>
            <a:ext cx="343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PUNTI DI FORZA</a:t>
            </a:r>
          </a:p>
        </p:txBody>
      </p:sp>
      <p:sp>
        <p:nvSpPr>
          <p:cNvPr id="21" name="TextBox 20"/>
          <p:cNvSpPr txBox="1"/>
          <p:nvPr/>
        </p:nvSpPr>
        <p:spPr>
          <a:xfrm>
            <a:off x="486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Account e chiavi Guber</a:t>
            </a:r>
          </a:p>
          <a:p>
            <a:pPr>
              <a:spcAft>
                <a:spcPts val="400"/>
              </a:spcAft>
              <a:defRPr sz="1000">
                <a:solidFill>
                  <a:srgbClr val="252D36"/>
                </a:solidFill>
                <a:latin typeface="Poppins"/>
              </a:defRPr>
            </a:pPr>
            <a:r>
              <a:t>•  Servizi gestiti</a:t>
            </a:r>
          </a:p>
          <a:p>
            <a:pPr>
              <a:spcAft>
                <a:spcPts val="400"/>
              </a:spcAft>
              <a:defRPr sz="1000">
                <a:solidFill>
                  <a:srgbClr val="252D36"/>
                </a:solidFill>
                <a:latin typeface="Poppins"/>
              </a:defRPr>
            </a:pPr>
            <a:r>
              <a:t>•  Coerenza con S3</a:t>
            </a:r>
          </a:p>
        </p:txBody>
      </p:sp>
      <p:sp>
        <p:nvSpPr>
          <p:cNvPr id="22" name="Rounded Rectangle 21"/>
          <p:cNvSpPr/>
          <p:nvPr/>
        </p:nvSpPr>
        <p:spPr>
          <a:xfrm>
            <a:off x="4050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50000" y="2232000"/>
            <a:ext cx="343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21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ATTENZIONI</a:t>
            </a:r>
          </a:p>
        </p:txBody>
      </p:sp>
      <p:sp>
        <p:nvSpPr>
          <p:cNvPr id="25" name="TextBox 24"/>
          <p:cNvSpPr txBox="1"/>
          <p:nvPr/>
        </p:nvSpPr>
        <p:spPr>
          <a:xfrm>
            <a:off x="4140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Migrazione del primario</a:t>
            </a:r>
          </a:p>
          <a:p>
            <a:pPr>
              <a:spcAft>
                <a:spcPts val="400"/>
              </a:spcAft>
              <a:defRPr sz="1000">
                <a:solidFill>
                  <a:srgbClr val="252D36"/>
                </a:solidFill>
                <a:latin typeface="Poppins"/>
              </a:defRPr>
            </a:pPr>
            <a:r>
              <a:t>•  Compatibilità RDS</a:t>
            </a:r>
          </a:p>
          <a:p>
            <a:pPr>
              <a:spcAft>
                <a:spcPts val="400"/>
              </a:spcAft>
              <a:defRPr sz="1000">
                <a:solidFill>
                  <a:srgbClr val="252D36"/>
                </a:solidFill>
                <a:latin typeface="Poppins"/>
              </a:defRPr>
            </a:pPr>
            <a:r>
              <a:t>•  Responsabilità operative</a:t>
            </a:r>
          </a:p>
        </p:txBody>
      </p:sp>
      <p:sp>
        <p:nvSpPr>
          <p:cNvPr id="26" name="Rounded Rectangle 25"/>
          <p:cNvSpPr/>
          <p:nvPr/>
        </p:nvSpPr>
        <p:spPr>
          <a:xfrm>
            <a:off x="7703999"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03999" y="2232000"/>
            <a:ext cx="343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5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GATE DA VALIDARE</a:t>
            </a:r>
          </a:p>
        </p:txBody>
      </p:sp>
      <p:sp>
        <p:nvSpPr>
          <p:cNvPr id="29" name="TextBox 28"/>
          <p:cNvSpPr txBox="1"/>
          <p:nvPr/>
        </p:nvSpPr>
        <p:spPr>
          <a:xfrm>
            <a:off x="7793999"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Standard AWS Guber</a:t>
            </a:r>
          </a:p>
          <a:p>
            <a:pPr>
              <a:spcAft>
                <a:spcPts val="400"/>
              </a:spcAft>
              <a:defRPr sz="1000">
                <a:solidFill>
                  <a:srgbClr val="252D36"/>
                </a:solidFill>
                <a:latin typeface="Poppins"/>
              </a:defRPr>
            </a:pPr>
            <a:r>
              <a:t>•  VPC e connettività</a:t>
            </a:r>
          </a:p>
          <a:p>
            <a:pPr>
              <a:spcAft>
                <a:spcPts val="400"/>
              </a:spcAft>
              <a:defRPr sz="1000">
                <a:solidFill>
                  <a:srgbClr val="252D36"/>
                </a:solidFill>
                <a:latin typeface="Poppins"/>
              </a:defRPr>
            </a:pPr>
            <a:r>
              <a:t>•  Motore / licensing</a:t>
            </a:r>
          </a:p>
        </p:txBody>
      </p:sp>
      <p:sp>
        <p:nvSpPr>
          <p:cNvPr id="30" name="Rounded Rectangle 29"/>
          <p:cNvSpPr/>
          <p:nvPr/>
        </p:nvSpPr>
        <p:spPr>
          <a:xfrm>
            <a:off x="396000" y="4410000"/>
            <a:ext cx="10746000" cy="882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UNA TANTUM</a:t>
            </a:r>
          </a:p>
        </p:txBody>
      </p:sp>
      <p:sp>
        <p:nvSpPr>
          <p:cNvPr id="32" name="TextBox 31"/>
          <p:cNvSpPr txBox="1"/>
          <p:nvPr/>
        </p:nvSpPr>
        <p:spPr>
          <a:xfrm>
            <a:off x="576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€ 49k–128k</a:t>
            </a:r>
          </a:p>
        </p:txBody>
      </p:sp>
      <p:sp>
        <p:nvSpPr>
          <p:cNvPr id="33" name="TextBox 32"/>
          <p:cNvSpPr txBox="1"/>
          <p:nvPr/>
        </p:nvSpPr>
        <p:spPr>
          <a:xfrm>
            <a:off x="4068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PIATTAFORMA / MESE</a:t>
            </a:r>
          </a:p>
        </p:txBody>
      </p:sp>
      <p:sp>
        <p:nvSpPr>
          <p:cNvPr id="34" name="TextBox 33"/>
          <p:cNvSpPr txBox="1"/>
          <p:nvPr/>
        </p:nvSpPr>
        <p:spPr>
          <a:xfrm>
            <a:off x="4068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€ 1,65k–5,2k</a:t>
            </a:r>
          </a:p>
        </p:txBody>
      </p:sp>
      <p:sp>
        <p:nvSpPr>
          <p:cNvPr id="35" name="TextBox 34"/>
          <p:cNvSpPr txBox="1"/>
          <p:nvPr/>
        </p:nvSpPr>
        <p:spPr>
          <a:xfrm>
            <a:off x="7560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TCO PIATTAFORMA · 3 ANNI</a:t>
            </a:r>
          </a:p>
        </p:txBody>
      </p:sp>
      <p:sp>
        <p:nvSpPr>
          <p:cNvPr id="36" name="TextBox 35"/>
          <p:cNvSpPr txBox="1"/>
          <p:nvPr/>
        </p:nvSpPr>
        <p:spPr>
          <a:xfrm>
            <a:off x="7560000" y="4770000"/>
            <a:ext cx="2951999" cy="198000"/>
          </a:xfrm>
          <a:prstGeom prst="rect">
            <a:avLst/>
          </a:prstGeom>
          <a:noFill/>
        </p:spPr>
        <p:txBody>
          <a:bodyPr wrap="square" lIns="14400" rIns="14400" tIns="14400" bIns="14400" anchor="t">
            <a:spAutoFit/>
          </a:bodyPr>
          <a:lstStyle/>
          <a:p>
            <a:pPr algn="ctr"/>
            <a:r>
              <a:rPr sz="1700" b="1">
                <a:solidFill>
                  <a:srgbClr val="007A82"/>
                </a:solidFill>
                <a:latin typeface="Poppins"/>
              </a:rPr>
              <a:t>€ 108k–315k</a:t>
            </a:r>
          </a:p>
        </p:txBody>
      </p:sp>
      <p:sp>
        <p:nvSpPr>
          <p:cNvPr id="37" name="TextBox 36"/>
          <p:cNvSpPr txBox="1"/>
          <p:nvPr/>
        </p:nvSpPr>
        <p:spPr>
          <a:xfrm>
            <a:off x="450000" y="5526000"/>
            <a:ext cx="10620000" cy="251999"/>
          </a:xfrm>
          <a:prstGeom prst="rect">
            <a:avLst/>
          </a:prstGeom>
          <a:noFill/>
        </p:spPr>
        <p:txBody>
          <a:bodyPr wrap="square" lIns="14400" rIns="14400" tIns="14400" bIns="14400" anchor="t">
            <a:spAutoFit/>
          </a:bodyPr>
          <a:lstStyle/>
          <a:p>
            <a:pPr algn="ctr"/>
            <a:r>
              <a:rPr sz="850" b="0">
                <a:solidFill>
                  <a:srgbClr val="67737E"/>
                </a:solidFill>
                <a:latin typeface="Poppins"/>
              </a:rPr>
              <a:t>Range di pianificazione · AM Novigo, team sostitutivo, licenze non note e DR geografico esclusi.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SCENARIO 04</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Primario on-premise Guber: controllo infrastrutturale diretto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Profilo preliminare; fattibilità e costo dipendono dai gate tecnici indicati.</a:t>
            </a:r>
          </a:p>
        </p:txBody>
      </p:sp>
      <p:sp>
        <p:nvSpPr>
          <p:cNvPr id="8" name="Rounded Rectangle 7"/>
          <p:cNvSpPr/>
          <p:nvPr/>
        </p:nvSpPr>
        <p:spPr>
          <a:xfrm>
            <a:off x="10152000" y="503999"/>
            <a:ext cx="133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95200" y="550799"/>
            <a:ext cx="1245600" cy="90000"/>
          </a:xfrm>
          <a:prstGeom prst="rect">
            <a:avLst/>
          </a:prstGeom>
          <a:noFill/>
        </p:spPr>
        <p:txBody>
          <a:bodyPr wrap="square" lIns="14400" rIns="14400" tIns="14400" bIns="14400" anchor="t">
            <a:spAutoFit/>
          </a:bodyPr>
          <a:lstStyle/>
          <a:p>
            <a:pPr algn="ctr"/>
            <a:r>
              <a:rPr sz="800" b="1">
                <a:solidFill>
                  <a:srgbClr val="004481"/>
                </a:solidFill>
                <a:latin typeface="Poppins"/>
              </a:rPr>
              <a:t>PRIMARIO</a:t>
            </a:r>
          </a:p>
        </p:txBody>
      </p:sp>
      <p:sp>
        <p:nvSpPr>
          <p:cNvPr id="10" name="Rounded Rectangle 9"/>
          <p:cNvSpPr/>
          <p:nvPr/>
        </p:nvSpPr>
        <p:spPr>
          <a:xfrm>
            <a:off x="396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6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Utenti / sistemi</a:t>
            </a:r>
          </a:p>
        </p:txBody>
      </p:sp>
      <p:cxnSp>
        <p:nvCxnSpPr>
          <p:cNvPr id="12" name="Connector 11"/>
          <p:cNvCxnSpPr/>
          <p:nvPr/>
        </p:nvCxnSpPr>
        <p:spPr>
          <a:xfrm>
            <a:off x="3168000" y="1576800"/>
            <a:ext cx="629999"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24000" y="1296000"/>
            <a:ext cx="2772000" cy="55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Data center Guber</a:t>
            </a:r>
          </a:p>
        </p:txBody>
      </p:sp>
      <p:cxnSp>
        <p:nvCxnSpPr>
          <p:cNvPr id="15" name="Connector 14"/>
          <p:cNvCxnSpPr/>
          <p:nvPr/>
        </p:nvCxnSpPr>
        <p:spPr>
          <a:xfrm>
            <a:off x="6696000" y="1576800"/>
            <a:ext cx="630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52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2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DB NOVA primario</a:t>
            </a:r>
          </a:p>
        </p:txBody>
      </p:sp>
      <p:sp>
        <p:nvSpPr>
          <p:cNvPr id="18" name="Rounded Rectangle 17"/>
          <p:cNvSpPr/>
          <p:nvPr/>
        </p:nvSpPr>
        <p:spPr>
          <a:xfrm>
            <a:off x="396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6000" y="2232000"/>
            <a:ext cx="343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PUNTI DI FORZA</a:t>
            </a:r>
          </a:p>
        </p:txBody>
      </p:sp>
      <p:sp>
        <p:nvSpPr>
          <p:cNvPr id="21" name="TextBox 20"/>
          <p:cNvSpPr txBox="1"/>
          <p:nvPr/>
        </p:nvSpPr>
        <p:spPr>
          <a:xfrm>
            <a:off x="486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Ownership Guber</a:t>
            </a:r>
          </a:p>
          <a:p>
            <a:pPr>
              <a:spcAft>
                <a:spcPts val="400"/>
              </a:spcAft>
              <a:defRPr sz="1000">
                <a:solidFill>
                  <a:srgbClr val="252D36"/>
                </a:solidFill>
                <a:latin typeface="Poppins"/>
              </a:defRPr>
            </a:pPr>
            <a:r>
              <a:t>•  Integrazione con rete interna</a:t>
            </a:r>
          </a:p>
          <a:p>
            <a:pPr>
              <a:spcAft>
                <a:spcPts val="400"/>
              </a:spcAft>
              <a:defRPr sz="1000">
                <a:solidFill>
                  <a:srgbClr val="252D36"/>
                </a:solidFill>
                <a:latin typeface="Poppins"/>
              </a:defRPr>
            </a:pPr>
            <a:r>
              <a:t>•  Controllo diretto</a:t>
            </a:r>
          </a:p>
        </p:txBody>
      </p:sp>
      <p:sp>
        <p:nvSpPr>
          <p:cNvPr id="22" name="Rounded Rectangle 21"/>
          <p:cNvSpPr/>
          <p:nvPr/>
        </p:nvSpPr>
        <p:spPr>
          <a:xfrm>
            <a:off x="4050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50000" y="2232000"/>
            <a:ext cx="343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21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ATTENZIONI</a:t>
            </a:r>
          </a:p>
        </p:txBody>
      </p:sp>
      <p:sp>
        <p:nvSpPr>
          <p:cNvPr id="25" name="TextBox 24"/>
          <p:cNvSpPr txBox="1"/>
          <p:nvPr/>
        </p:nvSpPr>
        <p:spPr>
          <a:xfrm>
            <a:off x="4140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Capacità e licensing</a:t>
            </a:r>
          </a:p>
          <a:p>
            <a:pPr>
              <a:spcAft>
                <a:spcPts val="400"/>
              </a:spcAft>
              <a:defRPr sz="1000">
                <a:solidFill>
                  <a:srgbClr val="252D36"/>
                </a:solidFill>
                <a:latin typeface="Poppins"/>
              </a:defRPr>
            </a:pPr>
            <a:r>
              <a:t>•  HA / DR</a:t>
            </a:r>
          </a:p>
          <a:p>
            <a:pPr>
              <a:spcAft>
                <a:spcPts val="400"/>
              </a:spcAft>
              <a:defRPr sz="1000">
                <a:solidFill>
                  <a:srgbClr val="252D36"/>
                </a:solidFill>
                <a:latin typeface="Poppins"/>
              </a:defRPr>
            </a:pPr>
            <a:r>
              <a:t>•  Carico operativo</a:t>
            </a:r>
          </a:p>
        </p:txBody>
      </p:sp>
      <p:sp>
        <p:nvSpPr>
          <p:cNvPr id="26" name="Rounded Rectangle 25"/>
          <p:cNvSpPr/>
          <p:nvPr/>
        </p:nvSpPr>
        <p:spPr>
          <a:xfrm>
            <a:off x="7703999"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03999" y="2232000"/>
            <a:ext cx="343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5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GATE DA VALIDARE</a:t>
            </a:r>
          </a:p>
        </p:txBody>
      </p:sp>
      <p:sp>
        <p:nvSpPr>
          <p:cNvPr id="29" name="TextBox 28"/>
          <p:cNvSpPr txBox="1"/>
          <p:nvPr/>
        </p:nvSpPr>
        <p:spPr>
          <a:xfrm>
            <a:off x="7793999"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Infrastruttura disponibile</a:t>
            </a:r>
          </a:p>
          <a:p>
            <a:pPr>
              <a:spcAft>
                <a:spcPts val="400"/>
              </a:spcAft>
              <a:defRPr sz="1000">
                <a:solidFill>
                  <a:srgbClr val="252D36"/>
                </a:solidFill>
                <a:latin typeface="Poppins"/>
              </a:defRPr>
            </a:pPr>
            <a:r>
              <a:t>•  Competenze</a:t>
            </a:r>
          </a:p>
          <a:p>
            <a:pPr>
              <a:spcAft>
                <a:spcPts val="400"/>
              </a:spcAft>
              <a:defRPr sz="1000">
                <a:solidFill>
                  <a:srgbClr val="252D36"/>
                </a:solidFill>
                <a:latin typeface="Poppins"/>
              </a:defRPr>
            </a:pPr>
            <a:r>
              <a:t>•  Backup e secondo sito</a:t>
            </a:r>
          </a:p>
        </p:txBody>
      </p:sp>
      <p:sp>
        <p:nvSpPr>
          <p:cNvPr id="30" name="Rounded Rectangle 29"/>
          <p:cNvSpPr/>
          <p:nvPr/>
        </p:nvSpPr>
        <p:spPr>
          <a:xfrm>
            <a:off x="396000" y="4410000"/>
            <a:ext cx="10746000" cy="882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UNA TANTUM</a:t>
            </a:r>
          </a:p>
        </p:txBody>
      </p:sp>
      <p:sp>
        <p:nvSpPr>
          <p:cNvPr id="32" name="TextBox 31"/>
          <p:cNvSpPr txBox="1"/>
          <p:nvPr/>
        </p:nvSpPr>
        <p:spPr>
          <a:xfrm>
            <a:off x="576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€ 71k–208k</a:t>
            </a:r>
          </a:p>
        </p:txBody>
      </p:sp>
      <p:sp>
        <p:nvSpPr>
          <p:cNvPr id="33" name="TextBox 32"/>
          <p:cNvSpPr txBox="1"/>
          <p:nvPr/>
        </p:nvSpPr>
        <p:spPr>
          <a:xfrm>
            <a:off x="4068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PIATTAFORMA / MESE</a:t>
            </a:r>
          </a:p>
        </p:txBody>
      </p:sp>
      <p:sp>
        <p:nvSpPr>
          <p:cNvPr id="34" name="TextBox 33"/>
          <p:cNvSpPr txBox="1"/>
          <p:nvPr/>
        </p:nvSpPr>
        <p:spPr>
          <a:xfrm>
            <a:off x="4068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€ 1,4k–4,5k</a:t>
            </a:r>
          </a:p>
        </p:txBody>
      </p:sp>
      <p:sp>
        <p:nvSpPr>
          <p:cNvPr id="35" name="TextBox 34"/>
          <p:cNvSpPr txBox="1"/>
          <p:nvPr/>
        </p:nvSpPr>
        <p:spPr>
          <a:xfrm>
            <a:off x="7560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TCO PIATTAFORMA · 3 ANNI</a:t>
            </a:r>
          </a:p>
        </p:txBody>
      </p:sp>
      <p:sp>
        <p:nvSpPr>
          <p:cNvPr id="36" name="TextBox 35"/>
          <p:cNvSpPr txBox="1"/>
          <p:nvPr/>
        </p:nvSpPr>
        <p:spPr>
          <a:xfrm>
            <a:off x="7560000" y="4770000"/>
            <a:ext cx="2951999" cy="198000"/>
          </a:xfrm>
          <a:prstGeom prst="rect">
            <a:avLst/>
          </a:prstGeom>
          <a:noFill/>
        </p:spPr>
        <p:txBody>
          <a:bodyPr wrap="square" lIns="14400" rIns="14400" tIns="14400" bIns="14400" anchor="t">
            <a:spAutoFit/>
          </a:bodyPr>
          <a:lstStyle/>
          <a:p>
            <a:pPr algn="ctr"/>
            <a:r>
              <a:rPr sz="1700" b="1">
                <a:solidFill>
                  <a:srgbClr val="007A82"/>
                </a:solidFill>
                <a:latin typeface="Poppins"/>
              </a:rPr>
              <a:t>€ 121k–370k</a:t>
            </a:r>
          </a:p>
        </p:txBody>
      </p:sp>
      <p:sp>
        <p:nvSpPr>
          <p:cNvPr id="37" name="TextBox 36"/>
          <p:cNvSpPr txBox="1"/>
          <p:nvPr/>
        </p:nvSpPr>
        <p:spPr>
          <a:xfrm>
            <a:off x="450000" y="5526000"/>
            <a:ext cx="10620000" cy="251999"/>
          </a:xfrm>
          <a:prstGeom prst="rect">
            <a:avLst/>
          </a:prstGeom>
          <a:noFill/>
        </p:spPr>
        <p:txBody>
          <a:bodyPr wrap="square" lIns="14400" rIns="14400" tIns="14400" bIns="14400" anchor="t">
            <a:spAutoFit/>
          </a:bodyPr>
          <a:lstStyle/>
          <a:p>
            <a:pPr algn="ctr"/>
            <a:r>
              <a:rPr sz="850" b="0">
                <a:solidFill>
                  <a:srgbClr val="67737E"/>
                </a:solidFill>
                <a:latin typeface="Poppins"/>
              </a:rPr>
              <a:t>Range di pianificazione · AM Novigo, team sostitutivo, licenze non note e DR geografico esclusi.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SCENARIO 05</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Replica on-premise Guber: autonomia sui dati senza spostare il transazionale</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Profilo preliminare; fattibilità e costo dipendono dai gate tecnici indicati.</a:t>
            </a:r>
          </a:p>
        </p:txBody>
      </p:sp>
      <p:sp>
        <p:nvSpPr>
          <p:cNvPr id="8" name="Rounded Rectangle 7"/>
          <p:cNvSpPr/>
          <p:nvPr/>
        </p:nvSpPr>
        <p:spPr>
          <a:xfrm>
            <a:off x="10152000" y="503999"/>
            <a:ext cx="133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95200" y="550799"/>
            <a:ext cx="1245600" cy="90000"/>
          </a:xfrm>
          <a:prstGeom prst="rect">
            <a:avLst/>
          </a:prstGeom>
          <a:noFill/>
        </p:spPr>
        <p:txBody>
          <a:bodyPr wrap="square" lIns="14400" rIns="14400" tIns="14400" bIns="14400" anchor="t">
            <a:spAutoFit/>
          </a:bodyPr>
          <a:lstStyle/>
          <a:p>
            <a:pPr algn="ctr"/>
            <a:r>
              <a:rPr sz="800" b="1">
                <a:solidFill>
                  <a:srgbClr val="004481"/>
                </a:solidFill>
                <a:latin typeface="Poppins"/>
              </a:rPr>
              <a:t>REPLICA</a:t>
            </a:r>
          </a:p>
        </p:txBody>
      </p:sp>
      <p:sp>
        <p:nvSpPr>
          <p:cNvPr id="10" name="Rounded Rectangle 9"/>
          <p:cNvSpPr/>
          <p:nvPr/>
        </p:nvSpPr>
        <p:spPr>
          <a:xfrm>
            <a:off x="396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6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Primario attuale</a:t>
            </a:r>
          </a:p>
        </p:txBody>
      </p:sp>
      <p:cxnSp>
        <p:nvCxnSpPr>
          <p:cNvPr id="12" name="Connector 11"/>
          <p:cNvCxnSpPr/>
          <p:nvPr/>
        </p:nvCxnSpPr>
        <p:spPr>
          <a:xfrm>
            <a:off x="3168000" y="1576800"/>
            <a:ext cx="629999"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24000" y="1296000"/>
            <a:ext cx="2772000" cy="55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Replica asincrona</a:t>
            </a:r>
          </a:p>
        </p:txBody>
      </p:sp>
      <p:cxnSp>
        <p:nvCxnSpPr>
          <p:cNvPr id="15" name="Connector 14"/>
          <p:cNvCxnSpPr/>
          <p:nvPr/>
        </p:nvCxnSpPr>
        <p:spPr>
          <a:xfrm>
            <a:off x="6696000" y="1576800"/>
            <a:ext cx="630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52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2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On-premise Guber</a:t>
            </a:r>
          </a:p>
        </p:txBody>
      </p:sp>
      <p:sp>
        <p:nvSpPr>
          <p:cNvPr id="18" name="Rounded Rectangle 17"/>
          <p:cNvSpPr/>
          <p:nvPr/>
        </p:nvSpPr>
        <p:spPr>
          <a:xfrm>
            <a:off x="396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6000" y="2232000"/>
            <a:ext cx="343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PUNTI DI FORZA</a:t>
            </a:r>
          </a:p>
        </p:txBody>
      </p:sp>
      <p:sp>
        <p:nvSpPr>
          <p:cNvPr id="21" name="TextBox 20"/>
          <p:cNvSpPr txBox="1"/>
          <p:nvPr/>
        </p:nvSpPr>
        <p:spPr>
          <a:xfrm>
            <a:off x="486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Migrazione contenuta</a:t>
            </a:r>
          </a:p>
          <a:p>
            <a:pPr>
              <a:spcAft>
                <a:spcPts val="400"/>
              </a:spcAft>
              <a:defRPr sz="1000">
                <a:solidFill>
                  <a:srgbClr val="252D36"/>
                </a:solidFill>
                <a:latin typeface="Poppins"/>
              </a:defRPr>
            </a:pPr>
            <a:r>
              <a:t>•  Accesso locale</a:t>
            </a:r>
          </a:p>
          <a:p>
            <a:pPr>
              <a:spcAft>
                <a:spcPts val="400"/>
              </a:spcAft>
              <a:defRPr sz="1000">
                <a:solidFill>
                  <a:srgbClr val="252D36"/>
                </a:solidFill>
                <a:latin typeface="Poppins"/>
              </a:defRPr>
            </a:pPr>
            <a:r>
              <a:t>•  Alta reversibilità</a:t>
            </a:r>
          </a:p>
        </p:txBody>
      </p:sp>
      <p:sp>
        <p:nvSpPr>
          <p:cNvPr id="22" name="Rounded Rectangle 21"/>
          <p:cNvSpPr/>
          <p:nvPr/>
        </p:nvSpPr>
        <p:spPr>
          <a:xfrm>
            <a:off x="4050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50000" y="2232000"/>
            <a:ext cx="343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21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ATTENZIONI</a:t>
            </a:r>
          </a:p>
        </p:txBody>
      </p:sp>
      <p:sp>
        <p:nvSpPr>
          <p:cNvPr id="25" name="TextBox 24"/>
          <p:cNvSpPr txBox="1"/>
          <p:nvPr/>
        </p:nvSpPr>
        <p:spPr>
          <a:xfrm>
            <a:off x="4140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Lag e riconciliazione</a:t>
            </a:r>
          </a:p>
          <a:p>
            <a:pPr>
              <a:spcAft>
                <a:spcPts val="400"/>
              </a:spcAft>
              <a:defRPr sz="1000">
                <a:solidFill>
                  <a:srgbClr val="252D36"/>
                </a:solidFill>
                <a:latin typeface="Poppins"/>
              </a:defRPr>
            </a:pPr>
            <a:r>
              <a:t>•  Ownership divisa</a:t>
            </a:r>
          </a:p>
          <a:p>
            <a:pPr>
              <a:spcAft>
                <a:spcPts val="400"/>
              </a:spcAft>
              <a:defRPr sz="1000">
                <a:solidFill>
                  <a:srgbClr val="252D36"/>
                </a:solidFill>
                <a:latin typeface="Poppins"/>
              </a:defRPr>
            </a:pPr>
            <a:r>
              <a:t>•  Compatibilità replica</a:t>
            </a:r>
          </a:p>
        </p:txBody>
      </p:sp>
      <p:sp>
        <p:nvSpPr>
          <p:cNvPr id="26" name="Rounded Rectangle 25"/>
          <p:cNvSpPr/>
          <p:nvPr/>
        </p:nvSpPr>
        <p:spPr>
          <a:xfrm>
            <a:off x="7703999"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03999" y="2232000"/>
            <a:ext cx="343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5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GATE DA VALIDARE</a:t>
            </a:r>
          </a:p>
        </p:txBody>
      </p:sp>
      <p:sp>
        <p:nvSpPr>
          <p:cNvPr id="29" name="TextBox 28"/>
          <p:cNvSpPr txBox="1"/>
          <p:nvPr/>
        </p:nvSpPr>
        <p:spPr>
          <a:xfrm>
            <a:off x="7793999"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 licenze</a:t>
            </a:r>
          </a:p>
          <a:p>
            <a:pPr>
              <a:spcAft>
                <a:spcPts val="400"/>
              </a:spcAft>
              <a:defRPr sz="1000">
                <a:solidFill>
                  <a:srgbClr val="252D36"/>
                </a:solidFill>
                <a:latin typeface="Poppins"/>
              </a:defRPr>
            </a:pPr>
            <a:r>
              <a:t>•  Frequenza e SLA</a:t>
            </a:r>
          </a:p>
          <a:p>
            <a:pPr>
              <a:spcAft>
                <a:spcPts val="400"/>
              </a:spcAft>
              <a:defRPr sz="1000">
                <a:solidFill>
                  <a:srgbClr val="252D36"/>
                </a:solidFill>
                <a:latin typeface="Poppins"/>
              </a:defRPr>
            </a:pPr>
            <a:r>
              <a:t>•  Viste e monitoring</a:t>
            </a:r>
          </a:p>
        </p:txBody>
      </p:sp>
      <p:sp>
        <p:nvSpPr>
          <p:cNvPr id="30" name="Rounded Rectangle 29"/>
          <p:cNvSpPr/>
          <p:nvPr/>
        </p:nvSpPr>
        <p:spPr>
          <a:xfrm>
            <a:off x="396000" y="4410000"/>
            <a:ext cx="10746000" cy="882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UNA TANTUM</a:t>
            </a:r>
          </a:p>
        </p:txBody>
      </p:sp>
      <p:sp>
        <p:nvSpPr>
          <p:cNvPr id="32" name="TextBox 31"/>
          <p:cNvSpPr txBox="1"/>
          <p:nvPr/>
        </p:nvSpPr>
        <p:spPr>
          <a:xfrm>
            <a:off x="576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€ 25k–64k</a:t>
            </a:r>
          </a:p>
        </p:txBody>
      </p:sp>
      <p:sp>
        <p:nvSpPr>
          <p:cNvPr id="33" name="TextBox 32"/>
          <p:cNvSpPr txBox="1"/>
          <p:nvPr/>
        </p:nvSpPr>
        <p:spPr>
          <a:xfrm>
            <a:off x="4068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PIATTAFORMA / MESE</a:t>
            </a:r>
          </a:p>
        </p:txBody>
      </p:sp>
      <p:sp>
        <p:nvSpPr>
          <p:cNvPr id="34" name="TextBox 33"/>
          <p:cNvSpPr txBox="1"/>
          <p:nvPr/>
        </p:nvSpPr>
        <p:spPr>
          <a:xfrm>
            <a:off x="4068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€ 0,9k–3,2k</a:t>
            </a:r>
          </a:p>
        </p:txBody>
      </p:sp>
      <p:sp>
        <p:nvSpPr>
          <p:cNvPr id="35" name="TextBox 34"/>
          <p:cNvSpPr txBox="1"/>
          <p:nvPr/>
        </p:nvSpPr>
        <p:spPr>
          <a:xfrm>
            <a:off x="7560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TCO PIATTAFORMA · 3 ANNI</a:t>
            </a:r>
          </a:p>
        </p:txBody>
      </p:sp>
      <p:sp>
        <p:nvSpPr>
          <p:cNvPr id="36" name="TextBox 35"/>
          <p:cNvSpPr txBox="1"/>
          <p:nvPr/>
        </p:nvSpPr>
        <p:spPr>
          <a:xfrm>
            <a:off x="7560000" y="4770000"/>
            <a:ext cx="2951999" cy="198000"/>
          </a:xfrm>
          <a:prstGeom prst="rect">
            <a:avLst/>
          </a:prstGeom>
          <a:noFill/>
        </p:spPr>
        <p:txBody>
          <a:bodyPr wrap="square" lIns="14400" rIns="14400" tIns="14400" bIns="14400" anchor="t">
            <a:spAutoFit/>
          </a:bodyPr>
          <a:lstStyle/>
          <a:p>
            <a:pPr algn="ctr"/>
            <a:r>
              <a:rPr sz="1700" b="1">
                <a:solidFill>
                  <a:srgbClr val="007A82"/>
                </a:solidFill>
                <a:latin typeface="Poppins"/>
              </a:rPr>
              <a:t>€ 57k–179k</a:t>
            </a:r>
          </a:p>
        </p:txBody>
      </p:sp>
      <p:sp>
        <p:nvSpPr>
          <p:cNvPr id="37" name="TextBox 36"/>
          <p:cNvSpPr txBox="1"/>
          <p:nvPr/>
        </p:nvSpPr>
        <p:spPr>
          <a:xfrm>
            <a:off x="450000" y="5526000"/>
            <a:ext cx="10620000" cy="251999"/>
          </a:xfrm>
          <a:prstGeom prst="rect">
            <a:avLst/>
          </a:prstGeom>
          <a:noFill/>
        </p:spPr>
        <p:txBody>
          <a:bodyPr wrap="square" lIns="14400" rIns="14400" tIns="14400" bIns="14400" anchor="t">
            <a:spAutoFit/>
          </a:bodyPr>
          <a:lstStyle/>
          <a:p>
            <a:pPr algn="ctr"/>
            <a:r>
              <a:rPr sz="850" b="0">
                <a:solidFill>
                  <a:srgbClr val="67737E"/>
                </a:solidFill>
                <a:latin typeface="Poppins"/>
              </a:rPr>
              <a:t>Range di pianificazione · AM Novigo, team sostitutivo, licenze non note e DR geografico esclusi.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SCENARIO 06</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Replica su Azure Guber: accesso governato ai dati con servizi azure</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Profilo preliminare; fattibilità e costo dipendono dai gate tecnici indicati.</a:t>
            </a:r>
          </a:p>
        </p:txBody>
      </p:sp>
      <p:sp>
        <p:nvSpPr>
          <p:cNvPr id="8" name="Rounded Rectangle 7"/>
          <p:cNvSpPr/>
          <p:nvPr/>
        </p:nvSpPr>
        <p:spPr>
          <a:xfrm>
            <a:off x="10152000" y="503999"/>
            <a:ext cx="133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95200" y="550799"/>
            <a:ext cx="1245600" cy="90000"/>
          </a:xfrm>
          <a:prstGeom prst="rect">
            <a:avLst/>
          </a:prstGeom>
          <a:noFill/>
        </p:spPr>
        <p:txBody>
          <a:bodyPr wrap="square" lIns="14400" rIns="14400" tIns="14400" bIns="14400" anchor="t">
            <a:spAutoFit/>
          </a:bodyPr>
          <a:lstStyle/>
          <a:p>
            <a:pPr algn="ctr"/>
            <a:r>
              <a:rPr sz="800" b="1">
                <a:solidFill>
                  <a:srgbClr val="004481"/>
                </a:solidFill>
                <a:latin typeface="Poppins"/>
              </a:rPr>
              <a:t>REPLICA</a:t>
            </a:r>
          </a:p>
        </p:txBody>
      </p:sp>
      <p:sp>
        <p:nvSpPr>
          <p:cNvPr id="10" name="Rounded Rectangle 9"/>
          <p:cNvSpPr/>
          <p:nvPr/>
        </p:nvSpPr>
        <p:spPr>
          <a:xfrm>
            <a:off x="396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6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Primario attuale</a:t>
            </a:r>
          </a:p>
        </p:txBody>
      </p:sp>
      <p:cxnSp>
        <p:nvCxnSpPr>
          <p:cNvPr id="12" name="Connector 11"/>
          <p:cNvCxnSpPr/>
          <p:nvPr/>
        </p:nvCxnSpPr>
        <p:spPr>
          <a:xfrm>
            <a:off x="3168000" y="1576800"/>
            <a:ext cx="629999"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24000" y="1296000"/>
            <a:ext cx="2772000" cy="558000"/>
          </a:xfrm>
          <a:prstGeom prst="roundRect">
            <a:avLst/>
          </a:prstGeom>
          <a:solidFill>
            <a:srgbClr val="E9F7FA"/>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14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Replica asincrona</a:t>
            </a:r>
          </a:p>
        </p:txBody>
      </p:sp>
      <p:cxnSp>
        <p:nvCxnSpPr>
          <p:cNvPr id="15" name="Connector 14"/>
          <p:cNvCxnSpPr/>
          <p:nvPr/>
        </p:nvCxnSpPr>
        <p:spPr>
          <a:xfrm>
            <a:off x="6696000" y="1576800"/>
            <a:ext cx="630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52000" y="1296000"/>
            <a:ext cx="2772000" cy="558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2000" y="1458000"/>
            <a:ext cx="2592000" cy="162000"/>
          </a:xfrm>
          <a:prstGeom prst="rect">
            <a:avLst/>
          </a:prstGeom>
          <a:noFill/>
        </p:spPr>
        <p:txBody>
          <a:bodyPr wrap="square" lIns="14400" rIns="14400" tIns="14400" bIns="14400" anchor="t">
            <a:spAutoFit/>
          </a:bodyPr>
          <a:lstStyle/>
          <a:p>
            <a:pPr algn="ctr"/>
            <a:r>
              <a:rPr sz="1000" b="1">
                <a:solidFill>
                  <a:srgbClr val="004481"/>
                </a:solidFill>
                <a:latin typeface="Poppins"/>
              </a:rPr>
              <a:t>Azure Guber</a:t>
            </a:r>
          </a:p>
        </p:txBody>
      </p:sp>
      <p:sp>
        <p:nvSpPr>
          <p:cNvPr id="18" name="Rounded Rectangle 17"/>
          <p:cNvSpPr/>
          <p:nvPr/>
        </p:nvSpPr>
        <p:spPr>
          <a:xfrm>
            <a:off x="396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6000" y="2232000"/>
            <a:ext cx="343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000"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PUNTI DI FORZA</a:t>
            </a:r>
          </a:p>
        </p:txBody>
      </p:sp>
      <p:sp>
        <p:nvSpPr>
          <p:cNvPr id="21" name="TextBox 20"/>
          <p:cNvSpPr txBox="1"/>
          <p:nvPr/>
        </p:nvSpPr>
        <p:spPr>
          <a:xfrm>
            <a:off x="486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Autonomia sui dati</a:t>
            </a:r>
          </a:p>
          <a:p>
            <a:pPr>
              <a:spcAft>
                <a:spcPts val="400"/>
              </a:spcAft>
              <a:defRPr sz="1000">
                <a:solidFill>
                  <a:srgbClr val="252D36"/>
                </a:solidFill>
                <a:latin typeface="Poppins"/>
              </a:defRPr>
            </a:pPr>
            <a:r>
              <a:t>•  Identity e audit Azure</a:t>
            </a:r>
          </a:p>
          <a:p>
            <a:pPr>
              <a:spcAft>
                <a:spcPts val="400"/>
              </a:spcAft>
              <a:defRPr sz="1000">
                <a:solidFill>
                  <a:srgbClr val="252D36"/>
                </a:solidFill>
                <a:latin typeface="Poppins"/>
              </a:defRPr>
            </a:pPr>
            <a:r>
              <a:t>•  Scalabilità</a:t>
            </a:r>
          </a:p>
        </p:txBody>
      </p:sp>
      <p:sp>
        <p:nvSpPr>
          <p:cNvPr id="22" name="Rounded Rectangle 21"/>
          <p:cNvSpPr/>
          <p:nvPr/>
        </p:nvSpPr>
        <p:spPr>
          <a:xfrm>
            <a:off x="4050000"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050000" y="2232000"/>
            <a:ext cx="343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21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ATTENZIONI</a:t>
            </a:r>
          </a:p>
        </p:txBody>
      </p:sp>
      <p:sp>
        <p:nvSpPr>
          <p:cNvPr id="25" name="TextBox 24"/>
          <p:cNvSpPr txBox="1"/>
          <p:nvPr/>
        </p:nvSpPr>
        <p:spPr>
          <a:xfrm>
            <a:off x="4140000"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Connettività cross-environment</a:t>
            </a:r>
          </a:p>
          <a:p>
            <a:pPr>
              <a:spcAft>
                <a:spcPts val="400"/>
              </a:spcAft>
              <a:defRPr sz="1000">
                <a:solidFill>
                  <a:srgbClr val="252D36"/>
                </a:solidFill>
                <a:latin typeface="Poppins"/>
              </a:defRPr>
            </a:pPr>
            <a:r>
              <a:t>•  Lag ed egress</a:t>
            </a:r>
          </a:p>
          <a:p>
            <a:pPr>
              <a:spcAft>
                <a:spcPts val="400"/>
              </a:spcAft>
              <a:defRPr sz="1000">
                <a:solidFill>
                  <a:srgbClr val="252D36"/>
                </a:solidFill>
                <a:latin typeface="Poppins"/>
              </a:defRPr>
            </a:pPr>
            <a:r>
              <a:t>•  Compatibilità replica</a:t>
            </a:r>
          </a:p>
        </p:txBody>
      </p:sp>
      <p:sp>
        <p:nvSpPr>
          <p:cNvPr id="26" name="Rounded Rectangle 25"/>
          <p:cNvSpPr/>
          <p:nvPr/>
        </p:nvSpPr>
        <p:spPr>
          <a:xfrm>
            <a:off x="7703999" y="2232000"/>
            <a:ext cx="3438000" cy="180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03999" y="2232000"/>
            <a:ext cx="343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5999" y="2271600"/>
            <a:ext cx="3294000" cy="100800"/>
          </a:xfrm>
          <a:prstGeom prst="rect">
            <a:avLst/>
          </a:prstGeom>
          <a:noFill/>
        </p:spPr>
        <p:txBody>
          <a:bodyPr wrap="square" lIns="14400" rIns="14400" tIns="14400" bIns="14400" anchor="t">
            <a:spAutoFit/>
          </a:bodyPr>
          <a:lstStyle/>
          <a:p>
            <a:pPr algn="l"/>
            <a:r>
              <a:rPr sz="850" b="1">
                <a:solidFill>
                  <a:srgbClr val="FFFFFF"/>
                </a:solidFill>
                <a:latin typeface="Poppins"/>
              </a:rPr>
              <a:t>GATE DA VALIDARE</a:t>
            </a:r>
          </a:p>
        </p:txBody>
      </p:sp>
      <p:sp>
        <p:nvSpPr>
          <p:cNvPr id="29" name="TextBox 28"/>
          <p:cNvSpPr txBox="1"/>
          <p:nvPr/>
        </p:nvSpPr>
        <p:spPr>
          <a:xfrm>
            <a:off x="7793999" y="2512800"/>
            <a:ext cx="3258000" cy="145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Subscription e rete privata</a:t>
            </a:r>
          </a:p>
          <a:p>
            <a:pPr>
              <a:spcAft>
                <a:spcPts val="400"/>
              </a:spcAft>
              <a:defRPr sz="1000">
                <a:solidFill>
                  <a:srgbClr val="252D36"/>
                </a:solidFill>
                <a:latin typeface="Poppins"/>
              </a:defRPr>
            </a:pPr>
            <a:r>
              <a:t>•  Replica supportata</a:t>
            </a:r>
          </a:p>
          <a:p>
            <a:pPr>
              <a:spcAft>
                <a:spcPts val="400"/>
              </a:spcAft>
              <a:defRPr sz="1000">
                <a:solidFill>
                  <a:srgbClr val="252D36"/>
                </a:solidFill>
                <a:latin typeface="Poppins"/>
              </a:defRPr>
            </a:pPr>
            <a:r>
              <a:t>•  Retention</a:t>
            </a:r>
          </a:p>
        </p:txBody>
      </p:sp>
      <p:sp>
        <p:nvSpPr>
          <p:cNvPr id="30" name="Rounded Rectangle 29"/>
          <p:cNvSpPr/>
          <p:nvPr/>
        </p:nvSpPr>
        <p:spPr>
          <a:xfrm>
            <a:off x="396000" y="4410000"/>
            <a:ext cx="10746000" cy="882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6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UNA TANTUM</a:t>
            </a:r>
          </a:p>
        </p:txBody>
      </p:sp>
      <p:sp>
        <p:nvSpPr>
          <p:cNvPr id="32" name="TextBox 31"/>
          <p:cNvSpPr txBox="1"/>
          <p:nvPr/>
        </p:nvSpPr>
        <p:spPr>
          <a:xfrm>
            <a:off x="576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€ 25k–64k</a:t>
            </a:r>
          </a:p>
        </p:txBody>
      </p:sp>
      <p:sp>
        <p:nvSpPr>
          <p:cNvPr id="33" name="TextBox 32"/>
          <p:cNvSpPr txBox="1"/>
          <p:nvPr/>
        </p:nvSpPr>
        <p:spPr>
          <a:xfrm>
            <a:off x="4068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PIATTAFORMA / MESE</a:t>
            </a:r>
          </a:p>
        </p:txBody>
      </p:sp>
      <p:sp>
        <p:nvSpPr>
          <p:cNvPr id="34" name="TextBox 33"/>
          <p:cNvSpPr txBox="1"/>
          <p:nvPr/>
        </p:nvSpPr>
        <p:spPr>
          <a:xfrm>
            <a:off x="4068000" y="4770000"/>
            <a:ext cx="2951999" cy="198000"/>
          </a:xfrm>
          <a:prstGeom prst="rect">
            <a:avLst/>
          </a:prstGeom>
          <a:noFill/>
        </p:spPr>
        <p:txBody>
          <a:bodyPr wrap="square" lIns="14400" rIns="14400" tIns="14400" bIns="14400" anchor="t">
            <a:spAutoFit/>
          </a:bodyPr>
          <a:lstStyle/>
          <a:p>
            <a:pPr algn="ctr"/>
            <a:r>
              <a:rPr sz="1700" b="1">
                <a:solidFill>
                  <a:srgbClr val="004481"/>
                </a:solidFill>
                <a:latin typeface="Poppins"/>
              </a:rPr>
              <a:t>€ 0,9k–3,2k</a:t>
            </a:r>
          </a:p>
        </p:txBody>
      </p:sp>
      <p:sp>
        <p:nvSpPr>
          <p:cNvPr id="35" name="TextBox 34"/>
          <p:cNvSpPr txBox="1"/>
          <p:nvPr/>
        </p:nvSpPr>
        <p:spPr>
          <a:xfrm>
            <a:off x="7560000" y="4564800"/>
            <a:ext cx="2951999" cy="125999"/>
          </a:xfrm>
          <a:prstGeom prst="rect">
            <a:avLst/>
          </a:prstGeom>
          <a:noFill/>
        </p:spPr>
        <p:txBody>
          <a:bodyPr wrap="square" lIns="14400" rIns="14400" tIns="14400" bIns="14400" anchor="t">
            <a:spAutoFit/>
          </a:bodyPr>
          <a:lstStyle/>
          <a:p>
            <a:pPr algn="ctr"/>
            <a:r>
              <a:rPr sz="800" b="1">
                <a:solidFill>
                  <a:srgbClr val="67737E"/>
                </a:solidFill>
                <a:latin typeface="Poppins"/>
              </a:rPr>
              <a:t>TCO PIATTAFORMA · 3 ANNI</a:t>
            </a:r>
          </a:p>
        </p:txBody>
      </p:sp>
      <p:sp>
        <p:nvSpPr>
          <p:cNvPr id="36" name="TextBox 35"/>
          <p:cNvSpPr txBox="1"/>
          <p:nvPr/>
        </p:nvSpPr>
        <p:spPr>
          <a:xfrm>
            <a:off x="7560000" y="4770000"/>
            <a:ext cx="2951999" cy="198000"/>
          </a:xfrm>
          <a:prstGeom prst="rect">
            <a:avLst/>
          </a:prstGeom>
          <a:noFill/>
        </p:spPr>
        <p:txBody>
          <a:bodyPr wrap="square" lIns="14400" rIns="14400" tIns="14400" bIns="14400" anchor="t">
            <a:spAutoFit/>
          </a:bodyPr>
          <a:lstStyle/>
          <a:p>
            <a:pPr algn="ctr"/>
            <a:r>
              <a:rPr sz="1700" b="1">
                <a:solidFill>
                  <a:srgbClr val="007A82"/>
                </a:solidFill>
                <a:latin typeface="Poppins"/>
              </a:rPr>
              <a:t>€ 57k–179k</a:t>
            </a:r>
          </a:p>
        </p:txBody>
      </p:sp>
      <p:sp>
        <p:nvSpPr>
          <p:cNvPr id="37" name="TextBox 36"/>
          <p:cNvSpPr txBox="1"/>
          <p:nvPr/>
        </p:nvSpPr>
        <p:spPr>
          <a:xfrm>
            <a:off x="450000" y="5526000"/>
            <a:ext cx="10620000" cy="251999"/>
          </a:xfrm>
          <a:prstGeom prst="rect">
            <a:avLst/>
          </a:prstGeom>
          <a:noFill/>
        </p:spPr>
        <p:txBody>
          <a:bodyPr wrap="square" lIns="14400" rIns="14400" tIns="14400" bIns="14400" anchor="t">
            <a:spAutoFit/>
          </a:bodyPr>
          <a:lstStyle/>
          <a:p>
            <a:pPr algn="ctr"/>
            <a:r>
              <a:rPr sz="850" b="0">
                <a:solidFill>
                  <a:srgbClr val="67737E"/>
                </a:solidFill>
                <a:latin typeface="Poppins"/>
              </a:rPr>
              <a:t>Range di pianificazione · AM Novigo, team sostitutivo, licenze non note e DR geografico esclusi.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MODELLO OPERATIVO</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Il run operativo resta una scelta trasversale a tutti gli scenari</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Ownership di account e chiavi non implica che Guber debba eseguire direttamente tutte le attività operative.</a:t>
            </a:r>
          </a:p>
        </p:txBody>
      </p:sp>
      <p:sp>
        <p:nvSpPr>
          <p:cNvPr id="8" name="Rounded Rectangle 7"/>
          <p:cNvSpPr/>
          <p:nvPr/>
        </p:nvSpPr>
        <p:spPr>
          <a:xfrm>
            <a:off x="432000" y="1440000"/>
            <a:ext cx="5328000" cy="316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2000" y="1440000"/>
            <a:ext cx="53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3999" y="1479600"/>
            <a:ext cx="5184000" cy="100800"/>
          </a:xfrm>
          <a:prstGeom prst="rect">
            <a:avLst/>
          </a:prstGeom>
          <a:noFill/>
        </p:spPr>
        <p:txBody>
          <a:bodyPr wrap="square" lIns="14400" rIns="14400" tIns="14400" bIns="14400" anchor="t">
            <a:spAutoFit/>
          </a:bodyPr>
          <a:lstStyle/>
          <a:p>
            <a:pPr algn="l"/>
            <a:r>
              <a:rPr sz="850" b="1">
                <a:solidFill>
                  <a:srgbClr val="FFFFFF"/>
                </a:solidFill>
                <a:latin typeface="Poppins"/>
              </a:rPr>
              <a:t>AM NOVIGO END-TO-END</a:t>
            </a:r>
          </a:p>
        </p:txBody>
      </p:sp>
      <p:sp>
        <p:nvSpPr>
          <p:cNvPr id="11" name="TextBox 10"/>
          <p:cNvSpPr txBox="1"/>
          <p:nvPr/>
        </p:nvSpPr>
        <p:spPr>
          <a:xfrm>
            <a:off x="522000" y="1720800"/>
            <a:ext cx="5148000" cy="2826000"/>
          </a:xfrm>
          <a:prstGeom prst="rect">
            <a:avLst/>
          </a:prstGeom>
          <a:noFill/>
        </p:spPr>
        <p:txBody>
          <a:bodyPr wrap="square" lIns="18000" rIns="18000" tIns="10800" bIns="10800">
            <a:spAutoFit/>
          </a:bodyPr>
          <a:lstStyle/>
          <a:p>
            <a:pPr>
              <a:spcAft>
                <a:spcPts val="400"/>
              </a:spcAft>
              <a:defRPr sz="1100">
                <a:solidFill>
                  <a:srgbClr val="252D36"/>
                </a:solidFill>
                <a:latin typeface="Poppins"/>
              </a:defRPr>
            </a:pPr>
            <a:r>
              <a:t>•  Un presidio operativo coordinato</a:t>
            </a:r>
          </a:p>
          <a:p>
            <a:pPr>
              <a:spcAft>
                <a:spcPts val="400"/>
              </a:spcAft>
              <a:defRPr sz="1100">
                <a:solidFill>
                  <a:srgbClr val="252D36"/>
                </a:solidFill>
                <a:latin typeface="Poppins"/>
              </a:defRPr>
            </a:pPr>
            <a:r>
              <a:t>•  Applicazione, database e infrastruttura</a:t>
            </a:r>
          </a:p>
          <a:p>
            <a:pPr>
              <a:spcAft>
                <a:spcPts val="400"/>
              </a:spcAft>
              <a:defRPr sz="1100">
                <a:solidFill>
                  <a:srgbClr val="252D36"/>
                </a:solidFill>
                <a:latin typeface="Poppins"/>
              </a:defRPr>
            </a:pPr>
            <a:r>
              <a:t>•  Monitoring, backup, patching e sicurezza</a:t>
            </a:r>
          </a:p>
          <a:p>
            <a:pPr>
              <a:spcAft>
                <a:spcPts val="400"/>
              </a:spcAft>
              <a:defRPr sz="1100">
                <a:solidFill>
                  <a:srgbClr val="252D36"/>
                </a:solidFill>
                <a:latin typeface="Poppins"/>
              </a:defRPr>
            </a:pPr>
            <a:r>
              <a:t>•  Incident, capacity e release management</a:t>
            </a:r>
          </a:p>
          <a:p>
            <a:pPr>
              <a:spcAft>
                <a:spcPts val="400"/>
              </a:spcAft>
              <a:defRPr sz="1100">
                <a:solidFill>
                  <a:srgbClr val="252D36"/>
                </a:solidFill>
                <a:latin typeface="Poppins"/>
              </a:defRPr>
            </a:pPr>
            <a:r>
              <a:t>•  Accessi delegati e tracciati</a:t>
            </a:r>
          </a:p>
        </p:txBody>
      </p:sp>
      <p:sp>
        <p:nvSpPr>
          <p:cNvPr id="12" name="Rounded Rectangle 11"/>
          <p:cNvSpPr/>
          <p:nvPr/>
        </p:nvSpPr>
        <p:spPr>
          <a:xfrm>
            <a:off x="6120000" y="1440000"/>
            <a:ext cx="5328000" cy="316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0000" y="1440000"/>
            <a:ext cx="53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2000" y="1479600"/>
            <a:ext cx="5184000" cy="100800"/>
          </a:xfrm>
          <a:prstGeom prst="rect">
            <a:avLst/>
          </a:prstGeom>
          <a:noFill/>
        </p:spPr>
        <p:txBody>
          <a:bodyPr wrap="square" lIns="14400" rIns="14400" tIns="14400" bIns="14400" anchor="t">
            <a:spAutoFit/>
          </a:bodyPr>
          <a:lstStyle/>
          <a:p>
            <a:pPr algn="l"/>
            <a:r>
              <a:rPr sz="850" b="1">
                <a:solidFill>
                  <a:srgbClr val="FFFFFF"/>
                </a:solidFill>
                <a:latin typeface="Poppins"/>
              </a:rPr>
              <a:t>GUBER / TERZA PARTE</a:t>
            </a:r>
          </a:p>
        </p:txBody>
      </p:sp>
      <p:sp>
        <p:nvSpPr>
          <p:cNvPr id="15" name="TextBox 14"/>
          <p:cNvSpPr txBox="1"/>
          <p:nvPr/>
        </p:nvSpPr>
        <p:spPr>
          <a:xfrm>
            <a:off x="6210000" y="1720800"/>
            <a:ext cx="5148000" cy="2826000"/>
          </a:xfrm>
          <a:prstGeom prst="rect">
            <a:avLst/>
          </a:prstGeom>
          <a:noFill/>
        </p:spPr>
        <p:txBody>
          <a:bodyPr wrap="square" lIns="18000" rIns="18000" tIns="10800" bIns="10800">
            <a:spAutoFit/>
          </a:bodyPr>
          <a:lstStyle/>
          <a:p>
            <a:pPr>
              <a:spcAft>
                <a:spcPts val="400"/>
              </a:spcAft>
              <a:defRPr sz="1100">
                <a:solidFill>
                  <a:srgbClr val="252D36"/>
                </a:solidFill>
                <a:latin typeface="Poppins"/>
              </a:defRPr>
            </a:pPr>
            <a:r>
              <a:t>•  Maggiore autonomia di sourcing</a:t>
            </a:r>
          </a:p>
          <a:p>
            <a:pPr>
              <a:spcAft>
                <a:spcPts val="400"/>
              </a:spcAft>
              <a:defRPr sz="1100">
                <a:solidFill>
                  <a:srgbClr val="252D36"/>
                </a:solidFill>
                <a:latin typeface="Poppins"/>
              </a:defRPr>
            </a:pPr>
            <a:r>
              <a:t>•  Competenze e copertura da garantire</a:t>
            </a:r>
          </a:p>
          <a:p>
            <a:pPr>
              <a:spcAft>
                <a:spcPts val="400"/>
              </a:spcAft>
              <a:defRPr sz="1100">
                <a:solidFill>
                  <a:srgbClr val="252D36"/>
                </a:solidFill>
                <a:latin typeface="Poppins"/>
              </a:defRPr>
            </a:pPr>
            <a:r>
              <a:t>•  Handover e documentazione operativa</a:t>
            </a:r>
          </a:p>
          <a:p>
            <a:pPr>
              <a:spcAft>
                <a:spcPts val="400"/>
              </a:spcAft>
              <a:defRPr sz="1100">
                <a:solidFill>
                  <a:srgbClr val="252D36"/>
                </a:solidFill>
                <a:latin typeface="Poppins"/>
              </a:defRPr>
            </a:pPr>
            <a:r>
              <a:t>•  Rischio di responsabilità frammentate</a:t>
            </a:r>
          </a:p>
          <a:p>
            <a:pPr>
              <a:spcAft>
                <a:spcPts val="400"/>
              </a:spcAft>
              <a:defRPr sz="1100">
                <a:solidFill>
                  <a:srgbClr val="252D36"/>
                </a:solidFill>
                <a:latin typeface="Poppins"/>
              </a:defRPr>
            </a:pPr>
            <a:r>
              <a:t>•  Coordinamento multi-fornitore</a:t>
            </a:r>
          </a:p>
        </p:txBody>
      </p:sp>
      <p:sp>
        <p:nvSpPr>
          <p:cNvPr id="16" name="Rounded Rectangle 15"/>
          <p:cNvSpPr/>
          <p:nvPr/>
        </p:nvSpPr>
        <p:spPr>
          <a:xfrm>
            <a:off x="2232000" y="5076000"/>
            <a:ext cx="7703999" cy="503999"/>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6000" y="5227200"/>
            <a:ext cx="7416000" cy="198000"/>
          </a:xfrm>
          <a:prstGeom prst="rect">
            <a:avLst/>
          </a:prstGeom>
          <a:noFill/>
        </p:spPr>
        <p:txBody>
          <a:bodyPr wrap="square" lIns="14400" rIns="14400" tIns="14400" bIns="14400" anchor="t">
            <a:spAutoFit/>
          </a:bodyPr>
          <a:lstStyle/>
          <a:p>
            <a:pPr algn="ctr"/>
            <a:r>
              <a:rPr sz="1100" b="1">
                <a:solidFill>
                  <a:srgbClr val="007A82"/>
                </a:solidFill>
                <a:latin typeface="Poppins"/>
              </a:rPr>
              <a:t>In entrambi i modelli servono RACI, SLA, key ownership, audit ed exit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ECONOMICS</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I range delimitano il confronto, ma non sostituiscono il sizing</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TCO piattaforma = una tantum + 36 mesi; Application Maintenance valorizzata separatamente.</a:t>
            </a:r>
          </a:p>
        </p:txBody>
      </p:sp>
      <p:graphicFrame>
        <p:nvGraphicFramePr>
          <p:cNvPr id="8" name="Table 7"/>
          <p:cNvGraphicFramePr>
            <a:graphicFrameLocks noGrp="1"/>
          </p:cNvGraphicFramePr>
          <p:nvPr/>
        </p:nvGraphicFramePr>
        <p:xfrm>
          <a:off x="360000" y="1260000"/>
          <a:ext cx="11196000" cy="3384000"/>
        </p:xfrm>
        <a:graphic>
          <a:graphicData uri="http://schemas.openxmlformats.org/drawingml/2006/table">
            <a:tbl>
              <a:tblPr firstRow="1" bandRow="1">
                <a:tableStyleId>{5C22544A-7EE6-4342-B048-85BDC9FD1C3A}</a:tableStyleId>
              </a:tblPr>
              <a:tblGrid>
                <a:gridCol w="4608000"/>
                <a:gridCol w="2052000"/>
                <a:gridCol w="2232000"/>
                <a:gridCol w="2304000"/>
              </a:tblGrid>
              <a:tr h="483428">
                <a:tc>
                  <a:txBody>
                    <a:bodyPr/>
                    <a:lstStyle/>
                    <a:p>
                      <a:pPr algn="l"/>
                      <a:r>
                        <a:rPr sz="919" b="1">
                          <a:solidFill>
                            <a:srgbClr val="FFFFFF"/>
                          </a:solidFill>
                          <a:latin typeface="Poppins"/>
                        </a:rPr>
                        <a:t>Scenario</a:t>
                      </a:r>
                    </a:p>
                  </a:txBody>
                  <a:tcPr marL="28800" marR="28800" marT="14400" marB="14400" anchor="ctr">
                    <a:solidFill>
                      <a:srgbClr val="004481"/>
                    </a:solidFill>
                  </a:tcPr>
                </a:tc>
                <a:tc>
                  <a:txBody>
                    <a:bodyPr/>
                    <a:lstStyle/>
                    <a:p>
                      <a:pPr algn="ctr"/>
                      <a:r>
                        <a:rPr sz="919" b="1">
                          <a:solidFill>
                            <a:srgbClr val="FFFFFF"/>
                          </a:solidFill>
                          <a:latin typeface="Poppins"/>
                        </a:rPr>
                        <a:t>Una tantum</a:t>
                      </a:r>
                    </a:p>
                  </a:txBody>
                  <a:tcPr marL="28800" marR="28800" marT="14400" marB="14400" anchor="ctr">
                    <a:solidFill>
                      <a:srgbClr val="004481"/>
                    </a:solidFill>
                  </a:tcPr>
                </a:tc>
                <a:tc>
                  <a:txBody>
                    <a:bodyPr/>
                    <a:lstStyle/>
                    <a:p>
                      <a:pPr algn="ctr"/>
                      <a:r>
                        <a:rPr sz="919" b="1">
                          <a:solidFill>
                            <a:srgbClr val="FFFFFF"/>
                          </a:solidFill>
                          <a:latin typeface="Poppins"/>
                        </a:rPr>
                        <a:t>Piattaforma / mese</a:t>
                      </a:r>
                    </a:p>
                  </a:txBody>
                  <a:tcPr marL="28800" marR="28800" marT="14400" marB="14400" anchor="ctr">
                    <a:solidFill>
                      <a:srgbClr val="004481"/>
                    </a:solidFill>
                  </a:tcPr>
                </a:tc>
                <a:tc>
                  <a:txBody>
                    <a:bodyPr/>
                    <a:lstStyle/>
                    <a:p>
                      <a:pPr algn="ctr"/>
                      <a:r>
                        <a:rPr sz="919" b="1">
                          <a:solidFill>
                            <a:srgbClr val="FFFFFF"/>
                          </a:solidFill>
                          <a:latin typeface="Poppins"/>
                        </a:rPr>
                        <a:t>TCO 3 anni</a:t>
                      </a:r>
                    </a:p>
                  </a:txBody>
                  <a:tcPr marL="28800" marR="28800" marT="14400" marB="14400" anchor="ctr">
                    <a:solidFill>
                      <a:srgbClr val="004481"/>
                    </a:solidFill>
                  </a:tcPr>
                </a:tc>
              </a:tr>
              <a:tr h="483428">
                <a:tc>
                  <a:txBody>
                    <a:bodyPr/>
                    <a:lstStyle/>
                    <a:p>
                      <a:pPr algn="l"/>
                      <a:r>
                        <a:rPr sz="919" b="1">
                          <a:solidFill>
                            <a:srgbClr val="004481"/>
                          </a:solidFill>
                          <a:latin typeface="Poppins"/>
                        </a:rPr>
                        <a:t>Infrastruttura attuale</a:t>
                      </a:r>
                    </a:p>
                  </a:txBody>
                  <a:tcPr marL="28800" marR="28800" marT="14400" marB="14400" anchor="ctr">
                    <a:solidFill>
                      <a:srgbClr val="E9F7FA"/>
                    </a:solidFill>
                  </a:tcPr>
                </a:tc>
                <a:tc>
                  <a:txBody>
                    <a:bodyPr/>
                    <a:lstStyle/>
                    <a:p>
                      <a:pPr algn="ctr"/>
                      <a:r>
                        <a:rPr sz="919" b="0">
                          <a:solidFill>
                            <a:srgbClr val="252D36"/>
                          </a:solidFill>
                          <a:latin typeface="Poppins"/>
                        </a:rPr>
                        <a:t>€ 15k–38k</a:t>
                      </a:r>
                    </a:p>
                  </a:txBody>
                  <a:tcPr marL="28800" marR="28800" marT="14400" marB="14400" anchor="ctr">
                    <a:solidFill>
                      <a:srgbClr val="FFFFFF"/>
                    </a:solidFill>
                  </a:tcPr>
                </a:tc>
                <a:tc>
                  <a:txBody>
                    <a:bodyPr/>
                    <a:lstStyle/>
                    <a:p>
                      <a:pPr algn="ctr"/>
                      <a:r>
                        <a:rPr sz="919" b="0">
                          <a:solidFill>
                            <a:srgbClr val="252D36"/>
                          </a:solidFill>
                          <a:latin typeface="Poppins"/>
                        </a:rPr>
                        <a:t>€ 0,7k–2,4k</a:t>
                      </a:r>
                    </a:p>
                  </a:txBody>
                  <a:tcPr marL="28800" marR="28800" marT="14400" marB="14400" anchor="ctr">
                    <a:solidFill>
                      <a:srgbClr val="FFFFFF"/>
                    </a:solidFill>
                  </a:tcPr>
                </a:tc>
                <a:tc>
                  <a:txBody>
                    <a:bodyPr/>
                    <a:lstStyle/>
                    <a:p>
                      <a:pPr algn="ctr"/>
                      <a:r>
                        <a:rPr sz="919" b="0">
                          <a:solidFill>
                            <a:srgbClr val="252D36"/>
                          </a:solidFill>
                          <a:latin typeface="Poppins"/>
                        </a:rPr>
                        <a:t>€ 40k–124k</a:t>
                      </a:r>
                    </a:p>
                  </a:txBody>
                  <a:tcPr marL="28800" marR="28800" marT="14400" marB="14400" anchor="ctr">
                    <a:solidFill>
                      <a:srgbClr val="FFFFFF"/>
                    </a:solidFill>
                  </a:tcPr>
                </a:tc>
              </a:tr>
              <a:tr h="483428">
                <a:tc>
                  <a:txBody>
                    <a:bodyPr/>
                    <a:lstStyle/>
                    <a:p>
                      <a:pPr algn="l"/>
                      <a:r>
                        <a:rPr sz="919" b="1">
                          <a:solidFill>
                            <a:srgbClr val="004481"/>
                          </a:solidFill>
                          <a:latin typeface="Poppins"/>
                        </a:rPr>
                        <a:t>Primario su Azure Guber</a:t>
                      </a:r>
                    </a:p>
                  </a:txBody>
                  <a:tcPr marL="28800" marR="28800" marT="14400" marB="14400" anchor="ctr">
                    <a:solidFill>
                      <a:srgbClr val="E9F7FA"/>
                    </a:solidFill>
                  </a:tcPr>
                </a:tc>
                <a:tc>
                  <a:txBody>
                    <a:bodyPr/>
                    <a:lstStyle/>
                    <a:p>
                      <a:pPr algn="ctr"/>
                      <a:r>
                        <a:rPr sz="919" b="0">
                          <a:solidFill>
                            <a:srgbClr val="252D36"/>
                          </a:solidFill>
                          <a:latin typeface="Poppins"/>
                        </a:rPr>
                        <a:t>€ 49k–128k</a:t>
                      </a:r>
                    </a:p>
                  </a:txBody>
                  <a:tcPr marL="28800" marR="28800" marT="14400" marB="14400" anchor="ctr">
                    <a:solidFill>
                      <a:srgbClr val="F3F6F8"/>
                    </a:solidFill>
                  </a:tcPr>
                </a:tc>
                <a:tc>
                  <a:txBody>
                    <a:bodyPr/>
                    <a:lstStyle/>
                    <a:p>
                      <a:pPr algn="ctr"/>
                      <a:r>
                        <a:rPr sz="919" b="0">
                          <a:solidFill>
                            <a:srgbClr val="252D36"/>
                          </a:solidFill>
                          <a:latin typeface="Poppins"/>
                        </a:rPr>
                        <a:t>€ 1,75k–5,3k</a:t>
                      </a:r>
                    </a:p>
                  </a:txBody>
                  <a:tcPr marL="28800" marR="28800" marT="14400" marB="14400" anchor="ctr">
                    <a:solidFill>
                      <a:srgbClr val="F3F6F8"/>
                    </a:solidFill>
                  </a:tcPr>
                </a:tc>
                <a:tc>
                  <a:txBody>
                    <a:bodyPr/>
                    <a:lstStyle/>
                    <a:p>
                      <a:pPr algn="ctr"/>
                      <a:r>
                        <a:rPr sz="919" b="0">
                          <a:solidFill>
                            <a:srgbClr val="252D36"/>
                          </a:solidFill>
                          <a:latin typeface="Poppins"/>
                        </a:rPr>
                        <a:t>€ 112k–319k</a:t>
                      </a:r>
                    </a:p>
                  </a:txBody>
                  <a:tcPr marL="28800" marR="28800" marT="14400" marB="14400" anchor="ctr">
                    <a:solidFill>
                      <a:srgbClr val="F3F6F8"/>
                    </a:solidFill>
                  </a:tcPr>
                </a:tc>
              </a:tr>
              <a:tr h="483428">
                <a:tc>
                  <a:txBody>
                    <a:bodyPr/>
                    <a:lstStyle/>
                    <a:p>
                      <a:pPr algn="l"/>
                      <a:r>
                        <a:rPr sz="919" b="1">
                          <a:solidFill>
                            <a:srgbClr val="004481"/>
                          </a:solidFill>
                          <a:latin typeface="Poppins"/>
                        </a:rPr>
                        <a:t>Primario su AWS Guber</a:t>
                      </a:r>
                    </a:p>
                  </a:txBody>
                  <a:tcPr marL="28800" marR="28800" marT="14400" marB="14400" anchor="ctr">
                    <a:solidFill>
                      <a:srgbClr val="E9F7FA"/>
                    </a:solidFill>
                  </a:tcPr>
                </a:tc>
                <a:tc>
                  <a:txBody>
                    <a:bodyPr/>
                    <a:lstStyle/>
                    <a:p>
                      <a:pPr algn="ctr"/>
                      <a:r>
                        <a:rPr sz="919" b="0">
                          <a:solidFill>
                            <a:srgbClr val="252D36"/>
                          </a:solidFill>
                          <a:latin typeface="Poppins"/>
                        </a:rPr>
                        <a:t>€ 49k–128k</a:t>
                      </a:r>
                    </a:p>
                  </a:txBody>
                  <a:tcPr marL="28800" marR="28800" marT="14400" marB="14400" anchor="ctr">
                    <a:solidFill>
                      <a:srgbClr val="FFFFFF"/>
                    </a:solidFill>
                  </a:tcPr>
                </a:tc>
                <a:tc>
                  <a:txBody>
                    <a:bodyPr/>
                    <a:lstStyle/>
                    <a:p>
                      <a:pPr algn="ctr"/>
                      <a:r>
                        <a:rPr sz="919" b="0">
                          <a:solidFill>
                            <a:srgbClr val="252D36"/>
                          </a:solidFill>
                          <a:latin typeface="Poppins"/>
                        </a:rPr>
                        <a:t>€ 1,65k–5,2k</a:t>
                      </a:r>
                    </a:p>
                  </a:txBody>
                  <a:tcPr marL="28800" marR="28800" marT="14400" marB="14400" anchor="ctr">
                    <a:solidFill>
                      <a:srgbClr val="FFFFFF"/>
                    </a:solidFill>
                  </a:tcPr>
                </a:tc>
                <a:tc>
                  <a:txBody>
                    <a:bodyPr/>
                    <a:lstStyle/>
                    <a:p>
                      <a:pPr algn="ctr"/>
                      <a:r>
                        <a:rPr sz="919" b="0">
                          <a:solidFill>
                            <a:srgbClr val="252D36"/>
                          </a:solidFill>
                          <a:latin typeface="Poppins"/>
                        </a:rPr>
                        <a:t>€ 108k–315k</a:t>
                      </a:r>
                    </a:p>
                  </a:txBody>
                  <a:tcPr marL="28800" marR="28800" marT="14400" marB="14400" anchor="ctr">
                    <a:solidFill>
                      <a:srgbClr val="FFFFFF"/>
                    </a:solidFill>
                  </a:tcPr>
                </a:tc>
              </a:tr>
              <a:tr h="483428">
                <a:tc>
                  <a:txBody>
                    <a:bodyPr/>
                    <a:lstStyle/>
                    <a:p>
                      <a:pPr algn="l"/>
                      <a:r>
                        <a:rPr sz="919" b="1">
                          <a:solidFill>
                            <a:srgbClr val="004481"/>
                          </a:solidFill>
                          <a:latin typeface="Poppins"/>
                        </a:rPr>
                        <a:t>Primario on-premise Guber</a:t>
                      </a:r>
                    </a:p>
                  </a:txBody>
                  <a:tcPr marL="28800" marR="28800" marT="14400" marB="14400" anchor="ctr">
                    <a:solidFill>
                      <a:srgbClr val="E9F7FA"/>
                    </a:solidFill>
                  </a:tcPr>
                </a:tc>
                <a:tc>
                  <a:txBody>
                    <a:bodyPr/>
                    <a:lstStyle/>
                    <a:p>
                      <a:pPr algn="ctr"/>
                      <a:r>
                        <a:rPr sz="919" b="0">
                          <a:solidFill>
                            <a:srgbClr val="252D36"/>
                          </a:solidFill>
                          <a:latin typeface="Poppins"/>
                        </a:rPr>
                        <a:t>€ 71k–208k</a:t>
                      </a:r>
                    </a:p>
                  </a:txBody>
                  <a:tcPr marL="28800" marR="28800" marT="14400" marB="14400" anchor="ctr">
                    <a:solidFill>
                      <a:srgbClr val="F3F6F8"/>
                    </a:solidFill>
                  </a:tcPr>
                </a:tc>
                <a:tc>
                  <a:txBody>
                    <a:bodyPr/>
                    <a:lstStyle/>
                    <a:p>
                      <a:pPr algn="ctr"/>
                      <a:r>
                        <a:rPr sz="919" b="0">
                          <a:solidFill>
                            <a:srgbClr val="252D36"/>
                          </a:solidFill>
                          <a:latin typeface="Poppins"/>
                        </a:rPr>
                        <a:t>€ 1,4k–4,5k</a:t>
                      </a:r>
                    </a:p>
                  </a:txBody>
                  <a:tcPr marL="28800" marR="28800" marT="14400" marB="14400" anchor="ctr">
                    <a:solidFill>
                      <a:srgbClr val="F3F6F8"/>
                    </a:solidFill>
                  </a:tcPr>
                </a:tc>
                <a:tc>
                  <a:txBody>
                    <a:bodyPr/>
                    <a:lstStyle/>
                    <a:p>
                      <a:pPr algn="ctr"/>
                      <a:r>
                        <a:rPr sz="919" b="0">
                          <a:solidFill>
                            <a:srgbClr val="252D36"/>
                          </a:solidFill>
                          <a:latin typeface="Poppins"/>
                        </a:rPr>
                        <a:t>€ 121k–370k</a:t>
                      </a:r>
                    </a:p>
                  </a:txBody>
                  <a:tcPr marL="28800" marR="28800" marT="14400" marB="14400" anchor="ctr">
                    <a:solidFill>
                      <a:srgbClr val="F3F6F8"/>
                    </a:solidFill>
                  </a:tcPr>
                </a:tc>
              </a:tr>
              <a:tr h="483428">
                <a:tc>
                  <a:txBody>
                    <a:bodyPr/>
                    <a:lstStyle/>
                    <a:p>
                      <a:pPr algn="l"/>
                      <a:r>
                        <a:rPr sz="919" b="1">
                          <a:solidFill>
                            <a:srgbClr val="004481"/>
                          </a:solidFill>
                          <a:latin typeface="Poppins"/>
                        </a:rPr>
                        <a:t>Replica on-premise Guber</a:t>
                      </a:r>
                    </a:p>
                  </a:txBody>
                  <a:tcPr marL="28800" marR="28800" marT="14400" marB="14400" anchor="ctr">
                    <a:solidFill>
                      <a:srgbClr val="E9F7FA"/>
                    </a:solidFill>
                  </a:tcPr>
                </a:tc>
                <a:tc>
                  <a:txBody>
                    <a:bodyPr/>
                    <a:lstStyle/>
                    <a:p>
                      <a:pPr algn="ctr"/>
                      <a:r>
                        <a:rPr sz="919" b="0">
                          <a:solidFill>
                            <a:srgbClr val="252D36"/>
                          </a:solidFill>
                          <a:latin typeface="Poppins"/>
                        </a:rPr>
                        <a:t>€ 25k–64k</a:t>
                      </a:r>
                    </a:p>
                  </a:txBody>
                  <a:tcPr marL="28800" marR="28800" marT="14400" marB="14400" anchor="ctr">
                    <a:solidFill>
                      <a:srgbClr val="FFFFFF"/>
                    </a:solidFill>
                  </a:tcPr>
                </a:tc>
                <a:tc>
                  <a:txBody>
                    <a:bodyPr/>
                    <a:lstStyle/>
                    <a:p>
                      <a:pPr algn="ctr"/>
                      <a:r>
                        <a:rPr sz="919" b="0">
                          <a:solidFill>
                            <a:srgbClr val="252D36"/>
                          </a:solidFill>
                          <a:latin typeface="Poppins"/>
                        </a:rPr>
                        <a:t>€ 0,9k–3,2k</a:t>
                      </a:r>
                    </a:p>
                  </a:txBody>
                  <a:tcPr marL="28800" marR="28800" marT="14400" marB="14400" anchor="ctr">
                    <a:solidFill>
                      <a:srgbClr val="FFFFFF"/>
                    </a:solidFill>
                  </a:tcPr>
                </a:tc>
                <a:tc>
                  <a:txBody>
                    <a:bodyPr/>
                    <a:lstStyle/>
                    <a:p>
                      <a:pPr algn="ctr"/>
                      <a:r>
                        <a:rPr sz="919" b="0">
                          <a:solidFill>
                            <a:srgbClr val="252D36"/>
                          </a:solidFill>
                          <a:latin typeface="Poppins"/>
                        </a:rPr>
                        <a:t>€ 57k–179k</a:t>
                      </a:r>
                    </a:p>
                  </a:txBody>
                  <a:tcPr marL="28800" marR="28800" marT="14400" marB="14400" anchor="ctr">
                    <a:solidFill>
                      <a:srgbClr val="FFFFFF"/>
                    </a:solidFill>
                  </a:tcPr>
                </a:tc>
              </a:tr>
              <a:tr h="483432">
                <a:tc>
                  <a:txBody>
                    <a:bodyPr/>
                    <a:lstStyle/>
                    <a:p>
                      <a:pPr algn="l"/>
                      <a:r>
                        <a:rPr sz="919" b="1">
                          <a:solidFill>
                            <a:srgbClr val="004481"/>
                          </a:solidFill>
                          <a:latin typeface="Poppins"/>
                        </a:rPr>
                        <a:t>Replica su Azure Guber</a:t>
                      </a:r>
                    </a:p>
                  </a:txBody>
                  <a:tcPr marL="28800" marR="28800" marT="14400" marB="14400" anchor="ctr">
                    <a:solidFill>
                      <a:srgbClr val="E9F7FA"/>
                    </a:solidFill>
                  </a:tcPr>
                </a:tc>
                <a:tc>
                  <a:txBody>
                    <a:bodyPr/>
                    <a:lstStyle/>
                    <a:p>
                      <a:pPr algn="ctr"/>
                      <a:r>
                        <a:rPr sz="919" b="0">
                          <a:solidFill>
                            <a:srgbClr val="252D36"/>
                          </a:solidFill>
                          <a:latin typeface="Poppins"/>
                        </a:rPr>
                        <a:t>€ 25k–64k</a:t>
                      </a:r>
                    </a:p>
                  </a:txBody>
                  <a:tcPr marL="28800" marR="28800" marT="14400" marB="14400" anchor="ctr">
                    <a:solidFill>
                      <a:srgbClr val="F3F6F8"/>
                    </a:solidFill>
                  </a:tcPr>
                </a:tc>
                <a:tc>
                  <a:txBody>
                    <a:bodyPr/>
                    <a:lstStyle/>
                    <a:p>
                      <a:pPr algn="ctr"/>
                      <a:r>
                        <a:rPr sz="919" b="0">
                          <a:solidFill>
                            <a:srgbClr val="252D36"/>
                          </a:solidFill>
                          <a:latin typeface="Poppins"/>
                        </a:rPr>
                        <a:t>€ 0,9k–3,2k</a:t>
                      </a:r>
                    </a:p>
                  </a:txBody>
                  <a:tcPr marL="28800" marR="28800" marT="14400" marB="14400" anchor="ctr">
                    <a:solidFill>
                      <a:srgbClr val="F3F6F8"/>
                    </a:solidFill>
                  </a:tcPr>
                </a:tc>
                <a:tc>
                  <a:txBody>
                    <a:bodyPr/>
                    <a:lstStyle/>
                    <a:p>
                      <a:pPr algn="ctr"/>
                      <a:r>
                        <a:rPr sz="919" b="0">
                          <a:solidFill>
                            <a:srgbClr val="252D36"/>
                          </a:solidFill>
                          <a:latin typeface="Poppins"/>
                        </a:rPr>
                        <a:t>€ 57k–179k</a:t>
                      </a:r>
                    </a:p>
                  </a:txBody>
                  <a:tcPr marL="28800" marR="28800" marT="14400" marB="14400" anchor="ctr">
                    <a:solidFill>
                      <a:srgbClr val="F3F6F8"/>
                    </a:solidFill>
                  </a:tcPr>
                </a:tc>
              </a:tr>
            </a:tbl>
          </a:graphicData>
        </a:graphic>
      </p:graphicFrame>
      <p:sp>
        <p:nvSpPr>
          <p:cNvPr id="9" name="Rounded Rectangle 8"/>
          <p:cNvSpPr/>
          <p:nvPr/>
        </p:nvSpPr>
        <p:spPr>
          <a:xfrm>
            <a:off x="360000" y="5040000"/>
            <a:ext cx="259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3200" y="5086800"/>
            <a:ext cx="2505600" cy="90000"/>
          </a:xfrm>
          <a:prstGeom prst="rect">
            <a:avLst/>
          </a:prstGeom>
          <a:noFill/>
        </p:spPr>
        <p:txBody>
          <a:bodyPr wrap="square" lIns="14400" rIns="14400" tIns="14400" bIns="14400" anchor="t">
            <a:spAutoFit/>
          </a:bodyPr>
          <a:lstStyle/>
          <a:p>
            <a:pPr algn="ctr"/>
            <a:r>
              <a:rPr sz="800" b="1">
                <a:solidFill>
                  <a:srgbClr val="004481"/>
                </a:solidFill>
                <a:latin typeface="Poppins"/>
              </a:rPr>
              <a:t>AWS verificato su Francoforte, eu-central-1</a:t>
            </a:r>
          </a:p>
        </p:txBody>
      </p:sp>
      <p:sp>
        <p:nvSpPr>
          <p:cNvPr id="11" name="Rounded Rectangle 10"/>
          <p:cNvSpPr/>
          <p:nvPr/>
        </p:nvSpPr>
        <p:spPr>
          <a:xfrm>
            <a:off x="3168000" y="5040000"/>
            <a:ext cx="259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11200" y="5086800"/>
            <a:ext cx="2505600" cy="90000"/>
          </a:xfrm>
          <a:prstGeom prst="rect">
            <a:avLst/>
          </a:prstGeom>
          <a:noFill/>
        </p:spPr>
        <p:txBody>
          <a:bodyPr wrap="square" lIns="14400" rIns="14400" tIns="14400" bIns="14400" anchor="t">
            <a:spAutoFit/>
          </a:bodyPr>
          <a:lstStyle/>
          <a:p>
            <a:pPr algn="ctr"/>
            <a:r>
              <a:rPr sz="800" b="1">
                <a:solidFill>
                  <a:srgbClr val="004481"/>
                </a:solidFill>
                <a:latin typeface="Poppins"/>
              </a:rPr>
              <a:t>AM e team sostitutivo esclusi</a:t>
            </a:r>
          </a:p>
        </p:txBody>
      </p:sp>
      <p:sp>
        <p:nvSpPr>
          <p:cNvPr id="13" name="Rounded Rectangle 12"/>
          <p:cNvSpPr/>
          <p:nvPr/>
        </p:nvSpPr>
        <p:spPr>
          <a:xfrm>
            <a:off x="5976000" y="5040000"/>
            <a:ext cx="259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19200" y="5086800"/>
            <a:ext cx="2505600" cy="90000"/>
          </a:xfrm>
          <a:prstGeom prst="rect">
            <a:avLst/>
          </a:prstGeom>
          <a:noFill/>
        </p:spPr>
        <p:txBody>
          <a:bodyPr wrap="square" lIns="14400" rIns="14400" tIns="14400" bIns="14400" anchor="t">
            <a:spAutoFit/>
          </a:bodyPr>
          <a:lstStyle/>
          <a:p>
            <a:pPr algn="ctr"/>
            <a:r>
              <a:rPr sz="800" b="1">
                <a:solidFill>
                  <a:srgbClr val="004481"/>
                </a:solidFill>
                <a:latin typeface="Poppins"/>
              </a:rPr>
              <a:t>Licenze non note e DR geografico esclusi</a:t>
            </a:r>
          </a:p>
        </p:txBody>
      </p:sp>
      <p:sp>
        <p:nvSpPr>
          <p:cNvPr id="15" name="Rounded Rectangle 14"/>
          <p:cNvSpPr/>
          <p:nvPr/>
        </p:nvSpPr>
        <p:spPr>
          <a:xfrm>
            <a:off x="8784000" y="5040000"/>
            <a:ext cx="2592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7200" y="5086800"/>
            <a:ext cx="2505600" cy="90000"/>
          </a:xfrm>
          <a:prstGeom prst="rect">
            <a:avLst/>
          </a:prstGeom>
          <a:noFill/>
        </p:spPr>
        <p:txBody>
          <a:bodyPr wrap="square" lIns="14400" rIns="14400" tIns="14400" bIns="14400" anchor="t">
            <a:spAutoFit/>
          </a:bodyPr>
          <a:lstStyle/>
          <a:p>
            <a:pPr algn="ctr"/>
            <a:r>
              <a:rPr sz="800" b="1">
                <a:solidFill>
                  <a:srgbClr val="004481"/>
                </a:solidFill>
                <a:latin typeface="Poppins"/>
              </a:rPr>
              <a:t>Confidenza bassa fino al sizing reale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CONFRONTO</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La matrice evidenzia trade-off differenti, non un vincitore</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Lettura qualitativa preliminare: da rivedere dopo la verifica dei gate tecnici e degli standard Guber.</a:t>
            </a:r>
          </a:p>
        </p:txBody>
      </p:sp>
      <p:graphicFrame>
        <p:nvGraphicFramePr>
          <p:cNvPr id="8" name="Table 7"/>
          <p:cNvGraphicFramePr>
            <a:graphicFrameLocks noGrp="1"/>
          </p:cNvGraphicFramePr>
          <p:nvPr/>
        </p:nvGraphicFramePr>
        <p:xfrm>
          <a:off x="288000" y="1314000"/>
          <a:ext cx="11574000" cy="3600000"/>
        </p:xfrm>
        <a:graphic>
          <a:graphicData uri="http://schemas.openxmlformats.org/drawingml/2006/table">
            <a:tbl>
              <a:tblPr firstRow="1" bandRow="1">
                <a:tableStyleId>{5C22544A-7EE6-4342-B048-85BDC9FD1C3A}</a:tableStyleId>
              </a:tblPr>
              <a:tblGrid>
                <a:gridCol w="3888000"/>
                <a:gridCol w="1098000"/>
                <a:gridCol w="1098000"/>
                <a:gridCol w="1098000"/>
                <a:gridCol w="1098000"/>
                <a:gridCol w="1098000"/>
                <a:gridCol w="1098000"/>
                <a:gridCol w="1098000"/>
              </a:tblGrid>
              <a:tr h="514285">
                <a:tc>
                  <a:txBody>
                    <a:bodyPr/>
                    <a:lstStyle/>
                    <a:p>
                      <a:pPr algn="l"/>
                      <a:r>
                        <a:rPr sz="819" b="1">
                          <a:solidFill>
                            <a:srgbClr val="FFFFFF"/>
                          </a:solidFill>
                          <a:latin typeface="Poppins"/>
                        </a:rPr>
                        <a:t>Scenario</a:t>
                      </a:r>
                    </a:p>
                  </a:txBody>
                  <a:tcPr marL="28800" marR="28800" marT="14400" marB="14400" anchor="ctr">
                    <a:solidFill>
                      <a:srgbClr val="004481"/>
                    </a:solidFill>
                  </a:tcPr>
                </a:tc>
                <a:tc>
                  <a:txBody>
                    <a:bodyPr/>
                    <a:lstStyle/>
                    <a:p>
                      <a:pPr algn="ctr"/>
                      <a:r>
                        <a:rPr sz="819" b="1">
                          <a:solidFill>
                            <a:srgbClr val="FFFFFF"/>
                          </a:solidFill>
                          <a:latin typeface="Poppins"/>
                        </a:rPr>
                        <a:t>Rapidità</a:t>
                      </a:r>
                    </a:p>
                  </a:txBody>
                  <a:tcPr marL="28800" marR="28800" marT="14400" marB="14400" anchor="ctr">
                    <a:solidFill>
                      <a:srgbClr val="004481"/>
                    </a:solidFill>
                  </a:tcPr>
                </a:tc>
                <a:tc>
                  <a:txBody>
                    <a:bodyPr/>
                    <a:lstStyle/>
                    <a:p>
                      <a:pPr algn="ctr"/>
                      <a:r>
                        <a:rPr sz="819" b="1">
                          <a:solidFill>
                            <a:srgbClr val="FFFFFF"/>
                          </a:solidFill>
                          <a:latin typeface="Poppins"/>
                        </a:rPr>
                        <a:t>Rischio</a:t>
                      </a:r>
                    </a:p>
                    <a:p>
                      <a:pPr algn="ctr"/>
                      <a:r>
                        <a:rPr sz="819" b="1">
                          <a:solidFill>
                            <a:srgbClr val="FFFFFF"/>
                          </a:solidFill>
                          <a:latin typeface="Poppins"/>
                        </a:rPr>
                        <a:t>contenuto</a:t>
                      </a:r>
                    </a:p>
                  </a:txBody>
                  <a:tcPr marL="28800" marR="28800" marT="14400" marB="14400" anchor="ctr">
                    <a:solidFill>
                      <a:srgbClr val="004481"/>
                    </a:solidFill>
                  </a:tcPr>
                </a:tc>
                <a:tc>
                  <a:txBody>
                    <a:bodyPr/>
                    <a:lstStyle/>
                    <a:p>
                      <a:pPr algn="ctr"/>
                      <a:r>
                        <a:rPr sz="819" b="1">
                          <a:solidFill>
                            <a:srgbClr val="FFFFFF"/>
                          </a:solidFill>
                          <a:latin typeface="Poppins"/>
                        </a:rPr>
                        <a:t>Ownership</a:t>
                      </a:r>
                    </a:p>
                    <a:p>
                      <a:pPr algn="ctr"/>
                      <a:r>
                        <a:rPr sz="819" b="1">
                          <a:solidFill>
                            <a:srgbClr val="FFFFFF"/>
                          </a:solidFill>
                          <a:latin typeface="Poppins"/>
                        </a:rPr>
                        <a:t>Guber</a:t>
                      </a:r>
                    </a:p>
                  </a:txBody>
                  <a:tcPr marL="28800" marR="28800" marT="14400" marB="14400" anchor="ctr">
                    <a:solidFill>
                      <a:srgbClr val="004481"/>
                    </a:solidFill>
                  </a:tcPr>
                </a:tc>
                <a:tc>
                  <a:txBody>
                    <a:bodyPr/>
                    <a:lstStyle/>
                    <a:p>
                      <a:pPr algn="ctr"/>
                      <a:r>
                        <a:rPr sz="819" b="1">
                          <a:solidFill>
                            <a:srgbClr val="FFFFFF"/>
                          </a:solidFill>
                          <a:latin typeface="Poppins"/>
                        </a:rPr>
                        <a:t>Accesso</a:t>
                      </a:r>
                    </a:p>
                    <a:p>
                      <a:pPr algn="ctr"/>
                      <a:r>
                        <a:rPr sz="819" b="1">
                          <a:solidFill>
                            <a:srgbClr val="FFFFFF"/>
                          </a:solidFill>
                          <a:latin typeface="Poppins"/>
                        </a:rPr>
                        <a:t>SQL</a:t>
                      </a:r>
                    </a:p>
                  </a:txBody>
                  <a:tcPr marL="28800" marR="28800" marT="14400" marB="14400" anchor="ctr">
                    <a:solidFill>
                      <a:srgbClr val="004481"/>
                    </a:solidFill>
                  </a:tcPr>
                </a:tc>
                <a:tc>
                  <a:txBody>
                    <a:bodyPr/>
                    <a:lstStyle/>
                    <a:p>
                      <a:pPr algn="ctr"/>
                      <a:r>
                        <a:rPr sz="819" b="1">
                          <a:solidFill>
                            <a:srgbClr val="FFFFFF"/>
                          </a:solidFill>
                          <a:latin typeface="Poppins"/>
                        </a:rPr>
                        <a:t>Elasticità</a:t>
                      </a:r>
                    </a:p>
                  </a:txBody>
                  <a:tcPr marL="28800" marR="28800" marT="14400" marB="14400" anchor="ctr">
                    <a:solidFill>
                      <a:srgbClr val="004481"/>
                    </a:solidFill>
                  </a:tcPr>
                </a:tc>
                <a:tc>
                  <a:txBody>
                    <a:bodyPr/>
                    <a:lstStyle/>
                    <a:p>
                      <a:pPr algn="ctr"/>
                      <a:r>
                        <a:rPr sz="819" b="1">
                          <a:solidFill>
                            <a:srgbClr val="FFFFFF"/>
                          </a:solidFill>
                          <a:latin typeface="Poppins"/>
                        </a:rPr>
                        <a:t>Semplicità</a:t>
                      </a:r>
                    </a:p>
                    <a:p>
                      <a:pPr algn="ctr"/>
                      <a:r>
                        <a:rPr sz="819" b="1">
                          <a:solidFill>
                            <a:srgbClr val="FFFFFF"/>
                          </a:solidFill>
                          <a:latin typeface="Poppins"/>
                        </a:rPr>
                        <a:t>operativa</a:t>
                      </a:r>
                    </a:p>
                  </a:txBody>
                  <a:tcPr marL="28800" marR="28800" marT="14400" marB="14400" anchor="ctr">
                    <a:solidFill>
                      <a:srgbClr val="004481"/>
                    </a:solidFill>
                  </a:tcPr>
                </a:tc>
                <a:tc>
                  <a:txBody>
                    <a:bodyPr/>
                    <a:lstStyle/>
                    <a:p>
                      <a:pPr algn="ctr"/>
                      <a:r>
                        <a:rPr sz="819" b="1">
                          <a:solidFill>
                            <a:srgbClr val="FFFFFF"/>
                          </a:solidFill>
                          <a:latin typeface="Poppins"/>
                        </a:rPr>
                        <a:t>Reversibilità</a:t>
                      </a:r>
                    </a:p>
                  </a:txBody>
                  <a:tcPr marL="28800" marR="28800" marT="14400" marB="14400" anchor="ctr">
                    <a:solidFill>
                      <a:srgbClr val="004481"/>
                    </a:solidFill>
                  </a:tcPr>
                </a:tc>
              </a:tr>
              <a:tr h="514285">
                <a:tc>
                  <a:txBody>
                    <a:bodyPr/>
                    <a:lstStyle/>
                    <a:p>
                      <a:pPr algn="l"/>
                      <a:r>
                        <a:rPr sz="819" b="1">
                          <a:solidFill>
                            <a:srgbClr val="004481"/>
                          </a:solidFill>
                          <a:latin typeface="Poppins"/>
                        </a:rPr>
                        <a:t>Infrastruttura attuale</a:t>
                      </a:r>
                    </a:p>
                  </a:txBody>
                  <a:tcPr marL="28800" marR="28800" marT="14400" marB="14400" anchor="ctr">
                    <a:solidFill>
                      <a:srgbClr val="E9F7FA"/>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0">
                          <a:solidFill>
                            <a:srgbClr val="004481"/>
                          </a:solidFill>
                          <a:latin typeface="Poppins"/>
                        </a:rPr>
                        <a:t>Bassa</a:t>
                      </a:r>
                    </a:p>
                  </a:txBody>
                  <a:tcPr marL="28800" marR="28800" marT="14400" marB="14400" anchor="ctr">
                    <a:solidFill>
                      <a:srgbClr val="F3F6F8"/>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0">
                          <a:solidFill>
                            <a:srgbClr val="004481"/>
                          </a:solidFill>
                          <a:latin typeface="Poppins"/>
                        </a:rPr>
                        <a:t>Media</a:t>
                      </a:r>
                    </a:p>
                  </a:txBody>
                  <a:tcPr marL="28800" marR="28800" marT="14400" marB="14400" anchor="ctr">
                    <a:solidFill>
                      <a:srgbClr val="E9F7FA"/>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r>
              <a:tr h="514285">
                <a:tc>
                  <a:txBody>
                    <a:bodyPr/>
                    <a:lstStyle/>
                    <a:p>
                      <a:pPr algn="l"/>
                      <a:r>
                        <a:rPr sz="819" b="1">
                          <a:solidFill>
                            <a:srgbClr val="004481"/>
                          </a:solidFill>
                          <a:latin typeface="Poppins"/>
                        </a:rPr>
                        <a:t>Primario su Azure Guber</a:t>
                      </a:r>
                    </a:p>
                  </a:txBody>
                  <a:tcPr marL="28800" marR="28800" marT="14400" marB="14400" anchor="ctr">
                    <a:solidFill>
                      <a:srgbClr val="E9F7FA"/>
                    </a:solidFill>
                  </a:tcPr>
                </a:tc>
                <a:tc>
                  <a:txBody>
                    <a:bodyPr/>
                    <a:lstStyle/>
                    <a:p>
                      <a:pPr algn="ctr"/>
                      <a:r>
                        <a:rPr sz="819" b="0">
                          <a:solidFill>
                            <a:srgbClr val="004481"/>
                          </a:solidFill>
                          <a:latin typeface="Poppins"/>
                        </a:rPr>
                        <a:t>Medio-</a:t>
                      </a:r>
                    </a:p>
                    <a:p>
                      <a:pPr algn="ctr"/>
                      <a:r>
                        <a:rPr sz="819" b="0">
                          <a:solidFill>
                            <a:srgbClr val="004481"/>
                          </a:solidFill>
                          <a:latin typeface="Poppins"/>
                        </a:rPr>
                        <a:t>bassa</a:t>
                      </a:r>
                    </a:p>
                  </a:txBody>
                  <a:tcPr marL="28800" marR="28800" marT="14400" marB="14400" anchor="ctr">
                    <a:solidFill>
                      <a:srgbClr val="ECF5FC"/>
                    </a:solidFill>
                  </a:tcPr>
                </a:tc>
                <a:tc>
                  <a:txBody>
                    <a:bodyPr/>
                    <a:lstStyle/>
                    <a:p>
                      <a:pPr algn="ctr"/>
                      <a:r>
                        <a:rPr sz="819" b="0">
                          <a:solidFill>
                            <a:srgbClr val="004481"/>
                          </a:solidFill>
                          <a:latin typeface="Poppins"/>
                        </a:rPr>
                        <a:t>Medio-</a:t>
                      </a:r>
                    </a:p>
                    <a:p>
                      <a:pPr algn="ctr"/>
                      <a:r>
                        <a:rPr sz="819" b="0">
                          <a:solidFill>
                            <a:srgbClr val="004481"/>
                          </a:solidFill>
                          <a:latin typeface="Poppins"/>
                        </a:rPr>
                        <a:t>bassa</a:t>
                      </a:r>
                    </a:p>
                  </a:txBody>
                  <a:tcPr marL="28800" marR="28800" marT="14400" marB="14400" anchor="ctr">
                    <a:solidFill>
                      <a:srgbClr val="ECF5FC"/>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0">
                          <a:solidFill>
                            <a:srgbClr val="004481"/>
                          </a:solidFill>
                          <a:latin typeface="Poppins"/>
                        </a:rPr>
                        <a:t>Media</a:t>
                      </a:r>
                    </a:p>
                  </a:txBody>
                  <a:tcPr marL="28800" marR="28800" marT="14400" marB="14400" anchor="ctr">
                    <a:solidFill>
                      <a:srgbClr val="E9F7FA"/>
                    </a:solidFill>
                  </a:tcPr>
                </a:tc>
                <a:tc>
                  <a:txBody>
                    <a:bodyPr/>
                    <a:lstStyle/>
                    <a:p>
                      <a:pPr algn="ctr"/>
                      <a:r>
                        <a:rPr sz="819" b="0">
                          <a:solidFill>
                            <a:srgbClr val="004481"/>
                          </a:solidFill>
                          <a:latin typeface="Poppins"/>
                        </a:rPr>
                        <a:t>Media</a:t>
                      </a:r>
                    </a:p>
                  </a:txBody>
                  <a:tcPr marL="28800" marR="28800" marT="14400" marB="14400" anchor="ctr">
                    <a:solidFill>
                      <a:srgbClr val="E9F7FA"/>
                    </a:solidFill>
                  </a:tcPr>
                </a:tc>
              </a:tr>
              <a:tr h="514285">
                <a:tc>
                  <a:txBody>
                    <a:bodyPr/>
                    <a:lstStyle/>
                    <a:p>
                      <a:pPr algn="l"/>
                      <a:r>
                        <a:rPr sz="819" b="1">
                          <a:solidFill>
                            <a:srgbClr val="004481"/>
                          </a:solidFill>
                          <a:latin typeface="Poppins"/>
                        </a:rPr>
                        <a:t>Primario su AWS Guber</a:t>
                      </a:r>
                    </a:p>
                  </a:txBody>
                  <a:tcPr marL="28800" marR="28800" marT="14400" marB="14400" anchor="ctr">
                    <a:solidFill>
                      <a:srgbClr val="E9F7FA"/>
                    </a:solidFill>
                  </a:tcPr>
                </a:tc>
                <a:tc>
                  <a:txBody>
                    <a:bodyPr/>
                    <a:lstStyle/>
                    <a:p>
                      <a:pPr algn="ctr"/>
                      <a:r>
                        <a:rPr sz="819" b="0">
                          <a:solidFill>
                            <a:srgbClr val="004481"/>
                          </a:solidFill>
                          <a:latin typeface="Poppins"/>
                        </a:rPr>
                        <a:t>Medio-</a:t>
                      </a:r>
                    </a:p>
                    <a:p>
                      <a:pPr algn="ctr"/>
                      <a:r>
                        <a:rPr sz="819" b="0">
                          <a:solidFill>
                            <a:srgbClr val="004481"/>
                          </a:solidFill>
                          <a:latin typeface="Poppins"/>
                        </a:rPr>
                        <a:t>bassa</a:t>
                      </a:r>
                    </a:p>
                  </a:txBody>
                  <a:tcPr marL="28800" marR="28800" marT="14400" marB="14400" anchor="ctr">
                    <a:solidFill>
                      <a:srgbClr val="ECF5FC"/>
                    </a:solidFill>
                  </a:tcPr>
                </a:tc>
                <a:tc>
                  <a:txBody>
                    <a:bodyPr/>
                    <a:lstStyle/>
                    <a:p>
                      <a:pPr algn="ctr"/>
                      <a:r>
                        <a:rPr sz="819" b="0">
                          <a:solidFill>
                            <a:srgbClr val="004481"/>
                          </a:solidFill>
                          <a:latin typeface="Poppins"/>
                        </a:rPr>
                        <a:t>Medio-</a:t>
                      </a:r>
                    </a:p>
                    <a:p>
                      <a:pPr algn="ctr"/>
                      <a:r>
                        <a:rPr sz="819" b="0">
                          <a:solidFill>
                            <a:srgbClr val="004481"/>
                          </a:solidFill>
                          <a:latin typeface="Poppins"/>
                        </a:rPr>
                        <a:t>bassa</a:t>
                      </a:r>
                    </a:p>
                  </a:txBody>
                  <a:tcPr marL="28800" marR="28800" marT="14400" marB="14400" anchor="ctr">
                    <a:solidFill>
                      <a:srgbClr val="ECF5FC"/>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0">
                          <a:solidFill>
                            <a:srgbClr val="004481"/>
                          </a:solidFill>
                          <a:latin typeface="Poppins"/>
                        </a:rPr>
                        <a:t>Media</a:t>
                      </a:r>
                    </a:p>
                  </a:txBody>
                  <a:tcPr marL="28800" marR="28800" marT="14400" marB="14400" anchor="ctr">
                    <a:solidFill>
                      <a:srgbClr val="E9F7FA"/>
                    </a:solidFill>
                  </a:tcPr>
                </a:tc>
                <a:tc>
                  <a:txBody>
                    <a:bodyPr/>
                    <a:lstStyle/>
                    <a:p>
                      <a:pPr algn="ctr"/>
                      <a:r>
                        <a:rPr sz="819" b="0">
                          <a:solidFill>
                            <a:srgbClr val="004481"/>
                          </a:solidFill>
                          <a:latin typeface="Poppins"/>
                        </a:rPr>
                        <a:t>Media</a:t>
                      </a:r>
                    </a:p>
                  </a:txBody>
                  <a:tcPr marL="28800" marR="28800" marT="14400" marB="14400" anchor="ctr">
                    <a:solidFill>
                      <a:srgbClr val="E9F7FA"/>
                    </a:solidFill>
                  </a:tcPr>
                </a:tc>
              </a:tr>
              <a:tr h="514285">
                <a:tc>
                  <a:txBody>
                    <a:bodyPr/>
                    <a:lstStyle/>
                    <a:p>
                      <a:pPr algn="l"/>
                      <a:r>
                        <a:rPr sz="819" b="1">
                          <a:solidFill>
                            <a:srgbClr val="004481"/>
                          </a:solidFill>
                          <a:latin typeface="Poppins"/>
                        </a:rPr>
                        <a:t>Primario on-premise Guber</a:t>
                      </a:r>
                    </a:p>
                  </a:txBody>
                  <a:tcPr marL="28800" marR="28800" marT="14400" marB="14400" anchor="ctr">
                    <a:solidFill>
                      <a:srgbClr val="E9F7FA"/>
                    </a:solidFill>
                  </a:tcPr>
                </a:tc>
                <a:tc>
                  <a:txBody>
                    <a:bodyPr/>
                    <a:lstStyle/>
                    <a:p>
                      <a:pPr algn="ctr"/>
                      <a:r>
                        <a:rPr sz="819" b="0">
                          <a:solidFill>
                            <a:srgbClr val="004481"/>
                          </a:solidFill>
                          <a:latin typeface="Poppins"/>
                        </a:rPr>
                        <a:t>Bassa</a:t>
                      </a:r>
                    </a:p>
                  </a:txBody>
                  <a:tcPr marL="28800" marR="28800" marT="14400" marB="14400" anchor="ctr">
                    <a:solidFill>
                      <a:srgbClr val="F3F6F8"/>
                    </a:solidFill>
                  </a:tcPr>
                </a:tc>
                <a:tc>
                  <a:txBody>
                    <a:bodyPr/>
                    <a:lstStyle/>
                    <a:p>
                      <a:pPr algn="ctr"/>
                      <a:r>
                        <a:rPr sz="819" b="0">
                          <a:solidFill>
                            <a:srgbClr val="004481"/>
                          </a:solidFill>
                          <a:latin typeface="Poppins"/>
                        </a:rPr>
                        <a:t>Bassa</a:t>
                      </a:r>
                    </a:p>
                  </a:txBody>
                  <a:tcPr marL="28800" marR="28800" marT="14400" marB="14400" anchor="ctr">
                    <a:solidFill>
                      <a:srgbClr val="F3F6F8"/>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0">
                          <a:solidFill>
                            <a:srgbClr val="004481"/>
                          </a:solidFill>
                          <a:latin typeface="Poppins"/>
                        </a:rPr>
                        <a:t>Medio-</a:t>
                      </a:r>
                    </a:p>
                    <a:p>
                      <a:pPr algn="ctr"/>
                      <a:r>
                        <a:rPr sz="819" b="0">
                          <a:solidFill>
                            <a:srgbClr val="004481"/>
                          </a:solidFill>
                          <a:latin typeface="Poppins"/>
                        </a:rPr>
                        <a:t>bassa</a:t>
                      </a:r>
                    </a:p>
                  </a:txBody>
                  <a:tcPr marL="28800" marR="28800" marT="14400" marB="14400" anchor="ctr">
                    <a:solidFill>
                      <a:srgbClr val="ECF5FC"/>
                    </a:solidFill>
                  </a:tcPr>
                </a:tc>
                <a:tc>
                  <a:txBody>
                    <a:bodyPr/>
                    <a:lstStyle/>
                    <a:p>
                      <a:pPr algn="ctr"/>
                      <a:r>
                        <a:rPr sz="819" b="0">
                          <a:solidFill>
                            <a:srgbClr val="004481"/>
                          </a:solidFill>
                          <a:latin typeface="Poppins"/>
                        </a:rPr>
                        <a:t>Bassa</a:t>
                      </a:r>
                    </a:p>
                  </a:txBody>
                  <a:tcPr marL="28800" marR="28800" marT="14400" marB="14400" anchor="ctr">
                    <a:solidFill>
                      <a:srgbClr val="F3F6F8"/>
                    </a:solidFill>
                  </a:tcPr>
                </a:tc>
                <a:tc>
                  <a:txBody>
                    <a:bodyPr/>
                    <a:lstStyle/>
                    <a:p>
                      <a:pPr algn="ctr"/>
                      <a:r>
                        <a:rPr sz="819" b="0">
                          <a:solidFill>
                            <a:srgbClr val="004481"/>
                          </a:solidFill>
                          <a:latin typeface="Poppins"/>
                        </a:rPr>
                        <a:t>Medio-</a:t>
                      </a:r>
                    </a:p>
                    <a:p>
                      <a:pPr algn="ctr"/>
                      <a:r>
                        <a:rPr sz="819" b="0">
                          <a:solidFill>
                            <a:srgbClr val="004481"/>
                          </a:solidFill>
                          <a:latin typeface="Poppins"/>
                        </a:rPr>
                        <a:t>bassa</a:t>
                      </a:r>
                    </a:p>
                  </a:txBody>
                  <a:tcPr marL="28800" marR="28800" marT="14400" marB="14400" anchor="ctr">
                    <a:solidFill>
                      <a:srgbClr val="ECF5FC"/>
                    </a:solidFill>
                  </a:tcPr>
                </a:tc>
              </a:tr>
              <a:tr h="514285">
                <a:tc>
                  <a:txBody>
                    <a:bodyPr/>
                    <a:lstStyle/>
                    <a:p>
                      <a:pPr algn="l"/>
                      <a:r>
                        <a:rPr sz="819" b="1">
                          <a:solidFill>
                            <a:srgbClr val="004481"/>
                          </a:solidFill>
                          <a:latin typeface="Poppins"/>
                        </a:rPr>
                        <a:t>Replica on-premise Guber</a:t>
                      </a:r>
                    </a:p>
                  </a:txBody>
                  <a:tcPr marL="28800" marR="28800" marT="14400" marB="14400" anchor="ctr">
                    <a:solidFill>
                      <a:srgbClr val="E9F7FA"/>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0">
                          <a:solidFill>
                            <a:srgbClr val="004481"/>
                          </a:solidFill>
                          <a:latin typeface="Poppins"/>
                        </a:rPr>
                        <a:t>Medio-</a:t>
                      </a:r>
                    </a:p>
                    <a:p>
                      <a:pPr algn="ctr"/>
                      <a:r>
                        <a:rPr sz="819" b="0">
                          <a:solidFill>
                            <a:srgbClr val="004481"/>
                          </a:solidFill>
                          <a:latin typeface="Poppins"/>
                        </a:rPr>
                        <a:t>bassa</a:t>
                      </a:r>
                    </a:p>
                  </a:txBody>
                  <a:tcPr marL="28800" marR="28800" marT="14400" marB="14400" anchor="ctr">
                    <a:solidFill>
                      <a:srgbClr val="ECF5FC"/>
                    </a:solidFill>
                  </a:tcPr>
                </a:tc>
                <a:tc>
                  <a:txBody>
                    <a:bodyPr/>
                    <a:lstStyle/>
                    <a:p>
                      <a:pPr algn="ctr"/>
                      <a:r>
                        <a:rPr sz="819" b="0">
                          <a:solidFill>
                            <a:srgbClr val="004481"/>
                          </a:solidFill>
                          <a:latin typeface="Poppins"/>
                        </a:rPr>
                        <a:t>Media</a:t>
                      </a:r>
                    </a:p>
                  </a:txBody>
                  <a:tcPr marL="28800" marR="28800" marT="14400" marB="14400" anchor="ctr">
                    <a:solidFill>
                      <a:srgbClr val="E9F7FA"/>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r>
              <a:tr h="514290">
                <a:tc>
                  <a:txBody>
                    <a:bodyPr/>
                    <a:lstStyle/>
                    <a:p>
                      <a:pPr algn="l"/>
                      <a:r>
                        <a:rPr sz="819" b="1">
                          <a:solidFill>
                            <a:srgbClr val="004481"/>
                          </a:solidFill>
                          <a:latin typeface="Poppins"/>
                        </a:rPr>
                        <a:t>Replica su Azure Guber</a:t>
                      </a:r>
                    </a:p>
                  </a:txBody>
                  <a:tcPr marL="28800" marR="28800" marT="14400" marB="14400" anchor="ctr">
                    <a:solidFill>
                      <a:srgbClr val="E9F7FA"/>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c>
                  <a:txBody>
                    <a:bodyPr/>
                    <a:lstStyle/>
                    <a:p>
                      <a:pPr algn="ctr"/>
                      <a:r>
                        <a:rPr sz="819" b="1">
                          <a:solidFill>
                            <a:srgbClr val="004481"/>
                          </a:solidFill>
                          <a:latin typeface="Poppins"/>
                        </a:rPr>
                        <a:t>Medio-</a:t>
                      </a:r>
                    </a:p>
                    <a:p>
                      <a:pPr algn="ctr"/>
                      <a:r>
                        <a:rPr sz="819" b="1">
                          <a:solidFill>
                            <a:srgbClr val="004481"/>
                          </a:solidFill>
                          <a:latin typeface="Poppins"/>
                        </a:rPr>
                        <a:t>alta</a:t>
                      </a:r>
                    </a:p>
                  </a:txBody>
                  <a:tcPr marL="28800" marR="28800" marT="14400" marB="14400" anchor="ctr">
                    <a:solidFill>
                      <a:srgbClr val="7FE2E2"/>
                    </a:solidFill>
                  </a:tcPr>
                </a:tc>
                <a:tc>
                  <a:txBody>
                    <a:bodyPr/>
                    <a:lstStyle/>
                    <a:p>
                      <a:pPr algn="ctr"/>
                      <a:r>
                        <a:rPr sz="819" b="0">
                          <a:solidFill>
                            <a:srgbClr val="004481"/>
                          </a:solidFill>
                          <a:latin typeface="Poppins"/>
                        </a:rPr>
                        <a:t>Media</a:t>
                      </a:r>
                    </a:p>
                  </a:txBody>
                  <a:tcPr marL="28800" marR="28800" marT="14400" marB="14400" anchor="ctr">
                    <a:solidFill>
                      <a:srgbClr val="E9F7FA"/>
                    </a:solidFill>
                  </a:tcPr>
                </a:tc>
                <a:tc>
                  <a:txBody>
                    <a:bodyPr/>
                    <a:lstStyle/>
                    <a:p>
                      <a:pPr algn="ctr"/>
                      <a:r>
                        <a:rPr sz="819" b="1">
                          <a:solidFill>
                            <a:srgbClr val="004481"/>
                          </a:solidFill>
                          <a:latin typeface="Poppins"/>
                        </a:rPr>
                        <a:t>Alta</a:t>
                      </a:r>
                    </a:p>
                  </a:txBody>
                  <a:tcPr marL="28800" marR="28800" marT="14400" marB="14400" anchor="ctr">
                    <a:solidFill>
                      <a:srgbClr val="2DCCCD"/>
                    </a:solidFill>
                  </a:tcPr>
                </a:tc>
              </a:tr>
            </a:tbl>
          </a:graphicData>
        </a:graphic>
      </p:graphicFrame>
      <p:sp>
        <p:nvSpPr>
          <p:cNvPr id="9" name="TextBox 8"/>
          <p:cNvSpPr txBox="1"/>
          <p:nvPr/>
        </p:nvSpPr>
        <p:spPr>
          <a:xfrm>
            <a:off x="360000" y="5238000"/>
            <a:ext cx="11160000" cy="251999"/>
          </a:xfrm>
          <a:prstGeom prst="rect">
            <a:avLst/>
          </a:prstGeom>
          <a:noFill/>
        </p:spPr>
        <p:txBody>
          <a:bodyPr wrap="square" lIns="14400" rIns="14400" tIns="14400" bIns="14400" anchor="t">
            <a:spAutoFit/>
          </a:bodyPr>
          <a:lstStyle/>
          <a:p>
            <a:pPr algn="ctr"/>
            <a:r>
              <a:rPr sz="900" b="0">
                <a:solidFill>
                  <a:srgbClr val="67737E"/>
                </a:solidFill>
                <a:latin typeface="Poppins"/>
              </a:rPr>
              <a:t>Valutazione preliminare: standard Guber, compatibilità del motore e capacità on-premise possono modificare il posizionamento.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SINTESI</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Le alternative restano aperte; cambiano le informazioni necessarie</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Il deck presenta tre famiglie di scelta senza attribuire oggi una preferenza.</a:t>
            </a:r>
          </a:p>
        </p:txBody>
      </p:sp>
      <p:sp>
        <p:nvSpPr>
          <p:cNvPr id="8" name="Rounded Rectangle 7"/>
          <p:cNvSpPr/>
          <p:nvPr/>
        </p:nvSpPr>
        <p:spPr>
          <a:xfrm>
            <a:off x="360000" y="1368000"/>
            <a:ext cx="3456000" cy="230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0000" y="1368000"/>
            <a:ext cx="3456000" cy="2340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6000" y="1728000"/>
            <a:ext cx="3204000" cy="162000"/>
          </a:xfrm>
          <a:prstGeom prst="rect">
            <a:avLst/>
          </a:prstGeom>
          <a:noFill/>
        </p:spPr>
        <p:txBody>
          <a:bodyPr wrap="square" lIns="14400" rIns="14400" tIns="14400" bIns="14400" anchor="t">
            <a:spAutoFit/>
          </a:bodyPr>
          <a:lstStyle/>
          <a:p>
            <a:pPr algn="ctr"/>
            <a:r>
              <a:rPr sz="900" b="1">
                <a:solidFill>
                  <a:srgbClr val="67737E"/>
                </a:solidFill>
                <a:latin typeface="Poppins"/>
              </a:rPr>
              <a:t>CONTINUITÀ</a:t>
            </a:r>
          </a:p>
        </p:txBody>
      </p:sp>
      <p:sp>
        <p:nvSpPr>
          <p:cNvPr id="11" name="TextBox 10"/>
          <p:cNvSpPr txBox="1"/>
          <p:nvPr/>
        </p:nvSpPr>
        <p:spPr>
          <a:xfrm>
            <a:off x="486000" y="2070000"/>
            <a:ext cx="3204000" cy="198000"/>
          </a:xfrm>
          <a:prstGeom prst="rect">
            <a:avLst/>
          </a:prstGeom>
          <a:noFill/>
        </p:spPr>
        <p:txBody>
          <a:bodyPr wrap="square" lIns="14400" rIns="14400" tIns="14400" bIns="14400" anchor="t">
            <a:spAutoFit/>
          </a:bodyPr>
          <a:lstStyle/>
          <a:p>
            <a:pPr algn="ctr"/>
            <a:r>
              <a:rPr sz="1600" b="1">
                <a:solidFill>
                  <a:srgbClr val="004481"/>
                </a:solidFill>
                <a:latin typeface="Poppins"/>
              </a:rPr>
              <a:t>Scenario 1</a:t>
            </a:r>
          </a:p>
        </p:txBody>
      </p:sp>
      <p:sp>
        <p:nvSpPr>
          <p:cNvPr id="12" name="TextBox 11"/>
          <p:cNvSpPr txBox="1"/>
          <p:nvPr/>
        </p:nvSpPr>
        <p:spPr>
          <a:xfrm>
            <a:off x="612000" y="2520000"/>
            <a:ext cx="2951999" cy="503999"/>
          </a:xfrm>
          <a:prstGeom prst="rect">
            <a:avLst/>
          </a:prstGeom>
          <a:noFill/>
        </p:spPr>
        <p:txBody>
          <a:bodyPr wrap="square" lIns="14400" rIns="14400" tIns="14400" bIns="14400" anchor="t">
            <a:spAutoFit/>
          </a:bodyPr>
          <a:lstStyle/>
          <a:p>
            <a:pPr algn="ctr"/>
            <a:r>
              <a:rPr sz="1100" b="0">
                <a:solidFill>
                  <a:srgbClr val="252D36"/>
                </a:solidFill>
                <a:latin typeface="Poppins"/>
              </a:rPr>
              <a:t>Mantenere il primario sull'ambiente corrente</a:t>
            </a:r>
          </a:p>
        </p:txBody>
      </p:sp>
      <p:sp>
        <p:nvSpPr>
          <p:cNvPr id="13" name="Rounded Rectangle 12"/>
          <p:cNvSpPr/>
          <p:nvPr/>
        </p:nvSpPr>
        <p:spPr>
          <a:xfrm>
            <a:off x="4194000" y="1368000"/>
            <a:ext cx="3456000" cy="230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94000" y="1368000"/>
            <a:ext cx="3456000" cy="2340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0000" y="1728000"/>
            <a:ext cx="3204000" cy="162000"/>
          </a:xfrm>
          <a:prstGeom prst="rect">
            <a:avLst/>
          </a:prstGeom>
          <a:noFill/>
        </p:spPr>
        <p:txBody>
          <a:bodyPr wrap="square" lIns="14400" rIns="14400" tIns="14400" bIns="14400" anchor="t">
            <a:spAutoFit/>
          </a:bodyPr>
          <a:lstStyle/>
          <a:p>
            <a:pPr algn="ctr"/>
            <a:r>
              <a:rPr sz="900" b="1">
                <a:solidFill>
                  <a:srgbClr val="67737E"/>
                </a:solidFill>
                <a:latin typeface="Poppins"/>
              </a:rPr>
              <a:t>TRASFERIMENTO DEL PRIMARIO</a:t>
            </a:r>
          </a:p>
        </p:txBody>
      </p:sp>
      <p:sp>
        <p:nvSpPr>
          <p:cNvPr id="16" name="TextBox 15"/>
          <p:cNvSpPr txBox="1"/>
          <p:nvPr/>
        </p:nvSpPr>
        <p:spPr>
          <a:xfrm>
            <a:off x="4320000" y="2070000"/>
            <a:ext cx="3204000" cy="198000"/>
          </a:xfrm>
          <a:prstGeom prst="rect">
            <a:avLst/>
          </a:prstGeom>
          <a:noFill/>
        </p:spPr>
        <p:txBody>
          <a:bodyPr wrap="square" lIns="14400" rIns="14400" tIns="14400" bIns="14400" anchor="t">
            <a:spAutoFit/>
          </a:bodyPr>
          <a:lstStyle/>
          <a:p>
            <a:pPr algn="ctr"/>
            <a:r>
              <a:rPr sz="1600" b="1">
                <a:solidFill>
                  <a:srgbClr val="004481"/>
                </a:solidFill>
                <a:latin typeface="Poppins"/>
              </a:rPr>
              <a:t>Scenari 2–4</a:t>
            </a:r>
          </a:p>
        </p:txBody>
      </p:sp>
      <p:sp>
        <p:nvSpPr>
          <p:cNvPr id="17" name="TextBox 16"/>
          <p:cNvSpPr txBox="1"/>
          <p:nvPr/>
        </p:nvSpPr>
        <p:spPr>
          <a:xfrm>
            <a:off x="4446000" y="2520000"/>
            <a:ext cx="2951999" cy="503999"/>
          </a:xfrm>
          <a:prstGeom prst="rect">
            <a:avLst/>
          </a:prstGeom>
          <a:noFill/>
        </p:spPr>
        <p:txBody>
          <a:bodyPr wrap="square" lIns="14400" rIns="14400" tIns="14400" bIns="14400" anchor="t">
            <a:spAutoFit/>
          </a:bodyPr>
          <a:lstStyle/>
          <a:p>
            <a:pPr algn="ctr"/>
            <a:r>
              <a:rPr sz="1100" b="0">
                <a:solidFill>
                  <a:srgbClr val="252D36"/>
                </a:solidFill>
                <a:latin typeface="Poppins"/>
              </a:rPr>
              <a:t>Azure, AWS oppure on-premise Guber</a:t>
            </a:r>
          </a:p>
        </p:txBody>
      </p:sp>
      <p:sp>
        <p:nvSpPr>
          <p:cNvPr id="18" name="Rounded Rectangle 17"/>
          <p:cNvSpPr/>
          <p:nvPr/>
        </p:nvSpPr>
        <p:spPr>
          <a:xfrm>
            <a:off x="8028000" y="1368000"/>
            <a:ext cx="3456000" cy="230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28000" y="1368000"/>
            <a:ext cx="3456000" cy="2340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54000" y="1728000"/>
            <a:ext cx="3204000" cy="162000"/>
          </a:xfrm>
          <a:prstGeom prst="rect">
            <a:avLst/>
          </a:prstGeom>
          <a:noFill/>
        </p:spPr>
        <p:txBody>
          <a:bodyPr wrap="square" lIns="14400" rIns="14400" tIns="14400" bIns="14400" anchor="t">
            <a:spAutoFit/>
          </a:bodyPr>
          <a:lstStyle/>
          <a:p>
            <a:pPr algn="ctr"/>
            <a:r>
              <a:rPr sz="900" b="1">
                <a:solidFill>
                  <a:srgbClr val="67737E"/>
                </a:solidFill>
                <a:latin typeface="Poppins"/>
              </a:rPr>
              <a:t>ACCESSO DATI SENZA MIGRAZIONE</a:t>
            </a:r>
          </a:p>
        </p:txBody>
      </p:sp>
      <p:sp>
        <p:nvSpPr>
          <p:cNvPr id="21" name="TextBox 20"/>
          <p:cNvSpPr txBox="1"/>
          <p:nvPr/>
        </p:nvSpPr>
        <p:spPr>
          <a:xfrm>
            <a:off x="8154000" y="2070000"/>
            <a:ext cx="3204000" cy="198000"/>
          </a:xfrm>
          <a:prstGeom prst="rect">
            <a:avLst/>
          </a:prstGeom>
          <a:noFill/>
        </p:spPr>
        <p:txBody>
          <a:bodyPr wrap="square" lIns="14400" rIns="14400" tIns="14400" bIns="14400" anchor="t">
            <a:spAutoFit/>
          </a:bodyPr>
          <a:lstStyle/>
          <a:p>
            <a:pPr algn="ctr"/>
            <a:r>
              <a:rPr sz="1600" b="1">
                <a:solidFill>
                  <a:srgbClr val="004481"/>
                </a:solidFill>
                <a:latin typeface="Poppins"/>
              </a:rPr>
              <a:t>Scenari 5–6</a:t>
            </a:r>
          </a:p>
        </p:txBody>
      </p:sp>
      <p:sp>
        <p:nvSpPr>
          <p:cNvPr id="22" name="TextBox 21"/>
          <p:cNvSpPr txBox="1"/>
          <p:nvPr/>
        </p:nvSpPr>
        <p:spPr>
          <a:xfrm>
            <a:off x="8280000" y="2520000"/>
            <a:ext cx="2951999" cy="503999"/>
          </a:xfrm>
          <a:prstGeom prst="rect">
            <a:avLst/>
          </a:prstGeom>
          <a:noFill/>
        </p:spPr>
        <p:txBody>
          <a:bodyPr wrap="square" lIns="14400" rIns="14400" tIns="14400" bIns="14400" anchor="t">
            <a:spAutoFit/>
          </a:bodyPr>
          <a:lstStyle/>
          <a:p>
            <a:pPr algn="ctr"/>
            <a:r>
              <a:rPr sz="1100" b="0">
                <a:solidFill>
                  <a:srgbClr val="252D36"/>
                </a:solidFill>
                <a:latin typeface="Poppins"/>
              </a:rPr>
              <a:t>Replica on-premise oppure Azure Guber</a:t>
            </a:r>
          </a:p>
        </p:txBody>
      </p:sp>
      <p:sp>
        <p:nvSpPr>
          <p:cNvPr id="23" name="Rounded Rectangle 22"/>
          <p:cNvSpPr/>
          <p:nvPr/>
        </p:nvSpPr>
        <p:spPr>
          <a:xfrm>
            <a:off x="360000" y="4140000"/>
            <a:ext cx="11160000" cy="1296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0000" y="4320000"/>
            <a:ext cx="10800000" cy="144000"/>
          </a:xfrm>
          <a:prstGeom prst="rect">
            <a:avLst/>
          </a:prstGeom>
          <a:noFill/>
        </p:spPr>
        <p:txBody>
          <a:bodyPr wrap="square" lIns="14400" rIns="14400" tIns="14400" bIns="14400" anchor="t">
            <a:spAutoFit/>
          </a:bodyPr>
          <a:lstStyle/>
          <a:p>
            <a:pPr algn="ctr"/>
            <a:r>
              <a:rPr sz="900" b="1">
                <a:solidFill>
                  <a:srgbClr val="007A82"/>
                </a:solidFill>
                <a:latin typeface="Poppins"/>
              </a:rPr>
              <a:t>INFORMAZIONI CHE RIDUCONO L'INCERTEZZA</a:t>
            </a:r>
          </a:p>
        </p:txBody>
      </p:sp>
      <p:sp>
        <p:nvSpPr>
          <p:cNvPr id="25" name="Rounded Rectangle 24"/>
          <p:cNvSpPr/>
          <p:nvPr/>
        </p:nvSpPr>
        <p:spPr>
          <a:xfrm>
            <a:off x="558000" y="4698000"/>
            <a:ext cx="1368000" cy="198000"/>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1200" y="4744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Motore e sizing</a:t>
            </a:r>
          </a:p>
        </p:txBody>
      </p:sp>
      <p:sp>
        <p:nvSpPr>
          <p:cNvPr id="27" name="Rounded Rectangle 26"/>
          <p:cNvSpPr/>
          <p:nvPr/>
        </p:nvSpPr>
        <p:spPr>
          <a:xfrm>
            <a:off x="2088000" y="4698000"/>
            <a:ext cx="1368000" cy="198000"/>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31200" y="4744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Standard cloud</a:t>
            </a:r>
          </a:p>
        </p:txBody>
      </p:sp>
      <p:sp>
        <p:nvSpPr>
          <p:cNvPr id="29" name="Rounded Rectangle 28"/>
          <p:cNvSpPr/>
          <p:nvPr/>
        </p:nvSpPr>
        <p:spPr>
          <a:xfrm>
            <a:off x="3618000" y="4698000"/>
            <a:ext cx="1368000" cy="198000"/>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61200" y="4744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Capacità on-premise</a:t>
            </a:r>
          </a:p>
        </p:txBody>
      </p:sp>
      <p:sp>
        <p:nvSpPr>
          <p:cNvPr id="31" name="Rounded Rectangle 30"/>
          <p:cNvSpPr/>
          <p:nvPr/>
        </p:nvSpPr>
        <p:spPr>
          <a:xfrm>
            <a:off x="5148000" y="4698000"/>
            <a:ext cx="1368000" cy="198000"/>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91200" y="4744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SLA / RPO / RTO</a:t>
            </a:r>
          </a:p>
        </p:txBody>
      </p:sp>
      <p:sp>
        <p:nvSpPr>
          <p:cNvPr id="33" name="Rounded Rectangle 32"/>
          <p:cNvSpPr/>
          <p:nvPr/>
        </p:nvSpPr>
        <p:spPr>
          <a:xfrm>
            <a:off x="6678000" y="4698000"/>
            <a:ext cx="1368000" cy="198000"/>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1200" y="4744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Connettività</a:t>
            </a:r>
          </a:p>
        </p:txBody>
      </p:sp>
      <p:sp>
        <p:nvSpPr>
          <p:cNvPr id="35" name="Rounded Rectangle 34"/>
          <p:cNvSpPr/>
          <p:nvPr/>
        </p:nvSpPr>
        <p:spPr>
          <a:xfrm>
            <a:off x="8208000" y="4698000"/>
            <a:ext cx="1368000" cy="198000"/>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1200" y="4744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Licensing</a:t>
            </a:r>
          </a:p>
        </p:txBody>
      </p:sp>
      <p:sp>
        <p:nvSpPr>
          <p:cNvPr id="37" name="Rounded Rectangle 36"/>
          <p:cNvSpPr/>
          <p:nvPr/>
        </p:nvSpPr>
        <p:spPr>
          <a:xfrm>
            <a:off x="9738000" y="4698000"/>
            <a:ext cx="1368000" cy="198000"/>
          </a:xfrm>
          <a:prstGeom prst="round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1200" y="4744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Modello operativo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13999"/>
            <a:ext cx="12192119" cy="6443999"/>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2000" y="2268000"/>
            <a:ext cx="8280000" cy="216000"/>
          </a:xfrm>
          <a:prstGeom prst="rect">
            <a:avLst/>
          </a:prstGeom>
          <a:noFill/>
        </p:spPr>
        <p:txBody>
          <a:bodyPr wrap="square" lIns="14400" rIns="14400" tIns="14400" bIns="14400" anchor="t">
            <a:spAutoFit/>
          </a:bodyPr>
          <a:lstStyle/>
          <a:p>
            <a:pPr algn="l"/>
            <a:r>
              <a:rPr sz="1100" b="1">
                <a:solidFill>
                  <a:srgbClr val="7FE2E2"/>
                </a:solidFill>
                <a:latin typeface="Poppins"/>
              </a:rPr>
              <a:t>APPENDICE</a:t>
            </a:r>
          </a:p>
        </p:txBody>
      </p:sp>
      <p:sp>
        <p:nvSpPr>
          <p:cNvPr id="8" name="TextBox 7"/>
          <p:cNvSpPr txBox="1"/>
          <p:nvPr/>
        </p:nvSpPr>
        <p:spPr>
          <a:xfrm>
            <a:off x="432000" y="2628000"/>
            <a:ext cx="9360000" cy="468000"/>
          </a:xfrm>
          <a:prstGeom prst="rect">
            <a:avLst/>
          </a:prstGeom>
          <a:noFill/>
        </p:spPr>
        <p:txBody>
          <a:bodyPr wrap="square" lIns="14400" rIns="14400" tIns="14400" bIns="14400" anchor="t">
            <a:spAutoFit/>
          </a:bodyPr>
          <a:lstStyle/>
          <a:p>
            <a:pPr algn="l"/>
            <a:r>
              <a:rPr sz="2800" b="1">
                <a:solidFill>
                  <a:srgbClr val="FFFFFF"/>
                </a:solidFill>
                <a:latin typeface="Poppins"/>
              </a:rPr>
              <a:t>Assunzioni, economics e</a:t>
            </a:r>
            <a:br/>
            <a:r>
              <a:rPr sz="2800" b="1">
                <a:solidFill>
                  <a:srgbClr val="FFFFFF"/>
                </a:solidFill>
                <a:latin typeface="Poppins"/>
              </a:rPr>
              <a:t>approfondimenti tecnici</a:t>
            </a:r>
          </a:p>
        </p:txBody>
      </p:sp>
      <p:sp>
        <p:nvSpPr>
          <p:cNvPr id="9" name="TextBox 8"/>
          <p:cNvSpPr txBox="1"/>
          <p:nvPr/>
        </p:nvSpPr>
        <p:spPr>
          <a:xfrm>
            <a:off x="432000" y="3851999"/>
            <a:ext cx="8280000" cy="216000"/>
          </a:xfrm>
          <a:prstGeom prst="rect">
            <a:avLst/>
          </a:prstGeom>
          <a:noFill/>
        </p:spPr>
        <p:txBody>
          <a:bodyPr wrap="square" lIns="14400" rIns="14400" tIns="14400" bIns="14400" anchor="t">
            <a:spAutoFit/>
          </a:bodyPr>
          <a:lstStyle/>
          <a:p>
            <a:pPr algn="l"/>
            <a:r>
              <a:rPr sz="1100" b="0">
                <a:solidFill>
                  <a:srgbClr val="7FE2E2"/>
                </a:solidFill>
                <a:latin typeface="Poppins"/>
              </a:rPr>
              <a:t>Materiale di supporto — range preliminari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GROUNDING</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Fatti, deduzioni e dati mancanti restano separati</a:t>
            </a:r>
          </a:p>
        </p:txBody>
      </p:sp>
      <p:sp>
        <p:nvSpPr>
          <p:cNvPr id="7" name="Rounded Rectangle 6"/>
          <p:cNvSpPr/>
          <p:nvPr/>
        </p:nvSpPr>
        <p:spPr>
          <a:xfrm>
            <a:off x="360000" y="1188000"/>
            <a:ext cx="3528000" cy="370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0000" y="1188000"/>
            <a:ext cx="35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227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FATTI CONFERMATI</a:t>
            </a:r>
          </a:p>
        </p:txBody>
      </p:sp>
      <p:sp>
        <p:nvSpPr>
          <p:cNvPr id="10" name="TextBox 9"/>
          <p:cNvSpPr txBox="1"/>
          <p:nvPr/>
        </p:nvSpPr>
        <p:spPr>
          <a:xfrm>
            <a:off x="450000" y="1468800"/>
            <a:ext cx="3348000" cy="3366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Accesso SQL richiesto</a:t>
            </a:r>
          </a:p>
          <a:p>
            <a:pPr>
              <a:spcAft>
                <a:spcPts val="400"/>
              </a:spcAft>
              <a:defRPr sz="1000">
                <a:solidFill>
                  <a:srgbClr val="252D36"/>
                </a:solidFill>
                <a:latin typeface="Poppins"/>
              </a:defRPr>
            </a:pPr>
            <a:r>
              <a:t>•  Replica read-only accettata</a:t>
            </a:r>
          </a:p>
          <a:p>
            <a:pPr>
              <a:spcAft>
                <a:spcPts val="400"/>
              </a:spcAft>
              <a:defRPr sz="1000">
                <a:solidFill>
                  <a:srgbClr val="252D36"/>
                </a:solidFill>
                <a:latin typeface="Poppins"/>
              </a:defRPr>
            </a:pPr>
            <a:r>
              <a:t>•  Azure e on-premise in agenda</a:t>
            </a:r>
          </a:p>
          <a:p>
            <a:pPr>
              <a:spcAft>
                <a:spcPts val="400"/>
              </a:spcAft>
              <a:defRPr sz="1000">
                <a:solidFill>
                  <a:srgbClr val="252D36"/>
                </a:solidFill>
                <a:latin typeface="Poppins"/>
              </a:defRPr>
            </a:pPr>
            <a:r>
              <a:t>•  AWS aggiunto su conferma utente</a:t>
            </a:r>
          </a:p>
          <a:p>
            <a:pPr>
              <a:spcAft>
                <a:spcPts val="400"/>
              </a:spcAft>
              <a:defRPr sz="1000">
                <a:solidFill>
                  <a:srgbClr val="252D36"/>
                </a:solidFill>
                <a:latin typeface="Poppins"/>
              </a:defRPr>
            </a:pPr>
            <a:r>
              <a:t>•  AM Novigo end-to-end</a:t>
            </a:r>
          </a:p>
        </p:txBody>
      </p:sp>
      <p:sp>
        <p:nvSpPr>
          <p:cNvPr id="11" name="Rounded Rectangle 10"/>
          <p:cNvSpPr/>
          <p:nvPr/>
        </p:nvSpPr>
        <p:spPr>
          <a:xfrm>
            <a:off x="4320000" y="1188000"/>
            <a:ext cx="3528000" cy="370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0000" y="1188000"/>
            <a:ext cx="35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2000" y="1227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DEDUZIONI DICHIARATE</a:t>
            </a:r>
          </a:p>
        </p:txBody>
      </p:sp>
      <p:sp>
        <p:nvSpPr>
          <p:cNvPr id="14" name="TextBox 13"/>
          <p:cNvSpPr txBox="1"/>
          <p:nvPr/>
        </p:nvSpPr>
        <p:spPr>
          <a:xfrm>
            <a:off x="4410000" y="1468800"/>
            <a:ext cx="3348000" cy="3366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Migrare il primario non è l'unico modo</a:t>
            </a:r>
          </a:p>
          <a:p>
            <a:pPr>
              <a:spcAft>
                <a:spcPts val="400"/>
              </a:spcAft>
              <a:defRPr sz="1000">
                <a:solidFill>
                  <a:srgbClr val="252D36"/>
                </a:solidFill>
                <a:latin typeface="Poppins"/>
              </a:defRPr>
            </a:pPr>
            <a:r>
              <a:t>•  La replica riduce il rischio sul transazionale</a:t>
            </a:r>
          </a:p>
          <a:p>
            <a:pPr>
              <a:spcAft>
                <a:spcPts val="400"/>
              </a:spcAft>
              <a:defRPr sz="1000">
                <a:solidFill>
                  <a:srgbClr val="252D36"/>
                </a:solidFill>
                <a:latin typeface="Poppins"/>
              </a:defRPr>
            </a:pPr>
            <a:r>
              <a:t>•  DB remoto rende la rete parte dell'architettura</a:t>
            </a:r>
          </a:p>
          <a:p>
            <a:pPr>
              <a:spcAft>
                <a:spcPts val="400"/>
              </a:spcAft>
              <a:defRPr sz="1000">
                <a:solidFill>
                  <a:srgbClr val="252D36"/>
                </a:solidFill>
                <a:latin typeface="Poppins"/>
              </a:defRPr>
            </a:pPr>
            <a:r>
              <a:t>•  Key ownership è una scelta di governance</a:t>
            </a:r>
          </a:p>
        </p:txBody>
      </p:sp>
      <p:sp>
        <p:nvSpPr>
          <p:cNvPr id="15" name="Rounded Rectangle 14"/>
          <p:cNvSpPr/>
          <p:nvPr/>
        </p:nvSpPr>
        <p:spPr>
          <a:xfrm>
            <a:off x="8280000" y="1188000"/>
            <a:ext cx="3528000" cy="370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80000" y="1188000"/>
            <a:ext cx="352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2000" y="1227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DATI MANCANTI</a:t>
            </a:r>
          </a:p>
        </p:txBody>
      </p:sp>
      <p:sp>
        <p:nvSpPr>
          <p:cNvPr id="18" name="TextBox 17"/>
          <p:cNvSpPr txBox="1"/>
          <p:nvPr/>
        </p:nvSpPr>
        <p:spPr>
          <a:xfrm>
            <a:off x="8370000" y="1468800"/>
            <a:ext cx="3348000" cy="3366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versione e licensing</a:t>
            </a:r>
          </a:p>
          <a:p>
            <a:pPr>
              <a:spcAft>
                <a:spcPts val="400"/>
              </a:spcAft>
              <a:defRPr sz="1000">
                <a:solidFill>
                  <a:srgbClr val="252D36"/>
                </a:solidFill>
                <a:latin typeface="Poppins"/>
              </a:defRPr>
            </a:pPr>
            <a:r>
              <a:t>•  Sizing, crescita e IOPS</a:t>
            </a:r>
          </a:p>
          <a:p>
            <a:pPr>
              <a:spcAft>
                <a:spcPts val="400"/>
              </a:spcAft>
              <a:defRPr sz="1000">
                <a:solidFill>
                  <a:srgbClr val="252D36"/>
                </a:solidFill>
                <a:latin typeface="Poppins"/>
              </a:defRPr>
            </a:pPr>
            <a:r>
              <a:t>•  SLA, RPO / RTO e downtime</a:t>
            </a:r>
          </a:p>
          <a:p>
            <a:pPr>
              <a:spcAft>
                <a:spcPts val="400"/>
              </a:spcAft>
              <a:defRPr sz="1000">
                <a:solidFill>
                  <a:srgbClr val="252D36"/>
                </a:solidFill>
                <a:latin typeface="Poppins"/>
              </a:defRPr>
            </a:pPr>
            <a:r>
              <a:t>•  Landing zone e connettività</a:t>
            </a:r>
          </a:p>
          <a:p>
            <a:pPr>
              <a:spcAft>
                <a:spcPts val="400"/>
              </a:spcAft>
              <a:defRPr sz="1000">
                <a:solidFill>
                  <a:srgbClr val="252D36"/>
                </a:solidFill>
                <a:latin typeface="Poppins"/>
              </a:defRPr>
            </a:pPr>
            <a:r>
              <a:t>•  Capacità on-premise e contratti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ECONOMICS</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Il modello economico usa un carico di riferimento esplicito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Le assunzioni rendono comparabili gli scenari, ma non sostituiscono i dati NOVA.</a:t>
            </a:r>
          </a:p>
        </p:txBody>
      </p:sp>
      <p:graphicFrame>
        <p:nvGraphicFramePr>
          <p:cNvPr id="8" name="Table 7"/>
          <p:cNvGraphicFramePr>
            <a:graphicFrameLocks noGrp="1"/>
          </p:cNvGraphicFramePr>
          <p:nvPr/>
        </p:nvGraphicFramePr>
        <p:xfrm>
          <a:off x="396000" y="1260000"/>
          <a:ext cx="7380000" cy="3780000"/>
        </p:xfrm>
        <a:graphic>
          <a:graphicData uri="http://schemas.openxmlformats.org/drawingml/2006/table">
            <a:tbl>
              <a:tblPr firstRow="1" bandRow="1">
                <a:tableStyleId>{5C22544A-7EE6-4342-B048-85BDC9FD1C3A}</a:tableStyleId>
              </a:tblPr>
              <a:tblGrid>
                <a:gridCol w="2160000"/>
                <a:gridCol w="5220000"/>
              </a:tblGrid>
              <a:tr h="472500">
                <a:tc>
                  <a:txBody>
                    <a:bodyPr/>
                    <a:lstStyle/>
                    <a:p>
                      <a:pPr algn="l"/>
                      <a:r>
                        <a:rPr sz="950" b="1">
                          <a:solidFill>
                            <a:srgbClr val="FFFFFF"/>
                          </a:solidFill>
                          <a:latin typeface="Poppins"/>
                        </a:rPr>
                        <a:t>Voce</a:t>
                      </a:r>
                    </a:p>
                  </a:txBody>
                  <a:tcPr marL="28800" marR="28800" marT="14400" marB="14400" anchor="ctr">
                    <a:solidFill>
                      <a:srgbClr val="004481"/>
                    </a:solidFill>
                  </a:tcPr>
                </a:tc>
                <a:tc>
                  <a:txBody>
                    <a:bodyPr/>
                    <a:lstStyle/>
                    <a:p>
                      <a:pPr algn="ctr"/>
                      <a:r>
                        <a:rPr sz="950" b="1">
                          <a:solidFill>
                            <a:srgbClr val="FFFFFF"/>
                          </a:solidFill>
                          <a:latin typeface="Poppins"/>
                        </a:rPr>
                        <a:t>Assunzione</a:t>
                      </a:r>
                    </a:p>
                  </a:txBody>
                  <a:tcPr marL="28800" marR="28800" marT="14400" marB="14400" anchor="ctr">
                    <a:solidFill>
                      <a:srgbClr val="004481"/>
                    </a:solidFill>
                  </a:tcPr>
                </a:tc>
              </a:tr>
              <a:tr h="472500">
                <a:tc>
                  <a:txBody>
                    <a:bodyPr/>
                    <a:lstStyle/>
                    <a:p>
                      <a:pPr algn="l"/>
                      <a:r>
                        <a:rPr sz="950" b="1">
                          <a:solidFill>
                            <a:srgbClr val="004481"/>
                          </a:solidFill>
                          <a:latin typeface="Poppins"/>
                        </a:rPr>
                        <a:t>Produzione</a:t>
                      </a:r>
                    </a:p>
                  </a:txBody>
                  <a:tcPr marL="28800" marR="28800" marT="14400" marB="14400" anchor="ctr">
                    <a:solidFill>
                      <a:srgbClr val="E9F7FA"/>
                    </a:solidFill>
                  </a:tcPr>
                </a:tc>
                <a:tc>
                  <a:txBody>
                    <a:bodyPr/>
                    <a:lstStyle/>
                    <a:p>
                      <a:pPr algn="ctr"/>
                      <a:r>
                        <a:rPr sz="950" b="0">
                          <a:solidFill>
                            <a:srgbClr val="252D36"/>
                          </a:solidFill>
                          <a:latin typeface="Poppins"/>
                        </a:rPr>
                        <a:t>4–8 vCPU · 16–32 GB RAM · 24x7 · HA</a:t>
                      </a:r>
                    </a:p>
                  </a:txBody>
                  <a:tcPr marL="28800" marR="28800" marT="14400" marB="14400" anchor="ctr">
                    <a:solidFill>
                      <a:srgbClr val="FFFFFF"/>
                    </a:solidFill>
                  </a:tcPr>
                </a:tc>
              </a:tr>
              <a:tr h="472500">
                <a:tc>
                  <a:txBody>
                    <a:bodyPr/>
                    <a:lstStyle/>
                    <a:p>
                      <a:pPr algn="l"/>
                      <a:r>
                        <a:rPr sz="950" b="1">
                          <a:solidFill>
                            <a:srgbClr val="004481"/>
                          </a:solidFill>
                          <a:latin typeface="Poppins"/>
                        </a:rPr>
                        <a:t>Dati DB</a:t>
                      </a:r>
                    </a:p>
                  </a:txBody>
                  <a:tcPr marL="28800" marR="28800" marT="14400" marB="14400" anchor="ctr">
                    <a:solidFill>
                      <a:srgbClr val="E9F7FA"/>
                    </a:solidFill>
                  </a:tcPr>
                </a:tc>
                <a:tc>
                  <a:txBody>
                    <a:bodyPr/>
                    <a:lstStyle/>
                    <a:p>
                      <a:pPr algn="ctr"/>
                      <a:r>
                        <a:rPr sz="950" b="0">
                          <a:solidFill>
                            <a:srgbClr val="252D36"/>
                          </a:solidFill>
                          <a:latin typeface="Poppins"/>
                        </a:rPr>
                        <a:t>500 GB iniziali · crescita 20% annuo</a:t>
                      </a:r>
                    </a:p>
                  </a:txBody>
                  <a:tcPr marL="28800" marR="28800" marT="14400" marB="14400" anchor="ctr">
                    <a:solidFill>
                      <a:srgbClr val="F3F6F8"/>
                    </a:solidFill>
                  </a:tcPr>
                </a:tc>
              </a:tr>
              <a:tr h="472500">
                <a:tc>
                  <a:txBody>
                    <a:bodyPr/>
                    <a:lstStyle/>
                    <a:p>
                      <a:pPr algn="l"/>
                      <a:r>
                        <a:rPr sz="950" b="1">
                          <a:solidFill>
                            <a:srgbClr val="004481"/>
                          </a:solidFill>
                          <a:latin typeface="Poppins"/>
                        </a:rPr>
                        <a:t>Non produzione</a:t>
                      </a:r>
                    </a:p>
                  </a:txBody>
                  <a:tcPr marL="28800" marR="28800" marT="14400" marB="14400" anchor="ctr">
                    <a:solidFill>
                      <a:srgbClr val="E9F7FA"/>
                    </a:solidFill>
                  </a:tcPr>
                </a:tc>
                <a:tc>
                  <a:txBody>
                    <a:bodyPr/>
                    <a:lstStyle/>
                    <a:p>
                      <a:pPr algn="ctr"/>
                      <a:r>
                        <a:rPr sz="950" b="0">
                          <a:solidFill>
                            <a:srgbClr val="252D36"/>
                          </a:solidFill>
                          <a:latin typeface="Poppins"/>
                        </a:rPr>
                        <a:t>1 ambiente al 50% della produzione</a:t>
                      </a:r>
                    </a:p>
                  </a:txBody>
                  <a:tcPr marL="28800" marR="28800" marT="14400" marB="14400" anchor="ctr">
                    <a:solidFill>
                      <a:srgbClr val="FFFFFF"/>
                    </a:solidFill>
                  </a:tcPr>
                </a:tc>
              </a:tr>
              <a:tr h="472500">
                <a:tc>
                  <a:txBody>
                    <a:bodyPr/>
                    <a:lstStyle/>
                    <a:p>
                      <a:pPr algn="l"/>
                      <a:r>
                        <a:rPr sz="950" b="1">
                          <a:solidFill>
                            <a:srgbClr val="004481"/>
                          </a:solidFill>
                          <a:latin typeface="Poppins"/>
                        </a:rPr>
                        <a:t>Backup</a:t>
                      </a:r>
                    </a:p>
                  </a:txBody>
                  <a:tcPr marL="28800" marR="28800" marT="14400" marB="14400" anchor="ctr">
                    <a:solidFill>
                      <a:srgbClr val="E9F7FA"/>
                    </a:solidFill>
                  </a:tcPr>
                </a:tc>
                <a:tc>
                  <a:txBody>
                    <a:bodyPr/>
                    <a:lstStyle/>
                    <a:p>
                      <a:pPr algn="ctr"/>
                      <a:r>
                        <a:rPr sz="950" b="0">
                          <a:solidFill>
                            <a:srgbClr val="252D36"/>
                          </a:solidFill>
                          <a:latin typeface="Poppins"/>
                        </a:rPr>
                        <a:t>30 giorni · restore periodicamente testato</a:t>
                      </a:r>
                    </a:p>
                  </a:txBody>
                  <a:tcPr marL="28800" marR="28800" marT="14400" marB="14400" anchor="ctr">
                    <a:solidFill>
                      <a:srgbClr val="F3F6F8"/>
                    </a:solidFill>
                  </a:tcPr>
                </a:tc>
              </a:tr>
              <a:tr h="472500">
                <a:tc>
                  <a:txBody>
                    <a:bodyPr/>
                    <a:lstStyle/>
                    <a:p>
                      <a:pPr algn="l"/>
                      <a:r>
                        <a:rPr sz="950" b="1">
                          <a:solidFill>
                            <a:srgbClr val="004481"/>
                          </a:solidFill>
                          <a:latin typeface="Poppins"/>
                        </a:rPr>
                        <a:t>Documentale</a:t>
                      </a:r>
                    </a:p>
                  </a:txBody>
                  <a:tcPr marL="28800" marR="28800" marT="14400" marB="14400" anchor="ctr">
                    <a:solidFill>
                      <a:srgbClr val="E9F7FA"/>
                    </a:solidFill>
                  </a:tcPr>
                </a:tc>
                <a:tc>
                  <a:txBody>
                    <a:bodyPr/>
                    <a:lstStyle/>
                    <a:p>
                      <a:pPr algn="ctr"/>
                      <a:r>
                        <a:rPr sz="950" b="0">
                          <a:solidFill>
                            <a:srgbClr val="252D36"/>
                          </a:solidFill>
                          <a:latin typeface="Poppins"/>
                        </a:rPr>
                        <a:t>1 TB iniziale</a:t>
                      </a:r>
                    </a:p>
                  </a:txBody>
                  <a:tcPr marL="28800" marR="28800" marT="14400" marB="14400" anchor="ctr">
                    <a:solidFill>
                      <a:srgbClr val="FFFFFF"/>
                    </a:solidFill>
                  </a:tcPr>
                </a:tc>
              </a:tr>
              <a:tr h="472500">
                <a:tc>
                  <a:txBody>
                    <a:bodyPr/>
                    <a:lstStyle/>
                    <a:p>
                      <a:pPr algn="l"/>
                      <a:r>
                        <a:rPr sz="950" b="1">
                          <a:solidFill>
                            <a:srgbClr val="004481"/>
                          </a:solidFill>
                          <a:latin typeface="Poppins"/>
                        </a:rPr>
                        <a:t>Accesso SQL</a:t>
                      </a:r>
                    </a:p>
                  </a:txBody>
                  <a:tcPr marL="28800" marR="28800" marT="14400" marB="14400" anchor="ctr">
                    <a:solidFill>
                      <a:srgbClr val="E9F7FA"/>
                    </a:solidFill>
                  </a:tcPr>
                </a:tc>
                <a:tc>
                  <a:txBody>
                    <a:bodyPr/>
                    <a:lstStyle/>
                    <a:p>
                      <a:pPr algn="ctr"/>
                      <a:r>
                        <a:rPr sz="950" b="0">
                          <a:solidFill>
                            <a:srgbClr val="252D36"/>
                          </a:solidFill>
                          <a:latin typeface="Poppins"/>
                        </a:rPr>
                        <a:t>20 utenti autorizzati · max 5 concorrenti</a:t>
                      </a:r>
                    </a:p>
                  </a:txBody>
                  <a:tcPr marL="28800" marR="28800" marT="14400" marB="14400" anchor="ctr">
                    <a:solidFill>
                      <a:srgbClr val="F3F6F8"/>
                    </a:solidFill>
                  </a:tcPr>
                </a:tc>
              </a:tr>
              <a:tr h="472500">
                <a:tc>
                  <a:txBody>
                    <a:bodyPr/>
                    <a:lstStyle/>
                    <a:p>
                      <a:pPr algn="l"/>
                      <a:r>
                        <a:rPr sz="950" b="1">
                          <a:solidFill>
                            <a:srgbClr val="004481"/>
                          </a:solidFill>
                          <a:latin typeface="Poppins"/>
                        </a:rPr>
                        <a:t>TCO</a:t>
                      </a:r>
                    </a:p>
                  </a:txBody>
                  <a:tcPr marL="28800" marR="28800" marT="14400" marB="14400" anchor="ctr">
                    <a:solidFill>
                      <a:srgbClr val="E9F7FA"/>
                    </a:solidFill>
                  </a:tcPr>
                </a:tc>
                <a:tc>
                  <a:txBody>
                    <a:bodyPr/>
                    <a:lstStyle/>
                    <a:p>
                      <a:pPr algn="ctr"/>
                      <a:r>
                        <a:rPr sz="950" b="0">
                          <a:solidFill>
                            <a:srgbClr val="252D36"/>
                          </a:solidFill>
                          <a:latin typeface="Poppins"/>
                        </a:rPr>
                        <a:t>Una tantum + 36 mesi di piattaforma</a:t>
                      </a:r>
                    </a:p>
                  </a:txBody>
                  <a:tcPr marL="28800" marR="28800" marT="14400" marB="14400" anchor="ctr">
                    <a:solidFill>
                      <a:srgbClr val="FFFFFF"/>
                    </a:solidFill>
                  </a:tcPr>
                </a:tc>
              </a:tr>
            </a:tbl>
          </a:graphicData>
        </a:graphic>
      </p:graphicFrame>
      <p:sp>
        <p:nvSpPr>
          <p:cNvPr id="9" name="Rounded Rectangle 8"/>
          <p:cNvSpPr/>
          <p:nvPr/>
        </p:nvSpPr>
        <p:spPr>
          <a:xfrm>
            <a:off x="8136000" y="1260000"/>
            <a:ext cx="3384000" cy="3780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36000" y="1260000"/>
            <a:ext cx="3384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8000" y="1299600"/>
            <a:ext cx="3240000" cy="100800"/>
          </a:xfrm>
          <a:prstGeom prst="rect">
            <a:avLst/>
          </a:prstGeom>
          <a:noFill/>
        </p:spPr>
        <p:txBody>
          <a:bodyPr wrap="square" lIns="14400" rIns="14400" tIns="14400" bIns="14400" anchor="t">
            <a:spAutoFit/>
          </a:bodyPr>
          <a:lstStyle/>
          <a:p>
            <a:pPr algn="l"/>
            <a:r>
              <a:rPr sz="850" b="1">
                <a:solidFill>
                  <a:srgbClr val="FFFFFF"/>
                </a:solidFill>
                <a:latin typeface="Poppins"/>
              </a:rPr>
              <a:t>NON INCLUSO</a:t>
            </a:r>
          </a:p>
        </p:txBody>
      </p:sp>
      <p:sp>
        <p:nvSpPr>
          <p:cNvPr id="12" name="TextBox 11"/>
          <p:cNvSpPr txBox="1"/>
          <p:nvPr/>
        </p:nvSpPr>
        <p:spPr>
          <a:xfrm>
            <a:off x="8226000" y="1540800"/>
            <a:ext cx="3204000" cy="3438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AM Novigo</a:t>
            </a:r>
          </a:p>
          <a:p>
            <a:pPr>
              <a:spcAft>
                <a:spcPts val="400"/>
              </a:spcAft>
              <a:defRPr sz="1000">
                <a:solidFill>
                  <a:srgbClr val="252D36"/>
                </a:solidFill>
                <a:latin typeface="Poppins"/>
              </a:defRPr>
            </a:pPr>
            <a:r>
              <a:t>•  Team sostitutivo</a:t>
            </a:r>
          </a:p>
          <a:p>
            <a:pPr>
              <a:spcAft>
                <a:spcPts val="400"/>
              </a:spcAft>
              <a:defRPr sz="1000">
                <a:solidFill>
                  <a:srgbClr val="252D36"/>
                </a:solidFill>
                <a:latin typeface="Poppins"/>
              </a:defRPr>
            </a:pPr>
            <a:r>
              <a:t>•  Licenze non note</a:t>
            </a:r>
          </a:p>
          <a:p>
            <a:pPr>
              <a:spcAft>
                <a:spcPts val="400"/>
              </a:spcAft>
              <a:defRPr sz="1000">
                <a:solidFill>
                  <a:srgbClr val="252D36"/>
                </a:solidFill>
                <a:latin typeface="Poppins"/>
              </a:defRPr>
            </a:pPr>
            <a:r>
              <a:t>•  DR geografico</a:t>
            </a:r>
          </a:p>
          <a:p>
            <a:pPr>
              <a:spcAft>
                <a:spcPts val="400"/>
              </a:spcAft>
              <a:defRPr sz="1000">
                <a:solidFill>
                  <a:srgbClr val="252D36"/>
                </a:solidFill>
                <a:latin typeface="Poppins"/>
              </a:defRPr>
            </a:pPr>
            <a:r>
              <a:t>•  Costi interni Guber</a:t>
            </a:r>
          </a:p>
          <a:p>
            <a:pPr>
              <a:spcAft>
                <a:spcPts val="400"/>
              </a:spcAft>
              <a:defRPr sz="1000">
                <a:solidFill>
                  <a:srgbClr val="252D36"/>
                </a:solidFill>
                <a:latin typeface="Poppins"/>
              </a:defRPr>
            </a:pPr>
            <a:r>
              <a:t>•  IVA e sconti contrattuali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SCENARIO 01</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Infrastruttura attuale — struttura del range economico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Componenti indicative da ricalcolare dopo assessment e sizing.</a:t>
            </a:r>
          </a:p>
        </p:txBody>
      </p:sp>
      <p:sp>
        <p:nvSpPr>
          <p:cNvPr id="8" name="Rounded Rectangle 7"/>
          <p:cNvSpPr/>
          <p:nvPr/>
        </p:nvSpPr>
        <p:spPr>
          <a:xfrm>
            <a:off x="396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6000" y="1260000"/>
            <a:ext cx="35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UNA TANTUM</a:t>
            </a:r>
          </a:p>
        </p:txBody>
      </p:sp>
      <p:sp>
        <p:nvSpPr>
          <p:cNvPr id="11" name="TextBox 10"/>
          <p:cNvSpPr txBox="1"/>
          <p:nvPr/>
        </p:nvSpPr>
        <p:spPr>
          <a:xfrm>
            <a:off x="486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Assessment e hardening</a:t>
            </a:r>
          </a:p>
          <a:p>
            <a:pPr>
              <a:spcAft>
                <a:spcPts val="400"/>
              </a:spcAft>
              <a:defRPr sz="1000">
                <a:solidFill>
                  <a:srgbClr val="252D36"/>
                </a:solidFill>
                <a:latin typeface="Poppins"/>
              </a:defRPr>
            </a:pPr>
            <a:r>
              <a:t>•  Accesso SQL / viste</a:t>
            </a:r>
          </a:p>
          <a:p>
            <a:pPr>
              <a:spcAft>
                <a:spcPts val="400"/>
              </a:spcAft>
              <a:defRPr sz="1000">
                <a:solidFill>
                  <a:srgbClr val="252D36"/>
                </a:solidFill>
                <a:latin typeface="Poppins"/>
              </a:defRPr>
            </a:pPr>
            <a:r>
              <a:t>•  Audit e test</a:t>
            </a:r>
          </a:p>
          <a:p>
            <a:pPr>
              <a:spcAft>
                <a:spcPts val="400"/>
              </a:spcAft>
              <a:defRPr sz="1000">
                <a:solidFill>
                  <a:srgbClr val="252D36"/>
                </a:solidFill>
                <a:latin typeface="Poppins"/>
              </a:defRPr>
            </a:pPr>
            <a:r>
              <a:t>•  Documentazione</a:t>
            </a:r>
          </a:p>
        </p:txBody>
      </p:sp>
      <p:sp>
        <p:nvSpPr>
          <p:cNvPr id="12" name="Rounded Rectangle 11"/>
          <p:cNvSpPr/>
          <p:nvPr/>
        </p:nvSpPr>
        <p:spPr>
          <a:xfrm>
            <a:off x="4248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8000" y="1260000"/>
            <a:ext cx="35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RICORRENTE</a:t>
            </a:r>
          </a:p>
        </p:txBody>
      </p:sp>
      <p:sp>
        <p:nvSpPr>
          <p:cNvPr id="15" name="TextBox 14"/>
          <p:cNvSpPr txBox="1"/>
          <p:nvPr/>
        </p:nvSpPr>
        <p:spPr>
          <a:xfrm>
            <a:off x="4338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Capacità incrementale</a:t>
            </a:r>
          </a:p>
          <a:p>
            <a:pPr>
              <a:spcAft>
                <a:spcPts val="400"/>
              </a:spcAft>
              <a:defRPr sz="1000">
                <a:solidFill>
                  <a:srgbClr val="252D36"/>
                </a:solidFill>
                <a:latin typeface="Poppins"/>
              </a:defRPr>
            </a:pPr>
            <a:r>
              <a:t>•  Backup e logging</a:t>
            </a:r>
          </a:p>
          <a:p>
            <a:pPr>
              <a:spcAft>
                <a:spcPts val="400"/>
              </a:spcAft>
              <a:defRPr sz="1000">
                <a:solidFill>
                  <a:srgbClr val="252D36"/>
                </a:solidFill>
                <a:latin typeface="Poppins"/>
              </a:defRPr>
            </a:pPr>
            <a:r>
              <a:t>•  Monitoring</a:t>
            </a:r>
          </a:p>
          <a:p>
            <a:pPr>
              <a:spcAft>
                <a:spcPts val="400"/>
              </a:spcAft>
              <a:defRPr sz="1000">
                <a:solidFill>
                  <a:srgbClr val="252D36"/>
                </a:solidFill>
                <a:latin typeface="Poppins"/>
              </a:defRPr>
            </a:pPr>
            <a:r>
              <a:t>•  Networking</a:t>
            </a:r>
          </a:p>
        </p:txBody>
      </p:sp>
      <p:sp>
        <p:nvSpPr>
          <p:cNvPr id="16" name="Rounded Rectangle 15"/>
          <p:cNvSpPr/>
          <p:nvPr/>
        </p:nvSpPr>
        <p:spPr>
          <a:xfrm>
            <a:off x="8100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0000" y="1260000"/>
            <a:ext cx="352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2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SENSIBILITÀ</a:t>
            </a:r>
          </a:p>
        </p:txBody>
      </p:sp>
      <p:sp>
        <p:nvSpPr>
          <p:cNvPr id="19" name="TextBox 18"/>
          <p:cNvSpPr txBox="1"/>
          <p:nvPr/>
        </p:nvSpPr>
        <p:spPr>
          <a:xfrm>
            <a:off x="8190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e compatibilità</a:t>
            </a:r>
          </a:p>
          <a:p>
            <a:pPr>
              <a:spcAft>
                <a:spcPts val="400"/>
              </a:spcAft>
              <a:defRPr sz="1000">
                <a:solidFill>
                  <a:srgbClr val="252D36"/>
                </a:solidFill>
                <a:latin typeface="Poppins"/>
              </a:defRPr>
            </a:pPr>
            <a:r>
              <a:t>•  HA / DR e SLA</a:t>
            </a:r>
          </a:p>
          <a:p>
            <a:pPr>
              <a:spcAft>
                <a:spcPts val="400"/>
              </a:spcAft>
              <a:defRPr sz="1000">
                <a:solidFill>
                  <a:srgbClr val="252D36"/>
                </a:solidFill>
                <a:latin typeface="Poppins"/>
              </a:defRPr>
            </a:pPr>
            <a:r>
              <a:t>•  Volumi, crescita e IOPS</a:t>
            </a:r>
          </a:p>
          <a:p>
            <a:pPr>
              <a:spcAft>
                <a:spcPts val="400"/>
              </a:spcAft>
              <a:defRPr sz="1000">
                <a:solidFill>
                  <a:srgbClr val="252D36"/>
                </a:solidFill>
                <a:latin typeface="Poppins"/>
              </a:defRPr>
            </a:pPr>
            <a:r>
              <a:t>•  Licenze e contratti</a:t>
            </a:r>
          </a:p>
        </p:txBody>
      </p:sp>
      <p:sp>
        <p:nvSpPr>
          <p:cNvPr id="20" name="Rounded Rectangle 19"/>
          <p:cNvSpPr/>
          <p:nvPr/>
        </p:nvSpPr>
        <p:spPr>
          <a:xfrm>
            <a:off x="396000" y="4770000"/>
            <a:ext cx="11232000" cy="64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8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Una tantum  € 15k–38k</a:t>
            </a:r>
          </a:p>
        </p:txBody>
      </p:sp>
      <p:sp>
        <p:nvSpPr>
          <p:cNvPr id="22" name="TextBox 21"/>
          <p:cNvSpPr txBox="1"/>
          <p:nvPr/>
        </p:nvSpPr>
        <p:spPr>
          <a:xfrm>
            <a:off x="4266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Mensile  € 0,7k–2,4k</a:t>
            </a:r>
          </a:p>
        </p:txBody>
      </p:sp>
      <p:sp>
        <p:nvSpPr>
          <p:cNvPr id="23" name="TextBox 22"/>
          <p:cNvSpPr txBox="1"/>
          <p:nvPr/>
        </p:nvSpPr>
        <p:spPr>
          <a:xfrm>
            <a:off x="7973999" y="4914000"/>
            <a:ext cx="3456000" cy="125999"/>
          </a:xfrm>
          <a:prstGeom prst="rect">
            <a:avLst/>
          </a:prstGeom>
          <a:noFill/>
        </p:spPr>
        <p:txBody>
          <a:bodyPr wrap="square" lIns="14400" rIns="14400" tIns="14400" bIns="14400" anchor="t">
            <a:spAutoFit/>
          </a:bodyPr>
          <a:lstStyle/>
          <a:p>
            <a:pPr algn="ctr"/>
            <a:r>
              <a:rPr sz="1100" b="1">
                <a:solidFill>
                  <a:srgbClr val="007A82"/>
                </a:solidFill>
                <a:latin typeface="Poppins"/>
              </a:rPr>
              <a:t>TCO 3 anni  € 40k–124k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SCENARIO 02</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Primario su Azure Guber — struttura del range economico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Componenti indicative da ricalcolare dopo assessment e sizing.</a:t>
            </a:r>
          </a:p>
        </p:txBody>
      </p:sp>
      <p:sp>
        <p:nvSpPr>
          <p:cNvPr id="8" name="Rounded Rectangle 7"/>
          <p:cNvSpPr/>
          <p:nvPr/>
        </p:nvSpPr>
        <p:spPr>
          <a:xfrm>
            <a:off x="396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6000" y="1260000"/>
            <a:ext cx="35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UNA TANTUM</a:t>
            </a:r>
          </a:p>
        </p:txBody>
      </p:sp>
      <p:sp>
        <p:nvSpPr>
          <p:cNvPr id="11" name="TextBox 10"/>
          <p:cNvSpPr txBox="1"/>
          <p:nvPr/>
        </p:nvSpPr>
        <p:spPr>
          <a:xfrm>
            <a:off x="486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Assessment PaaS / IaaS</a:t>
            </a:r>
          </a:p>
          <a:p>
            <a:pPr>
              <a:spcAft>
                <a:spcPts val="400"/>
              </a:spcAft>
              <a:defRPr sz="1000">
                <a:solidFill>
                  <a:srgbClr val="252D36"/>
                </a:solidFill>
                <a:latin typeface="Poppins"/>
              </a:defRPr>
            </a:pPr>
            <a:r>
              <a:t>•  Landing zone e rete</a:t>
            </a:r>
          </a:p>
          <a:p>
            <a:pPr>
              <a:spcAft>
                <a:spcPts val="400"/>
              </a:spcAft>
              <a:defRPr sz="1000">
                <a:solidFill>
                  <a:srgbClr val="252D36"/>
                </a:solidFill>
                <a:latin typeface="Poppins"/>
              </a:defRPr>
            </a:pPr>
            <a:r>
              <a:t>•  Migrazione e test</a:t>
            </a:r>
          </a:p>
          <a:p>
            <a:pPr>
              <a:spcAft>
                <a:spcPts val="400"/>
              </a:spcAft>
              <a:defRPr sz="1000">
                <a:solidFill>
                  <a:srgbClr val="252D36"/>
                </a:solidFill>
                <a:latin typeface="Poppins"/>
              </a:defRPr>
            </a:pPr>
            <a:r>
              <a:t>•  Cutover e rollback</a:t>
            </a:r>
          </a:p>
        </p:txBody>
      </p:sp>
      <p:sp>
        <p:nvSpPr>
          <p:cNvPr id="12" name="Rounded Rectangle 11"/>
          <p:cNvSpPr/>
          <p:nvPr/>
        </p:nvSpPr>
        <p:spPr>
          <a:xfrm>
            <a:off x="4248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8000" y="1260000"/>
            <a:ext cx="35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RICORRENTE</a:t>
            </a:r>
          </a:p>
        </p:txBody>
      </p:sp>
      <p:sp>
        <p:nvSpPr>
          <p:cNvPr id="15" name="TextBox 14"/>
          <p:cNvSpPr txBox="1"/>
          <p:nvPr/>
        </p:nvSpPr>
        <p:spPr>
          <a:xfrm>
            <a:off x="4338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Compute / database</a:t>
            </a:r>
          </a:p>
          <a:p>
            <a:pPr>
              <a:spcAft>
                <a:spcPts val="400"/>
              </a:spcAft>
              <a:defRPr sz="1000">
                <a:solidFill>
                  <a:srgbClr val="252D36"/>
                </a:solidFill>
                <a:latin typeface="Poppins"/>
              </a:defRPr>
            </a:pPr>
            <a:r>
              <a:t>•  Storage e backup</a:t>
            </a:r>
          </a:p>
          <a:p>
            <a:pPr>
              <a:spcAft>
                <a:spcPts val="400"/>
              </a:spcAft>
              <a:defRPr sz="1000">
                <a:solidFill>
                  <a:srgbClr val="252D36"/>
                </a:solidFill>
                <a:latin typeface="Poppins"/>
              </a:defRPr>
            </a:pPr>
            <a:r>
              <a:t>•  Logging e security</a:t>
            </a:r>
          </a:p>
          <a:p>
            <a:pPr>
              <a:spcAft>
                <a:spcPts val="400"/>
              </a:spcAft>
              <a:defRPr sz="1000">
                <a:solidFill>
                  <a:srgbClr val="252D36"/>
                </a:solidFill>
                <a:latin typeface="Poppins"/>
              </a:defRPr>
            </a:pPr>
            <a:r>
              <a:t>•  Networking</a:t>
            </a:r>
          </a:p>
        </p:txBody>
      </p:sp>
      <p:sp>
        <p:nvSpPr>
          <p:cNvPr id="16" name="Rounded Rectangle 15"/>
          <p:cNvSpPr/>
          <p:nvPr/>
        </p:nvSpPr>
        <p:spPr>
          <a:xfrm>
            <a:off x="8100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0000" y="1260000"/>
            <a:ext cx="352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2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SENSIBILITÀ</a:t>
            </a:r>
          </a:p>
        </p:txBody>
      </p:sp>
      <p:sp>
        <p:nvSpPr>
          <p:cNvPr id="19" name="TextBox 18"/>
          <p:cNvSpPr txBox="1"/>
          <p:nvPr/>
        </p:nvSpPr>
        <p:spPr>
          <a:xfrm>
            <a:off x="8190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e compatibilità</a:t>
            </a:r>
          </a:p>
          <a:p>
            <a:pPr>
              <a:spcAft>
                <a:spcPts val="400"/>
              </a:spcAft>
              <a:defRPr sz="1000">
                <a:solidFill>
                  <a:srgbClr val="252D36"/>
                </a:solidFill>
                <a:latin typeface="Poppins"/>
              </a:defRPr>
            </a:pPr>
            <a:r>
              <a:t>•  HA / DR e SLA</a:t>
            </a:r>
          </a:p>
          <a:p>
            <a:pPr>
              <a:spcAft>
                <a:spcPts val="400"/>
              </a:spcAft>
              <a:defRPr sz="1000">
                <a:solidFill>
                  <a:srgbClr val="252D36"/>
                </a:solidFill>
                <a:latin typeface="Poppins"/>
              </a:defRPr>
            </a:pPr>
            <a:r>
              <a:t>•  Volumi, crescita e IOPS</a:t>
            </a:r>
          </a:p>
          <a:p>
            <a:pPr>
              <a:spcAft>
                <a:spcPts val="400"/>
              </a:spcAft>
              <a:defRPr sz="1000">
                <a:solidFill>
                  <a:srgbClr val="252D36"/>
                </a:solidFill>
                <a:latin typeface="Poppins"/>
              </a:defRPr>
            </a:pPr>
            <a:r>
              <a:t>•  Licenze e contratti</a:t>
            </a:r>
          </a:p>
        </p:txBody>
      </p:sp>
      <p:sp>
        <p:nvSpPr>
          <p:cNvPr id="20" name="Rounded Rectangle 19"/>
          <p:cNvSpPr/>
          <p:nvPr/>
        </p:nvSpPr>
        <p:spPr>
          <a:xfrm>
            <a:off x="396000" y="4770000"/>
            <a:ext cx="11232000" cy="64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8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Una tantum  € 49k–128k</a:t>
            </a:r>
          </a:p>
        </p:txBody>
      </p:sp>
      <p:sp>
        <p:nvSpPr>
          <p:cNvPr id="22" name="TextBox 21"/>
          <p:cNvSpPr txBox="1"/>
          <p:nvPr/>
        </p:nvSpPr>
        <p:spPr>
          <a:xfrm>
            <a:off x="4266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Mensile  € 1,75k–5,3k</a:t>
            </a:r>
          </a:p>
        </p:txBody>
      </p:sp>
      <p:sp>
        <p:nvSpPr>
          <p:cNvPr id="23" name="TextBox 22"/>
          <p:cNvSpPr txBox="1"/>
          <p:nvPr/>
        </p:nvSpPr>
        <p:spPr>
          <a:xfrm>
            <a:off x="7973999" y="4914000"/>
            <a:ext cx="3456000" cy="125999"/>
          </a:xfrm>
          <a:prstGeom prst="rect">
            <a:avLst/>
          </a:prstGeom>
          <a:noFill/>
        </p:spPr>
        <p:txBody>
          <a:bodyPr wrap="square" lIns="14400" rIns="14400" tIns="14400" bIns="14400" anchor="t">
            <a:spAutoFit/>
          </a:bodyPr>
          <a:lstStyle/>
          <a:p>
            <a:pPr algn="ctr"/>
            <a:r>
              <a:rPr sz="1100" b="1">
                <a:solidFill>
                  <a:srgbClr val="007A82"/>
                </a:solidFill>
                <a:latin typeface="Poppins"/>
              </a:rPr>
              <a:t>TCO 3 anni  € 112k–319k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SCENARIO 03</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Primario su AWS Guber — struttura del range economico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Componenti indicative da ricalcolare dopo assessment e sizing.</a:t>
            </a:r>
          </a:p>
        </p:txBody>
      </p:sp>
      <p:sp>
        <p:nvSpPr>
          <p:cNvPr id="8" name="Rounded Rectangle 7"/>
          <p:cNvSpPr/>
          <p:nvPr/>
        </p:nvSpPr>
        <p:spPr>
          <a:xfrm>
            <a:off x="396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6000" y="1260000"/>
            <a:ext cx="35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UNA TANTUM</a:t>
            </a:r>
          </a:p>
        </p:txBody>
      </p:sp>
      <p:sp>
        <p:nvSpPr>
          <p:cNvPr id="11" name="TextBox 10"/>
          <p:cNvSpPr txBox="1"/>
          <p:nvPr/>
        </p:nvSpPr>
        <p:spPr>
          <a:xfrm>
            <a:off x="486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Assessment RDS / EC2</a:t>
            </a:r>
          </a:p>
          <a:p>
            <a:pPr>
              <a:spcAft>
                <a:spcPts val="400"/>
              </a:spcAft>
              <a:defRPr sz="1000">
                <a:solidFill>
                  <a:srgbClr val="252D36"/>
                </a:solidFill>
                <a:latin typeface="Poppins"/>
              </a:defRPr>
            </a:pPr>
            <a:r>
              <a:t>•  Landing zone e VPC</a:t>
            </a:r>
          </a:p>
          <a:p>
            <a:pPr>
              <a:spcAft>
                <a:spcPts val="400"/>
              </a:spcAft>
              <a:defRPr sz="1000">
                <a:solidFill>
                  <a:srgbClr val="252D36"/>
                </a:solidFill>
                <a:latin typeface="Poppins"/>
              </a:defRPr>
            </a:pPr>
            <a:r>
              <a:t>•  Migrazione e test</a:t>
            </a:r>
          </a:p>
          <a:p>
            <a:pPr>
              <a:spcAft>
                <a:spcPts val="400"/>
              </a:spcAft>
              <a:defRPr sz="1000">
                <a:solidFill>
                  <a:srgbClr val="252D36"/>
                </a:solidFill>
                <a:latin typeface="Poppins"/>
              </a:defRPr>
            </a:pPr>
            <a:r>
              <a:t>•  Cutover e rollback</a:t>
            </a:r>
          </a:p>
        </p:txBody>
      </p:sp>
      <p:sp>
        <p:nvSpPr>
          <p:cNvPr id="12" name="Rounded Rectangle 11"/>
          <p:cNvSpPr/>
          <p:nvPr/>
        </p:nvSpPr>
        <p:spPr>
          <a:xfrm>
            <a:off x="4248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8000" y="1260000"/>
            <a:ext cx="35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RICORRENTE</a:t>
            </a:r>
          </a:p>
        </p:txBody>
      </p:sp>
      <p:sp>
        <p:nvSpPr>
          <p:cNvPr id="15" name="TextBox 14"/>
          <p:cNvSpPr txBox="1"/>
          <p:nvPr/>
        </p:nvSpPr>
        <p:spPr>
          <a:xfrm>
            <a:off x="4338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RDS / EC2</a:t>
            </a:r>
          </a:p>
          <a:p>
            <a:pPr>
              <a:spcAft>
                <a:spcPts val="400"/>
              </a:spcAft>
              <a:defRPr sz="1000">
                <a:solidFill>
                  <a:srgbClr val="252D36"/>
                </a:solidFill>
                <a:latin typeface="Poppins"/>
              </a:defRPr>
            </a:pPr>
            <a:r>
              <a:t>•  Storage e backup</a:t>
            </a:r>
          </a:p>
          <a:p>
            <a:pPr>
              <a:spcAft>
                <a:spcPts val="400"/>
              </a:spcAft>
              <a:defRPr sz="1000">
                <a:solidFill>
                  <a:srgbClr val="252D36"/>
                </a:solidFill>
                <a:latin typeface="Poppins"/>
              </a:defRPr>
            </a:pPr>
            <a:r>
              <a:t>•  CloudWatch / security</a:t>
            </a:r>
          </a:p>
          <a:p>
            <a:pPr>
              <a:spcAft>
                <a:spcPts val="400"/>
              </a:spcAft>
              <a:defRPr sz="1000">
                <a:solidFill>
                  <a:srgbClr val="252D36"/>
                </a:solidFill>
                <a:latin typeface="Poppins"/>
              </a:defRPr>
            </a:pPr>
            <a:r>
              <a:t>•  Networking</a:t>
            </a:r>
          </a:p>
        </p:txBody>
      </p:sp>
      <p:sp>
        <p:nvSpPr>
          <p:cNvPr id="16" name="Rounded Rectangle 15"/>
          <p:cNvSpPr/>
          <p:nvPr/>
        </p:nvSpPr>
        <p:spPr>
          <a:xfrm>
            <a:off x="8100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0000" y="1260000"/>
            <a:ext cx="352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2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SENSIBILITÀ</a:t>
            </a:r>
          </a:p>
        </p:txBody>
      </p:sp>
      <p:sp>
        <p:nvSpPr>
          <p:cNvPr id="19" name="TextBox 18"/>
          <p:cNvSpPr txBox="1"/>
          <p:nvPr/>
        </p:nvSpPr>
        <p:spPr>
          <a:xfrm>
            <a:off x="8190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e compatibilità</a:t>
            </a:r>
          </a:p>
          <a:p>
            <a:pPr>
              <a:spcAft>
                <a:spcPts val="400"/>
              </a:spcAft>
              <a:defRPr sz="1000">
                <a:solidFill>
                  <a:srgbClr val="252D36"/>
                </a:solidFill>
                <a:latin typeface="Poppins"/>
              </a:defRPr>
            </a:pPr>
            <a:r>
              <a:t>•  HA / DR e SLA</a:t>
            </a:r>
          </a:p>
          <a:p>
            <a:pPr>
              <a:spcAft>
                <a:spcPts val="400"/>
              </a:spcAft>
              <a:defRPr sz="1000">
                <a:solidFill>
                  <a:srgbClr val="252D36"/>
                </a:solidFill>
                <a:latin typeface="Poppins"/>
              </a:defRPr>
            </a:pPr>
            <a:r>
              <a:t>•  Volumi, crescita e IOPS</a:t>
            </a:r>
          </a:p>
          <a:p>
            <a:pPr>
              <a:spcAft>
                <a:spcPts val="400"/>
              </a:spcAft>
              <a:defRPr sz="1000">
                <a:solidFill>
                  <a:srgbClr val="252D36"/>
                </a:solidFill>
                <a:latin typeface="Poppins"/>
              </a:defRPr>
            </a:pPr>
            <a:r>
              <a:t>•  Licenze e contratti</a:t>
            </a:r>
          </a:p>
        </p:txBody>
      </p:sp>
      <p:sp>
        <p:nvSpPr>
          <p:cNvPr id="20" name="Rounded Rectangle 19"/>
          <p:cNvSpPr/>
          <p:nvPr/>
        </p:nvSpPr>
        <p:spPr>
          <a:xfrm>
            <a:off x="396000" y="4770000"/>
            <a:ext cx="11232000" cy="64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8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Una tantum  € 49k–128k</a:t>
            </a:r>
          </a:p>
        </p:txBody>
      </p:sp>
      <p:sp>
        <p:nvSpPr>
          <p:cNvPr id="22" name="TextBox 21"/>
          <p:cNvSpPr txBox="1"/>
          <p:nvPr/>
        </p:nvSpPr>
        <p:spPr>
          <a:xfrm>
            <a:off x="4266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Mensile  € 1,65k–5,2k</a:t>
            </a:r>
          </a:p>
        </p:txBody>
      </p:sp>
      <p:sp>
        <p:nvSpPr>
          <p:cNvPr id="23" name="TextBox 22"/>
          <p:cNvSpPr txBox="1"/>
          <p:nvPr/>
        </p:nvSpPr>
        <p:spPr>
          <a:xfrm>
            <a:off x="7973999" y="4914000"/>
            <a:ext cx="3456000" cy="125999"/>
          </a:xfrm>
          <a:prstGeom prst="rect">
            <a:avLst/>
          </a:prstGeom>
          <a:noFill/>
        </p:spPr>
        <p:txBody>
          <a:bodyPr wrap="square" lIns="14400" rIns="14400" tIns="14400" bIns="14400" anchor="t">
            <a:spAutoFit/>
          </a:bodyPr>
          <a:lstStyle/>
          <a:p>
            <a:pPr algn="ctr"/>
            <a:r>
              <a:rPr sz="1100" b="1">
                <a:solidFill>
                  <a:srgbClr val="007A82"/>
                </a:solidFill>
                <a:latin typeface="Poppins"/>
              </a:rPr>
              <a:t>TCO 3 anni  € 108k–315k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SCENARIO 04</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Primario on-premise Guber — struttura del range economico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Componenti indicative da ricalcolare dopo assessment e sizing.</a:t>
            </a:r>
          </a:p>
        </p:txBody>
      </p:sp>
      <p:sp>
        <p:nvSpPr>
          <p:cNvPr id="8" name="Rounded Rectangle 7"/>
          <p:cNvSpPr/>
          <p:nvPr/>
        </p:nvSpPr>
        <p:spPr>
          <a:xfrm>
            <a:off x="396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6000" y="1260000"/>
            <a:ext cx="35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UNA TANTUM</a:t>
            </a:r>
          </a:p>
        </p:txBody>
      </p:sp>
      <p:sp>
        <p:nvSpPr>
          <p:cNvPr id="11" name="TextBox 10"/>
          <p:cNvSpPr txBox="1"/>
          <p:nvPr/>
        </p:nvSpPr>
        <p:spPr>
          <a:xfrm>
            <a:off x="486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Assessment e capacity</a:t>
            </a:r>
          </a:p>
          <a:p>
            <a:pPr>
              <a:spcAft>
                <a:spcPts val="400"/>
              </a:spcAft>
              <a:defRPr sz="1000">
                <a:solidFill>
                  <a:srgbClr val="252D36"/>
                </a:solidFill>
                <a:latin typeface="Poppins"/>
              </a:defRPr>
            </a:pPr>
            <a:r>
              <a:t>•  Provisioning e licensing</a:t>
            </a:r>
          </a:p>
          <a:p>
            <a:pPr>
              <a:spcAft>
                <a:spcPts val="400"/>
              </a:spcAft>
              <a:defRPr sz="1000">
                <a:solidFill>
                  <a:srgbClr val="252D36"/>
                </a:solidFill>
                <a:latin typeface="Poppins"/>
              </a:defRPr>
            </a:pPr>
            <a:r>
              <a:t>•  Migrazione e test</a:t>
            </a:r>
          </a:p>
          <a:p>
            <a:pPr>
              <a:spcAft>
                <a:spcPts val="400"/>
              </a:spcAft>
              <a:defRPr sz="1000">
                <a:solidFill>
                  <a:srgbClr val="252D36"/>
                </a:solidFill>
                <a:latin typeface="Poppins"/>
              </a:defRPr>
            </a:pPr>
            <a:r>
              <a:t>•  HA, backup e cutover</a:t>
            </a:r>
          </a:p>
        </p:txBody>
      </p:sp>
      <p:sp>
        <p:nvSpPr>
          <p:cNvPr id="12" name="Rounded Rectangle 11"/>
          <p:cNvSpPr/>
          <p:nvPr/>
        </p:nvSpPr>
        <p:spPr>
          <a:xfrm>
            <a:off x="4248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8000" y="1260000"/>
            <a:ext cx="35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RICORRENTE</a:t>
            </a:r>
          </a:p>
        </p:txBody>
      </p:sp>
      <p:sp>
        <p:nvSpPr>
          <p:cNvPr id="15" name="TextBox 14"/>
          <p:cNvSpPr txBox="1"/>
          <p:nvPr/>
        </p:nvSpPr>
        <p:spPr>
          <a:xfrm>
            <a:off x="4338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Capacità e manutenzione</a:t>
            </a:r>
          </a:p>
          <a:p>
            <a:pPr>
              <a:spcAft>
                <a:spcPts val="400"/>
              </a:spcAft>
              <a:defRPr sz="1000">
                <a:solidFill>
                  <a:srgbClr val="252D36"/>
                </a:solidFill>
                <a:latin typeface="Poppins"/>
              </a:defRPr>
            </a:pPr>
            <a:r>
              <a:t>•  Backup</a:t>
            </a:r>
          </a:p>
          <a:p>
            <a:pPr>
              <a:spcAft>
                <a:spcPts val="400"/>
              </a:spcAft>
              <a:defRPr sz="1000">
                <a:solidFill>
                  <a:srgbClr val="252D36"/>
                </a:solidFill>
                <a:latin typeface="Poppins"/>
              </a:defRPr>
            </a:pPr>
            <a:r>
              <a:t>•  Monitoring</a:t>
            </a:r>
          </a:p>
          <a:p>
            <a:pPr>
              <a:spcAft>
                <a:spcPts val="400"/>
              </a:spcAft>
              <a:defRPr sz="1000">
                <a:solidFill>
                  <a:srgbClr val="252D36"/>
                </a:solidFill>
                <a:latin typeface="Poppins"/>
              </a:defRPr>
            </a:pPr>
            <a:r>
              <a:t>•  Energia / data center</a:t>
            </a:r>
          </a:p>
        </p:txBody>
      </p:sp>
      <p:sp>
        <p:nvSpPr>
          <p:cNvPr id="16" name="Rounded Rectangle 15"/>
          <p:cNvSpPr/>
          <p:nvPr/>
        </p:nvSpPr>
        <p:spPr>
          <a:xfrm>
            <a:off x="8100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0000" y="1260000"/>
            <a:ext cx="352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2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SENSIBILITÀ</a:t>
            </a:r>
          </a:p>
        </p:txBody>
      </p:sp>
      <p:sp>
        <p:nvSpPr>
          <p:cNvPr id="19" name="TextBox 18"/>
          <p:cNvSpPr txBox="1"/>
          <p:nvPr/>
        </p:nvSpPr>
        <p:spPr>
          <a:xfrm>
            <a:off x="8190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e compatibilità</a:t>
            </a:r>
          </a:p>
          <a:p>
            <a:pPr>
              <a:spcAft>
                <a:spcPts val="400"/>
              </a:spcAft>
              <a:defRPr sz="1000">
                <a:solidFill>
                  <a:srgbClr val="252D36"/>
                </a:solidFill>
                <a:latin typeface="Poppins"/>
              </a:defRPr>
            </a:pPr>
            <a:r>
              <a:t>•  HA / DR e SLA</a:t>
            </a:r>
          </a:p>
          <a:p>
            <a:pPr>
              <a:spcAft>
                <a:spcPts val="400"/>
              </a:spcAft>
              <a:defRPr sz="1000">
                <a:solidFill>
                  <a:srgbClr val="252D36"/>
                </a:solidFill>
                <a:latin typeface="Poppins"/>
              </a:defRPr>
            </a:pPr>
            <a:r>
              <a:t>•  Volumi, crescita e IOPS</a:t>
            </a:r>
          </a:p>
          <a:p>
            <a:pPr>
              <a:spcAft>
                <a:spcPts val="400"/>
              </a:spcAft>
              <a:defRPr sz="1000">
                <a:solidFill>
                  <a:srgbClr val="252D36"/>
                </a:solidFill>
                <a:latin typeface="Poppins"/>
              </a:defRPr>
            </a:pPr>
            <a:r>
              <a:t>•  Licenze e contratti</a:t>
            </a:r>
          </a:p>
        </p:txBody>
      </p:sp>
      <p:sp>
        <p:nvSpPr>
          <p:cNvPr id="20" name="Rounded Rectangle 19"/>
          <p:cNvSpPr/>
          <p:nvPr/>
        </p:nvSpPr>
        <p:spPr>
          <a:xfrm>
            <a:off x="396000" y="4770000"/>
            <a:ext cx="11232000" cy="64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8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Una tantum  € 71k–208k</a:t>
            </a:r>
          </a:p>
        </p:txBody>
      </p:sp>
      <p:sp>
        <p:nvSpPr>
          <p:cNvPr id="22" name="TextBox 21"/>
          <p:cNvSpPr txBox="1"/>
          <p:nvPr/>
        </p:nvSpPr>
        <p:spPr>
          <a:xfrm>
            <a:off x="4266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Mensile  € 1,4k–4,5k</a:t>
            </a:r>
          </a:p>
        </p:txBody>
      </p:sp>
      <p:sp>
        <p:nvSpPr>
          <p:cNvPr id="23" name="TextBox 22"/>
          <p:cNvSpPr txBox="1"/>
          <p:nvPr/>
        </p:nvSpPr>
        <p:spPr>
          <a:xfrm>
            <a:off x="7973999" y="4914000"/>
            <a:ext cx="3456000" cy="125999"/>
          </a:xfrm>
          <a:prstGeom prst="rect">
            <a:avLst/>
          </a:prstGeom>
          <a:noFill/>
        </p:spPr>
        <p:txBody>
          <a:bodyPr wrap="square" lIns="14400" rIns="14400" tIns="14400" bIns="14400" anchor="t">
            <a:spAutoFit/>
          </a:bodyPr>
          <a:lstStyle/>
          <a:p>
            <a:pPr algn="ctr"/>
            <a:r>
              <a:rPr sz="1100" b="1">
                <a:solidFill>
                  <a:srgbClr val="007A82"/>
                </a:solidFill>
                <a:latin typeface="Poppins"/>
              </a:rPr>
              <a:t>TCO 3 anni  € 121k–370k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SCENARIO 05</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Replica on-premise Guber — struttura del range economico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Componenti indicative da ricalcolare dopo assessment e sizing.</a:t>
            </a:r>
          </a:p>
        </p:txBody>
      </p:sp>
      <p:sp>
        <p:nvSpPr>
          <p:cNvPr id="8" name="Rounded Rectangle 7"/>
          <p:cNvSpPr/>
          <p:nvPr/>
        </p:nvSpPr>
        <p:spPr>
          <a:xfrm>
            <a:off x="396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6000" y="1260000"/>
            <a:ext cx="35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UNA TANTUM</a:t>
            </a:r>
          </a:p>
        </p:txBody>
      </p:sp>
      <p:sp>
        <p:nvSpPr>
          <p:cNvPr id="11" name="TextBox 10"/>
          <p:cNvSpPr txBox="1"/>
          <p:nvPr/>
        </p:nvSpPr>
        <p:spPr>
          <a:xfrm>
            <a:off x="486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Assessment replica</a:t>
            </a:r>
          </a:p>
          <a:p>
            <a:pPr>
              <a:spcAft>
                <a:spcPts val="400"/>
              </a:spcAft>
              <a:defRPr sz="1000">
                <a:solidFill>
                  <a:srgbClr val="252D36"/>
                </a:solidFill>
                <a:latin typeface="Poppins"/>
              </a:defRPr>
            </a:pPr>
            <a:r>
              <a:t>•  Provisioning on-premise</a:t>
            </a:r>
          </a:p>
          <a:p>
            <a:pPr>
              <a:spcAft>
                <a:spcPts val="400"/>
              </a:spcAft>
              <a:defRPr sz="1000">
                <a:solidFill>
                  <a:srgbClr val="252D36"/>
                </a:solidFill>
                <a:latin typeface="Poppins"/>
              </a:defRPr>
            </a:pPr>
            <a:r>
              <a:t>•  Setup e riconciliazione</a:t>
            </a:r>
          </a:p>
          <a:p>
            <a:pPr>
              <a:spcAft>
                <a:spcPts val="400"/>
              </a:spcAft>
              <a:defRPr sz="1000">
                <a:solidFill>
                  <a:srgbClr val="252D36"/>
                </a:solidFill>
                <a:latin typeface="Poppins"/>
              </a:defRPr>
            </a:pPr>
            <a:r>
              <a:t>•  Accessi e monitoring</a:t>
            </a:r>
          </a:p>
        </p:txBody>
      </p:sp>
      <p:sp>
        <p:nvSpPr>
          <p:cNvPr id="12" name="Rounded Rectangle 11"/>
          <p:cNvSpPr/>
          <p:nvPr/>
        </p:nvSpPr>
        <p:spPr>
          <a:xfrm>
            <a:off x="4248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8000" y="1260000"/>
            <a:ext cx="35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RICORRENTE</a:t>
            </a:r>
          </a:p>
        </p:txBody>
      </p:sp>
      <p:sp>
        <p:nvSpPr>
          <p:cNvPr id="15" name="TextBox 14"/>
          <p:cNvSpPr txBox="1"/>
          <p:nvPr/>
        </p:nvSpPr>
        <p:spPr>
          <a:xfrm>
            <a:off x="4338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Compute / database replica</a:t>
            </a:r>
          </a:p>
          <a:p>
            <a:pPr>
              <a:spcAft>
                <a:spcPts val="400"/>
              </a:spcAft>
              <a:defRPr sz="1000">
                <a:solidFill>
                  <a:srgbClr val="252D36"/>
                </a:solidFill>
                <a:latin typeface="Poppins"/>
              </a:defRPr>
            </a:pPr>
            <a:r>
              <a:t>•  Storage e backup</a:t>
            </a:r>
          </a:p>
          <a:p>
            <a:pPr>
              <a:spcAft>
                <a:spcPts val="400"/>
              </a:spcAft>
              <a:defRPr sz="1000">
                <a:solidFill>
                  <a:srgbClr val="252D36"/>
                </a:solidFill>
                <a:latin typeface="Poppins"/>
              </a:defRPr>
            </a:pPr>
            <a:r>
              <a:t>•  Monitoring del lag</a:t>
            </a:r>
          </a:p>
          <a:p>
            <a:pPr>
              <a:spcAft>
                <a:spcPts val="400"/>
              </a:spcAft>
              <a:defRPr sz="1000">
                <a:solidFill>
                  <a:srgbClr val="252D36"/>
                </a:solidFill>
                <a:latin typeface="Poppins"/>
              </a:defRPr>
            </a:pPr>
            <a:r>
              <a:t>•  Connettività</a:t>
            </a:r>
          </a:p>
        </p:txBody>
      </p:sp>
      <p:sp>
        <p:nvSpPr>
          <p:cNvPr id="16" name="Rounded Rectangle 15"/>
          <p:cNvSpPr/>
          <p:nvPr/>
        </p:nvSpPr>
        <p:spPr>
          <a:xfrm>
            <a:off x="8100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0000" y="1260000"/>
            <a:ext cx="352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2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SENSIBILITÀ</a:t>
            </a:r>
          </a:p>
        </p:txBody>
      </p:sp>
      <p:sp>
        <p:nvSpPr>
          <p:cNvPr id="19" name="TextBox 18"/>
          <p:cNvSpPr txBox="1"/>
          <p:nvPr/>
        </p:nvSpPr>
        <p:spPr>
          <a:xfrm>
            <a:off x="8190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e compatibilità</a:t>
            </a:r>
          </a:p>
          <a:p>
            <a:pPr>
              <a:spcAft>
                <a:spcPts val="400"/>
              </a:spcAft>
              <a:defRPr sz="1000">
                <a:solidFill>
                  <a:srgbClr val="252D36"/>
                </a:solidFill>
                <a:latin typeface="Poppins"/>
              </a:defRPr>
            </a:pPr>
            <a:r>
              <a:t>•  HA / DR e SLA</a:t>
            </a:r>
          </a:p>
          <a:p>
            <a:pPr>
              <a:spcAft>
                <a:spcPts val="400"/>
              </a:spcAft>
              <a:defRPr sz="1000">
                <a:solidFill>
                  <a:srgbClr val="252D36"/>
                </a:solidFill>
                <a:latin typeface="Poppins"/>
              </a:defRPr>
            </a:pPr>
            <a:r>
              <a:t>•  Volumi, crescita e IOPS</a:t>
            </a:r>
          </a:p>
          <a:p>
            <a:pPr>
              <a:spcAft>
                <a:spcPts val="400"/>
              </a:spcAft>
              <a:defRPr sz="1000">
                <a:solidFill>
                  <a:srgbClr val="252D36"/>
                </a:solidFill>
                <a:latin typeface="Poppins"/>
              </a:defRPr>
            </a:pPr>
            <a:r>
              <a:t>•  Licenze e contratti</a:t>
            </a:r>
          </a:p>
        </p:txBody>
      </p:sp>
      <p:sp>
        <p:nvSpPr>
          <p:cNvPr id="20" name="Rounded Rectangle 19"/>
          <p:cNvSpPr/>
          <p:nvPr/>
        </p:nvSpPr>
        <p:spPr>
          <a:xfrm>
            <a:off x="396000" y="4770000"/>
            <a:ext cx="11232000" cy="64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8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Una tantum  € 25k–64k</a:t>
            </a:r>
          </a:p>
        </p:txBody>
      </p:sp>
      <p:sp>
        <p:nvSpPr>
          <p:cNvPr id="22" name="TextBox 21"/>
          <p:cNvSpPr txBox="1"/>
          <p:nvPr/>
        </p:nvSpPr>
        <p:spPr>
          <a:xfrm>
            <a:off x="4266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Mensile  € 0,9k–3,2k</a:t>
            </a:r>
          </a:p>
        </p:txBody>
      </p:sp>
      <p:sp>
        <p:nvSpPr>
          <p:cNvPr id="23" name="TextBox 22"/>
          <p:cNvSpPr txBox="1"/>
          <p:nvPr/>
        </p:nvSpPr>
        <p:spPr>
          <a:xfrm>
            <a:off x="7973999" y="4914000"/>
            <a:ext cx="3456000" cy="125999"/>
          </a:xfrm>
          <a:prstGeom prst="rect">
            <a:avLst/>
          </a:prstGeom>
          <a:noFill/>
        </p:spPr>
        <p:txBody>
          <a:bodyPr wrap="square" lIns="14400" rIns="14400" tIns="14400" bIns="14400" anchor="t">
            <a:spAutoFit/>
          </a:bodyPr>
          <a:lstStyle/>
          <a:p>
            <a:pPr algn="ctr"/>
            <a:r>
              <a:rPr sz="1100" b="1">
                <a:solidFill>
                  <a:srgbClr val="007A82"/>
                </a:solidFill>
                <a:latin typeface="Poppins"/>
              </a:rPr>
              <a:t>TCO 3 anni  € 57k–179k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SCENARIO 06</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Replica su Azure Guber — struttura del range economico</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Componenti indicative da ricalcolare dopo assessment e sizing.</a:t>
            </a:r>
          </a:p>
        </p:txBody>
      </p:sp>
      <p:sp>
        <p:nvSpPr>
          <p:cNvPr id="8" name="Rounded Rectangle 7"/>
          <p:cNvSpPr/>
          <p:nvPr/>
        </p:nvSpPr>
        <p:spPr>
          <a:xfrm>
            <a:off x="396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6000" y="1260000"/>
            <a:ext cx="3528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UNA TANTUM</a:t>
            </a:r>
          </a:p>
        </p:txBody>
      </p:sp>
      <p:sp>
        <p:nvSpPr>
          <p:cNvPr id="11" name="TextBox 10"/>
          <p:cNvSpPr txBox="1"/>
          <p:nvPr/>
        </p:nvSpPr>
        <p:spPr>
          <a:xfrm>
            <a:off x="486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Assessment replica</a:t>
            </a:r>
          </a:p>
          <a:p>
            <a:pPr>
              <a:spcAft>
                <a:spcPts val="400"/>
              </a:spcAft>
              <a:defRPr sz="1000">
                <a:solidFill>
                  <a:srgbClr val="252D36"/>
                </a:solidFill>
                <a:latin typeface="Poppins"/>
              </a:defRPr>
            </a:pPr>
            <a:r>
              <a:t>•  Subscription e rete</a:t>
            </a:r>
          </a:p>
          <a:p>
            <a:pPr>
              <a:spcAft>
                <a:spcPts val="400"/>
              </a:spcAft>
              <a:defRPr sz="1000">
                <a:solidFill>
                  <a:srgbClr val="252D36"/>
                </a:solidFill>
                <a:latin typeface="Poppins"/>
              </a:defRPr>
            </a:pPr>
            <a:r>
              <a:t>•  Setup e riconciliazione</a:t>
            </a:r>
          </a:p>
          <a:p>
            <a:pPr>
              <a:spcAft>
                <a:spcPts val="400"/>
              </a:spcAft>
              <a:defRPr sz="1000">
                <a:solidFill>
                  <a:srgbClr val="252D36"/>
                </a:solidFill>
                <a:latin typeface="Poppins"/>
              </a:defRPr>
            </a:pPr>
            <a:r>
              <a:t>•  Accessi e monitoring</a:t>
            </a:r>
          </a:p>
        </p:txBody>
      </p:sp>
      <p:sp>
        <p:nvSpPr>
          <p:cNvPr id="12" name="Rounded Rectangle 11"/>
          <p:cNvSpPr/>
          <p:nvPr/>
        </p:nvSpPr>
        <p:spPr>
          <a:xfrm>
            <a:off x="4248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48000" y="1260000"/>
            <a:ext cx="3528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0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RICORRENTE</a:t>
            </a:r>
          </a:p>
        </p:txBody>
      </p:sp>
      <p:sp>
        <p:nvSpPr>
          <p:cNvPr id="15" name="TextBox 14"/>
          <p:cNvSpPr txBox="1"/>
          <p:nvPr/>
        </p:nvSpPr>
        <p:spPr>
          <a:xfrm>
            <a:off x="4338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Database replica</a:t>
            </a:r>
          </a:p>
          <a:p>
            <a:pPr>
              <a:spcAft>
                <a:spcPts val="400"/>
              </a:spcAft>
              <a:defRPr sz="1000">
                <a:solidFill>
                  <a:srgbClr val="252D36"/>
                </a:solidFill>
                <a:latin typeface="Poppins"/>
              </a:defRPr>
            </a:pPr>
            <a:r>
              <a:t>•  Storage e backup</a:t>
            </a:r>
          </a:p>
          <a:p>
            <a:pPr>
              <a:spcAft>
                <a:spcPts val="400"/>
              </a:spcAft>
              <a:defRPr sz="1000">
                <a:solidFill>
                  <a:srgbClr val="252D36"/>
                </a:solidFill>
                <a:latin typeface="Poppins"/>
              </a:defRPr>
            </a:pPr>
            <a:r>
              <a:t>•  Monitor e audit</a:t>
            </a:r>
          </a:p>
          <a:p>
            <a:pPr>
              <a:spcAft>
                <a:spcPts val="400"/>
              </a:spcAft>
              <a:defRPr sz="1000">
                <a:solidFill>
                  <a:srgbClr val="252D36"/>
                </a:solidFill>
                <a:latin typeface="Poppins"/>
              </a:defRPr>
            </a:pPr>
            <a:r>
              <a:t>•  Rete / egress</a:t>
            </a:r>
          </a:p>
        </p:txBody>
      </p:sp>
      <p:sp>
        <p:nvSpPr>
          <p:cNvPr id="16" name="Rounded Rectangle 15"/>
          <p:cNvSpPr/>
          <p:nvPr/>
        </p:nvSpPr>
        <p:spPr>
          <a:xfrm>
            <a:off x="8100000" y="1260000"/>
            <a:ext cx="3528000" cy="3131999"/>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0000" y="1260000"/>
            <a:ext cx="3528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2000" y="1299600"/>
            <a:ext cx="3384000" cy="100800"/>
          </a:xfrm>
          <a:prstGeom prst="rect">
            <a:avLst/>
          </a:prstGeom>
          <a:noFill/>
        </p:spPr>
        <p:txBody>
          <a:bodyPr wrap="square" lIns="14400" rIns="14400" tIns="14400" bIns="14400" anchor="t">
            <a:spAutoFit/>
          </a:bodyPr>
          <a:lstStyle/>
          <a:p>
            <a:pPr algn="l"/>
            <a:r>
              <a:rPr sz="850" b="1">
                <a:solidFill>
                  <a:srgbClr val="FFFFFF"/>
                </a:solidFill>
                <a:latin typeface="Poppins"/>
              </a:rPr>
              <a:t>SENSIBILITÀ</a:t>
            </a:r>
          </a:p>
        </p:txBody>
      </p:sp>
      <p:sp>
        <p:nvSpPr>
          <p:cNvPr id="19" name="TextBox 18"/>
          <p:cNvSpPr txBox="1"/>
          <p:nvPr/>
        </p:nvSpPr>
        <p:spPr>
          <a:xfrm>
            <a:off x="8190000" y="1540800"/>
            <a:ext cx="3348000" cy="2789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Motore e compatibilità</a:t>
            </a:r>
          </a:p>
          <a:p>
            <a:pPr>
              <a:spcAft>
                <a:spcPts val="400"/>
              </a:spcAft>
              <a:defRPr sz="1000">
                <a:solidFill>
                  <a:srgbClr val="252D36"/>
                </a:solidFill>
                <a:latin typeface="Poppins"/>
              </a:defRPr>
            </a:pPr>
            <a:r>
              <a:t>•  HA / DR e SLA</a:t>
            </a:r>
          </a:p>
          <a:p>
            <a:pPr>
              <a:spcAft>
                <a:spcPts val="400"/>
              </a:spcAft>
              <a:defRPr sz="1000">
                <a:solidFill>
                  <a:srgbClr val="252D36"/>
                </a:solidFill>
                <a:latin typeface="Poppins"/>
              </a:defRPr>
            </a:pPr>
            <a:r>
              <a:t>•  Volumi, crescita e IOPS</a:t>
            </a:r>
          </a:p>
          <a:p>
            <a:pPr>
              <a:spcAft>
                <a:spcPts val="400"/>
              </a:spcAft>
              <a:defRPr sz="1000">
                <a:solidFill>
                  <a:srgbClr val="252D36"/>
                </a:solidFill>
                <a:latin typeface="Poppins"/>
              </a:defRPr>
            </a:pPr>
            <a:r>
              <a:t>•  Licenze e contratti</a:t>
            </a:r>
          </a:p>
        </p:txBody>
      </p:sp>
      <p:sp>
        <p:nvSpPr>
          <p:cNvPr id="20" name="Rounded Rectangle 19"/>
          <p:cNvSpPr/>
          <p:nvPr/>
        </p:nvSpPr>
        <p:spPr>
          <a:xfrm>
            <a:off x="396000" y="4770000"/>
            <a:ext cx="11232000" cy="64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8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Una tantum  € 25k–64k</a:t>
            </a:r>
          </a:p>
        </p:txBody>
      </p:sp>
      <p:sp>
        <p:nvSpPr>
          <p:cNvPr id="22" name="TextBox 21"/>
          <p:cNvSpPr txBox="1"/>
          <p:nvPr/>
        </p:nvSpPr>
        <p:spPr>
          <a:xfrm>
            <a:off x="4266000" y="4914000"/>
            <a:ext cx="3456000" cy="125999"/>
          </a:xfrm>
          <a:prstGeom prst="rect">
            <a:avLst/>
          </a:prstGeom>
          <a:noFill/>
        </p:spPr>
        <p:txBody>
          <a:bodyPr wrap="square" lIns="14400" rIns="14400" tIns="14400" bIns="14400" anchor="t">
            <a:spAutoFit/>
          </a:bodyPr>
          <a:lstStyle/>
          <a:p>
            <a:pPr algn="ctr"/>
            <a:r>
              <a:rPr sz="1100" b="1">
                <a:solidFill>
                  <a:srgbClr val="004481"/>
                </a:solidFill>
                <a:latin typeface="Poppins"/>
              </a:rPr>
              <a:t>Mensile  € 0,9k–3,2k</a:t>
            </a:r>
          </a:p>
        </p:txBody>
      </p:sp>
      <p:sp>
        <p:nvSpPr>
          <p:cNvPr id="23" name="TextBox 22"/>
          <p:cNvSpPr txBox="1"/>
          <p:nvPr/>
        </p:nvSpPr>
        <p:spPr>
          <a:xfrm>
            <a:off x="7973999" y="4914000"/>
            <a:ext cx="3456000" cy="125999"/>
          </a:xfrm>
          <a:prstGeom prst="rect">
            <a:avLst/>
          </a:prstGeom>
          <a:noFill/>
        </p:spPr>
        <p:txBody>
          <a:bodyPr wrap="square" lIns="14400" rIns="14400" tIns="14400" bIns="14400" anchor="t">
            <a:spAutoFit/>
          </a:bodyPr>
          <a:lstStyle/>
          <a:p>
            <a:pPr algn="ctr"/>
            <a:r>
              <a:rPr sz="1100" b="1">
                <a:solidFill>
                  <a:srgbClr val="007A82"/>
                </a:solidFill>
                <a:latin typeface="Poppins"/>
              </a:rPr>
              <a:t>TCO 3 anni  € 57k–179k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SICUREZZA</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Account, chiavi e run possono avere ownership differenti</a:t>
            </a:r>
          </a:p>
        </p:txBody>
      </p:sp>
      <p:sp>
        <p:nvSpPr>
          <p:cNvPr id="7" name="Rounded Rectangle 6"/>
          <p:cNvSpPr/>
          <p:nvPr/>
        </p:nvSpPr>
        <p:spPr>
          <a:xfrm>
            <a:off x="432000" y="1548000"/>
            <a:ext cx="2520000" cy="1944000"/>
          </a:xfrm>
          <a:prstGeom prst="roundRect">
            <a:avLst/>
          </a:prstGeom>
          <a:solidFill>
            <a:srgbClr val="FFFFFF"/>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2000" y="1548000"/>
            <a:ext cx="2520000" cy="2340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999" y="1962000"/>
            <a:ext cx="2268000" cy="360000"/>
          </a:xfrm>
          <a:prstGeom prst="rect">
            <a:avLst/>
          </a:prstGeom>
          <a:noFill/>
        </p:spPr>
        <p:txBody>
          <a:bodyPr wrap="square" lIns="14400" rIns="14400" tIns="14400" bIns="14400" anchor="t">
            <a:spAutoFit/>
          </a:bodyPr>
          <a:lstStyle/>
          <a:p>
            <a:pPr algn="ctr"/>
            <a:r>
              <a:rPr sz="900" b="1">
                <a:solidFill>
                  <a:srgbClr val="67737E"/>
                </a:solidFill>
                <a:latin typeface="Poppins"/>
              </a:rPr>
              <a:t>ACCOUNT E INFRASTRUTTURA</a:t>
            </a:r>
          </a:p>
        </p:txBody>
      </p:sp>
      <p:sp>
        <p:nvSpPr>
          <p:cNvPr id="10" name="TextBox 9"/>
          <p:cNvSpPr txBox="1"/>
          <p:nvPr/>
        </p:nvSpPr>
        <p:spPr>
          <a:xfrm>
            <a:off x="594000" y="2556000"/>
            <a:ext cx="2196000" cy="396000"/>
          </a:xfrm>
          <a:prstGeom prst="rect">
            <a:avLst/>
          </a:prstGeom>
          <a:noFill/>
        </p:spPr>
        <p:txBody>
          <a:bodyPr wrap="square" lIns="14400" rIns="14400" tIns="14400" bIns="14400" anchor="t">
            <a:spAutoFit/>
          </a:bodyPr>
          <a:lstStyle/>
          <a:p>
            <a:pPr algn="ctr"/>
            <a:r>
              <a:rPr sz="1400" b="1">
                <a:solidFill>
                  <a:srgbClr val="004481"/>
                </a:solidFill>
                <a:latin typeface="Poppins"/>
              </a:rPr>
              <a:t>Guber</a:t>
            </a:r>
          </a:p>
        </p:txBody>
      </p:sp>
      <p:sp>
        <p:nvSpPr>
          <p:cNvPr id="11" name="Rounded Rectangle 10"/>
          <p:cNvSpPr/>
          <p:nvPr/>
        </p:nvSpPr>
        <p:spPr>
          <a:xfrm>
            <a:off x="3276000" y="1548000"/>
            <a:ext cx="2520000" cy="1944000"/>
          </a:xfrm>
          <a:prstGeom prst="roundRect">
            <a:avLst/>
          </a:prstGeom>
          <a:solidFill>
            <a:srgbClr val="FFFFFF"/>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76000" y="1548000"/>
            <a:ext cx="2520000" cy="2340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999" y="1962000"/>
            <a:ext cx="2268000" cy="360000"/>
          </a:xfrm>
          <a:prstGeom prst="rect">
            <a:avLst/>
          </a:prstGeom>
          <a:noFill/>
        </p:spPr>
        <p:txBody>
          <a:bodyPr wrap="square" lIns="14400" rIns="14400" tIns="14400" bIns="14400" anchor="t">
            <a:spAutoFit/>
          </a:bodyPr>
          <a:lstStyle/>
          <a:p>
            <a:pPr algn="ctr"/>
            <a:r>
              <a:rPr sz="900" b="1">
                <a:solidFill>
                  <a:srgbClr val="67737E"/>
                </a:solidFill>
                <a:latin typeface="Poppins"/>
              </a:rPr>
              <a:t>CHIAVI E POLICY</a:t>
            </a:r>
          </a:p>
        </p:txBody>
      </p:sp>
      <p:sp>
        <p:nvSpPr>
          <p:cNvPr id="14" name="TextBox 13"/>
          <p:cNvSpPr txBox="1"/>
          <p:nvPr/>
        </p:nvSpPr>
        <p:spPr>
          <a:xfrm>
            <a:off x="3437999" y="2556000"/>
            <a:ext cx="2196000" cy="396000"/>
          </a:xfrm>
          <a:prstGeom prst="rect">
            <a:avLst/>
          </a:prstGeom>
          <a:noFill/>
        </p:spPr>
        <p:txBody>
          <a:bodyPr wrap="square" lIns="14400" rIns="14400" tIns="14400" bIns="14400" anchor="t">
            <a:spAutoFit/>
          </a:bodyPr>
          <a:lstStyle/>
          <a:p>
            <a:pPr algn="ctr"/>
            <a:r>
              <a:rPr sz="1400" b="1">
                <a:solidFill>
                  <a:srgbClr val="004481"/>
                </a:solidFill>
                <a:latin typeface="Poppins"/>
              </a:rPr>
              <a:t>Guber / doppio controllo</a:t>
            </a:r>
          </a:p>
        </p:txBody>
      </p:sp>
      <p:sp>
        <p:nvSpPr>
          <p:cNvPr id="15" name="Rounded Rectangle 14"/>
          <p:cNvSpPr/>
          <p:nvPr/>
        </p:nvSpPr>
        <p:spPr>
          <a:xfrm>
            <a:off x="6120000" y="1548000"/>
            <a:ext cx="2520000" cy="1944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0000" y="1548000"/>
            <a:ext cx="2520000" cy="2340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6000" y="1962000"/>
            <a:ext cx="2268000" cy="360000"/>
          </a:xfrm>
          <a:prstGeom prst="rect">
            <a:avLst/>
          </a:prstGeom>
          <a:noFill/>
        </p:spPr>
        <p:txBody>
          <a:bodyPr wrap="square" lIns="14400" rIns="14400" tIns="14400" bIns="14400" anchor="t">
            <a:spAutoFit/>
          </a:bodyPr>
          <a:lstStyle/>
          <a:p>
            <a:pPr algn="ctr"/>
            <a:r>
              <a:rPr sz="900" b="1">
                <a:solidFill>
                  <a:srgbClr val="67737E"/>
                </a:solidFill>
                <a:latin typeface="Poppins"/>
              </a:rPr>
              <a:t>RUN OPERATIVO</a:t>
            </a:r>
          </a:p>
        </p:txBody>
      </p:sp>
      <p:sp>
        <p:nvSpPr>
          <p:cNvPr id="18" name="TextBox 17"/>
          <p:cNvSpPr txBox="1"/>
          <p:nvPr/>
        </p:nvSpPr>
        <p:spPr>
          <a:xfrm>
            <a:off x="6282000" y="2556000"/>
            <a:ext cx="2196000" cy="396000"/>
          </a:xfrm>
          <a:prstGeom prst="rect">
            <a:avLst/>
          </a:prstGeom>
          <a:noFill/>
        </p:spPr>
        <p:txBody>
          <a:bodyPr wrap="square" lIns="14400" rIns="14400" tIns="14400" bIns="14400" anchor="t">
            <a:spAutoFit/>
          </a:bodyPr>
          <a:lstStyle/>
          <a:p>
            <a:pPr algn="ctr"/>
            <a:r>
              <a:rPr sz="1400" b="1">
                <a:solidFill>
                  <a:srgbClr val="004481"/>
                </a:solidFill>
                <a:latin typeface="Poppins"/>
              </a:rPr>
              <a:t>Novigo oppure Guber / terzo</a:t>
            </a:r>
          </a:p>
        </p:txBody>
      </p:sp>
      <p:sp>
        <p:nvSpPr>
          <p:cNvPr id="19" name="Rounded Rectangle 18"/>
          <p:cNvSpPr/>
          <p:nvPr/>
        </p:nvSpPr>
        <p:spPr>
          <a:xfrm>
            <a:off x="8964000" y="1548000"/>
            <a:ext cx="2520000" cy="1944000"/>
          </a:xfrm>
          <a:prstGeom prst="roundRect">
            <a:avLst/>
          </a:prstGeom>
          <a:solidFill>
            <a:srgbClr val="FFFFFF"/>
          </a:solidFill>
          <a:ln w="10160">
            <a:solidFill>
              <a:srgbClr val="007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4000" y="1548000"/>
            <a:ext cx="2520000" cy="234000"/>
          </a:xfrm>
          <a:prstGeom prst="rect">
            <a:avLst/>
          </a:prstGeom>
          <a:solidFill>
            <a:srgbClr val="007A82"/>
          </a:solidFill>
          <a:ln w="10160">
            <a:solidFill>
              <a:srgbClr val="007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0000" y="1962000"/>
            <a:ext cx="2268000" cy="360000"/>
          </a:xfrm>
          <a:prstGeom prst="rect">
            <a:avLst/>
          </a:prstGeom>
          <a:noFill/>
        </p:spPr>
        <p:txBody>
          <a:bodyPr wrap="square" lIns="14400" rIns="14400" tIns="14400" bIns="14400" anchor="t">
            <a:spAutoFit/>
          </a:bodyPr>
          <a:lstStyle/>
          <a:p>
            <a:pPr algn="ctr"/>
            <a:r>
              <a:rPr sz="900" b="1">
                <a:solidFill>
                  <a:srgbClr val="67737E"/>
                </a:solidFill>
                <a:latin typeface="Poppins"/>
              </a:rPr>
              <a:t>AUDIT E GOVERNANCE</a:t>
            </a:r>
          </a:p>
        </p:txBody>
      </p:sp>
      <p:sp>
        <p:nvSpPr>
          <p:cNvPr id="22" name="TextBox 21"/>
          <p:cNvSpPr txBox="1"/>
          <p:nvPr/>
        </p:nvSpPr>
        <p:spPr>
          <a:xfrm>
            <a:off x="9126000" y="2556000"/>
            <a:ext cx="2196000" cy="396000"/>
          </a:xfrm>
          <a:prstGeom prst="rect">
            <a:avLst/>
          </a:prstGeom>
          <a:noFill/>
        </p:spPr>
        <p:txBody>
          <a:bodyPr wrap="square" lIns="14400" rIns="14400" tIns="14400" bIns="14400" anchor="t">
            <a:spAutoFit/>
          </a:bodyPr>
          <a:lstStyle/>
          <a:p>
            <a:pPr algn="ctr"/>
            <a:r>
              <a:rPr sz="1400" b="1">
                <a:solidFill>
                  <a:srgbClr val="004481"/>
                </a:solidFill>
                <a:latin typeface="Poppins"/>
              </a:rPr>
              <a:t>Guber</a:t>
            </a:r>
          </a:p>
        </p:txBody>
      </p:sp>
      <p:sp>
        <p:nvSpPr>
          <p:cNvPr id="23" name="Rounded Rectangle 22"/>
          <p:cNvSpPr/>
          <p:nvPr/>
        </p:nvSpPr>
        <p:spPr>
          <a:xfrm>
            <a:off x="432000" y="4031999"/>
            <a:ext cx="11052000" cy="118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2000" y="4031999"/>
            <a:ext cx="11052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3999" y="4071599"/>
            <a:ext cx="10908000" cy="100800"/>
          </a:xfrm>
          <a:prstGeom prst="rect">
            <a:avLst/>
          </a:prstGeom>
          <a:noFill/>
        </p:spPr>
        <p:txBody>
          <a:bodyPr wrap="square" lIns="14400" rIns="14400" tIns="14400" bIns="14400" anchor="t">
            <a:spAutoFit/>
          </a:bodyPr>
          <a:lstStyle/>
          <a:p>
            <a:pPr algn="l"/>
            <a:r>
              <a:rPr sz="850" b="1">
                <a:solidFill>
                  <a:srgbClr val="FFFFFF"/>
                </a:solidFill>
                <a:latin typeface="Poppins"/>
              </a:rPr>
              <a:t>CONTROLLO MINIMO COMUNE</a:t>
            </a:r>
          </a:p>
        </p:txBody>
      </p:sp>
      <p:sp>
        <p:nvSpPr>
          <p:cNvPr id="26" name="TextBox 25"/>
          <p:cNvSpPr txBox="1"/>
          <p:nvPr/>
        </p:nvSpPr>
        <p:spPr>
          <a:xfrm>
            <a:off x="522000" y="4312799"/>
            <a:ext cx="10872000" cy="845999"/>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TLS e cifratura a riposo · accesso privato · MFA e federation · logging e SIEM · backup protetti · rotazione e revoca delle chiavi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STORAGE</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La tecnologia di storage dipende dal requisito, non dal nome del provider</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Prima di scegliere S3 va chiarito se il requisito è AWS-specifico o genericamente object storage.</a:t>
            </a:r>
          </a:p>
        </p:txBody>
      </p:sp>
      <p:sp>
        <p:nvSpPr>
          <p:cNvPr id="8" name="Rounded Rectangle 7"/>
          <p:cNvSpPr/>
          <p:nvPr/>
        </p:nvSpPr>
        <p:spPr>
          <a:xfrm>
            <a:off x="396000" y="1475999"/>
            <a:ext cx="3384000" cy="266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6000" y="1475999"/>
            <a:ext cx="3384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000" y="1515600"/>
            <a:ext cx="3240000" cy="100800"/>
          </a:xfrm>
          <a:prstGeom prst="rect">
            <a:avLst/>
          </a:prstGeom>
          <a:noFill/>
        </p:spPr>
        <p:txBody>
          <a:bodyPr wrap="square" lIns="14400" rIns="14400" tIns="14400" bIns="14400" anchor="t">
            <a:spAutoFit/>
          </a:bodyPr>
          <a:lstStyle/>
          <a:p>
            <a:pPr algn="l"/>
            <a:r>
              <a:rPr sz="850" b="1">
                <a:solidFill>
                  <a:srgbClr val="FFFFFF"/>
                </a:solidFill>
                <a:latin typeface="Poppins"/>
              </a:rPr>
              <a:t>AWS S3</a:t>
            </a:r>
          </a:p>
        </p:txBody>
      </p:sp>
      <p:sp>
        <p:nvSpPr>
          <p:cNvPr id="11" name="TextBox 10"/>
          <p:cNvSpPr txBox="1"/>
          <p:nvPr/>
        </p:nvSpPr>
        <p:spPr>
          <a:xfrm>
            <a:off x="486000" y="1756800"/>
            <a:ext cx="3204000" cy="2322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Coerenza con AWS</a:t>
            </a:r>
          </a:p>
          <a:p>
            <a:pPr>
              <a:spcAft>
                <a:spcPts val="400"/>
              </a:spcAft>
              <a:defRPr sz="1000">
                <a:solidFill>
                  <a:srgbClr val="252D36"/>
                </a:solidFill>
                <a:latin typeface="Poppins"/>
              </a:defRPr>
            </a:pPr>
            <a:r>
              <a:t>•  Lifecycle e versioning</a:t>
            </a:r>
          </a:p>
          <a:p>
            <a:pPr>
              <a:spcAft>
                <a:spcPts val="400"/>
              </a:spcAft>
              <a:defRPr sz="1000">
                <a:solidFill>
                  <a:srgbClr val="252D36"/>
                </a:solidFill>
                <a:latin typeface="Poppins"/>
              </a:defRPr>
            </a:pPr>
            <a:r>
              <a:t>•  Valutare egress e KMS</a:t>
            </a:r>
          </a:p>
        </p:txBody>
      </p:sp>
      <p:sp>
        <p:nvSpPr>
          <p:cNvPr id="12" name="Rounded Rectangle 11"/>
          <p:cNvSpPr/>
          <p:nvPr/>
        </p:nvSpPr>
        <p:spPr>
          <a:xfrm>
            <a:off x="4176000" y="1475999"/>
            <a:ext cx="3384000" cy="266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76000" y="1475999"/>
            <a:ext cx="3384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48000" y="1515600"/>
            <a:ext cx="3240000" cy="100800"/>
          </a:xfrm>
          <a:prstGeom prst="rect">
            <a:avLst/>
          </a:prstGeom>
          <a:noFill/>
        </p:spPr>
        <p:txBody>
          <a:bodyPr wrap="square" lIns="14400" rIns="14400" tIns="14400" bIns="14400" anchor="t">
            <a:spAutoFit/>
          </a:bodyPr>
          <a:lstStyle/>
          <a:p>
            <a:pPr algn="l"/>
            <a:r>
              <a:rPr sz="850" b="1">
                <a:solidFill>
                  <a:srgbClr val="FFFFFF"/>
                </a:solidFill>
                <a:latin typeface="Poppins"/>
              </a:rPr>
              <a:t>AZURE STORAGE</a:t>
            </a:r>
          </a:p>
        </p:txBody>
      </p:sp>
      <p:sp>
        <p:nvSpPr>
          <p:cNvPr id="15" name="TextBox 14"/>
          <p:cNvSpPr txBox="1"/>
          <p:nvPr/>
        </p:nvSpPr>
        <p:spPr>
          <a:xfrm>
            <a:off x="4266000" y="1756800"/>
            <a:ext cx="3204000" cy="2322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Coerenza con Azure</a:t>
            </a:r>
          </a:p>
          <a:p>
            <a:pPr>
              <a:spcAft>
                <a:spcPts val="400"/>
              </a:spcAft>
              <a:defRPr sz="1000">
                <a:solidFill>
                  <a:srgbClr val="252D36"/>
                </a:solidFill>
                <a:latin typeface="Poppins"/>
              </a:defRPr>
            </a:pPr>
            <a:r>
              <a:t>•  Identity e policy</a:t>
            </a:r>
          </a:p>
          <a:p>
            <a:pPr>
              <a:spcAft>
                <a:spcPts val="400"/>
              </a:spcAft>
              <a:defRPr sz="1000">
                <a:solidFill>
                  <a:srgbClr val="252D36"/>
                </a:solidFill>
                <a:latin typeface="Poppins"/>
              </a:defRPr>
            </a:pPr>
            <a:r>
              <a:t>•  Valutare tier e rete</a:t>
            </a:r>
          </a:p>
        </p:txBody>
      </p:sp>
      <p:sp>
        <p:nvSpPr>
          <p:cNvPr id="16" name="Rounded Rectangle 15"/>
          <p:cNvSpPr/>
          <p:nvPr/>
        </p:nvSpPr>
        <p:spPr>
          <a:xfrm>
            <a:off x="7956000" y="1475999"/>
            <a:ext cx="3384000" cy="266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6000" y="1475999"/>
            <a:ext cx="3384000" cy="1872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8000" y="1515600"/>
            <a:ext cx="3240000" cy="100800"/>
          </a:xfrm>
          <a:prstGeom prst="rect">
            <a:avLst/>
          </a:prstGeom>
          <a:noFill/>
        </p:spPr>
        <p:txBody>
          <a:bodyPr wrap="square" lIns="14400" rIns="14400" tIns="14400" bIns="14400" anchor="t">
            <a:spAutoFit/>
          </a:bodyPr>
          <a:lstStyle/>
          <a:p>
            <a:pPr algn="l"/>
            <a:r>
              <a:rPr sz="850" b="1">
                <a:solidFill>
                  <a:srgbClr val="FFFFFF"/>
                </a:solidFill>
                <a:latin typeface="Poppins"/>
              </a:rPr>
              <a:t>OBJECT STORAGE ON-PREMISE</a:t>
            </a:r>
          </a:p>
        </p:txBody>
      </p:sp>
      <p:sp>
        <p:nvSpPr>
          <p:cNvPr id="19" name="TextBox 18"/>
          <p:cNvSpPr txBox="1"/>
          <p:nvPr/>
        </p:nvSpPr>
        <p:spPr>
          <a:xfrm>
            <a:off x="8046000" y="1756800"/>
            <a:ext cx="3204000" cy="2322000"/>
          </a:xfrm>
          <a:prstGeom prst="rect">
            <a:avLst/>
          </a:prstGeom>
          <a:noFill/>
        </p:spPr>
        <p:txBody>
          <a:bodyPr wrap="square" lIns="18000" rIns="18000" tIns="10800" bIns="10800">
            <a:spAutoFit/>
          </a:bodyPr>
          <a:lstStyle/>
          <a:p>
            <a:pPr>
              <a:spcAft>
                <a:spcPts val="400"/>
              </a:spcAft>
              <a:defRPr sz="1000">
                <a:solidFill>
                  <a:srgbClr val="252D36"/>
                </a:solidFill>
                <a:latin typeface="Poppins"/>
              </a:defRPr>
            </a:pPr>
            <a:r>
              <a:t>•  Controllo locale</a:t>
            </a:r>
          </a:p>
          <a:p>
            <a:pPr>
              <a:spcAft>
                <a:spcPts val="400"/>
              </a:spcAft>
              <a:defRPr sz="1000">
                <a:solidFill>
                  <a:srgbClr val="252D36"/>
                </a:solidFill>
                <a:latin typeface="Poppins"/>
              </a:defRPr>
            </a:pPr>
            <a:r>
              <a:t>•  Capacity e operations</a:t>
            </a:r>
          </a:p>
          <a:p>
            <a:pPr>
              <a:spcAft>
                <a:spcPts val="400"/>
              </a:spcAft>
              <a:defRPr sz="1000">
                <a:solidFill>
                  <a:srgbClr val="252D36"/>
                </a:solidFill>
                <a:latin typeface="Poppins"/>
              </a:defRPr>
            </a:pPr>
            <a:r>
              <a:t>•  Durabilità da progettare</a:t>
            </a:r>
          </a:p>
        </p:txBody>
      </p:sp>
      <p:sp>
        <p:nvSpPr>
          <p:cNvPr id="20" name="Rounded Rectangle 19"/>
          <p:cNvSpPr/>
          <p:nvPr/>
        </p:nvSpPr>
        <p:spPr>
          <a:xfrm>
            <a:off x="396000" y="4572000"/>
            <a:ext cx="10944000" cy="720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0000" y="4716000"/>
            <a:ext cx="10656000" cy="306000"/>
          </a:xfrm>
          <a:prstGeom prst="rect">
            <a:avLst/>
          </a:prstGeom>
          <a:noFill/>
        </p:spPr>
        <p:txBody>
          <a:bodyPr wrap="square" lIns="14400" rIns="14400" tIns="14400" bIns="14400" anchor="t">
            <a:spAutoFit/>
          </a:bodyPr>
          <a:lstStyle/>
          <a:p>
            <a:pPr algn="ctr"/>
            <a:r>
              <a:rPr sz="1050" b="1">
                <a:solidFill>
                  <a:srgbClr val="007A82"/>
                </a:solidFill>
                <a:latin typeface="Poppins"/>
              </a:rPr>
              <a:t>Criteri comuni: volume e crescita · access pattern · retention · immutabilità · cifratura · data residency · costo di trasferimento.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ORCHESTRATORE</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Separare database e orchestratore rende la rete parte dell'architettura</a:t>
            </a:r>
          </a:p>
        </p:txBody>
      </p:sp>
      <p:sp>
        <p:nvSpPr>
          <p:cNvPr id="7" name="Rounded Rectangle 6"/>
          <p:cNvSpPr/>
          <p:nvPr/>
        </p:nvSpPr>
        <p:spPr>
          <a:xfrm>
            <a:off x="360000" y="1368000"/>
            <a:ext cx="3456000" cy="2916000"/>
          </a:xfrm>
          <a:prstGeom prst="roundRect">
            <a:avLst/>
          </a:prstGeom>
          <a:solidFill>
            <a:srgbClr val="FFFFFF"/>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0000" y="1368000"/>
            <a:ext cx="3456000" cy="2340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999" y="1764000"/>
            <a:ext cx="3168000" cy="162000"/>
          </a:xfrm>
          <a:prstGeom prst="rect">
            <a:avLst/>
          </a:prstGeom>
          <a:noFill/>
        </p:spPr>
        <p:txBody>
          <a:bodyPr wrap="square" lIns="14400" rIns="14400" tIns="14400" bIns="14400" anchor="t">
            <a:spAutoFit/>
          </a:bodyPr>
          <a:lstStyle/>
          <a:p>
            <a:pPr algn="ctr"/>
            <a:r>
              <a:rPr sz="1300" b="1">
                <a:solidFill>
                  <a:srgbClr val="004481"/>
                </a:solidFill>
                <a:latin typeface="Poppins"/>
              </a:rPr>
              <a:t>DB-ONLY</a:t>
            </a:r>
          </a:p>
        </p:txBody>
      </p:sp>
      <p:sp>
        <p:nvSpPr>
          <p:cNvPr id="10" name="TextBox 9"/>
          <p:cNvSpPr txBox="1"/>
          <p:nvPr/>
        </p:nvSpPr>
        <p:spPr>
          <a:xfrm>
            <a:off x="576000" y="2196000"/>
            <a:ext cx="3024000" cy="720000"/>
          </a:xfrm>
          <a:prstGeom prst="rect">
            <a:avLst/>
          </a:prstGeom>
          <a:noFill/>
        </p:spPr>
        <p:txBody>
          <a:bodyPr wrap="square" lIns="14400" rIns="14400" tIns="14400" bIns="14400" anchor="t">
            <a:spAutoFit/>
          </a:bodyPr>
          <a:lstStyle/>
          <a:p>
            <a:pPr algn="ctr"/>
            <a:r>
              <a:rPr sz="1000" b="0">
                <a:solidFill>
                  <a:srgbClr val="252D36"/>
                </a:solidFill>
                <a:latin typeface="Poppins"/>
              </a:rPr>
              <a:t>Il database migra o replica; applicazione e orchestratore restano dove sono.</a:t>
            </a:r>
          </a:p>
        </p:txBody>
      </p:sp>
      <p:sp>
        <p:nvSpPr>
          <p:cNvPr id="11" name="Rounded Rectangle 10"/>
          <p:cNvSpPr/>
          <p:nvPr/>
        </p:nvSpPr>
        <p:spPr>
          <a:xfrm>
            <a:off x="612000" y="3240000"/>
            <a:ext cx="1368000" cy="19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200" y="3286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Più rapido</a:t>
            </a:r>
          </a:p>
        </p:txBody>
      </p:sp>
      <p:sp>
        <p:nvSpPr>
          <p:cNvPr id="13" name="Rounded Rectangle 12"/>
          <p:cNvSpPr/>
          <p:nvPr/>
        </p:nvSpPr>
        <p:spPr>
          <a:xfrm>
            <a:off x="2160000" y="3240000"/>
            <a:ext cx="1368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03200" y="3286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Dipendenza WAN</a:t>
            </a:r>
          </a:p>
        </p:txBody>
      </p:sp>
      <p:sp>
        <p:nvSpPr>
          <p:cNvPr id="15" name="Rounded Rectangle 14"/>
          <p:cNvSpPr/>
          <p:nvPr/>
        </p:nvSpPr>
        <p:spPr>
          <a:xfrm>
            <a:off x="4194000" y="1368000"/>
            <a:ext cx="3456000" cy="2916000"/>
          </a:xfrm>
          <a:prstGeom prst="roundRect">
            <a:avLst/>
          </a:prstGeom>
          <a:solidFill>
            <a:srgbClr val="FFFFFF"/>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94000" y="1368000"/>
            <a:ext cx="3456000" cy="2340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38000" y="1764000"/>
            <a:ext cx="3168000" cy="162000"/>
          </a:xfrm>
          <a:prstGeom prst="rect">
            <a:avLst/>
          </a:prstGeom>
          <a:noFill/>
        </p:spPr>
        <p:txBody>
          <a:bodyPr wrap="square" lIns="14400" rIns="14400" tIns="14400" bIns="14400" anchor="t">
            <a:spAutoFit/>
          </a:bodyPr>
          <a:lstStyle/>
          <a:p>
            <a:pPr algn="ctr"/>
            <a:r>
              <a:rPr sz="1300" b="1">
                <a:solidFill>
                  <a:srgbClr val="004481"/>
                </a:solidFill>
                <a:latin typeface="Poppins"/>
              </a:rPr>
              <a:t>PHASED</a:t>
            </a:r>
          </a:p>
        </p:txBody>
      </p:sp>
      <p:sp>
        <p:nvSpPr>
          <p:cNvPr id="18" name="TextBox 17"/>
          <p:cNvSpPr txBox="1"/>
          <p:nvPr/>
        </p:nvSpPr>
        <p:spPr>
          <a:xfrm>
            <a:off x="4410000" y="2196000"/>
            <a:ext cx="3024000" cy="720000"/>
          </a:xfrm>
          <a:prstGeom prst="rect">
            <a:avLst/>
          </a:prstGeom>
          <a:noFill/>
        </p:spPr>
        <p:txBody>
          <a:bodyPr wrap="square" lIns="14400" rIns="14400" tIns="14400" bIns="14400" anchor="t">
            <a:spAutoFit/>
          </a:bodyPr>
          <a:lstStyle/>
          <a:p>
            <a:pPr algn="ctr"/>
            <a:r>
              <a:rPr sz="1000" b="0">
                <a:solidFill>
                  <a:srgbClr val="252D36"/>
                </a:solidFill>
                <a:latin typeface="Poppins"/>
              </a:rPr>
              <a:t>Replica o DB come prima fase; componenti spostati dopo verifica.</a:t>
            </a:r>
          </a:p>
        </p:txBody>
      </p:sp>
      <p:sp>
        <p:nvSpPr>
          <p:cNvPr id="19" name="Rounded Rectangle 18"/>
          <p:cNvSpPr/>
          <p:nvPr/>
        </p:nvSpPr>
        <p:spPr>
          <a:xfrm>
            <a:off x="4446000" y="3240000"/>
            <a:ext cx="1368000" cy="19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200" y="3286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Rischio progressivo</a:t>
            </a:r>
          </a:p>
        </p:txBody>
      </p:sp>
      <p:sp>
        <p:nvSpPr>
          <p:cNvPr id="21" name="Rounded Rectangle 20"/>
          <p:cNvSpPr/>
          <p:nvPr/>
        </p:nvSpPr>
        <p:spPr>
          <a:xfrm>
            <a:off x="5993999" y="3240000"/>
            <a:ext cx="1368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7200" y="3286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Transitorio da governare</a:t>
            </a:r>
          </a:p>
        </p:txBody>
      </p:sp>
      <p:sp>
        <p:nvSpPr>
          <p:cNvPr id="23" name="Rounded Rectangle 22"/>
          <p:cNvSpPr/>
          <p:nvPr/>
        </p:nvSpPr>
        <p:spPr>
          <a:xfrm>
            <a:off x="8028000" y="1368000"/>
            <a:ext cx="3456000" cy="2916000"/>
          </a:xfrm>
          <a:prstGeom prst="roundRect">
            <a:avLst/>
          </a:prstGeom>
          <a:solidFill>
            <a:srgbClr val="FFFFFF"/>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28000" y="1368000"/>
            <a:ext cx="3456000" cy="234000"/>
          </a:xfrm>
          <a:prstGeom prst="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72000" y="1764000"/>
            <a:ext cx="3168000" cy="162000"/>
          </a:xfrm>
          <a:prstGeom prst="rect">
            <a:avLst/>
          </a:prstGeom>
          <a:noFill/>
        </p:spPr>
        <p:txBody>
          <a:bodyPr wrap="square" lIns="14400" rIns="14400" tIns="14400" bIns="14400" anchor="t">
            <a:spAutoFit/>
          </a:bodyPr>
          <a:lstStyle/>
          <a:p>
            <a:pPr algn="ctr"/>
            <a:r>
              <a:rPr sz="1300" b="1">
                <a:solidFill>
                  <a:srgbClr val="004481"/>
                </a:solidFill>
                <a:latin typeface="Poppins"/>
              </a:rPr>
              <a:t>FULL-STACK</a:t>
            </a:r>
          </a:p>
        </p:txBody>
      </p:sp>
      <p:sp>
        <p:nvSpPr>
          <p:cNvPr id="26" name="TextBox 25"/>
          <p:cNvSpPr txBox="1"/>
          <p:nvPr/>
        </p:nvSpPr>
        <p:spPr>
          <a:xfrm>
            <a:off x="8244000" y="2196000"/>
            <a:ext cx="3024000" cy="720000"/>
          </a:xfrm>
          <a:prstGeom prst="rect">
            <a:avLst/>
          </a:prstGeom>
          <a:noFill/>
        </p:spPr>
        <p:txBody>
          <a:bodyPr wrap="square" lIns="14400" rIns="14400" tIns="14400" bIns="14400" anchor="t">
            <a:spAutoFit/>
          </a:bodyPr>
          <a:lstStyle/>
          <a:p>
            <a:pPr algn="ctr"/>
            <a:r>
              <a:rPr sz="1000" b="0">
                <a:solidFill>
                  <a:srgbClr val="252D36"/>
                </a:solidFill>
                <a:latin typeface="Poppins"/>
              </a:rPr>
              <a:t>Applicazione, database e orchestratore migrano insieme.</a:t>
            </a:r>
          </a:p>
        </p:txBody>
      </p:sp>
      <p:sp>
        <p:nvSpPr>
          <p:cNvPr id="27" name="Rounded Rectangle 26"/>
          <p:cNvSpPr/>
          <p:nvPr/>
        </p:nvSpPr>
        <p:spPr>
          <a:xfrm>
            <a:off x="8280000" y="3240000"/>
            <a:ext cx="1368000" cy="19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3200" y="3286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Coerenza target</a:t>
            </a:r>
          </a:p>
        </p:txBody>
      </p:sp>
      <p:sp>
        <p:nvSpPr>
          <p:cNvPr id="29" name="Rounded Rectangle 28"/>
          <p:cNvSpPr/>
          <p:nvPr/>
        </p:nvSpPr>
        <p:spPr>
          <a:xfrm>
            <a:off x="9828000" y="3240000"/>
            <a:ext cx="1368000" cy="198000"/>
          </a:xfrm>
          <a:prstGeom prst="roundRect">
            <a:avLst/>
          </a:prstGeom>
          <a:solidFill>
            <a:srgbClr val="ECF5FC"/>
          </a:solidFill>
          <a:ln w="10160">
            <a:solidFill>
              <a:srgbClr val="EC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1200" y="3286800"/>
            <a:ext cx="1281599" cy="90000"/>
          </a:xfrm>
          <a:prstGeom prst="rect">
            <a:avLst/>
          </a:prstGeom>
          <a:noFill/>
        </p:spPr>
        <p:txBody>
          <a:bodyPr wrap="square" lIns="14400" rIns="14400" tIns="14400" bIns="14400" anchor="t">
            <a:spAutoFit/>
          </a:bodyPr>
          <a:lstStyle/>
          <a:p>
            <a:pPr algn="ctr"/>
            <a:r>
              <a:rPr sz="800" b="1">
                <a:solidFill>
                  <a:srgbClr val="004481"/>
                </a:solidFill>
                <a:latin typeface="Poppins"/>
              </a:rPr>
              <a:t>Scope e cutover maggiori</a:t>
            </a:r>
          </a:p>
        </p:txBody>
      </p:sp>
      <p:sp>
        <p:nvSpPr>
          <p:cNvPr id="31" name="TextBox 30"/>
          <p:cNvSpPr txBox="1"/>
          <p:nvPr/>
        </p:nvSpPr>
        <p:spPr>
          <a:xfrm>
            <a:off x="360000" y="4752000"/>
            <a:ext cx="11160000" cy="288000"/>
          </a:xfrm>
          <a:prstGeom prst="rect">
            <a:avLst/>
          </a:prstGeom>
          <a:noFill/>
        </p:spPr>
        <p:txBody>
          <a:bodyPr wrap="square" lIns="14400" rIns="14400" tIns="14400" bIns="14400" anchor="t">
            <a:spAutoFit/>
          </a:bodyPr>
          <a:lstStyle/>
          <a:p>
            <a:pPr algn="ctr"/>
            <a:r>
              <a:rPr sz="1100" b="1">
                <a:solidFill>
                  <a:srgbClr val="007A82"/>
                </a:solidFill>
                <a:latin typeface="Poppins"/>
              </a:rPr>
              <a:t>Un'architettura DB-only può essere una fase controllata; non deve diventare implicitamente un target fragile.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DEPLOYMENT DB</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PaaS o IaaS è un gate di compatibilità, non un dettaglio implementativo</a:t>
            </a:r>
          </a:p>
        </p:txBody>
      </p:sp>
      <p:sp>
        <p:nvSpPr>
          <p:cNvPr id="7" name="Rounded Rectangle 6"/>
          <p:cNvSpPr/>
          <p:nvPr/>
        </p:nvSpPr>
        <p:spPr>
          <a:xfrm>
            <a:off x="432000" y="1440000"/>
            <a:ext cx="5292000" cy="316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2000" y="1440000"/>
            <a:ext cx="5292000" cy="1872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3999" y="1479600"/>
            <a:ext cx="5148000" cy="100800"/>
          </a:xfrm>
          <a:prstGeom prst="rect">
            <a:avLst/>
          </a:prstGeom>
          <a:noFill/>
        </p:spPr>
        <p:txBody>
          <a:bodyPr wrap="square" lIns="14400" rIns="14400" tIns="14400" bIns="14400" anchor="t">
            <a:spAutoFit/>
          </a:bodyPr>
          <a:lstStyle/>
          <a:p>
            <a:pPr algn="l"/>
            <a:r>
              <a:rPr sz="850" b="1">
                <a:solidFill>
                  <a:srgbClr val="FFFFFF"/>
                </a:solidFill>
                <a:latin typeface="Poppins"/>
              </a:rPr>
              <a:t>SERVIZIO GESTITO · PaaS / RDS</a:t>
            </a:r>
          </a:p>
        </p:txBody>
      </p:sp>
      <p:sp>
        <p:nvSpPr>
          <p:cNvPr id="10" name="TextBox 9"/>
          <p:cNvSpPr txBox="1"/>
          <p:nvPr/>
        </p:nvSpPr>
        <p:spPr>
          <a:xfrm>
            <a:off x="522000" y="1720800"/>
            <a:ext cx="5112000" cy="2826000"/>
          </a:xfrm>
          <a:prstGeom prst="rect">
            <a:avLst/>
          </a:prstGeom>
          <a:noFill/>
        </p:spPr>
        <p:txBody>
          <a:bodyPr wrap="square" lIns="18000" rIns="18000" tIns="10800" bIns="10800">
            <a:spAutoFit/>
          </a:bodyPr>
          <a:lstStyle/>
          <a:p>
            <a:pPr>
              <a:spcAft>
                <a:spcPts val="400"/>
              </a:spcAft>
              <a:defRPr sz="1050">
                <a:solidFill>
                  <a:srgbClr val="252D36"/>
                </a:solidFill>
                <a:latin typeface="Poppins"/>
              </a:defRPr>
            </a:pPr>
            <a:r>
              <a:t>•  Patching e backup maggiormente gestiti</a:t>
            </a:r>
          </a:p>
          <a:p>
            <a:pPr>
              <a:spcAft>
                <a:spcPts val="400"/>
              </a:spcAft>
              <a:defRPr sz="1050">
                <a:solidFill>
                  <a:srgbClr val="252D36"/>
                </a:solidFill>
                <a:latin typeface="Poppins"/>
              </a:defRPr>
            </a:pPr>
            <a:r>
              <a:t>•  HA e monitoring standardizzati</a:t>
            </a:r>
          </a:p>
          <a:p>
            <a:pPr>
              <a:spcAft>
                <a:spcPts val="400"/>
              </a:spcAft>
              <a:defRPr sz="1050">
                <a:solidFill>
                  <a:srgbClr val="252D36"/>
                </a:solidFill>
                <a:latin typeface="Poppins"/>
              </a:defRPr>
            </a:pPr>
            <a:r>
              <a:t>•  Minor carico operativo</a:t>
            </a:r>
          </a:p>
          <a:p>
            <a:pPr>
              <a:spcAft>
                <a:spcPts val="400"/>
              </a:spcAft>
              <a:defRPr sz="1050">
                <a:solidFill>
                  <a:srgbClr val="252D36"/>
                </a:solidFill>
                <a:latin typeface="Poppins"/>
              </a:defRPr>
            </a:pPr>
            <a:r>
              <a:t>•  Compatibilità del motore da verificare</a:t>
            </a:r>
          </a:p>
          <a:p>
            <a:pPr>
              <a:spcAft>
                <a:spcPts val="400"/>
              </a:spcAft>
              <a:defRPr sz="1050">
                <a:solidFill>
                  <a:srgbClr val="252D36"/>
                </a:solidFill>
                <a:latin typeface="Poppins"/>
              </a:defRPr>
            </a:pPr>
            <a:r>
              <a:t>•  Vincoli e feature specifiche del servizio</a:t>
            </a:r>
          </a:p>
        </p:txBody>
      </p:sp>
      <p:sp>
        <p:nvSpPr>
          <p:cNvPr id="11" name="Rounded Rectangle 10"/>
          <p:cNvSpPr/>
          <p:nvPr/>
        </p:nvSpPr>
        <p:spPr>
          <a:xfrm>
            <a:off x="6120000" y="1440000"/>
            <a:ext cx="5292000" cy="3168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0000" y="1440000"/>
            <a:ext cx="5292000" cy="187200"/>
          </a:xfrm>
          <a:prstGeom prst="rect">
            <a:avLst/>
          </a:prstGeom>
          <a:solidFill>
            <a:srgbClr val="2A86CA"/>
          </a:solidFill>
          <a:ln w="10160">
            <a:solidFill>
              <a:srgbClr val="2A8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2000" y="1479600"/>
            <a:ext cx="5148000" cy="100800"/>
          </a:xfrm>
          <a:prstGeom prst="rect">
            <a:avLst/>
          </a:prstGeom>
          <a:noFill/>
        </p:spPr>
        <p:txBody>
          <a:bodyPr wrap="square" lIns="14400" rIns="14400" tIns="14400" bIns="14400" anchor="t">
            <a:spAutoFit/>
          </a:bodyPr>
          <a:lstStyle/>
          <a:p>
            <a:pPr algn="l"/>
            <a:r>
              <a:rPr sz="850" b="1">
                <a:solidFill>
                  <a:srgbClr val="FFFFFF"/>
                </a:solidFill>
                <a:latin typeface="Poppins"/>
              </a:rPr>
              <a:t>VM / EC2 · SELF-MANAGED</a:t>
            </a:r>
          </a:p>
        </p:txBody>
      </p:sp>
      <p:sp>
        <p:nvSpPr>
          <p:cNvPr id="14" name="TextBox 13"/>
          <p:cNvSpPr txBox="1"/>
          <p:nvPr/>
        </p:nvSpPr>
        <p:spPr>
          <a:xfrm>
            <a:off x="6210000" y="1720800"/>
            <a:ext cx="5112000" cy="2826000"/>
          </a:xfrm>
          <a:prstGeom prst="rect">
            <a:avLst/>
          </a:prstGeom>
          <a:noFill/>
        </p:spPr>
        <p:txBody>
          <a:bodyPr wrap="square" lIns="18000" rIns="18000" tIns="10800" bIns="10800">
            <a:spAutoFit/>
          </a:bodyPr>
          <a:lstStyle/>
          <a:p>
            <a:pPr>
              <a:spcAft>
                <a:spcPts val="400"/>
              </a:spcAft>
              <a:defRPr sz="1050">
                <a:solidFill>
                  <a:srgbClr val="252D36"/>
                </a:solidFill>
                <a:latin typeface="Poppins"/>
              </a:defRPr>
            </a:pPr>
            <a:r>
              <a:t>•  Maggiore compatibilità e controllo</a:t>
            </a:r>
          </a:p>
          <a:p>
            <a:pPr>
              <a:spcAft>
                <a:spcPts val="400"/>
              </a:spcAft>
              <a:defRPr sz="1050">
                <a:solidFill>
                  <a:srgbClr val="252D36"/>
                </a:solidFill>
                <a:latin typeface="Poppins"/>
              </a:defRPr>
            </a:pPr>
            <a:r>
              <a:t>•  Responsabilità DBA e sistema operativo</a:t>
            </a:r>
          </a:p>
          <a:p>
            <a:pPr>
              <a:spcAft>
                <a:spcPts val="400"/>
              </a:spcAft>
              <a:defRPr sz="1050">
                <a:solidFill>
                  <a:srgbClr val="252D36"/>
                </a:solidFill>
                <a:latin typeface="Poppins"/>
              </a:defRPr>
            </a:pPr>
            <a:r>
              <a:t>•  Backup, HA e patching da costruire</a:t>
            </a:r>
          </a:p>
          <a:p>
            <a:pPr>
              <a:spcAft>
                <a:spcPts val="400"/>
              </a:spcAft>
              <a:defRPr sz="1050">
                <a:solidFill>
                  <a:srgbClr val="252D36"/>
                </a:solidFill>
                <a:latin typeface="Poppins"/>
              </a:defRPr>
            </a:pPr>
            <a:r>
              <a:t>•  TCO operativo più elevato</a:t>
            </a:r>
          </a:p>
          <a:p>
            <a:pPr>
              <a:spcAft>
                <a:spcPts val="400"/>
              </a:spcAft>
              <a:defRPr sz="1050">
                <a:solidFill>
                  <a:srgbClr val="252D36"/>
                </a:solidFill>
                <a:latin typeface="Poppins"/>
              </a:defRPr>
            </a:pPr>
            <a:r>
              <a:t>•  Licensing da verificare</a:t>
            </a:r>
          </a:p>
        </p:txBody>
      </p:sp>
      <p:sp>
        <p:nvSpPr>
          <p:cNvPr id="15" name="Rounded Rectangle 14"/>
          <p:cNvSpPr/>
          <p:nvPr/>
        </p:nvSpPr>
        <p:spPr>
          <a:xfrm>
            <a:off x="3780000" y="5076000"/>
            <a:ext cx="4608000" cy="198000"/>
          </a:xfrm>
          <a:prstGeom prst="roundRect">
            <a:avLst/>
          </a:prstGeom>
          <a:solidFill>
            <a:srgbClr val="004481"/>
          </a:solidFill>
          <a:ln w="10160">
            <a:solidFill>
              <a:srgbClr val="0044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23199" y="5122800"/>
            <a:ext cx="4521600" cy="90000"/>
          </a:xfrm>
          <a:prstGeom prst="rect">
            <a:avLst/>
          </a:prstGeom>
          <a:noFill/>
        </p:spPr>
        <p:txBody>
          <a:bodyPr wrap="square" lIns="14400" rIns="14400" tIns="14400" bIns="14400" anchor="t">
            <a:spAutoFit/>
          </a:bodyPr>
          <a:lstStyle/>
          <a:p>
            <a:pPr algn="ctr"/>
            <a:r>
              <a:rPr sz="800" b="1">
                <a:solidFill>
                  <a:srgbClr val="FFFFFF"/>
                </a:solidFill>
                <a:latin typeface="Poppins"/>
              </a:rPr>
              <a:t>PRIMO GATE: MOTORE · VERSIONE · FEATURE · LICENZE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RACI</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Il modello di run deve coprire l'intero servizio, non soltanto l'applicazione</a:t>
            </a:r>
          </a:p>
        </p:txBody>
      </p:sp>
      <p:graphicFrame>
        <p:nvGraphicFramePr>
          <p:cNvPr id="7" name="Table 6"/>
          <p:cNvGraphicFramePr>
            <a:graphicFrameLocks noGrp="1"/>
          </p:cNvGraphicFramePr>
          <p:nvPr/>
        </p:nvGraphicFramePr>
        <p:xfrm>
          <a:off x="360000" y="1296000"/>
          <a:ext cx="11231998" cy="3851999"/>
        </p:xfrm>
        <a:graphic>
          <a:graphicData uri="http://schemas.openxmlformats.org/drawingml/2006/table">
            <a:tbl>
              <a:tblPr firstRow="1" bandRow="1">
                <a:tableStyleId>{5C22544A-7EE6-4342-B048-85BDC9FD1C3A}</a:tableStyleId>
              </a:tblPr>
              <a:tblGrid>
                <a:gridCol w="3168000"/>
                <a:gridCol w="4031999"/>
                <a:gridCol w="4031999"/>
              </a:tblGrid>
              <a:tr h="427999">
                <a:tc>
                  <a:txBody>
                    <a:bodyPr/>
                    <a:lstStyle/>
                    <a:p>
                      <a:pPr algn="l"/>
                      <a:r>
                        <a:rPr sz="900" b="1">
                          <a:solidFill>
                            <a:srgbClr val="FFFFFF"/>
                          </a:solidFill>
                          <a:latin typeface="Poppins"/>
                        </a:rPr>
                        <a:t>Ambito</a:t>
                      </a:r>
                    </a:p>
                  </a:txBody>
                  <a:tcPr marL="28800" marR="28800" marT="14400" marB="14400" anchor="ctr">
                    <a:solidFill>
                      <a:srgbClr val="004481"/>
                    </a:solidFill>
                  </a:tcPr>
                </a:tc>
                <a:tc>
                  <a:txBody>
                    <a:bodyPr/>
                    <a:lstStyle/>
                    <a:p>
                      <a:pPr algn="ctr"/>
                      <a:r>
                        <a:rPr sz="900" b="1">
                          <a:solidFill>
                            <a:srgbClr val="FFFFFF"/>
                          </a:solidFill>
                          <a:latin typeface="Poppins"/>
                        </a:rPr>
                        <a:t>AM Novigo end-to-end</a:t>
                      </a:r>
                    </a:p>
                  </a:txBody>
                  <a:tcPr marL="28800" marR="28800" marT="14400" marB="14400" anchor="ctr">
                    <a:solidFill>
                      <a:srgbClr val="004481"/>
                    </a:solidFill>
                  </a:tcPr>
                </a:tc>
                <a:tc>
                  <a:txBody>
                    <a:bodyPr/>
                    <a:lstStyle/>
                    <a:p>
                      <a:pPr algn="ctr"/>
                      <a:r>
                        <a:rPr sz="900" b="1">
                          <a:solidFill>
                            <a:srgbClr val="FFFFFF"/>
                          </a:solidFill>
                          <a:latin typeface="Poppins"/>
                        </a:rPr>
                        <a:t>Guber / terza parte</a:t>
                      </a:r>
                    </a:p>
                  </a:txBody>
                  <a:tcPr marL="28800" marR="28800" marT="14400" marB="14400" anchor="ctr">
                    <a:solidFill>
                      <a:srgbClr val="004481"/>
                    </a:solidFill>
                  </a:tcPr>
                </a:tc>
              </a:tr>
              <a:tr h="427999">
                <a:tc>
                  <a:txBody>
                    <a:bodyPr/>
                    <a:lstStyle/>
                    <a:p>
                      <a:pPr algn="l"/>
                      <a:r>
                        <a:rPr sz="900" b="1">
                          <a:solidFill>
                            <a:srgbClr val="004481"/>
                          </a:solidFill>
                          <a:latin typeface="Poppins"/>
                        </a:rPr>
                        <a:t>Applicazione e release</a:t>
                      </a:r>
                    </a:p>
                  </a:txBody>
                  <a:tcPr marL="28800" marR="28800" marT="14400" marB="14400" anchor="ctr">
                    <a:solidFill>
                      <a:srgbClr val="E9F7FA"/>
                    </a:solidFill>
                  </a:tcPr>
                </a:tc>
                <a:tc>
                  <a:txBody>
                    <a:bodyPr/>
                    <a:lstStyle/>
                    <a:p>
                      <a:pPr algn="ctr"/>
                      <a:r>
                        <a:rPr sz="900" b="0">
                          <a:solidFill>
                            <a:srgbClr val="252D36"/>
                          </a:solidFill>
                          <a:latin typeface="Poppins"/>
                        </a:rPr>
                        <a:t>Novigo esegue</a:t>
                      </a:r>
                    </a:p>
                  </a:txBody>
                  <a:tcPr marL="28800" marR="28800" marT="14400" marB="14400" anchor="ctr">
                    <a:solidFill>
                      <a:srgbClr val="FFFFFF"/>
                    </a:solidFill>
                  </a:tcPr>
                </a:tc>
                <a:tc>
                  <a:txBody>
                    <a:bodyPr/>
                    <a:lstStyle/>
                    <a:p>
                      <a:pPr algn="ctr"/>
                      <a:r>
                        <a:rPr sz="900" b="0">
                          <a:solidFill>
                            <a:srgbClr val="252D36"/>
                          </a:solidFill>
                          <a:latin typeface="Poppins"/>
                        </a:rPr>
                        <a:t>Owner designato esegue</a:t>
                      </a:r>
                    </a:p>
                  </a:txBody>
                  <a:tcPr marL="28800" marR="28800" marT="14400" marB="14400" anchor="ctr">
                    <a:solidFill>
                      <a:srgbClr val="FFFFFF"/>
                    </a:solidFill>
                  </a:tcPr>
                </a:tc>
              </a:tr>
              <a:tr h="427999">
                <a:tc>
                  <a:txBody>
                    <a:bodyPr/>
                    <a:lstStyle/>
                    <a:p>
                      <a:pPr algn="l"/>
                      <a:r>
                        <a:rPr sz="900" b="1">
                          <a:solidFill>
                            <a:srgbClr val="004481"/>
                          </a:solidFill>
                          <a:latin typeface="Poppins"/>
                        </a:rPr>
                        <a:t>Database e performance</a:t>
                      </a:r>
                    </a:p>
                  </a:txBody>
                  <a:tcPr marL="28800" marR="28800" marT="14400" marB="14400" anchor="ctr">
                    <a:solidFill>
                      <a:srgbClr val="E9F7FA"/>
                    </a:solidFill>
                  </a:tcPr>
                </a:tc>
                <a:tc>
                  <a:txBody>
                    <a:bodyPr/>
                    <a:lstStyle/>
                    <a:p>
                      <a:pPr algn="ctr"/>
                      <a:r>
                        <a:rPr sz="900" b="0">
                          <a:solidFill>
                            <a:srgbClr val="252D36"/>
                          </a:solidFill>
                          <a:latin typeface="Poppins"/>
                        </a:rPr>
                        <a:t>Novigo esegue</a:t>
                      </a:r>
                    </a:p>
                  </a:txBody>
                  <a:tcPr marL="28800" marR="28800" marT="14400" marB="14400" anchor="ctr">
                    <a:solidFill>
                      <a:srgbClr val="F3F6F8"/>
                    </a:solidFill>
                  </a:tcPr>
                </a:tc>
                <a:tc>
                  <a:txBody>
                    <a:bodyPr/>
                    <a:lstStyle/>
                    <a:p>
                      <a:pPr algn="ctr"/>
                      <a:r>
                        <a:rPr sz="900" b="0">
                          <a:solidFill>
                            <a:srgbClr val="252D36"/>
                          </a:solidFill>
                          <a:latin typeface="Poppins"/>
                        </a:rPr>
                        <a:t>DBA Guber / terzo</a:t>
                      </a:r>
                    </a:p>
                  </a:txBody>
                  <a:tcPr marL="28800" marR="28800" marT="14400" marB="14400" anchor="ctr">
                    <a:solidFill>
                      <a:srgbClr val="F3F6F8"/>
                    </a:solidFill>
                  </a:tcPr>
                </a:tc>
              </a:tr>
              <a:tr h="427999">
                <a:tc>
                  <a:txBody>
                    <a:bodyPr/>
                    <a:lstStyle/>
                    <a:p>
                      <a:pPr algn="l"/>
                      <a:r>
                        <a:rPr sz="900" b="1">
                          <a:solidFill>
                            <a:srgbClr val="004481"/>
                          </a:solidFill>
                          <a:latin typeface="Poppins"/>
                        </a:rPr>
                        <a:t>Infrastruttura / cloud</a:t>
                      </a:r>
                    </a:p>
                  </a:txBody>
                  <a:tcPr marL="28800" marR="28800" marT="14400" marB="14400" anchor="ctr">
                    <a:solidFill>
                      <a:srgbClr val="E9F7FA"/>
                    </a:solidFill>
                  </a:tcPr>
                </a:tc>
                <a:tc>
                  <a:txBody>
                    <a:bodyPr/>
                    <a:lstStyle/>
                    <a:p>
                      <a:pPr algn="ctr"/>
                      <a:r>
                        <a:rPr sz="900" b="0">
                          <a:solidFill>
                            <a:srgbClr val="252D36"/>
                          </a:solidFill>
                          <a:latin typeface="Poppins"/>
                        </a:rPr>
                        <a:t>Novigo opera con delega</a:t>
                      </a:r>
                    </a:p>
                  </a:txBody>
                  <a:tcPr marL="28800" marR="28800" marT="14400" marB="14400" anchor="ctr">
                    <a:solidFill>
                      <a:srgbClr val="FFFFFF"/>
                    </a:solidFill>
                  </a:tcPr>
                </a:tc>
                <a:tc>
                  <a:txBody>
                    <a:bodyPr/>
                    <a:lstStyle/>
                    <a:p>
                      <a:pPr algn="ctr"/>
                      <a:r>
                        <a:rPr sz="900" b="0">
                          <a:solidFill>
                            <a:srgbClr val="252D36"/>
                          </a:solidFill>
                          <a:latin typeface="Poppins"/>
                        </a:rPr>
                        <a:t>Guber / terzo</a:t>
                      </a:r>
                    </a:p>
                  </a:txBody>
                  <a:tcPr marL="28800" marR="28800" marT="14400" marB="14400" anchor="ctr">
                    <a:solidFill>
                      <a:srgbClr val="FFFFFF"/>
                    </a:solidFill>
                  </a:tcPr>
                </a:tc>
              </a:tr>
              <a:tr h="427999">
                <a:tc>
                  <a:txBody>
                    <a:bodyPr/>
                    <a:lstStyle/>
                    <a:p>
                      <a:pPr algn="l"/>
                      <a:r>
                        <a:rPr sz="900" b="1">
                          <a:solidFill>
                            <a:srgbClr val="004481"/>
                          </a:solidFill>
                          <a:latin typeface="Poppins"/>
                        </a:rPr>
                        <a:t>Backup e restore</a:t>
                      </a:r>
                    </a:p>
                  </a:txBody>
                  <a:tcPr marL="28800" marR="28800" marT="14400" marB="14400" anchor="ctr">
                    <a:solidFill>
                      <a:srgbClr val="E9F7FA"/>
                    </a:solidFill>
                  </a:tcPr>
                </a:tc>
                <a:tc>
                  <a:txBody>
                    <a:bodyPr/>
                    <a:lstStyle/>
                    <a:p>
                      <a:pPr algn="ctr"/>
                      <a:r>
                        <a:rPr sz="900" b="0">
                          <a:solidFill>
                            <a:srgbClr val="252D36"/>
                          </a:solidFill>
                          <a:latin typeface="Poppins"/>
                        </a:rPr>
                        <a:t>Novigo esegue e testa</a:t>
                      </a:r>
                    </a:p>
                  </a:txBody>
                  <a:tcPr marL="28800" marR="28800" marT="14400" marB="14400" anchor="ctr">
                    <a:solidFill>
                      <a:srgbClr val="F3F6F8"/>
                    </a:solidFill>
                  </a:tcPr>
                </a:tc>
                <a:tc>
                  <a:txBody>
                    <a:bodyPr/>
                    <a:lstStyle/>
                    <a:p>
                      <a:pPr algn="ctr"/>
                      <a:r>
                        <a:rPr sz="900" b="0">
                          <a:solidFill>
                            <a:srgbClr val="252D36"/>
                          </a:solidFill>
                          <a:latin typeface="Poppins"/>
                        </a:rPr>
                        <a:t>Guber / terzo</a:t>
                      </a:r>
                    </a:p>
                  </a:txBody>
                  <a:tcPr marL="28800" marR="28800" marT="14400" marB="14400" anchor="ctr">
                    <a:solidFill>
                      <a:srgbClr val="F3F6F8"/>
                    </a:solidFill>
                  </a:tcPr>
                </a:tc>
              </a:tr>
              <a:tr h="427999">
                <a:tc>
                  <a:txBody>
                    <a:bodyPr/>
                    <a:lstStyle/>
                    <a:p>
                      <a:pPr algn="l"/>
                      <a:r>
                        <a:rPr sz="900" b="1">
                          <a:solidFill>
                            <a:srgbClr val="004481"/>
                          </a:solidFill>
                          <a:latin typeface="Poppins"/>
                        </a:rPr>
                        <a:t>Security operations</a:t>
                      </a:r>
                    </a:p>
                  </a:txBody>
                  <a:tcPr marL="28800" marR="28800" marT="14400" marB="14400" anchor="ctr">
                    <a:solidFill>
                      <a:srgbClr val="E9F7FA"/>
                    </a:solidFill>
                  </a:tcPr>
                </a:tc>
                <a:tc>
                  <a:txBody>
                    <a:bodyPr/>
                    <a:lstStyle/>
                    <a:p>
                      <a:pPr algn="ctr"/>
                      <a:r>
                        <a:rPr sz="900" b="0">
                          <a:solidFill>
                            <a:srgbClr val="252D36"/>
                          </a:solidFill>
                          <a:latin typeface="Poppins"/>
                        </a:rPr>
                        <a:t>Novigo opera; Guber governa</a:t>
                      </a:r>
                    </a:p>
                  </a:txBody>
                  <a:tcPr marL="28800" marR="28800" marT="14400" marB="14400" anchor="ctr">
                    <a:solidFill>
                      <a:srgbClr val="FFFFFF"/>
                    </a:solidFill>
                  </a:tcPr>
                </a:tc>
                <a:tc>
                  <a:txBody>
                    <a:bodyPr/>
                    <a:lstStyle/>
                    <a:p>
                      <a:pPr algn="ctr"/>
                      <a:r>
                        <a:rPr sz="900" b="0">
                          <a:solidFill>
                            <a:srgbClr val="252D36"/>
                          </a:solidFill>
                          <a:latin typeface="Poppins"/>
                        </a:rPr>
                        <a:t>Guber / terzo</a:t>
                      </a:r>
                    </a:p>
                  </a:txBody>
                  <a:tcPr marL="28800" marR="28800" marT="14400" marB="14400" anchor="ctr">
                    <a:solidFill>
                      <a:srgbClr val="FFFFFF"/>
                    </a:solidFill>
                  </a:tcPr>
                </a:tc>
              </a:tr>
              <a:tr h="427999">
                <a:tc>
                  <a:txBody>
                    <a:bodyPr/>
                    <a:lstStyle/>
                    <a:p>
                      <a:pPr algn="l"/>
                      <a:r>
                        <a:rPr sz="900" b="1">
                          <a:solidFill>
                            <a:srgbClr val="004481"/>
                          </a:solidFill>
                          <a:latin typeface="Poppins"/>
                        </a:rPr>
                        <a:t>Account e key ownership</a:t>
                      </a:r>
                    </a:p>
                  </a:txBody>
                  <a:tcPr marL="28800" marR="28800" marT="14400" marB="14400" anchor="ctr">
                    <a:solidFill>
                      <a:srgbClr val="E9F7FA"/>
                    </a:solidFill>
                  </a:tcPr>
                </a:tc>
                <a:tc>
                  <a:txBody>
                    <a:bodyPr/>
                    <a:lstStyle/>
                    <a:p>
                      <a:pPr algn="ctr"/>
                      <a:r>
                        <a:rPr sz="900" b="0">
                          <a:solidFill>
                            <a:srgbClr val="252D36"/>
                          </a:solidFill>
                          <a:latin typeface="Poppins"/>
                        </a:rPr>
                        <a:t>Guber governa</a:t>
                      </a:r>
                    </a:p>
                  </a:txBody>
                  <a:tcPr marL="28800" marR="28800" marT="14400" marB="14400" anchor="ctr">
                    <a:solidFill>
                      <a:srgbClr val="F3F6F8"/>
                    </a:solidFill>
                  </a:tcPr>
                </a:tc>
                <a:tc>
                  <a:txBody>
                    <a:bodyPr/>
                    <a:lstStyle/>
                    <a:p>
                      <a:pPr algn="ctr"/>
                      <a:r>
                        <a:rPr sz="900" b="0">
                          <a:solidFill>
                            <a:srgbClr val="252D36"/>
                          </a:solidFill>
                          <a:latin typeface="Poppins"/>
                        </a:rPr>
                        <a:t>Guber governa</a:t>
                      </a:r>
                    </a:p>
                  </a:txBody>
                  <a:tcPr marL="28800" marR="28800" marT="14400" marB="14400" anchor="ctr">
                    <a:solidFill>
                      <a:srgbClr val="F3F6F8"/>
                    </a:solidFill>
                  </a:tcPr>
                </a:tc>
              </a:tr>
              <a:tr h="427999">
                <a:tc>
                  <a:txBody>
                    <a:bodyPr/>
                    <a:lstStyle/>
                    <a:p>
                      <a:pPr algn="l"/>
                      <a:r>
                        <a:rPr sz="900" b="1">
                          <a:solidFill>
                            <a:srgbClr val="004481"/>
                          </a:solidFill>
                          <a:latin typeface="Poppins"/>
                        </a:rPr>
                        <a:t>Incident e problem</a:t>
                      </a:r>
                    </a:p>
                  </a:txBody>
                  <a:tcPr marL="28800" marR="28800" marT="14400" marB="14400" anchor="ctr">
                    <a:solidFill>
                      <a:srgbClr val="E9F7FA"/>
                    </a:solidFill>
                  </a:tcPr>
                </a:tc>
                <a:tc>
                  <a:txBody>
                    <a:bodyPr/>
                    <a:lstStyle/>
                    <a:p>
                      <a:pPr algn="ctr"/>
                      <a:r>
                        <a:rPr sz="900" b="0">
                          <a:solidFill>
                            <a:srgbClr val="252D36"/>
                          </a:solidFill>
                          <a:latin typeface="Poppins"/>
                        </a:rPr>
                        <a:t>Presidio coordinato Novigo</a:t>
                      </a:r>
                    </a:p>
                  </a:txBody>
                  <a:tcPr marL="28800" marR="28800" marT="14400" marB="14400" anchor="ctr">
                    <a:solidFill>
                      <a:srgbClr val="FFFFFF"/>
                    </a:solidFill>
                  </a:tcPr>
                </a:tc>
                <a:tc>
                  <a:txBody>
                    <a:bodyPr/>
                    <a:lstStyle/>
                    <a:p>
                      <a:pPr algn="ctr"/>
                      <a:r>
                        <a:rPr sz="900" b="0">
                          <a:solidFill>
                            <a:srgbClr val="252D36"/>
                          </a:solidFill>
                          <a:latin typeface="Poppins"/>
                        </a:rPr>
                        <a:t>Coordinamento multi-owner</a:t>
                      </a:r>
                    </a:p>
                  </a:txBody>
                  <a:tcPr marL="28800" marR="28800" marT="14400" marB="14400" anchor="ctr">
                    <a:solidFill>
                      <a:srgbClr val="FFFFFF"/>
                    </a:solidFill>
                  </a:tcPr>
                </a:tc>
              </a:tr>
              <a:tr h="428007">
                <a:tc>
                  <a:txBody>
                    <a:bodyPr/>
                    <a:lstStyle/>
                    <a:p>
                      <a:pPr algn="l"/>
                      <a:r>
                        <a:rPr sz="900" b="1">
                          <a:solidFill>
                            <a:srgbClr val="004481"/>
                          </a:solidFill>
                          <a:latin typeface="Poppins"/>
                        </a:rPr>
                        <a:t>Exit / handover</a:t>
                      </a:r>
                    </a:p>
                  </a:txBody>
                  <a:tcPr marL="28800" marR="28800" marT="14400" marB="14400" anchor="ctr">
                    <a:solidFill>
                      <a:srgbClr val="E9F7FA"/>
                    </a:solidFill>
                  </a:tcPr>
                </a:tc>
                <a:tc>
                  <a:txBody>
                    <a:bodyPr/>
                    <a:lstStyle/>
                    <a:p>
                      <a:pPr algn="ctr"/>
                      <a:r>
                        <a:rPr sz="900" b="0">
                          <a:solidFill>
                            <a:srgbClr val="252D36"/>
                          </a:solidFill>
                          <a:latin typeface="Poppins"/>
                        </a:rPr>
                        <a:t>Obbligo contrattuale</a:t>
                      </a:r>
                    </a:p>
                  </a:txBody>
                  <a:tcPr marL="28800" marR="28800" marT="14400" marB="14400" anchor="ctr">
                    <a:solidFill>
                      <a:srgbClr val="F3F6F8"/>
                    </a:solidFill>
                  </a:tcPr>
                </a:tc>
                <a:tc>
                  <a:txBody>
                    <a:bodyPr/>
                    <a:lstStyle/>
                    <a:p>
                      <a:pPr algn="ctr"/>
                      <a:r>
                        <a:rPr sz="900" b="0">
                          <a:solidFill>
                            <a:srgbClr val="252D36"/>
                          </a:solidFill>
                          <a:latin typeface="Poppins"/>
                        </a:rPr>
                        <a:t>Processo interno / sourcing</a:t>
                      </a:r>
                    </a:p>
                  </a:txBody>
                  <a:tcPr marL="28800" marR="28800" marT="14400" marB="14400" anchor="ctr">
                    <a:solidFill>
                      <a:srgbClr val="F3F6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20" sz="quarter"/>
          </p:nvPr>
        </p:nvSpPr>
        <p:spPr/>
      </p:sp>
      <p:pic>
        <p:nvPicPr>
          <p:cNvPr id="3" name="Picture 2" descr="image.png"/>
          <p:cNvPicPr>
            <a:picLocks noChangeAspect="1"/>
          </p:cNvPicPr>
          <p:nvPr/>
        </p:nvPicPr>
        <p:blipFill>
          <a:blip r:embed="rId2"/>
          <a:stretch>
            <a:fillRect/>
          </a:stretch>
        </p:blipFill>
        <p:spPr>
          <a:xfrm>
            <a:off x="234000" y="125999"/>
            <a:ext cx="917999" cy="208151"/>
          </a:xfrm>
          <a:prstGeom prst="rect">
            <a:avLst/>
          </a:prstGeom>
        </p:spPr>
      </p:pic>
      <p:sp>
        <p:nvSpPr>
          <p:cNvPr id="4" name="TextBox 3"/>
          <p:cNvSpPr txBox="1"/>
          <p:nvPr/>
        </p:nvSpPr>
        <p:spPr>
          <a:xfrm>
            <a:off x="1242000" y="151200"/>
            <a:ext cx="7200000" cy="125999"/>
          </a:xfrm>
          <a:prstGeom prst="rect">
            <a:avLst/>
          </a:prstGeom>
          <a:noFill/>
        </p:spPr>
        <p:txBody>
          <a:bodyPr wrap="square" lIns="14400" rIns="14400" tIns="14400" bIns="14400" anchor="t">
            <a:spAutoFit/>
          </a:bodyPr>
          <a:lstStyle/>
          <a:p>
            <a:pPr algn="l"/>
            <a:r>
              <a:rPr sz="750" b="1">
                <a:solidFill>
                  <a:srgbClr val="67737E"/>
                </a:solidFill>
                <a:latin typeface="Poppins"/>
              </a:rPr>
              <a:t>APPENDICE | APPROFONDIMENTO</a:t>
            </a:r>
          </a:p>
        </p:txBody>
      </p:sp>
      <p:sp>
        <p:nvSpPr>
          <p:cNvPr id="5" name="Rectangle 4"/>
          <p:cNvSpPr/>
          <p:nvPr/>
        </p:nvSpPr>
        <p:spPr>
          <a:xfrm>
            <a:off x="241200" y="367200"/>
            <a:ext cx="486000" cy="19800"/>
          </a:xfrm>
          <a:prstGeom prst="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486000"/>
            <a:ext cx="11304000" cy="342000"/>
          </a:xfrm>
          <a:prstGeom prst="rect">
            <a:avLst/>
          </a:prstGeom>
          <a:noFill/>
        </p:spPr>
        <p:txBody>
          <a:bodyPr wrap="square" lIns="14400" rIns="14400" tIns="14400" bIns="14400" anchor="t">
            <a:spAutoFit/>
          </a:bodyPr>
          <a:lstStyle/>
          <a:p>
            <a:pPr algn="l"/>
            <a:r>
              <a:rPr sz="2200" b="1">
                <a:solidFill>
                  <a:srgbClr val="004481"/>
                </a:solidFill>
                <a:latin typeface="Poppins"/>
              </a:rPr>
              <a:t>Un eventuale approfondimento può ridurre l'incertezza in quattro passaggi</a:t>
            </a:r>
          </a:p>
        </p:txBody>
      </p:sp>
      <p:sp>
        <p:nvSpPr>
          <p:cNvPr id="7" name="TextBox 6"/>
          <p:cNvSpPr txBox="1"/>
          <p:nvPr/>
        </p:nvSpPr>
        <p:spPr>
          <a:xfrm>
            <a:off x="367200" y="820799"/>
            <a:ext cx="11088000" cy="198000"/>
          </a:xfrm>
          <a:prstGeom prst="rect">
            <a:avLst/>
          </a:prstGeom>
          <a:noFill/>
        </p:spPr>
        <p:txBody>
          <a:bodyPr wrap="square" lIns="14400" rIns="14400" tIns="14400" bIns="14400" anchor="t">
            <a:spAutoFit/>
          </a:bodyPr>
          <a:lstStyle/>
          <a:p>
            <a:pPr algn="l"/>
            <a:r>
              <a:rPr sz="950" b="0">
                <a:solidFill>
                  <a:srgbClr val="67737E"/>
                </a:solidFill>
                <a:latin typeface="Poppins"/>
              </a:rPr>
              <a:t>Sequenza indicativa, non obiettivo immediato né impegno di progetto.</a:t>
            </a:r>
          </a:p>
        </p:txBody>
      </p:sp>
      <p:sp>
        <p:nvSpPr>
          <p:cNvPr id="8" name="Rounded Rectangle 7"/>
          <p:cNvSpPr/>
          <p:nvPr/>
        </p:nvSpPr>
        <p:spPr>
          <a:xfrm>
            <a:off x="396000" y="1512000"/>
            <a:ext cx="2520000" cy="266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22000" y="1655999"/>
            <a:ext cx="432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5200" y="1702799"/>
            <a:ext cx="345600" cy="90000"/>
          </a:xfrm>
          <a:prstGeom prst="rect">
            <a:avLst/>
          </a:prstGeom>
          <a:noFill/>
        </p:spPr>
        <p:txBody>
          <a:bodyPr wrap="square" lIns="14400" rIns="14400" tIns="14400" bIns="14400" anchor="t">
            <a:spAutoFit/>
          </a:bodyPr>
          <a:lstStyle/>
          <a:p>
            <a:pPr algn="ctr"/>
            <a:r>
              <a:rPr sz="800" b="1">
                <a:solidFill>
                  <a:srgbClr val="FFFFFF"/>
                </a:solidFill>
                <a:latin typeface="Poppins"/>
              </a:rPr>
              <a:t>01</a:t>
            </a:r>
          </a:p>
        </p:txBody>
      </p:sp>
      <p:sp>
        <p:nvSpPr>
          <p:cNvPr id="11" name="TextBox 10"/>
          <p:cNvSpPr txBox="1"/>
          <p:nvPr/>
        </p:nvSpPr>
        <p:spPr>
          <a:xfrm>
            <a:off x="522000" y="2070000"/>
            <a:ext cx="2268000" cy="180000"/>
          </a:xfrm>
          <a:prstGeom prst="rect">
            <a:avLst/>
          </a:prstGeom>
          <a:noFill/>
        </p:spPr>
        <p:txBody>
          <a:bodyPr wrap="square" lIns="14400" rIns="14400" tIns="14400" bIns="14400" anchor="t">
            <a:spAutoFit/>
          </a:bodyPr>
          <a:lstStyle/>
          <a:p>
            <a:pPr algn="l"/>
            <a:r>
              <a:rPr sz="1300" b="1">
                <a:solidFill>
                  <a:srgbClr val="004481"/>
                </a:solidFill>
                <a:latin typeface="Poppins"/>
              </a:rPr>
              <a:t>Assessment</a:t>
            </a:r>
          </a:p>
        </p:txBody>
      </p:sp>
      <p:sp>
        <p:nvSpPr>
          <p:cNvPr id="12" name="TextBox 11"/>
          <p:cNvSpPr txBox="1"/>
          <p:nvPr/>
        </p:nvSpPr>
        <p:spPr>
          <a:xfrm>
            <a:off x="522000" y="2394000"/>
            <a:ext cx="2268000" cy="144000"/>
          </a:xfrm>
          <a:prstGeom prst="rect">
            <a:avLst/>
          </a:prstGeom>
          <a:noFill/>
        </p:spPr>
        <p:txBody>
          <a:bodyPr wrap="square" lIns="14400" rIns="14400" tIns="14400" bIns="14400" anchor="t">
            <a:spAutoFit/>
          </a:bodyPr>
          <a:lstStyle/>
          <a:p>
            <a:pPr algn="l"/>
            <a:r>
              <a:rPr sz="900" b="1">
                <a:solidFill>
                  <a:srgbClr val="2A86CA"/>
                </a:solidFill>
                <a:latin typeface="Poppins"/>
              </a:rPr>
              <a:t>1–2 settimane</a:t>
            </a:r>
          </a:p>
        </p:txBody>
      </p:sp>
      <p:sp>
        <p:nvSpPr>
          <p:cNvPr id="13" name="TextBox 12"/>
          <p:cNvSpPr txBox="1"/>
          <p:nvPr/>
        </p:nvSpPr>
        <p:spPr>
          <a:xfrm>
            <a:off x="522000" y="2898000"/>
            <a:ext cx="2232000" cy="612000"/>
          </a:xfrm>
          <a:prstGeom prst="rect">
            <a:avLst/>
          </a:prstGeom>
          <a:noFill/>
        </p:spPr>
        <p:txBody>
          <a:bodyPr wrap="square" lIns="14400" rIns="14400" tIns="14400" bIns="14400" anchor="t">
            <a:spAutoFit/>
          </a:bodyPr>
          <a:lstStyle/>
          <a:p>
            <a:pPr algn="l"/>
            <a:r>
              <a:rPr sz="950" b="0">
                <a:solidFill>
                  <a:srgbClr val="252D36"/>
                </a:solidFill>
                <a:latin typeface="Poppins"/>
              </a:rPr>
              <a:t>Motore, sizing, licenze e compatibilità</a:t>
            </a:r>
          </a:p>
        </p:txBody>
      </p:sp>
      <p:cxnSp>
        <p:nvCxnSpPr>
          <p:cNvPr id="14" name="Connector 13"/>
          <p:cNvCxnSpPr/>
          <p:nvPr/>
        </p:nvCxnSpPr>
        <p:spPr>
          <a:xfrm>
            <a:off x="2916000" y="2844000"/>
            <a:ext cx="252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21999" y="1512000"/>
            <a:ext cx="2520000" cy="266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47999" y="1655999"/>
            <a:ext cx="432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91199" y="1702799"/>
            <a:ext cx="345600" cy="90000"/>
          </a:xfrm>
          <a:prstGeom prst="rect">
            <a:avLst/>
          </a:prstGeom>
          <a:noFill/>
        </p:spPr>
        <p:txBody>
          <a:bodyPr wrap="square" lIns="14400" rIns="14400" tIns="14400" bIns="14400" anchor="t">
            <a:spAutoFit/>
          </a:bodyPr>
          <a:lstStyle/>
          <a:p>
            <a:pPr algn="ctr"/>
            <a:r>
              <a:rPr sz="800" b="1">
                <a:solidFill>
                  <a:srgbClr val="FFFFFF"/>
                </a:solidFill>
                <a:latin typeface="Poppins"/>
              </a:rPr>
              <a:t>02</a:t>
            </a:r>
          </a:p>
        </p:txBody>
      </p:sp>
      <p:sp>
        <p:nvSpPr>
          <p:cNvPr id="18" name="TextBox 17"/>
          <p:cNvSpPr txBox="1"/>
          <p:nvPr/>
        </p:nvSpPr>
        <p:spPr>
          <a:xfrm>
            <a:off x="3347999" y="2070000"/>
            <a:ext cx="2268000" cy="180000"/>
          </a:xfrm>
          <a:prstGeom prst="rect">
            <a:avLst/>
          </a:prstGeom>
          <a:noFill/>
        </p:spPr>
        <p:txBody>
          <a:bodyPr wrap="square" lIns="14400" rIns="14400" tIns="14400" bIns="14400" anchor="t">
            <a:spAutoFit/>
          </a:bodyPr>
          <a:lstStyle/>
          <a:p>
            <a:pPr algn="l"/>
            <a:r>
              <a:rPr sz="1300" b="1">
                <a:solidFill>
                  <a:srgbClr val="004481"/>
                </a:solidFill>
                <a:latin typeface="Poppins"/>
              </a:rPr>
              <a:t>Economics</a:t>
            </a:r>
          </a:p>
        </p:txBody>
      </p:sp>
      <p:sp>
        <p:nvSpPr>
          <p:cNvPr id="19" name="TextBox 18"/>
          <p:cNvSpPr txBox="1"/>
          <p:nvPr/>
        </p:nvSpPr>
        <p:spPr>
          <a:xfrm>
            <a:off x="3347999" y="2394000"/>
            <a:ext cx="2268000" cy="144000"/>
          </a:xfrm>
          <a:prstGeom prst="rect">
            <a:avLst/>
          </a:prstGeom>
          <a:noFill/>
        </p:spPr>
        <p:txBody>
          <a:bodyPr wrap="square" lIns="14400" rIns="14400" tIns="14400" bIns="14400" anchor="t">
            <a:spAutoFit/>
          </a:bodyPr>
          <a:lstStyle/>
          <a:p>
            <a:pPr algn="l"/>
            <a:r>
              <a:rPr sz="900" b="1">
                <a:solidFill>
                  <a:srgbClr val="2A86CA"/>
                </a:solidFill>
                <a:latin typeface="Poppins"/>
              </a:rPr>
              <a:t>1 settimana</a:t>
            </a:r>
          </a:p>
        </p:txBody>
      </p:sp>
      <p:sp>
        <p:nvSpPr>
          <p:cNvPr id="20" name="TextBox 19"/>
          <p:cNvSpPr txBox="1"/>
          <p:nvPr/>
        </p:nvSpPr>
        <p:spPr>
          <a:xfrm>
            <a:off x="3347999" y="2898000"/>
            <a:ext cx="2232000" cy="612000"/>
          </a:xfrm>
          <a:prstGeom prst="rect">
            <a:avLst/>
          </a:prstGeom>
          <a:noFill/>
        </p:spPr>
        <p:txBody>
          <a:bodyPr wrap="square" lIns="14400" rIns="14400" tIns="14400" bIns="14400" anchor="t">
            <a:spAutoFit/>
          </a:bodyPr>
          <a:lstStyle/>
          <a:p>
            <a:pPr algn="l"/>
            <a:r>
              <a:rPr sz="950" b="0">
                <a:solidFill>
                  <a:srgbClr val="252D36"/>
                </a:solidFill>
                <a:latin typeface="Poppins"/>
              </a:rPr>
              <a:t>TCO, contratti e modello AM</a:t>
            </a:r>
          </a:p>
        </p:txBody>
      </p:sp>
      <p:cxnSp>
        <p:nvCxnSpPr>
          <p:cNvPr id="21" name="Connector 20"/>
          <p:cNvCxnSpPr/>
          <p:nvPr/>
        </p:nvCxnSpPr>
        <p:spPr>
          <a:xfrm>
            <a:off x="5742000" y="2844000"/>
            <a:ext cx="251999"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048000" y="1512000"/>
            <a:ext cx="2520000" cy="266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174000" y="1655999"/>
            <a:ext cx="432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200" y="1702799"/>
            <a:ext cx="345600" cy="90000"/>
          </a:xfrm>
          <a:prstGeom prst="rect">
            <a:avLst/>
          </a:prstGeom>
          <a:noFill/>
        </p:spPr>
        <p:txBody>
          <a:bodyPr wrap="square" lIns="14400" rIns="14400" tIns="14400" bIns="14400" anchor="t">
            <a:spAutoFit/>
          </a:bodyPr>
          <a:lstStyle/>
          <a:p>
            <a:pPr algn="ctr"/>
            <a:r>
              <a:rPr sz="800" b="1">
                <a:solidFill>
                  <a:srgbClr val="FFFFFF"/>
                </a:solidFill>
                <a:latin typeface="Poppins"/>
              </a:rPr>
              <a:t>03</a:t>
            </a:r>
          </a:p>
        </p:txBody>
      </p:sp>
      <p:sp>
        <p:nvSpPr>
          <p:cNvPr id="25" name="TextBox 24"/>
          <p:cNvSpPr txBox="1"/>
          <p:nvPr/>
        </p:nvSpPr>
        <p:spPr>
          <a:xfrm>
            <a:off x="6174000" y="2070000"/>
            <a:ext cx="2268000" cy="180000"/>
          </a:xfrm>
          <a:prstGeom prst="rect">
            <a:avLst/>
          </a:prstGeom>
          <a:noFill/>
        </p:spPr>
        <p:txBody>
          <a:bodyPr wrap="square" lIns="14400" rIns="14400" tIns="14400" bIns="14400" anchor="t">
            <a:spAutoFit/>
          </a:bodyPr>
          <a:lstStyle/>
          <a:p>
            <a:pPr algn="l"/>
            <a:r>
              <a:rPr sz="1300" b="1">
                <a:solidFill>
                  <a:srgbClr val="004481"/>
                </a:solidFill>
                <a:latin typeface="Poppins"/>
              </a:rPr>
              <a:t>Prova tecnica</a:t>
            </a:r>
          </a:p>
        </p:txBody>
      </p:sp>
      <p:sp>
        <p:nvSpPr>
          <p:cNvPr id="26" name="TextBox 25"/>
          <p:cNvSpPr txBox="1"/>
          <p:nvPr/>
        </p:nvSpPr>
        <p:spPr>
          <a:xfrm>
            <a:off x="6174000" y="2394000"/>
            <a:ext cx="2268000" cy="144000"/>
          </a:xfrm>
          <a:prstGeom prst="rect">
            <a:avLst/>
          </a:prstGeom>
          <a:noFill/>
        </p:spPr>
        <p:txBody>
          <a:bodyPr wrap="square" lIns="14400" rIns="14400" tIns="14400" bIns="14400" anchor="t">
            <a:spAutoFit/>
          </a:bodyPr>
          <a:lstStyle/>
          <a:p>
            <a:pPr algn="l"/>
            <a:r>
              <a:rPr sz="900" b="1">
                <a:solidFill>
                  <a:srgbClr val="2A86CA"/>
                </a:solidFill>
                <a:latin typeface="Poppins"/>
              </a:rPr>
              <a:t>2–4 settimane</a:t>
            </a:r>
          </a:p>
        </p:txBody>
      </p:sp>
      <p:sp>
        <p:nvSpPr>
          <p:cNvPr id="27" name="TextBox 26"/>
          <p:cNvSpPr txBox="1"/>
          <p:nvPr/>
        </p:nvSpPr>
        <p:spPr>
          <a:xfrm>
            <a:off x="6174000" y="2898000"/>
            <a:ext cx="2232000" cy="612000"/>
          </a:xfrm>
          <a:prstGeom prst="rect">
            <a:avLst/>
          </a:prstGeom>
          <a:noFill/>
        </p:spPr>
        <p:txBody>
          <a:bodyPr wrap="square" lIns="14400" rIns="14400" tIns="14400" bIns="14400" anchor="t">
            <a:spAutoFit/>
          </a:bodyPr>
          <a:lstStyle/>
          <a:p>
            <a:pPr algn="l"/>
            <a:r>
              <a:rPr sz="950" b="0">
                <a:solidFill>
                  <a:srgbClr val="252D36"/>
                </a:solidFill>
                <a:latin typeface="Poppins"/>
              </a:rPr>
              <a:t>Replica o migrazione pilota</a:t>
            </a:r>
          </a:p>
        </p:txBody>
      </p:sp>
      <p:cxnSp>
        <p:nvCxnSpPr>
          <p:cNvPr id="28" name="Connector 27"/>
          <p:cNvCxnSpPr/>
          <p:nvPr/>
        </p:nvCxnSpPr>
        <p:spPr>
          <a:xfrm>
            <a:off x="8568000" y="2844000"/>
            <a:ext cx="252000" cy="0"/>
          </a:xfrm>
          <a:prstGeom prst="line">
            <a:avLst/>
          </a:prstGeom>
          <a:ln w="22860">
            <a:solidFill>
              <a:srgbClr val="2DCCCD"/>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874000" y="1512000"/>
            <a:ext cx="2520000" cy="2664000"/>
          </a:xfrm>
          <a:prstGeom prst="roundRect">
            <a:avLst/>
          </a:prstGeom>
          <a:solidFill>
            <a:srgbClr val="FFFFFF"/>
          </a:solidFill>
          <a:ln w="10160">
            <a:solidFill>
              <a:srgbClr val="C8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000000" y="1655999"/>
            <a:ext cx="432000" cy="198000"/>
          </a:xfrm>
          <a:prstGeom prst="roundRect">
            <a:avLst/>
          </a:prstGeom>
          <a:solidFill>
            <a:srgbClr val="2DCCCD"/>
          </a:solidFill>
          <a:ln w="10160">
            <a:solidFill>
              <a:srgbClr val="2DC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43200" y="1702799"/>
            <a:ext cx="345600" cy="90000"/>
          </a:xfrm>
          <a:prstGeom prst="rect">
            <a:avLst/>
          </a:prstGeom>
          <a:noFill/>
        </p:spPr>
        <p:txBody>
          <a:bodyPr wrap="square" lIns="14400" rIns="14400" tIns="14400" bIns="14400" anchor="t">
            <a:spAutoFit/>
          </a:bodyPr>
          <a:lstStyle/>
          <a:p>
            <a:pPr algn="ctr"/>
            <a:r>
              <a:rPr sz="800" b="1">
                <a:solidFill>
                  <a:srgbClr val="FFFFFF"/>
                </a:solidFill>
                <a:latin typeface="Poppins"/>
              </a:rPr>
              <a:t>04</a:t>
            </a:r>
          </a:p>
        </p:txBody>
      </p:sp>
      <p:sp>
        <p:nvSpPr>
          <p:cNvPr id="32" name="TextBox 31"/>
          <p:cNvSpPr txBox="1"/>
          <p:nvPr/>
        </p:nvSpPr>
        <p:spPr>
          <a:xfrm>
            <a:off x="9000000" y="2070000"/>
            <a:ext cx="2268000" cy="180000"/>
          </a:xfrm>
          <a:prstGeom prst="rect">
            <a:avLst/>
          </a:prstGeom>
          <a:noFill/>
        </p:spPr>
        <p:txBody>
          <a:bodyPr wrap="square" lIns="14400" rIns="14400" tIns="14400" bIns="14400" anchor="t">
            <a:spAutoFit/>
          </a:bodyPr>
          <a:lstStyle/>
          <a:p>
            <a:pPr algn="l"/>
            <a:r>
              <a:rPr sz="1300" b="1">
                <a:solidFill>
                  <a:srgbClr val="004481"/>
                </a:solidFill>
                <a:latin typeface="Poppins"/>
              </a:rPr>
              <a:t>Piano di transizione</a:t>
            </a:r>
          </a:p>
        </p:txBody>
      </p:sp>
      <p:sp>
        <p:nvSpPr>
          <p:cNvPr id="33" name="TextBox 32"/>
          <p:cNvSpPr txBox="1"/>
          <p:nvPr/>
        </p:nvSpPr>
        <p:spPr>
          <a:xfrm>
            <a:off x="9000000" y="2394000"/>
            <a:ext cx="2268000" cy="144000"/>
          </a:xfrm>
          <a:prstGeom prst="rect">
            <a:avLst/>
          </a:prstGeom>
          <a:noFill/>
        </p:spPr>
        <p:txBody>
          <a:bodyPr wrap="square" lIns="14400" rIns="14400" tIns="14400" bIns="14400" anchor="t">
            <a:spAutoFit/>
          </a:bodyPr>
          <a:lstStyle/>
          <a:p>
            <a:pPr algn="l"/>
            <a:r>
              <a:rPr sz="900" b="1">
                <a:solidFill>
                  <a:srgbClr val="2A86CA"/>
                </a:solidFill>
                <a:latin typeface="Poppins"/>
              </a:rPr>
              <a:t>Da definire</a:t>
            </a:r>
          </a:p>
        </p:txBody>
      </p:sp>
      <p:sp>
        <p:nvSpPr>
          <p:cNvPr id="34" name="TextBox 33"/>
          <p:cNvSpPr txBox="1"/>
          <p:nvPr/>
        </p:nvSpPr>
        <p:spPr>
          <a:xfrm>
            <a:off x="9000000" y="2898000"/>
            <a:ext cx="2232000" cy="612000"/>
          </a:xfrm>
          <a:prstGeom prst="rect">
            <a:avLst/>
          </a:prstGeom>
          <a:noFill/>
        </p:spPr>
        <p:txBody>
          <a:bodyPr wrap="square" lIns="14400" rIns="14400" tIns="14400" bIns="14400" anchor="t">
            <a:spAutoFit/>
          </a:bodyPr>
          <a:lstStyle/>
          <a:p>
            <a:pPr algn="l"/>
            <a:r>
              <a:rPr sz="950" b="0">
                <a:solidFill>
                  <a:srgbClr val="252D36"/>
                </a:solidFill>
                <a:latin typeface="Poppins"/>
              </a:rPr>
              <a:t>Cutover, rollback, RACI e SLA</a:t>
            </a:r>
          </a:p>
        </p:txBody>
      </p:sp>
      <p:sp>
        <p:nvSpPr>
          <p:cNvPr id="35" name="Rounded Rectangle 34"/>
          <p:cNvSpPr/>
          <p:nvPr/>
        </p:nvSpPr>
        <p:spPr>
          <a:xfrm>
            <a:off x="396000" y="4680000"/>
            <a:ext cx="11016000" cy="648000"/>
          </a:xfrm>
          <a:prstGeom prst="roundRect">
            <a:avLst/>
          </a:prstGeom>
          <a:solidFill>
            <a:srgbClr val="E9F7FA"/>
          </a:solidFill>
          <a:ln w="10160">
            <a:solidFill>
              <a:srgbClr val="E9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0000" y="4831200"/>
            <a:ext cx="10728000" cy="251999"/>
          </a:xfrm>
          <a:prstGeom prst="rect">
            <a:avLst/>
          </a:prstGeom>
          <a:noFill/>
        </p:spPr>
        <p:txBody>
          <a:bodyPr wrap="square" lIns="14400" rIns="14400" tIns="14400" bIns="14400" anchor="t">
            <a:spAutoFit/>
          </a:bodyPr>
          <a:lstStyle/>
          <a:p>
            <a:pPr algn="ctr"/>
            <a:r>
              <a:rPr sz="1050" b="1">
                <a:solidFill>
                  <a:srgbClr val="007A82"/>
                </a:solidFill>
                <a:latin typeface="Poppins"/>
              </a:rPr>
              <a:t>L'attivazione del percorso dipende dalla successiva scelta di approfondire una o più alternative.</a:t>
            </a:r>
          </a:p>
        </p:txBody>
      </p:sp>
    </p:spTree>
  </p:cSld>
  <p:clrMapOvr>
    <a:masterClrMapping/>
  </p:clrMapOvr>
</p:sld>
</file>

<file path=ppt/theme/theme1.xml><?xml version="1.0" encoding="utf-8"?>
<a:theme xmlns:a="http://schemas.openxmlformats.org/drawingml/2006/main" name="1_TXT Slide Master_White">
  <a:themeElements>
    <a:clrScheme name="Personalizzato 3">
      <a:dk1>
        <a:srgbClr val="000000"/>
      </a:dk1>
      <a:lt1>
        <a:sysClr val="window" lastClr="FFFFFF"/>
      </a:lt1>
      <a:dk2>
        <a:srgbClr val="666666"/>
      </a:dk2>
      <a:lt2>
        <a:srgbClr val="E7E6E6"/>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2.xml><?xml version="1.0" encoding="utf-8"?>
<a:theme xmlns:a="http://schemas.openxmlformats.org/drawingml/2006/main" name="Novigo">
  <a:themeElements>
    <a:clrScheme name="Personalizzato 1">
      <a:dk1>
        <a:srgbClr val="000000"/>
      </a:dk1>
      <a:lt1>
        <a:sysClr val="window" lastClr="FFFFFF"/>
      </a:lt1>
      <a:dk2>
        <a:srgbClr val="666666"/>
      </a:dk2>
      <a:lt2>
        <a:srgbClr val="FFFFFF"/>
      </a:lt2>
      <a:accent1>
        <a:srgbClr val="004481"/>
      </a:accent1>
      <a:accent2>
        <a:srgbClr val="2A86CA"/>
      </a:accent2>
      <a:accent3>
        <a:srgbClr val="5BBEFE"/>
      </a:accent3>
      <a:accent4>
        <a:srgbClr val="2DCCCD"/>
      </a:accent4>
      <a:accent5>
        <a:srgbClr val="7FE2E2"/>
      </a:accent5>
      <a:accent6>
        <a:srgbClr val="9CD8FE"/>
      </a:accent6>
      <a:hlink>
        <a:srgbClr val="00B0F0"/>
      </a:hlink>
      <a:folHlink>
        <a:srgbClr val="954F72"/>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template_presentazione_v2" id="{9BB5DD11-0C1D-4B3C-9D98-D2A574C975C6}" vid="{5A15153A-91D9-47DD-84BA-17DDA7D13E7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1F8C1811CFC2849BB075804AB038327" ma:contentTypeVersion="6" ma:contentTypeDescription="Creare un nuovo documento." ma:contentTypeScope="" ma:versionID="1b230245fb59b6fdb424d6c54a916aab">
  <xsd:schema xmlns:xsd="http://www.w3.org/2001/XMLSchema" xmlns:xs="http://www.w3.org/2001/XMLSchema" xmlns:p="http://schemas.microsoft.com/office/2006/metadata/properties" xmlns:ns2="353cd2e2-1c11-4b5c-bfac-90f4034b3f06" xmlns:ns3="c99eb337-000b-4878-a4ff-8330c82a1935" xmlns:ns4="f222903d-8679-43da-9a9c-620ddc805fc2" xmlns:ns5="7caceaca-20ef-42d2-b1d4-1dae242b6e79" targetNamespace="http://schemas.microsoft.com/office/2006/metadata/properties" ma:root="true" ma:fieldsID="7f283c8b4b9c24d4965e8c952d86eacf" ns2:_="" ns3:_="" ns4:_="" ns5:_="">
    <xsd:import namespace="353cd2e2-1c11-4b5c-bfac-90f4034b3f06"/>
    <xsd:import namespace="c99eb337-000b-4878-a4ff-8330c82a1935"/>
    <xsd:import namespace="f222903d-8679-43da-9a9c-620ddc805fc2"/>
    <xsd:import namespace="7caceaca-20ef-42d2-b1d4-1dae242b6e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Flow_SignoffStatus" minOccurs="0"/>
                <xsd:element ref="ns3:MediaServiceObjectDetectorVersions" minOccurs="0"/>
                <xsd:element ref="ns4:lcf76f155ced4ddcb4097134ff3c332f" minOccurs="0"/>
                <xsd:element ref="ns5:TaxCatchAll"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3cd2e2-1c11-4b5c-bfac-90f4034b3f06" elementFormDefault="qualified">
    <xsd:import namespace="http://schemas.microsoft.com/office/2006/documentManagement/types"/>
    <xsd:import namespace="http://schemas.microsoft.com/office/infopath/2007/PartnerControls"/>
    <xsd:element name="SharedWithUsers" ma:index="8" nillable="true" ma:displayName="Condivis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Condiviso con dettagli"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9eb337-000b-4878-a4ff-8330c82a19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_Flow_SignoffStatus" ma:index="21" nillable="true" ma:displayName="Stato consenso" ma:internalName="Stato_x0020_consenso">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22903d-8679-43da-9a9c-620ddc805fc2" elementFormDefault="qualified">
    <xsd:import namespace="http://schemas.microsoft.com/office/2006/documentManagement/types"/>
    <xsd:import namespace="http://schemas.microsoft.com/office/infopath/2007/PartnerControls"/>
    <xsd:element name="lcf76f155ced4ddcb4097134ff3c332f" ma:index="24" nillable="true" ma:taxonomy="true" ma:internalName="lcf76f155ced4ddcb4097134ff3c332f" ma:taxonomyFieldName="MediaServiceImageTags" ma:displayName="Tag immagine" ma:readOnly="false" ma:fieldId="{5cf76f15-5ced-4ddc-b409-7134ff3c332f}" ma:taxonomyMulti="true" ma:sspId="5db8b724-95e9-4df4-b731-ff17bccab27b" ma:termSetId="09814cd3-568e-fe90-9814-8d621ff8fb84" ma:anchorId="fba54fb3-c3e1-fe81-a776-ca4b69148c4d" ma:open="true" ma:isKeyword="false">
      <xsd:complexType>
        <xsd:sequence>
          <xsd:element ref="pc:Terms" minOccurs="0" maxOccurs="1"/>
        </xsd:sequence>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aceaca-20ef-42d2-b1d4-1dae242b6e79"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7e1ba174-3a72-45b4-ac8b-44549940dce1}" ma:internalName="TaxCatchAll" ma:showField="CatchAllData" ma:web="7caceaca-20ef-42d2-b1d4-1dae242b6e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22903d-8679-43da-9a9c-620ddc805fc2">
      <Terms xmlns="http://schemas.microsoft.com/office/infopath/2007/PartnerControls"/>
    </lcf76f155ced4ddcb4097134ff3c332f>
    <TaxCatchAll xmlns="7caceaca-20ef-42d2-b1d4-1dae242b6e79" xsi:nil="true"/>
    <_Flow_SignoffStatus xmlns="c99eb337-000b-4878-a4ff-8330c82a1935" xsi:nil="true"/>
    <SharedWithUsers xmlns="353cd2e2-1c11-4b5c-bfac-90f4034b3f06">
      <UserInfo>
        <DisplayName>Gianfranco Ballerini</DisplayName>
        <AccountId>18</AccountId>
        <AccountType/>
      </UserInfo>
      <UserInfo>
        <DisplayName>Ezio Frassi</DisplayName>
        <AccountId>19</AccountId>
        <AccountType/>
      </UserInfo>
      <UserInfo>
        <DisplayName>Davide Natola</DisplayName>
        <AccountId>43</AccountId>
        <AccountType/>
      </UserInfo>
      <UserInfo>
        <DisplayName>Federico Zanardelli</DisplayName>
        <AccountId>48</AccountId>
        <AccountType/>
      </UserInfo>
      <UserInfo>
        <DisplayName>Luca Tamanza</DisplayName>
        <AccountId>50</AccountId>
        <AccountType/>
      </UserInfo>
      <UserInfo>
        <DisplayName>Marco Ferrari</DisplayName>
        <AccountId>10008</AccountId>
        <AccountType/>
      </UserInfo>
    </SharedWithUsers>
    <MediaLengthInSeconds xmlns="c99eb337-000b-4878-a4ff-8330c82a1935" xsi:nil="true"/>
  </documentManagement>
</p:properties>
</file>

<file path=customXml/itemProps1.xml><?xml version="1.0" encoding="utf-8"?>
<ds:datastoreItem xmlns:ds="http://schemas.openxmlformats.org/officeDocument/2006/customXml" ds:itemID="{1D657124-5103-4911-A030-1208A12B7BE3}">
  <ds:schemaRefs>
    <ds:schemaRef ds:uri="353cd2e2-1c11-4b5c-bfac-90f4034b3f06"/>
    <ds:schemaRef ds:uri="7caceaca-20ef-42d2-b1d4-1dae242b6e79"/>
    <ds:schemaRef ds:uri="c99eb337-000b-4878-a4ff-8330c82a1935"/>
    <ds:schemaRef ds:uri="f222903d-8679-43da-9a9c-620ddc805f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C16DCC2-FB77-4585-AA18-8EC74148A596}">
  <ds:schemaRefs>
    <ds:schemaRef ds:uri="http://schemas.microsoft.com/sharepoint/v3/contenttype/forms"/>
  </ds:schemaRefs>
</ds:datastoreItem>
</file>

<file path=customXml/itemProps3.xml><?xml version="1.0" encoding="utf-8"?>
<ds:datastoreItem xmlns:ds="http://schemas.openxmlformats.org/officeDocument/2006/customXml" ds:itemID="{614CBE57-84D0-4E46-A0E0-F67292BE1EDA}">
  <ds:schemaRefs>
    <ds:schemaRef ds:uri="353cd2e2-1c11-4b5c-bfac-90f4034b3f06"/>
    <ds:schemaRef ds:uri="7caceaca-20ef-42d2-b1d4-1dae242b6e79"/>
    <ds:schemaRef ds:uri="c99eb337-000b-4878-a4ff-8330c82a1935"/>
    <ds:schemaRef ds:uri="f222903d-8679-43da-9a9c-620ddc805fc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104</TotalTime>
  <Words>2119</Words>
  <Application>Microsoft Office PowerPoint</Application>
  <PresentationFormat>Widescreen</PresentationFormat>
  <Paragraphs>357</Paragraphs>
  <Slides>16</Slides>
  <Notes>15</Notes>
  <HiddenSlides>0</HiddenSlides>
  <MMClips>0</MMClips>
  <ScaleCrop>false</ScaleCrop>
  <HeadingPairs>
    <vt:vector size="6" baseType="variant">
      <vt:variant>
        <vt:lpstr>Caratteri utilizzati</vt:lpstr>
      </vt:variant>
      <vt:variant>
        <vt:i4>8</vt:i4>
      </vt:variant>
      <vt:variant>
        <vt:lpstr>Tema</vt:lpstr>
      </vt:variant>
      <vt:variant>
        <vt:i4>2</vt:i4>
      </vt:variant>
      <vt:variant>
        <vt:lpstr>Titoli diapositive</vt:lpstr>
      </vt:variant>
      <vt:variant>
        <vt:i4>16</vt:i4>
      </vt:variant>
    </vt:vector>
  </HeadingPairs>
  <TitlesOfParts>
    <vt:vector size="26" baseType="lpstr">
      <vt:lpstr>Arial</vt:lpstr>
      <vt:lpstr>Calibri</vt:lpstr>
      <vt:lpstr>Helvetica</vt:lpstr>
      <vt:lpstr>Helvetica Neue Light</vt:lpstr>
      <vt:lpstr>Poppins</vt:lpstr>
      <vt:lpstr>Poppins Light</vt:lpstr>
      <vt:lpstr>Poppins Medium</vt:lpstr>
      <vt:lpstr>Poppins SemiBold</vt:lpstr>
      <vt:lpstr>1_TXT Slide Master_White</vt:lpstr>
      <vt:lpstr>Novigo</vt:lpstr>
      <vt:lpstr>Presentazione standard di PowerPoint</vt:lpstr>
      <vt:lpstr>TXT Novigo | Ambiti di Presidio Tecnico</vt:lpstr>
      <vt:lpstr>TXT Novigo | Esigenze del Business Intercettate</vt:lpstr>
      <vt:lpstr>TXT Novigo | Valore Già Prodotto &amp; In Corso</vt:lpstr>
      <vt:lpstr>TXT Novigo | Le Direttrici Comuni del Valore</vt:lpstr>
      <vt:lpstr>TXT Novigo | Visione R&amp;D</vt:lpstr>
      <vt:lpstr>TXT Novigo | AI Orchestration</vt:lpstr>
      <vt:lpstr>Agos | Script Adherence | Aggiornamento modello AI Sonnet</vt:lpstr>
      <vt:lpstr>TXT Novigo | Reingegnerizzazione controllo di gestione</vt:lpstr>
      <vt:lpstr>OutSystems | Reusable Components - Adozione e diffusione cross-team</vt:lpstr>
      <vt:lpstr>Outsystem | Internal Forge per supporto ai deploy</vt:lpstr>
      <vt:lpstr>OutSystems | Aggiornamento piattaforma</vt:lpstr>
      <vt:lpstr>OutSystems | AO Monitoring</vt:lpstr>
      <vt:lpstr>PHP | Modernizzazione applicazioni e revisione repository</vt:lpstr>
      <vt:lpstr>Polaris | Architecture &amp; Codebase Assessment </vt:lpstr>
      <vt:lpstr>Presentazione standard di PowerPoint</vt:lpstr>
    </vt:vector>
  </TitlesOfParts>
  <Company>TXT e-solutions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 — alternative infrastrutturali e modelli operativi</dc:title>
  <dc:creator>TXT e-solutions / Novigo</dc:creator>
  <cp:lastModifiedBy>Ignazio Ingenito</cp:lastModifiedBy>
  <cp:revision>3</cp:revision>
  <cp:lastPrinted>2025-05-12T08:11:19Z</cp:lastPrinted>
  <dcterms:created xsi:type="dcterms:W3CDTF">2023-08-25T12:12:23Z</dcterms:created>
  <dcterms:modified xsi:type="dcterms:W3CDTF">2026-05-20T19:41:35Z</dcterms:modified>
  <dc:subject>Decision pack preliminare per Guber</dc:subject>
  <dc:description>Range di pianificazione; nessuna raccomandazione strategica.</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0x01010021F8C1811CFC2849BB075804AB038327</vt:lpwstr>
  </property>
  <property fmtid="{D5CDD505-2E9C-101B-9397-08002B2CF9AE}" pid="3" name="MediaServiceImageTags">
    <vt:lpwstr/>
  </property>
  <property fmtid="{D5CDD505-2E9C-101B-9397-08002B2CF9AE}" pid="4" name="ComplianceAssetId">
    <vt:lpwstr/>
  </property>
  <property fmtid="{D5CDD505-2E9C-101B-9397-08002B2CF9AE}" pid="5" name="TriggerFlowInfo">
    <vt:lpwstr/>
  </property>
  <property fmtid="{D5CDD505-2E9C-101B-9397-08002B2CF9AE}" pid="6" name="_ExtendedDescription">
    <vt:lpwstr/>
  </property>
  <property fmtid="{D5CDD505-2E9C-101B-9397-08002B2CF9AE}" pid="7" name="xd_ProgID">
    <vt:lpwstr/>
  </property>
  <property fmtid="{D5CDD505-2E9C-101B-9397-08002B2CF9AE}" pid="8" name="TemplateUrl">
    <vt:lpwstr/>
  </property>
  <property fmtid="{D5CDD505-2E9C-101B-9397-08002B2CF9AE}" pid="9" name="xd_Signature">
    <vt:bool>false</vt:bool>
  </property>
</Properties>
</file>