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00" y="198000"/>
            <a:ext cx="1152000" cy="360000"/>
          </a:xfrm>
          <a:prstGeom prst="rect">
            <a:avLst/>
          </a:prstGeom>
        </p:spPr>
      </p:pic>
      <p:pic>
        <p:nvPicPr>
          <p:cNvPr id="3" name="Picture 2" descr="template-cover-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000" y="0"/>
            <a:ext cx="38735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000" y="4608000"/>
            <a:ext cx="7560000" cy="251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900" b="1">
                <a:solidFill>
                  <a:srgbClr val="2DCCCD"/>
                </a:solidFill>
                <a:latin typeface="Poppins"/>
              </a:rPr>
              <a:t>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4878000"/>
            <a:ext cx="7560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2200" b="1">
                <a:solidFill>
                  <a:srgbClr val="212529"/>
                </a:solidFill>
                <a:latin typeface="Poppins"/>
              </a:rPr>
              <a:t>Alternative infrastrutturali</a:t>
            </a:r>
            <a:br/>
            <a:r>
              <a:rPr sz="2200" b="1">
                <a:solidFill>
                  <a:srgbClr val="212529"/>
                </a:solidFill>
                <a:latin typeface="Poppins"/>
              </a:rPr>
              <a:t>e modelli operativi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0000" y="5472000"/>
            <a:ext cx="576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000" b="0">
                <a:solidFill>
                  <a:srgbClr val="868E95"/>
                </a:solidFill>
                <a:latin typeface="Poppins"/>
              </a:rPr>
              <a:t>Guber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000" y="6300000"/>
            <a:ext cx="28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0">
                <a:solidFill>
                  <a:srgbClr val="868E95"/>
                </a:solidFill>
                <a:latin typeface="Poppins"/>
              </a:rPr>
              <a:t>31 luglio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NOVA | </a:t>
            </a:r>
            <a:r>
              <a:rPr sz="800" b="1">
                <a:solidFill>
                  <a:srgbClr val="212529"/>
                </a:solidFill>
                <a:latin typeface="Poppins"/>
              </a:rPr>
              <a:t>Contesto, esigenza e obiettivi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872000" y="1080000"/>
            <a:ext cx="0" cy="4536000"/>
          </a:xfrm>
          <a:prstGeom prst="line">
            <a:avLst/>
          </a:prstGeom>
          <a:ln w="1397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96000" y="1188000"/>
            <a:ext cx="12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00" b="1">
                <a:solidFill>
                  <a:srgbClr val="008E96"/>
                </a:solidFill>
                <a:latin typeface="Poppins"/>
              </a:rPr>
              <a:t>Contesto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32000" y="1080000"/>
            <a:ext cx="889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Poppins"/>
              </a:rPr>
              <a:t>Guber richiede un accesso SQL governato ai dati NOVA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2000" y="1386000"/>
            <a:ext cx="8892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50" b="0">
                <a:solidFill>
                  <a:srgbClr val="212529"/>
                </a:solidFill>
                <a:latin typeface="Poppins"/>
              </a:rPr>
              <a:t>L'esigenza riguarda verifiche ed estrazioni, mantenendo continuità operativa e tracciabilità degli accessi.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2754000"/>
            <a:ext cx="12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00" b="1">
                <a:solidFill>
                  <a:srgbClr val="008E96"/>
                </a:solidFill>
                <a:latin typeface="Poppins"/>
              </a:rPr>
              <a:t>Esigenza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2000" y="2646000"/>
            <a:ext cx="889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Poppins"/>
              </a:rPr>
              <a:t>Separare l'autonomia sui dati dal rischio sul transazionale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32000" y="2951999"/>
            <a:ext cx="8892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50" b="0">
                <a:solidFill>
                  <a:srgbClr val="212529"/>
                </a:solidFill>
                <a:latin typeface="Poppins"/>
              </a:rPr>
              <a:t>La collocazione deve bilanciare controllo Guber, sicurezza, responsabilità operative e impatto della transizione.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4320000"/>
            <a:ext cx="1296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000" b="1">
                <a:solidFill>
                  <a:srgbClr val="008E96"/>
                </a:solidFill>
                <a:latin typeface="Poppins"/>
              </a:rPr>
              <a:t>Obiettivi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2000" y="4212000"/>
            <a:ext cx="889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Poppins"/>
              </a:rPr>
              <a:t>Confrontare sei alternative su criteri omogenei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2000" y="4518000"/>
            <a:ext cx="8892000" cy="45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50" b="0">
                <a:solidFill>
                  <a:srgbClr val="212529"/>
                </a:solidFill>
                <a:latin typeface="Poppins"/>
              </a:rPr>
              <a:t>Il confronto considera collocazione, accesso SQL, modello operativo, rischio, reversibilità ed economics.</a:t>
            </a:r>
          </a:p>
        </p:txBody>
      </p:sp>
      <p:pic>
        <p:nvPicPr>
          <p:cNvPr id="17" name="Picture 16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vigo-header-logo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" y="86400"/>
            <a:ext cx="917999" cy="2868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0000" y="133200"/>
            <a:ext cx="7200000" cy="13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868E95"/>
                </a:solidFill>
                <a:latin typeface="Poppins"/>
              </a:rPr>
              <a:t>Scenario 1 | </a:t>
            </a:r>
            <a:r>
              <a:rPr sz="800" b="1">
                <a:solidFill>
                  <a:srgbClr val="212529"/>
                </a:solidFill>
                <a:latin typeface="Poppins"/>
              </a:rPr>
              <a:t>Infrastruttura attuale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84000" y="129600"/>
            <a:ext cx="251999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800" b="0">
                <a:solidFill>
                  <a:srgbClr val="868E95"/>
                </a:solidFill>
                <a:latin typeface="Poppins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136800" y="334800"/>
            <a:ext cx="486000" cy="19800"/>
          </a:xfrm>
          <a:prstGeom prst="rect">
            <a:avLst/>
          </a:prstGeom>
          <a:solidFill>
            <a:srgbClr val="2DCCCD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0000" y="334800"/>
            <a:ext cx="270000" cy="19800"/>
          </a:xfrm>
          <a:prstGeom prst="rect">
            <a:avLst/>
          </a:prstGeom>
          <a:solidFill>
            <a:srgbClr val="2A86CA"/>
          </a:solidFill>
          <a:ln w="10160">
            <a:solidFill>
              <a:srgbClr val="2A8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0000" y="486000"/>
            <a:ext cx="11340000" cy="306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Poppins"/>
              </a:rPr>
              <a:t>La continuità riduce il rischio di transizione, ma limita il controllo infrastrutturale di Guber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882000"/>
            <a:ext cx="10980000" cy="180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0">
                <a:solidFill>
                  <a:srgbClr val="868E95"/>
                </a:solidFill>
                <a:latin typeface="Poppins"/>
              </a:rPr>
              <a:t>Il database primario resta nell'ambiente corrente; l'accesso SQL viene segregato e tracciato.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1296000"/>
            <a:ext cx="4860000" cy="3384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C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1440000"/>
            <a:ext cx="450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800" b="1">
                <a:solidFill>
                  <a:srgbClr val="008E96"/>
                </a:solidFill>
                <a:latin typeface="Poppins"/>
              </a:rPr>
              <a:t>ARCHITETTURA DI RIFERIMENTO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24000" y="1835999"/>
            <a:ext cx="3131999" cy="4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2000" y="1936800"/>
            <a:ext cx="291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000" b="1">
                <a:solidFill>
                  <a:srgbClr val="004481"/>
                </a:solidFill>
                <a:latin typeface="Poppins"/>
              </a:rPr>
              <a:t>Utenti Guber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2000" y="2116800"/>
            <a:ext cx="2916000" cy="1008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750" b="0">
                <a:solidFill>
                  <a:srgbClr val="868E95"/>
                </a:solidFill>
                <a:latin typeface="Poppins"/>
              </a:rPr>
              <a:t>SQL read-only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90000" y="2321999"/>
            <a:ext cx="0" cy="360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224000" y="2700000"/>
            <a:ext cx="3131999" cy="486000"/>
          </a:xfrm>
          <a:prstGeom prst="roundRect">
            <a:avLst/>
          </a:prstGeom>
          <a:solidFill>
            <a:srgbClr val="EFF6FB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32000" y="2800800"/>
            <a:ext cx="291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000" b="1">
                <a:solidFill>
                  <a:srgbClr val="004481"/>
                </a:solidFill>
                <a:latin typeface="Poppins"/>
              </a:rPr>
              <a:t>Accesso governato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2000" y="2980800"/>
            <a:ext cx="2916000" cy="1008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750" b="0">
                <a:solidFill>
                  <a:srgbClr val="868E95"/>
                </a:solidFill>
                <a:latin typeface="Poppins"/>
              </a:rPr>
              <a:t>ruoli · viste · audit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90000" y="3186000"/>
            <a:ext cx="0" cy="360000"/>
          </a:xfrm>
          <a:prstGeom prst="line">
            <a:avLst/>
          </a:prstGeom>
          <a:ln w="15240">
            <a:solidFill>
              <a:srgbClr val="2D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224000" y="3563999"/>
            <a:ext cx="3131999" cy="486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32000" y="3664799"/>
            <a:ext cx="2916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1000" b="1">
                <a:solidFill>
                  <a:srgbClr val="004481"/>
                </a:solidFill>
                <a:latin typeface="Poppins"/>
              </a:rPr>
              <a:t>NOVA attuale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3844799"/>
            <a:ext cx="2916000" cy="1008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ctr"/>
            <a:r>
              <a:rPr sz="750" b="0">
                <a:solidFill>
                  <a:srgbClr val="868E95"/>
                </a:solidFill>
                <a:latin typeface="Poppins"/>
              </a:rPr>
              <a:t>database primario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0" y="1350000"/>
            <a:ext cx="252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008E96"/>
                </a:solidFill>
                <a:latin typeface="Poppins"/>
              </a:rPr>
              <a:t>PERCHÉ CONSIDERARLO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000" y="1584000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Continuità del servizio e tempi di attivazione più brevi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Nessuna migrazione immediata del database primario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Alta reversibilità della scelta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000" y="3078000"/>
            <a:ext cx="2520000" cy="144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900" b="1">
                <a:solidFill>
                  <a:srgbClr val="2A86CA"/>
                </a:solidFill>
                <a:latin typeface="Poppins"/>
              </a:rPr>
              <a:t>PUNTI DI ATTENZIONE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0" y="3311999"/>
            <a:ext cx="5652000" cy="1800000"/>
          </a:xfrm>
          <a:prstGeom prst="rect">
            <a:avLst/>
          </a:prstGeom>
          <a:noFill/>
        </p:spPr>
        <p:txBody>
          <a:bodyPr wrap="square" lIns="7200" rIns="7200">
            <a:spAutoFit/>
          </a:bodyPr>
          <a:lstStyle/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Ownership infrastrutturale Guber limitata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Accesso SQL da isolare dal workload applicativo</a:t>
            </a:r>
          </a:p>
          <a:p>
            <a:pPr>
              <a:spcAft>
                <a:spcPts val="500"/>
              </a:spcAft>
              <a:defRPr sz="950">
                <a:solidFill>
                  <a:srgbClr val="212529"/>
                </a:solidFill>
                <a:latin typeface="Poppins"/>
              </a:defRPr>
            </a:pPr>
            <a:r>
              <a:t>•  SLA e capacità dell'ambiente corrente da confermare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000" y="4788000"/>
            <a:ext cx="5580000" cy="540000"/>
          </a:xfrm>
          <a:prstGeom prst="roundRect">
            <a:avLst/>
          </a:prstGeom>
          <a:solidFill>
            <a:srgbClr val="ECF8F8"/>
          </a:solidFill>
          <a:ln w="10160">
            <a:solidFill>
              <a:srgbClr val="EC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0000" y="4914000"/>
            <a:ext cx="1980000" cy="125999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l"/>
            <a:r>
              <a:rPr sz="800" b="1">
                <a:solidFill>
                  <a:srgbClr val="868E95"/>
                </a:solidFill>
                <a:latin typeface="Poppins"/>
              </a:rPr>
              <a:t>TCO PIATTAFORMA · 3 ANNI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0000" y="4842000"/>
            <a:ext cx="2772000" cy="198000"/>
          </a:xfrm>
          <a:prstGeom prst="rect">
            <a:avLst/>
          </a:prstGeom>
          <a:noFill/>
        </p:spPr>
        <p:txBody>
          <a:bodyPr wrap="square" lIns="7200" rIns="7200" tIns="3600" bIns="3600" anchor="t">
            <a:spAutoFit/>
          </a:bodyPr>
          <a:lstStyle/>
          <a:p>
            <a:pPr algn="r"/>
            <a:r>
              <a:rPr sz="1600" b="1">
                <a:solidFill>
                  <a:srgbClr val="008E96"/>
                </a:solidFill>
                <a:latin typeface="Poppins"/>
              </a:rPr>
              <a:t>€ 40k–124k</a:t>
            </a:r>
          </a:p>
        </p:txBody>
      </p:sp>
      <p:pic>
        <p:nvPicPr>
          <p:cNvPr id="29" name="Picture 28" descr="txt-star-mark-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000" y="6228000"/>
            <a:ext cx="234000" cy="23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